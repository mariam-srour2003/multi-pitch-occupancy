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split</c:v>
                </c:pt>
              </c:strCache>
            </c:strRef>
          </c:tx>
          <c:spPr>
            <a:solidFill>
              <a:srgbClr val="C3D6AC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5F72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ViT-Base</c:v>
                  </c:pt>
                  <c:pt idx="1">
                    <c:v>DINOv2</c:v>
                  </c:pt>
                  <c:pt idx="2">
                    <c:v>ConvNeXtV2</c:v>
                  </c:pt>
                  <c:pt idx="3">
                    <c:v>Colour
histogram</c:v>
                  </c:pt>
                  <c:pt idx="4">
                    <c:v>Clock rule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0.994</c:v>
                </c:pt>
                <c:pt idx="1">
                  <c:v>0.9879</c:v>
                </c:pt>
                <c:pt idx="2">
                  <c:v>0.9879</c:v>
                </c:pt>
                <c:pt idx="3">
                  <c:v>0.9616</c:v>
                </c:pt>
                <c:pt idx="4">
                  <c:v>0.9091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Grouped split (honest)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5F72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ViT-Base</c:v>
                  </c:pt>
                  <c:pt idx="1">
                    <c:v>DINOv2</c:v>
                  </c:pt>
                  <c:pt idx="2">
                    <c:v>ConvNeXtV2</c:v>
                  </c:pt>
                  <c:pt idx="3">
                    <c:v>Colour
histogram</c:v>
                  </c:pt>
                  <c:pt idx="4">
                    <c:v>Clock rule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0.4975</c:v>
                </c:pt>
                <c:pt idx="1">
                  <c:v>0.5794</c:v>
                </c:pt>
                <c:pt idx="2">
                  <c:v>0.4975</c:v>
                </c:pt>
                <c:pt idx="3">
                  <c:v>0.1096</c:v>
                </c:pt>
                <c:pt idx="4">
                  <c:v>0.4907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850" u="none">
                  <a:solidFill>
                    <a:srgbClr val="5F72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0C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12700" cap="flat">
              <a:solidFill>
                <a:srgbClr val="E4EBD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F72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F726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1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E2A1B"/>
                </a:solidFill>
                <a:latin typeface="Calibri"/>
              </a:rPr>
              <a:t>One 20-camera round against the 60-second cycle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 used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&quot; s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DINOv2-Base</c:v>
                  </c:pt>
                  <c:pt idx="1">
                    <c:v>ViT-Base</c:v>
                  </c:pt>
                  <c:pt idx="2">
                    <c:v>ConvNeXtV2-Tiny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5.68</c:v>
                </c:pt>
                <c:pt idx="1">
                  <c:v>4.49</c:v>
                </c:pt>
                <c:pt idx="2">
                  <c:v>2.47</c:v>
                </c:pt>
              </c:numCache>
            </c:numRef>
          </c:val>
        </c:ser>
        <c:dLbls>
          <c:numFmt formatCode="0.00&quot; s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A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E0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12700" cap="flat">
              <a:solidFill>
                <a:srgbClr val="E4EBDE"/>
              </a:solidFill>
              <a:prstDash val="solid"/>
              <a:round/>
            </a:ln>
          </c:spPr>
        </c:majorGridlines>
        <c:numFmt formatCode="0&quot; s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F72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1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E2A1B"/>
                </a:solidFill>
                <a:latin typeface="Calibri"/>
              </a:rPr>
              <a:t>Macro-F1 by number of training labels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ConvNeXtV2</c:v>
                </c:pt>
              </c:strCache>
            </c:strRef>
          </c:tx>
          <c:spPr>
            <a:solidFill>
              <a:srgbClr val="97BC62"/>
            </a:solidFill>
            <a:ln w="31750" cap="flat">
              <a:solidFill>
                <a:srgbClr val="97BC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97BC62"/>
              </a:solidFill>
              <a:ln w="9525" cap="flat">
                <a:solidFill>
                  <a:srgbClr val="97BC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10</c:v>
                  </c:pt>
                  <c:pt idx="2">
                    <c:v>25</c:v>
                  </c:pt>
                  <c:pt idx="3">
                    <c:v>100</c:v>
                  </c:pt>
                  <c:pt idx="4">
                    <c:v>300</c:v>
                  </c:pt>
                  <c:pt idx="5">
                    <c:v>671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0.4907</c:v>
                </c:pt>
                <c:pt idx="1">
                  <c:v>0.5138</c:v>
                </c:pt>
                <c:pt idx="2">
                  <c:v>0.6312</c:v>
                </c:pt>
                <c:pt idx="3">
                  <c:v>0.6792</c:v>
                </c:pt>
                <c:pt idx="4">
                  <c:v>0.554</c:v>
                </c:pt>
                <c:pt idx="5">
                  <c:v>0.4975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DINOv2</c:v>
                </c:pt>
              </c:strCache>
            </c:strRef>
          </c:tx>
          <c:spPr>
            <a:solidFill>
              <a:srgbClr val="1F4E2C"/>
            </a:solidFill>
            <a:ln w="31750" cap="flat">
              <a:solidFill>
                <a:srgbClr val="1F4E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4E2C"/>
              </a:solidFill>
              <a:ln w="9525" cap="flat">
                <a:solidFill>
                  <a:srgbClr val="1F4E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10</c:v>
                  </c:pt>
                  <c:pt idx="2">
                    <c:v>25</c:v>
                  </c:pt>
                  <c:pt idx="3">
                    <c:v>100</c:v>
                  </c:pt>
                  <c:pt idx="4">
                    <c:v>300</c:v>
                  </c:pt>
                  <c:pt idx="5">
                    <c:v>671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0.4907</c:v>
                </c:pt>
                <c:pt idx="1">
                  <c:v>0.376</c:v>
                </c:pt>
                <c:pt idx="2">
                  <c:v>0.5258</c:v>
                </c:pt>
                <c:pt idx="3">
                  <c:v>0.6227</c:v>
                </c:pt>
                <c:pt idx="4">
                  <c:v>0.6908</c:v>
                </c:pt>
                <c:pt idx="5">
                  <c:v>0.5794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ViT-Base</c:v>
                </c:pt>
              </c:strCache>
            </c:strRef>
          </c:tx>
          <c:spPr>
            <a:solidFill>
              <a:srgbClr val="B4531A"/>
            </a:solidFill>
            <a:ln w="31750" cap="flat">
              <a:solidFill>
                <a:srgbClr val="B453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4531A"/>
              </a:solidFill>
              <a:ln w="9525" cap="flat">
                <a:solidFill>
                  <a:srgbClr val="B453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10</c:v>
                  </c:pt>
                  <c:pt idx="2">
                    <c:v>25</c:v>
                  </c:pt>
                  <c:pt idx="3">
                    <c:v>100</c:v>
                  </c:pt>
                  <c:pt idx="4">
                    <c:v>300</c:v>
                  </c:pt>
                  <c:pt idx="5">
                    <c:v>671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0.4907</c:v>
                </c:pt>
                <c:pt idx="1">
                  <c:v>0.5168</c:v>
                </c:pt>
                <c:pt idx="2">
                  <c:v>0.4953</c:v>
                </c:pt>
                <c:pt idx="3">
                  <c:v>0.497</c:v>
                </c:pt>
                <c:pt idx="4">
                  <c:v>0.496</c:v>
                </c:pt>
                <c:pt idx="5">
                  <c:v>0.4975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726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F7266"/>
                    </a:solidFill>
                    <a:latin typeface="Arial"/>
                  </a:rPr>
                  <a:t>training labels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0CC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.3"/>
        </c:scaling>
        <c:delete val="0"/>
        <c:axPos val="l"/>
        <c:majorGridlines>
          <c:spPr>
            <a:ln w="12700" cap="flat">
              <a:solidFill>
                <a:srgbClr val="E4EBD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F72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B2A2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slide. The one-line thesis: the evaluation protocol is the first-order result, not the choice of backbone.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deliverable is a verdict on a rental hour, not a detection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independence rule is what makes the output admissible as evidence against the booking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constraints. The privacy one cost a planned contribution (dataset release) and is reported as a dated scope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models actually run; the not-run shortlist is recorded so the selection is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0.99 accuracy is the number the protocol later invalidates. The pooling bug is why pooling is now asserted at load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Predictions 1-3 the pilot confirmed. Prediction 4 and 5 are what the honest protocol later demonstrated.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OpenCLIP versus OpenAI CLIP pair is the controlled comparison: same architecture, different pretraining data, 11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independent measurements of the same problem: label-illumination confound, near-duplicate leakage, and tiny effective sample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deck's central slide. The reversal, not the drop, is the finding. The caveat about the degenerate fold stays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alone would pick ConvNeXtV2. The false-play column is what disqualifies it: 0.9918 on held-out empty frames.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Latency numbers are from the development machine, not the target Mini-PC. The 10x headroom is what removes latency from the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specification named ConvNeXtV2. The measurement changed the recommendation to DINOv2, with ConvNeXtV2 kept as the slow-hardware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Non-monotone label curves are themselves evidence of the confound: subsampling breaks it, the full set restores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Reported deliberately. The prompt search leaked on the evaluation folds, so the number is development-grade only and is queued for the locked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is end-to-end validated, but the anomaly layer has no measurable precision or recall at n =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limit is a measured quantity, not a hedge. The locked venues are enforced in code, not by intention.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planned items were rescoped or removed. Each has a dated reason in the plan; none were discovered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+3.1 oracle ceiling justifies attempting the gate; the two pre-registered conditions keep it from becoming a fishing 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contribution is about evaluation protocol, not architecture. It is the one claim that survives every data limitation on slide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06740" y="804672"/>
            <a:ext cx="3200400" cy="2016252"/>
          </a:xfrm>
          <a:prstGeom prst="rect">
            <a:avLst/>
          </a:prstGeom>
          <a:solidFill>
            <a:srgbClr val="0E2A1B"/>
          </a:solidFill>
          <a:ln w="19050">
            <a:solidFill>
              <a:srgbClr val="1D4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06940" y="804672"/>
            <a:ext cx="0" cy="2016252"/>
          </a:xfrm>
          <a:prstGeom prst="line">
            <a:avLst/>
          </a:prstGeom>
          <a:noFill/>
          <a:ln w="19050">
            <a:solidFill>
              <a:srgbClr val="1D44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95460" y="1401318"/>
            <a:ext cx="822960" cy="822960"/>
          </a:xfrm>
          <a:prstGeom prst="ellipse">
            <a:avLst/>
          </a:prstGeom>
          <a:solidFill>
            <a:srgbClr val="0E2A1B"/>
          </a:solidFill>
          <a:ln w="19050">
            <a:solidFill>
              <a:srgbClr val="1D4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658368"/>
            <a:ext cx="365760" cy="230429"/>
          </a:xfrm>
          <a:prstGeom prst="rect">
            <a:avLst/>
          </a:prstGeom>
          <a:solidFill>
            <a:srgbClr val="0E2A1B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658368"/>
            <a:ext cx="0" cy="230429"/>
          </a:xfrm>
          <a:prstGeom prst="line">
            <a:avLst/>
          </a:prstGeom>
          <a:noFill/>
          <a:ln w="15875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034" y="727497"/>
            <a:ext cx="92172" cy="92172"/>
          </a:xfrm>
          <a:prstGeom prst="ellipse">
            <a:avLst/>
          </a:prstGeom>
          <a:solidFill>
            <a:srgbClr val="0E2A1B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8448" y="722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MASTER’S THESIS  ·  PROGRESS REVIEW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600200"/>
            <a:ext cx="6720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Low-Bandwidth, CPU-Only Occupancy Verification for Multi-Pitch Football Facilities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4048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seven-model pilot bake-off to a leakage-free multi-venue benchmark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49884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C7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protocol, not the architecture, turned out to be the result.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818120" y="2907792"/>
            <a:ext cx="3977640" cy="987552"/>
          </a:xfrm>
          <a:prstGeom prst="roundRect">
            <a:avLst>
              <a:gd name="adj" fmla="val 4630"/>
            </a:avLst>
          </a:prstGeom>
          <a:solidFill>
            <a:srgbClr val="18382A"/>
          </a:solidFill>
          <a:ln w="12700">
            <a:solidFill>
              <a:srgbClr val="1838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303580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1,692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464040" y="30906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frames across 10 venues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18120" y="4059936"/>
            <a:ext cx="3977640" cy="987552"/>
          </a:xfrm>
          <a:prstGeom prst="roundRect">
            <a:avLst>
              <a:gd name="adj" fmla="val 4630"/>
            </a:avLst>
          </a:prstGeom>
          <a:solidFill>
            <a:srgbClr val="18382A"/>
          </a:solidFill>
          <a:ln w="12700">
            <a:solidFill>
              <a:srgbClr val="1838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92440" y="418795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464040" y="424281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models benchmarked on CPU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18120" y="5212080"/>
            <a:ext cx="3977640" cy="987552"/>
          </a:xfrm>
          <a:prstGeom prst="roundRect">
            <a:avLst>
              <a:gd name="adj" fmla="val 4630"/>
            </a:avLst>
          </a:prstGeom>
          <a:solidFill>
            <a:srgbClr val="18382A"/>
          </a:solidFill>
          <a:ln w="12700">
            <a:solidFill>
              <a:srgbClr val="1838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92440" y="5340096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464040" y="53949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in the deployment target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Srour  ·  8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Operational Question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11556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facility rents pitches by the hour. Staff record which slots were used. Those records are unverified, and three failure modes cost money or trust: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29968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5603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No-shows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9077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slot is booked and paid for but never used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7680" y="1783080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029968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5603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Unbooked usage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9077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pitch is used with no booking on record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01000" y="1783080"/>
            <a:ext cx="3429000" cy="1691640"/>
          </a:xfrm>
          <a:prstGeom prst="roundRect">
            <a:avLst>
              <a:gd name="adj" fmla="val 2703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2029968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5603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Data-entry error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9077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and reality simply disagree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3840480"/>
            <a:ext cx="11018520" cy="1938528"/>
          </a:xfrm>
          <a:prstGeom prst="roundRect">
            <a:avLst>
              <a:gd name="adj" fmla="val 2358"/>
            </a:avLst>
          </a:prstGeom>
          <a:solidFill>
            <a:srgbClr val="0E2A1B"/>
          </a:solidFill>
          <a:ln w="12700">
            <a:solidFill>
              <a:srgbClr val="0E2A1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4151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QUESTION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4535424"/>
            <a:ext cx="10287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question is not </a:t>
            </a:r>
            <a:pPr indent="0" marL="0">
              <a:lnSpc>
                <a:spcPct val="118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a camera see people”</a:t>
            </a:r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is: can a verdict on an hour of rental be produced </a:t>
            </a:r>
            <a:pPr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automatically, cheaply, and reliably enough that a facility manager would act on it</a:t>
            </a:r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1155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each with a hard constraint.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600200"/>
            <a:ext cx="2578608" cy="2606040"/>
          </a:xfrm>
          <a:prstGeom prst="roundRect">
            <a:avLst>
              <a:gd name="adj" fmla="val 1773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" y="1828800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" y="239572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sampling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" y="2999232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 per fixed IP/CCTV camera per minute. Not a video stream.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6120" y="2761488"/>
            <a:ext cx="182880" cy="201168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2424" y="1600200"/>
            <a:ext cx="2578608" cy="2606040"/>
          </a:xfrm>
          <a:prstGeom prst="roundRect">
            <a:avLst>
              <a:gd name="adj" fmla="val 1773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0168" y="1828800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3016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630168" y="239572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classification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30168" y="2999232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/ ACTIVE_PLAY / MAINTENANCE-or-NON-SPORTING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44184" y="2761488"/>
            <a:ext cx="182880" cy="201168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0488" y="1600200"/>
            <a:ext cx="2578608" cy="2606040"/>
          </a:xfrm>
          <a:prstGeom prst="roundRect">
            <a:avLst>
              <a:gd name="adj" fmla="val 1773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8232" y="1828800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28232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239572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 aggregation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28232" y="2999232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frame predictions per hour collapse to USED / NOTUSED / REVIEW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842248" y="2761488"/>
            <a:ext cx="182880" cy="201168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88552" y="1600200"/>
            <a:ext cx="2578608" cy="2606040"/>
          </a:xfrm>
          <a:prstGeom prst="roundRect">
            <a:avLst>
              <a:gd name="adj" fmla="val 1773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26296" y="1828800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26296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226296" y="239572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226296" y="2999232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verdict is compared against the booking and staff-entry record; disagreements are flagged with evidence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4360" y="4407408"/>
            <a:ext cx="11018520" cy="1481328"/>
          </a:xfrm>
          <a:prstGeom prst="roundRect">
            <a:avLst>
              <a:gd name="adj" fmla="val 3086"/>
            </a:avLst>
          </a:prstGeom>
          <a:solidFill>
            <a:srgbClr val="FCF0E7"/>
          </a:solidFill>
          <a:ln w="9525">
            <a:solidFill>
              <a:srgbClr val="E9C9A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46451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B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 CARRIED THROUGHOUT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4974336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 path must never consume the booking record as an input feature.</a:t>
            </a:r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model that has seen the booking flag cannot provide evidence independent of the record it is auditing.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Constraints That Shape Every Decision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188720"/>
            <a:ext cx="6903720" cy="822960"/>
          </a:xfrm>
          <a:prstGeom prst="roundRect">
            <a:avLst>
              <a:gd name="adj" fmla="val 5556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463040"/>
            <a:ext cx="146304" cy="146304"/>
          </a:xfrm>
          <a:prstGeom prst="ellipse">
            <a:avLst/>
          </a:prstGeom>
          <a:solidFill>
            <a:srgbClr val="6E9440"/>
          </a:solidFill>
          <a:ln w="12700">
            <a:solidFill>
              <a:srgbClr val="6E94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70432" y="1371600"/>
            <a:ext cx="6080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Intel Mini-PC serves the whole facility.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139696"/>
            <a:ext cx="69037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414016"/>
            <a:ext cx="146304" cy="146304"/>
          </a:xfrm>
          <a:prstGeom prst="ellipse">
            <a:avLst/>
          </a:prstGeom>
          <a:solidFill>
            <a:srgbClr val="6E9440"/>
          </a:solidFill>
          <a:ln w="12700">
            <a:solidFill>
              <a:srgbClr val="6E94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70432" y="2322576"/>
            <a:ext cx="60807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cameras inside a 60-second cycle.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budget is round-trip time, not single-image latency.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227832"/>
            <a:ext cx="6903720" cy="822960"/>
          </a:xfrm>
          <a:prstGeom prst="roundRect">
            <a:avLst>
              <a:gd name="adj" fmla="val 5556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" y="3502152"/>
            <a:ext cx="146304" cy="146304"/>
          </a:xfrm>
          <a:prstGeom prst="ellipse">
            <a:avLst/>
          </a:prstGeom>
          <a:solidFill>
            <a:srgbClr val="6E9440"/>
          </a:solidFill>
          <a:ln w="12700">
            <a:solidFill>
              <a:srgbClr val="6E94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70432" y="3410712"/>
            <a:ext cx="6080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bandwidth.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Only the verdict leaves the site, never the footage.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178808"/>
            <a:ext cx="6903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4453128"/>
            <a:ext cx="146304" cy="146304"/>
          </a:xfrm>
          <a:prstGeom prst="ellipse">
            <a:avLst/>
          </a:prstGeom>
          <a:solidFill>
            <a:srgbClr val="6E9440"/>
          </a:solidFill>
          <a:ln w="12700">
            <a:solidFill>
              <a:srgbClr val="6E94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70432" y="4361688"/>
            <a:ext cx="6080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conditions.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Night floodlighting, low contrast, glare.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5129784"/>
            <a:ext cx="6903720" cy="978408"/>
          </a:xfrm>
          <a:prstGeom prst="roundRect">
            <a:avLst>
              <a:gd name="adj" fmla="val 4673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5404104"/>
            <a:ext cx="146304" cy="146304"/>
          </a:xfrm>
          <a:prstGeom prst="ellipse">
            <a:avLst/>
          </a:prstGeom>
          <a:solidFill>
            <a:srgbClr val="6E9440"/>
          </a:solidFill>
          <a:ln w="12700">
            <a:solidFill>
              <a:srgbClr val="6E94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70432" y="5312664"/>
            <a:ext cx="6080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Operator-supplied footage of identifiable people. Edge-only processing, faces blurred in all figures, anomalies reported per pitch and never per person, and no dataset release.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26680" y="1188720"/>
            <a:ext cx="3904488" cy="4919472"/>
          </a:xfrm>
          <a:prstGeom prst="roundRect">
            <a:avLst>
              <a:gd name="adj" fmla="val 1171"/>
            </a:avLst>
          </a:prstGeom>
          <a:solidFill>
            <a:srgbClr val="0E2A1B"/>
          </a:solidFill>
          <a:ln w="12700">
            <a:solidFill>
              <a:srgbClr val="0E2A1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65008" y="14813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CONSEQUENCE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065008" y="187452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privacy constraint removed a planned contribution.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065008" y="3154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reported as a scope decision, not discovered late.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65008" y="5047488"/>
            <a:ext cx="1097280" cy="0"/>
          </a:xfrm>
          <a:prstGeom prst="line">
            <a:avLst/>
          </a:prstGeom>
          <a:noFill/>
          <a:ln w="12700">
            <a:solidFill>
              <a:srgbClr val="3A5C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65008" y="5248656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9F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dataset release. Recorded against the plan, with a date.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One: The Pilot Bake-Off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9728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pilot/model-selection, 1–2 September 2026. 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question: which vision models are worth building the real system on?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4160520" cy="4160520"/>
          </a:xfrm>
          <a:prstGeom prst="roundRect">
            <a:avLst>
              <a:gd name="adj" fmla="val 1099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18288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PROTOCOL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2128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1,296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223113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hand-labelled frames, one venue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1089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80/20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12724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random stratified split (1,036 train / 260 test), seed 42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00507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4023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through one shared harness, plus a shortlist considered and not run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90118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9194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strategies: frozen backbones with a logistic-regression head, versus zero-shot prompting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83480" y="1572768"/>
            <a:ext cx="6647688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1819656"/>
            <a:ext cx="128016" cy="12801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32120" y="18013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· ZERO-SHOT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210312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   ·   CLIP ViT-L/14   ·   SigLIP 2 base   ·   OpenCLIP ViT-B/32 (LAION-2B)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83480" y="2889504"/>
            <a:ext cx="6647688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7800" y="3136392"/>
            <a:ext cx="128016" cy="12801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32120" y="3118104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· FROZEN BACKBONE + HEAD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3419856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DINOv2-Base   ·   ViT-Base/16   ·   ConvNeXtV2-Tiny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4069080"/>
            <a:ext cx="6647688" cy="166420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57800" y="4315968"/>
            <a:ext cx="128016" cy="128016"/>
          </a:xfrm>
          <a:prstGeom prst="ellipse">
            <a:avLst/>
          </a:prstGeom>
          <a:solidFill>
            <a:srgbClr val="9FB3A6"/>
          </a:solidFill>
          <a:ln w="12700">
            <a:solidFill>
              <a:srgbClr val="9FB3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32120" y="429768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CONSIDERED, NOT RUN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4599432"/>
            <a:ext cx="5806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Florence-2   ·   Moondream2   ·   SmolVLM2   ·   DINOv3 ViT-B/16 (licence-gated)   ·   ConvNeXt-Tiny v1   ·   EfficientNet-B0   ·   MobileNetV3-Large   ·   YOLO family   ·   YOLO-World   ·   Grounding DINO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Results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97280"/>
          <a:ext cx="91440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920240"/>
                <a:gridCol w="1600200"/>
                <a:gridCol w="1600200"/>
                <a:gridCol w="1965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ms/frame (CPU)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ViT-Base/16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 + 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DINOv2-Base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 + 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ConvNeXtV2-Tiny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 + 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OpenCLIP ViT-B/32 (LAION-2B)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ViT-B/32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ViT-L/14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1403.8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 2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1035.0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9436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to read off this table immediately: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3886200"/>
            <a:ext cx="5394960" cy="1965960"/>
          </a:xfrm>
          <a:prstGeom prst="roundRect">
            <a:avLst>
              <a:gd name="adj" fmla="val 2326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413308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0.99 but macro-F1 0.66.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52628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four classes had almost no support; precision and recall were 0.0 for both. The macro average was hiding empty classes.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36208" y="3886200"/>
            <a:ext cx="5394960" cy="1965960"/>
          </a:xfrm>
          <a:prstGeom prst="roundRect">
            <a:avLst>
              <a:gd name="adj" fmla="val 2326"/>
            </a:avLst>
          </a:prstGeom>
          <a:solidFill>
            <a:srgbClr val="FCF0E7"/>
          </a:solidFill>
          <a:ln w="9525">
            <a:solidFill>
              <a:srgbClr val="E9C9A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56248" y="413308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B45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separate ViT run scored 0.3808.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556248" y="452628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to the harness reading a randomly initialised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3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pooler_output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mean-pooled features. A pipeline bug, not a model result — and the reason every saved head now carries a pooling stamp that the pipeline asserts.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Literature Review Predicted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60704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Related Work chapter makes five predictions that the pilot could test directly.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11000232" cy="868680"/>
          </a:xfrm>
          <a:prstGeom prst="roundRect">
            <a:avLst>
              <a:gd name="adj" fmla="val 5263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714500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1714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1609344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 plus a linear head is the right strategy under small data and no GPU.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1920240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was explicitly designed to produce features usable with a linear probe and no fine-tuning.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2478024"/>
            <a:ext cx="110002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729484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27294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624328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data composition matters at least as much as parameter count.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2935224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open reproductions of contrastive pretraining show the pretraining distribution shifting the scaling exponent.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3493008"/>
            <a:ext cx="11000232" cy="868680"/>
          </a:xfrm>
          <a:prstGeom prst="roundRect">
            <a:avLst>
              <a:gd name="adj" fmla="val 5263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74446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37444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639312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zero-shot models do not reliably transfer their benchmark advantage to narrow domains.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950208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and occlusion-robustness studies report failure well before human performance.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4507992"/>
            <a:ext cx="1100023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63600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654296"/>
            <a:ext cx="9921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ranking is task-dependent and does not follow benchmark position.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" y="5276088"/>
            <a:ext cx="11000232" cy="868680"/>
          </a:xfrm>
          <a:prstGeom prst="roundRect">
            <a:avLst>
              <a:gd name="adj" fmla="val 5263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552754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5275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5422392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learning is a property of the data and the protocol, not of the architecture.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5733288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of backbone removes a shortcut the data affords.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Literature and the Pilot Agreed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789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confirmations, one of them textbook.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5358384" cy="2331720"/>
          </a:xfrm>
          <a:prstGeom prst="roundRect">
            <a:avLst>
              <a:gd name="adj" fmla="val 1961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618488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pts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313432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probes beat zero-shot decisively.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715768"/>
            <a:ext cx="4809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probe 0.9923 against best zero-shot 0.7577 — a 23-point gap, exactly the cost of a no-label deployment the literature describes.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6208" y="1417320"/>
            <a:ext cx="5358384" cy="2331720"/>
          </a:xfrm>
          <a:prstGeom prst="roundRect">
            <a:avLst>
              <a:gd name="adj" fmla="val 1961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618488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pts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2313432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data beat architecture, at identical size.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2715768"/>
            <a:ext cx="4809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OpenCLIP ViT-B/32 trained on LAION-2B scored 0.7577; OpenAI CLIP ViT-B/32 — the same architecture — scored 0.6538. An 11-point gap attributable to training data alone.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931920"/>
            <a:ext cx="5358384" cy="2331720"/>
          </a:xfrm>
          <a:prstGeom prst="roundRect">
            <a:avLst>
              <a:gd name="adj" fmla="val 1961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133088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B45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5–7× slower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828032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zero-shot was worse, not better.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230368"/>
            <a:ext cx="4809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ViT-L/14 scored 0.3538 and SigLIP 2 base 0.3192, both far below the B/32 models, and 5–7× slower per frame. The benchmark-table intuition that the larger variant wins is wrong on this task.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6208" y="3931920"/>
            <a:ext cx="5358384" cy="2331720"/>
          </a:xfrm>
          <a:prstGeom prst="roundRect">
            <a:avLst>
              <a:gd name="adj" fmla="val 1961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0528" y="4133088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8C1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 → 3rd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4828032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did not follow benchmark position.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5230368"/>
            <a:ext cx="4809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ViT-Base led the pilot. Under honest evaluation it finishes third. Slide 10 covers this.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Pilot’s Fatal Flaw Was Not the Models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60704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the protocol. Three measurements, taken later, invalidate the pilot’s numbers.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3547872" cy="2880360"/>
          </a:xfrm>
          <a:prstGeom prst="roundRect">
            <a:avLst>
              <a:gd name="adj" fmla="val 1587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1627632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8C1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98.4%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230428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clock rule scores 98.4%.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50392" y="2944368"/>
            <a:ext cx="3035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night then ACTIVE_PLAY, else EMPTY” — using no pixels at all. In the labelled data EMPTY is 98% daytime and ACTIVE_PLAY 99% night. Class and illumination are the same variable.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0540" y="1417320"/>
            <a:ext cx="3547872" cy="2880360"/>
          </a:xfrm>
          <a:prstGeom prst="roundRect">
            <a:avLst>
              <a:gd name="adj" fmla="val 1587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6572" y="1627632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8C1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98.5%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576572" y="230428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 of frames have a near-duplicate.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6572" y="2944368"/>
            <a:ext cx="3035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sampled seconds apart from a fixed camera are near-identical, so a random split puts near-copies of test images into training.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547872" cy="2880360"/>
          </a:xfrm>
          <a:prstGeom prst="roundRect">
            <a:avLst>
              <a:gd name="adj" fmla="val 1587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02752" y="1627632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8C1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30428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394 test frames rest on 62 distinct scenes.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2944368"/>
            <a:ext cx="3035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effective sample size is used instead of frame count, a colour histogram becomes statistically indistinguishable from DINOv2 on the leaky split (p = 1.000).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498848"/>
            <a:ext cx="11000232" cy="1353312"/>
          </a:xfrm>
          <a:prstGeom prst="roundRect">
            <a:avLst>
              <a:gd name="adj" fmla="val 3378"/>
            </a:avLst>
          </a:prstGeom>
          <a:solidFill>
            <a:srgbClr val="FBECEA"/>
          </a:solidFill>
          <a:ln w="9525">
            <a:solidFill>
              <a:srgbClr val="E3BFB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71830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PILOT ACTUALLY MEASURED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047488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8C1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pilot’s 99% is consistent with having learned day-versus-night, not occupancy.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Result: Honest Evaluation Reverses the Decision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607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 versus venue-grouped split, macro-F1.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371600"/>
          <a:ext cx="6720840" cy="3858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360920" y="1371600"/>
            <a:ext cx="4233672" cy="1481328"/>
          </a:xfrm>
          <a:prstGeom prst="roundRect">
            <a:avLst>
              <a:gd name="adj" fmla="val 3086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35240" y="15727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CHANGE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18836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ViT-Base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555480" y="18836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→ 3rd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2176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555480" y="2176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→ 1st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ConvNeXtV2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555480" y="2468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→ 2nd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60920" y="3108960"/>
            <a:ext cx="4233672" cy="2121408"/>
          </a:xfrm>
          <a:prstGeom prst="roundRect">
            <a:avLst>
              <a:gd name="adj" fmla="val 2155"/>
            </a:avLst>
          </a:prstGeom>
          <a:solidFill>
            <a:srgbClr val="0E2A1B"/>
          </a:solidFill>
          <a:ln w="12700">
            <a:solidFill>
              <a:srgbClr val="0E2A1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35240" y="3346704"/>
            <a:ext cx="3685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reader following the pilot’s protocol would have selected the weakest generaliser.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635240" y="4443984"/>
            <a:ext cx="3685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7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does not merely deflate the numbers, it reverses the decision. That makes it a first-order result rather than a methodological footnote.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94360" y="5413248"/>
            <a:ext cx="11000232" cy="896112"/>
          </a:xfrm>
          <a:prstGeom prst="roundRect">
            <a:avLst>
              <a:gd name="adj" fmla="val 5102"/>
            </a:avLst>
          </a:prstGeom>
          <a:solidFill>
            <a:srgbClr val="FCF0E7"/>
          </a:solidFill>
          <a:ln w="9525">
            <a:solidFill>
              <a:srgbClr val="E9C9A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5632704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caveat.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magnitude of the drop cannot be attributed purely to leakage, because the grouped test fold is 99% single-class. The direction is sound; the number is not clean.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Cross-Venue Performance Must Be Read on Two Axes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8755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Leave-one-venue-out over 7 folds. Play-recall alone recommends the wrong model.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35024"/>
          <a:ext cx="91440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017520"/>
                <a:gridCol w="1234440"/>
                <a:gridCol w="459943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Cross-venue play-recall  [95% CI]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fold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False-play rate on 243 held-out EMPTY frames  [95% CI]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0.9297</a:t>
                      </a:r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[0.8345, 0.9932]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0.3086</a:t>
                      </a:r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[0.2510, 0.3663]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0.9105</a:t>
                      </a:r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[0.8214, 0.9859]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C1D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0.9918</a:t>
                      </a:r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[0.9794, 1.0000]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0.8690</a:t>
                      </a:r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[0.7143, 1.0000]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C1D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0.8354</a:t>
                      </a:r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[0.7860, 0.8807]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0.2190</a:t>
                      </a:r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[0.0286, 0.5048]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0.0206</a:t>
                      </a:r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[0.0041, 0.0412]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3127248"/>
            <a:ext cx="5358384" cy="1417320"/>
          </a:xfrm>
          <a:prstGeom prst="roundRect">
            <a:avLst>
              <a:gd name="adj" fmla="val 3226"/>
            </a:avLst>
          </a:prstGeom>
          <a:solidFill>
            <a:srgbClr val="FBECEA"/>
          </a:solidFill>
          <a:ln w="9525">
            <a:solidFill>
              <a:srgbClr val="E3BFB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6112" y="332841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ConvNeXtV2 buys its recall by calling 99.2% of empty pitches a match.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398678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balanced view it scores below the clock rule.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36208" y="3127248"/>
            <a:ext cx="5358384" cy="1417320"/>
          </a:xfrm>
          <a:prstGeom prst="roundRect">
            <a:avLst>
              <a:gd name="adj" fmla="val 3226"/>
            </a:avLst>
          </a:prstGeom>
          <a:solidFill>
            <a:srgbClr val="0E2A1B"/>
          </a:solidFill>
          <a:ln w="12700">
            <a:solidFill>
              <a:srgbClr val="0E2A1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340156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DINOv2 is the only backbone that holds on both axes.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94360" y="4736592"/>
            <a:ext cx="5358384" cy="1527048"/>
          </a:xfrm>
          <a:prstGeom prst="roundRect">
            <a:avLst>
              <a:gd name="adj" fmla="val 2994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6112" y="4937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96112" y="526694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pairwise McNemar comparisons are significant after Holm–Bonferroni correction (largest p = 4.9 × 10</a:t>
            </a:r>
            <a:pPr indent="0" marL="0">
              <a:lnSpc>
                <a:spcPct val="114000"/>
              </a:lnSpc>
              <a:buNone/>
            </a:pPr>
            <a:r>
              <a:rPr lang="en-US" sz="1250" baseline="300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</a:t>
            </a:r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36208" y="4736592"/>
            <a:ext cx="5358384" cy="1527048"/>
          </a:xfrm>
          <a:prstGeom prst="roundRect">
            <a:avLst>
              <a:gd name="adj" fmla="val 2994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37960" y="4937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SHORTCUT, PROVEN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526694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rule collapsing from 98.4% within-venue to 0.219 across venues — and to 0.000 on four of seven folds — is the direct proof that its within-venue score was a shortcut.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Is Not the Binding Constraint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30768" y="402336"/>
            <a:ext cx="2084832" cy="310896"/>
          </a:xfrm>
          <a:prstGeom prst="roundRect">
            <a:avLst>
              <a:gd name="adj" fmla="val 14706"/>
            </a:avLst>
          </a:prstGeom>
          <a:solidFill>
            <a:srgbClr val="FCF0E7"/>
          </a:solidFill>
          <a:ln w="9525">
            <a:solidFill>
              <a:srgbClr val="E9C9A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30768" y="40233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spc="80" kern="0" dirty="0">
                <a:solidFill>
                  <a:srgbClr val="B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HARDWARE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042416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development hardware, 4 threads, 20 concurrent camera streams, against a 60-second sampling cycle.</a:t>
            </a:r>
            <a:endParaRPr lang="en-US" sz="13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02920" y="1444752"/>
          <a:ext cx="6263640" cy="32735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995160" y="1481328"/>
            <a:ext cx="4599432" cy="960120"/>
          </a:xfrm>
          <a:prstGeom prst="roundRect">
            <a:avLst>
              <a:gd name="adj" fmla="val 4762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69480" y="160934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ConvNeXtV2-Tiny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012680" y="16093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24.3× headroom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1938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150.9 ms single frame  ·  2.47 s per round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217627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 60 s cycle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995160" y="2560320"/>
            <a:ext cx="4599432" cy="960120"/>
          </a:xfrm>
          <a:prstGeom prst="roundRect">
            <a:avLst>
              <a:gd name="adj" fmla="val 4762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69480" y="268833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ViT-Base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012680" y="26883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13.4× headroom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30175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303.3 ms single frame  ·  4.49 s per round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7269480" y="325526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 60 s cycle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95160" y="3639312"/>
            <a:ext cx="4599432" cy="960120"/>
          </a:xfrm>
          <a:prstGeom prst="roundRect">
            <a:avLst>
              <a:gd name="adj" fmla="val 4762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269480" y="37673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DINOv2-Base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012680" y="37673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10.6× headroom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7269480" y="40965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418.3 ms single frame  ·  5.68 s per round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269480" y="433425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E9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 60 s cycle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94360" y="4956048"/>
            <a:ext cx="6172200" cy="1307592"/>
          </a:xfrm>
          <a:prstGeom prst="roundRect">
            <a:avLst>
              <a:gd name="adj" fmla="val 3497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5138928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slowest candidate uses under 10% of the sampling cycle for 20 cameras.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68680" y="5632704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literature generally assumes latency is the binding constraint at the edge; under a sparse sampling schedule it is not.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995160" y="4956048"/>
            <a:ext cx="4599432" cy="1307592"/>
          </a:xfrm>
          <a:prstGeom prst="roundRect">
            <a:avLst>
              <a:gd name="adj" fmla="val 3497"/>
            </a:avLst>
          </a:prstGeom>
          <a:solidFill>
            <a:srgbClr val="0E2A1B"/>
          </a:solidFill>
          <a:ln w="12700">
            <a:solidFill>
              <a:srgbClr val="0E2A1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269480" y="51206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269480" y="539496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speed stops discriminating, model selection falls entirely to accuracy under honest evaluation.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Production Recommendation Changed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188720"/>
            <a:ext cx="4846320" cy="1938528"/>
          </a:xfrm>
          <a:prstGeom prst="roundRect">
            <a:avLst>
              <a:gd name="adj" fmla="val 2358"/>
            </a:avLst>
          </a:prstGeom>
          <a:solidFill>
            <a:srgbClr val="E4EBD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14081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CHOSE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70078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6C7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ConvNeXtV2-Tiny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2860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latency — 102 ms per frame against DINOv2’s 254 ms.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32704" y="1993392"/>
            <a:ext cx="960120" cy="329184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48272" y="1188720"/>
            <a:ext cx="4846320" cy="1938528"/>
          </a:xfrm>
          <a:prstGeom prst="roundRect">
            <a:avLst>
              <a:gd name="adj" fmla="val 2358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50024" y="14081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CF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NOW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050024" y="170078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DINOv2-Base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050024" y="228600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2E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ConvNeXtV2 remains the fallback if the target Mini-PC proves far slower than the development machine.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328416"/>
            <a:ext cx="11000232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5478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B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ORIGINAL REASONING DOES NOT HOLD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858768"/>
            <a:ext cx="10378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has 10× headroom for every candidate, so it cannot decide.</a:t>
            </a:r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accuracy under honest evaluation, DINOv2 leads on cross-venue recall (0.9297 against 0.9105) and dominates outright on false-play (0.3086 against 0.9918).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4974336"/>
            <a:ext cx="11000232" cy="1289304"/>
          </a:xfrm>
          <a:prstGeom prst="roundRect">
            <a:avLst>
              <a:gd name="adj" fmla="val 3546"/>
            </a:avLst>
          </a:prstGeom>
          <a:solidFill>
            <a:srgbClr val="0E2A1B"/>
          </a:solidFill>
          <a:ln w="12700">
            <a:solidFill>
              <a:srgbClr val="0E2A1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974336"/>
            <a:ext cx="1037844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clearest single illustration of the thesis’s argument: the specification’s chosen model lost, and it lost to a change of protocol rather than to a change of architecture.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Efficiency Is Not Monotone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424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macro-F1 over 5 seeds per training-set size.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371600"/>
          <a:ext cx="6309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371600"/>
          <a:ext cx="91440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078992"/>
                <a:gridCol w="1069848"/>
                <a:gridCol w="107899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(clock rule)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671 (all)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27432" marB="27432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949440" y="3584448"/>
            <a:ext cx="4645152" cy="1536192"/>
          </a:xfrm>
          <a:prstGeom prst="roundRect">
            <a:avLst>
              <a:gd name="adj" fmla="val 2976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223760" y="3767328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Twenty-five labels already beat the zero-label clock rule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practical answer for a new site.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4425696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B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labels made the models worse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ConvNeXtV2 peaks at 100 and is worse with all 671.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4360" y="5321808"/>
            <a:ext cx="11000232" cy="804672"/>
          </a:xfrm>
          <a:prstGeom prst="roundRect">
            <a:avLst>
              <a:gd name="adj" fmla="val 5682"/>
            </a:avLst>
          </a:prstGeom>
          <a:solidFill>
            <a:srgbClr val="FCF0E7"/>
          </a:solidFill>
          <a:ln w="9525">
            <a:solidFill>
              <a:srgbClr val="E9C9A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14400" y="5321808"/>
            <a:ext cx="10378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Why.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subsampling accidentally de-confounds the data — the small subsets break the day/night correlation that the full set restores.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0E2A1B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97BC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0E2A1B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Uncomfortable Zero-Shot Result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4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42416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searched OpenCLIP prompt beats every trained probe on cross-venue play-recall — using no labels at all.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444752"/>
            <a:ext cx="3547872" cy="1234440"/>
          </a:xfrm>
          <a:prstGeom prst="roundRect">
            <a:avLst>
              <a:gd name="adj" fmla="val 3704"/>
            </a:avLst>
          </a:prstGeom>
          <a:solidFill>
            <a:srgbClr val="18382A"/>
          </a:solidFill>
          <a:ln w="12700">
            <a:solidFill>
              <a:srgbClr val="1838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1591056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0.9883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226771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7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cross-venue play-recall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0540" y="1444752"/>
            <a:ext cx="3547872" cy="1234440"/>
          </a:xfrm>
          <a:prstGeom prst="roundRect">
            <a:avLst>
              <a:gd name="adj" fmla="val 3704"/>
            </a:avLst>
          </a:prstGeom>
          <a:solidFill>
            <a:srgbClr val="18382A"/>
          </a:solidFill>
          <a:ln w="12700">
            <a:solidFill>
              <a:srgbClr val="1838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6572" y="1591056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576572" y="226771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7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false-play rate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444752"/>
            <a:ext cx="3547872" cy="1234440"/>
          </a:xfrm>
          <a:prstGeom prst="roundRect">
            <a:avLst>
              <a:gd name="adj" fmla="val 3704"/>
            </a:avLst>
          </a:prstGeom>
          <a:solidFill>
            <a:srgbClr val="18382A"/>
          </a:solidFill>
          <a:ln w="12700">
            <a:solidFill>
              <a:srgbClr val="1838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2752" y="1591056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226771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7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used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2852928"/>
            <a:ext cx="11000232" cy="749808"/>
          </a:xfrm>
          <a:prstGeom prst="roundRect">
            <a:avLst>
              <a:gd name="adj" fmla="val 6098"/>
            </a:avLst>
          </a:prstGeom>
          <a:solidFill>
            <a:srgbClr val="B4531A"/>
          </a:solidFill>
          <a:ln w="12700">
            <a:solidFill>
              <a:srgbClr val="B453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852928"/>
            <a:ext cx="11000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DEVELOPMENT-GRADE  —  THIS IS NOT A DEFENSIBLE RESULT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94360" y="3749040"/>
            <a:ext cx="6172200" cy="2514600"/>
          </a:xfrm>
          <a:prstGeom prst="roundRect">
            <a:avLst>
              <a:gd name="adj" fmla="val 1818"/>
            </a:avLst>
          </a:prstGeom>
          <a:solidFill>
            <a:srgbClr val="18382A"/>
          </a:solidFill>
          <a:ln w="12700">
            <a:solidFill>
              <a:srgbClr val="1838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39684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DOES NOT COUNT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4279392"/>
            <a:ext cx="5596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was selected on the same folds it is scored on, which is precisely the leakage this thesis is about. It is reported as a demonstration that the prompt space is worth searching properly, and as a candidate for the locked final test set — not as a headline number.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5504688"/>
            <a:ext cx="5596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this rather than quietly dropping it is the point. A result that flatters the project and is not defensible gets the same treatment as one that does not.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95160" y="3749040"/>
            <a:ext cx="4599432" cy="2514600"/>
          </a:xfrm>
          <a:prstGeom prst="roundRect">
            <a:avLst>
              <a:gd name="adj" fmla="val 1818"/>
            </a:avLst>
          </a:prstGeom>
          <a:solidFill>
            <a:srgbClr val="18382A"/>
          </a:solidFill>
          <a:ln w="12700">
            <a:solidFill>
              <a:srgbClr val="1838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69480" y="39684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PROMPT TRIPLE FOUND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69480" y="4352544"/>
            <a:ext cx="4050792" cy="512064"/>
          </a:xfrm>
          <a:prstGeom prst="roundRect">
            <a:avLst>
              <a:gd name="adj" fmla="val 7143"/>
            </a:avLst>
          </a:prstGeom>
          <a:solidFill>
            <a:srgbClr val="0B2317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0" y="4352544"/>
            <a:ext cx="3822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7D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empty football pitch with nobody on it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69480" y="4974336"/>
            <a:ext cx="4050792" cy="512064"/>
          </a:xfrm>
          <a:prstGeom prst="roundRect">
            <a:avLst>
              <a:gd name="adj" fmla="val 7143"/>
            </a:avLst>
          </a:prstGeom>
          <a:solidFill>
            <a:srgbClr val="0B2317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06640" y="4974336"/>
            <a:ext cx="3822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7D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footballers running on an artificial turf pitch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69480" y="5596128"/>
            <a:ext cx="4050792" cy="512064"/>
          </a:xfrm>
          <a:prstGeom prst="roundRect">
            <a:avLst>
              <a:gd name="adj" fmla="val 7143"/>
            </a:avLst>
          </a:prstGeom>
          <a:solidFill>
            <a:srgbClr val="0B2317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06640" y="5596128"/>
            <a:ext cx="3822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7D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maintenance machinery on an artificial turf field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End-to-End: The Reconciliation Layer Works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8755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recorded slots, both classified correctly, both reconciled against booking records.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16736"/>
          <a:ext cx="91440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777240"/>
                <a:gridCol w="914400"/>
                <a:gridCol w="1234440"/>
                <a:gridCol w="2423160"/>
                <a:gridCol w="331927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venue_01, 11 Jul, 10:00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booked, staff say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45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NO_SHOW_OR_OVERRECORDED (warning)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venue_01, 11 Jul, 10:00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booked, staff say unused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venue_01, 12 Jul, 20:30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booked, staff say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venue_01, 12 Jul, 20:30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booked at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C1D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UNBOOKED_USAGE (serious)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94360" y="3090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VALIDATED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" y="3383280"/>
            <a:ext cx="3547872" cy="402336"/>
          </a:xfrm>
          <a:prstGeom prst="roundRect">
            <a:avLst>
              <a:gd name="adj" fmla="val 11364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529584"/>
            <a:ext cx="109728" cy="109728"/>
          </a:xfrm>
          <a:prstGeom prst="ellipse">
            <a:avLst/>
          </a:prstGeom>
          <a:solidFill>
            <a:srgbClr val="6E9440"/>
          </a:solidFill>
          <a:ln w="12700">
            <a:solidFill>
              <a:srgbClr val="6E944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78408" y="338328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worker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20540" y="3383280"/>
            <a:ext cx="3547872" cy="402336"/>
          </a:xfrm>
          <a:prstGeom prst="roundRect">
            <a:avLst>
              <a:gd name="adj" fmla="val 11364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03420" y="3529584"/>
            <a:ext cx="109728" cy="109728"/>
          </a:xfrm>
          <a:prstGeom prst="ellipse">
            <a:avLst/>
          </a:prstGeom>
          <a:solidFill>
            <a:srgbClr val="6E9440"/>
          </a:solidFill>
          <a:ln w="12700">
            <a:solidFill>
              <a:srgbClr val="6E944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04588" y="338328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two-camera fusion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6720" y="3383280"/>
            <a:ext cx="3547872" cy="402336"/>
          </a:xfrm>
          <a:prstGeom prst="roundRect">
            <a:avLst>
              <a:gd name="adj" fmla="val 11364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0" y="3529584"/>
            <a:ext cx="109728" cy="109728"/>
          </a:xfrm>
          <a:prstGeom prst="ellipse">
            <a:avLst/>
          </a:prstGeom>
          <a:solidFill>
            <a:srgbClr val="6E9440"/>
          </a:solidFill>
          <a:ln w="12700">
            <a:solidFill>
              <a:srgbClr val="6E94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30768" y="338328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aggregation with evidence selection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4360" y="3858768"/>
            <a:ext cx="3547872" cy="402336"/>
          </a:xfrm>
          <a:prstGeom prst="roundRect">
            <a:avLst>
              <a:gd name="adj" fmla="val 11364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4005072"/>
            <a:ext cx="109728" cy="109728"/>
          </a:xfrm>
          <a:prstGeom prst="ellipse">
            <a:avLst/>
          </a:prstGeom>
          <a:solidFill>
            <a:srgbClr val="6E9440"/>
          </a:solidFill>
          <a:ln w="12700">
            <a:solidFill>
              <a:srgbClr val="6E94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78408" y="385876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with anomalies per field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20540" y="3858768"/>
            <a:ext cx="3547872" cy="402336"/>
          </a:xfrm>
          <a:prstGeom prst="roundRect">
            <a:avLst>
              <a:gd name="adj" fmla="val 11364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03420" y="4005072"/>
            <a:ext cx="109728" cy="109728"/>
          </a:xfrm>
          <a:prstGeom prst="ellipse">
            <a:avLst/>
          </a:prstGeom>
          <a:solidFill>
            <a:srgbClr val="6E9440"/>
          </a:solidFill>
          <a:ln w="12700">
            <a:solidFill>
              <a:srgbClr val="6E944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04588" y="385876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evidence store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046720" y="3858768"/>
            <a:ext cx="3547872" cy="402336"/>
          </a:xfrm>
          <a:prstGeom prst="roundRect">
            <a:avLst>
              <a:gd name="adj" fmla="val 11364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29600" y="4005072"/>
            <a:ext cx="109728" cy="109728"/>
          </a:xfrm>
          <a:prstGeom prst="ellipse">
            <a:avLst/>
          </a:prstGeom>
          <a:solidFill>
            <a:srgbClr val="6E9440"/>
          </a:solidFill>
          <a:ln w="12700">
            <a:solidFill>
              <a:srgbClr val="6E944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30768" y="385876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94360" y="4645152"/>
            <a:ext cx="11000232" cy="1481328"/>
          </a:xfrm>
          <a:prstGeom prst="roundRect">
            <a:avLst>
              <a:gd name="adj" fmla="val 3086"/>
            </a:avLst>
          </a:prstGeom>
          <a:solidFill>
            <a:srgbClr val="FCF0E7"/>
          </a:solidFill>
          <a:ln w="9525">
            <a:solidFill>
              <a:srgbClr val="E9C9A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" y="484632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B45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at n = 2 and labelled as such.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914400" y="5285232"/>
            <a:ext cx="10378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precision and recall cannot be measured without adjudicated ground truth on which slots really were no-shows, and that ground truth does not exist yet.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Limits, Reported as Findings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2412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1,692 frames, 10 venues. Each of these was measured, written down, and used to scope a claim.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5358384" cy="1417320"/>
          </a:xfrm>
          <a:prstGeom prst="roundRect">
            <a:avLst>
              <a:gd name="adj" fmla="val 3226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572768"/>
            <a:ext cx="4809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exists at one venue only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103120"/>
            <a:ext cx="4809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494 frames from a single morning recording. No split can produce a held-out venue containing both EMPTY and ACTIVE_PLAY, so cross-venue evaluation is restricted to ACTIVE_PLAY recall.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71800"/>
            <a:ext cx="5358384" cy="1417320"/>
          </a:xfrm>
          <a:prstGeom prst="roundRect">
            <a:avLst>
              <a:gd name="adj" fmla="val 3226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172968"/>
            <a:ext cx="4809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has 6 frames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703320"/>
            <a:ext cx="4809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 about that class is made; metrics are reported two-class where its support is zero, stated in every table.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4572000"/>
            <a:ext cx="5358384" cy="1417320"/>
          </a:xfrm>
          <a:prstGeom prst="roundRect">
            <a:avLst>
              <a:gd name="adj" fmla="val 3226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773168"/>
            <a:ext cx="4809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is confounded with illumination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303520"/>
            <a:ext cx="4809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485 day / 9 night; ACTIVE_PLAY 222 day / 970 night.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6208" y="1371600"/>
            <a:ext cx="5358384" cy="1417320"/>
          </a:xfrm>
          <a:prstGeom prst="roundRect">
            <a:avLst>
              <a:gd name="adj" fmla="val 3226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0528" y="1572768"/>
            <a:ext cx="4809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grouped test fold is 99% single-class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2103120"/>
            <a:ext cx="4809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Degenerate, which is why the risk–coverage and calibration question cannot be answered on this data.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6208" y="2971800"/>
            <a:ext cx="5358384" cy="1417320"/>
          </a:xfrm>
          <a:prstGeom prst="roundRect">
            <a:avLst>
              <a:gd name="adj" fmla="val 3226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0528" y="3172968"/>
            <a:ext cx="4809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real labelled slots exist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3703320"/>
            <a:ext cx="4809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roughly 30 needed for a slot-level headline result.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36208" y="4572000"/>
            <a:ext cx="5358384" cy="1417320"/>
          </a:xfrm>
          <a:prstGeom prst="roundRect">
            <a:avLst>
              <a:gd name="adj" fmla="val 3226"/>
            </a:avLst>
          </a:prstGeom>
          <a:solidFill>
            <a:srgbClr val="0E2A1B"/>
          </a:solidFill>
          <a:ln w="12700">
            <a:solidFill>
              <a:srgbClr val="0E2A1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0528" y="47731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PRE-REGISTERED, NOT RETROFITTED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510528" y="5084064"/>
            <a:ext cx="4809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hypotheses, decision rules, and an explicit “not answerable with this data” section, before the final test set was touched. </a:t>
            </a:r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venues (19 clips, 29% of the clip data) are locked and unevaluated, enforced in code.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Versus Actual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60704"/>
          <a:ext cx="9144000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6839712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now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Four-model CPU benchmark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and it reversed the pilot’s model choice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Leakage-free multi-venue evaluation with full statistics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bootstrap CIs, McNemar with exact regime, Holm correction, effect sizes, effective sample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Trivial-baseline floor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— clock rule and colour histogram, and both are informative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Three-class cross-venue 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C1D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answerable.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empty pitch exists outside one venue.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Slot-Temporal Aggregation Network as a headline 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45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Rescoped to preliminary.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Real test set is n = 2; the pre-registered gate requires 30.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Gated multi-backbone fusion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Promoted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to carry the M4 gate — it is frame-level and blocked by nothing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Risk–coverage / review-rate operating 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45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by the data.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Machinery built and tested; the test fold is degenerate.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Context-aware multimodal head, distillation and quantisation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Stretch tier</a:t>
                      </a:r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Mini-PC 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as a deployment plan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with development-hardware 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dataset release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C1D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7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by the ethics position on operator-supplied footage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5440680"/>
            <a:ext cx="11000232" cy="804672"/>
          </a:xfrm>
          <a:prstGeom prst="roundRect">
            <a:avLst>
              <a:gd name="adj" fmla="val 5682"/>
            </a:avLst>
          </a:prstGeom>
          <a:solidFill>
            <a:srgbClr val="0E2A1B"/>
          </a:solidFill>
          <a:ln w="12700">
            <a:solidFill>
              <a:srgbClr val="0E2A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440680"/>
            <a:ext cx="10378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was discovered at the defence. Each rescope is dated and recorded with its reason.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E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058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multi-backbone fusion carries the next milestone gate.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headroom is measured, not assumed.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353312"/>
            <a:ext cx="3977640" cy="1600200"/>
          </a:xfrm>
          <a:prstGeom prst="roundRect">
            <a:avLst>
              <a:gd name="adj" fmla="val 2857"/>
            </a:avLst>
          </a:prstGeom>
          <a:solidFill>
            <a:srgbClr val="0E2A1B"/>
          </a:solidFill>
          <a:ln w="12700">
            <a:solidFill>
              <a:srgbClr val="0E2A1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48132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+3.1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30428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7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complementarity a gate would have to capture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090672"/>
            <a:ext cx="3977640" cy="1463040"/>
          </a:xfrm>
          <a:prstGeom prst="roundRect">
            <a:avLst>
              <a:gd name="adj" fmla="val 3125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2735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ORACLE CEILING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56616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per-fold oracle over the three backbones scores 0.9603 against DINOv2’s 0.9297. DINOv2 leads overall but is strictly beaten on three of seven folds.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3977640" cy="1572768"/>
          </a:xfrm>
          <a:prstGeom prst="roundRect">
            <a:avLst>
              <a:gd name="adj" fmla="val 2907"/>
            </a:avLst>
          </a:prstGeom>
          <a:solidFill>
            <a:srgbClr val="FCF0E7"/>
          </a:solidFill>
          <a:ln w="9525">
            <a:solidFill>
              <a:srgbClr val="E9C9A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873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B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CAVEAT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16636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A3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 is an oracle ceiling assuming perfect per-venue selection. A clean negative result is a likely and acceptable outcome, and is pre-registered as such.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1353312"/>
            <a:ext cx="670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conditions stated in the same breath, or this becomes a fishing trip: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1673352"/>
            <a:ext cx="6702552" cy="1371600"/>
          </a:xfrm>
          <a:prstGeom prst="roundRect">
            <a:avLst>
              <a:gd name="adj" fmla="val 3333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1865376"/>
            <a:ext cx="347472" cy="34747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66360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18836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logit averaging is run first.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223113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naive ensemble captures most of the +3.1, the ensemble is the contribution and the gate is a documented negative result.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3182112"/>
            <a:ext cx="6702552" cy="1554480"/>
          </a:xfrm>
          <a:prstGeom prst="roundRect">
            <a:avLst>
              <a:gd name="adj" fmla="val 2941"/>
            </a:avLst>
          </a:prstGeom>
          <a:solidFill>
            <a:srgbClr val="F1F4EE"/>
          </a:solidFill>
          <a:ln w="9525">
            <a:solidFill>
              <a:srgbClr val="D5E0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3374136"/>
            <a:ext cx="347472" cy="34747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66360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39242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axes are reported, never recall alone.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3739896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F7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sees cheap image statistics — brightness and contrast — which at the main venue are nearly a day/night indicator, which is nearly the class label. A gate can re-learn the same shortcut and score well for the wrong reason.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4873752"/>
            <a:ext cx="6702552" cy="1389888"/>
          </a:xfrm>
          <a:prstGeom prst="roundRect">
            <a:avLst>
              <a:gd name="adj" fmla="val 3289"/>
            </a:avLst>
          </a:prstGeom>
          <a:solidFill>
            <a:srgbClr val="FBECEA"/>
          </a:solidFill>
          <a:ln w="9525">
            <a:solidFill>
              <a:srgbClr val="E3BFB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3792" y="50566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OUTSTANDING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193792" y="5349240"/>
            <a:ext cx="6144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written labelling protocol. </a:t>
            </a:r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6E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rests on 1,692 labels whose definition currently lives in one person’s head. It is a writing task, it is cheap, and it is the one genuine hole in the thesis floor.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2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365760" cy="230429"/>
          </a:xfrm>
          <a:prstGeom prst="rect">
            <a:avLst/>
          </a:prstGeom>
          <a:solidFill>
            <a:srgbClr val="0E2A1B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20624"/>
            <a:ext cx="0" cy="230429"/>
          </a:xfrm>
          <a:prstGeom prst="line">
            <a:avLst/>
          </a:prstGeom>
          <a:noFill/>
          <a:ln w="15875">
            <a:solidFill>
              <a:srgbClr val="97BC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3722" y="489753"/>
            <a:ext cx="92172" cy="92172"/>
          </a:xfrm>
          <a:prstGeom prst="ellipse">
            <a:avLst/>
          </a:prstGeom>
          <a:solidFill>
            <a:srgbClr val="0E2A1B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329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835640" y="420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spc="100" kern="0" dirty="0">
                <a:solidFill>
                  <a:srgbClr val="4E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4241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claims, each scoped to what the data supports.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444752"/>
            <a:ext cx="5358384" cy="1965960"/>
          </a:xfrm>
          <a:prstGeom prst="roundRect">
            <a:avLst>
              <a:gd name="adj" fmla="val 2326"/>
            </a:avLst>
          </a:prstGeom>
          <a:solidFill>
            <a:srgbClr val="18382A"/>
          </a:solidFill>
          <a:ln w="12700">
            <a:solidFill>
              <a:srgbClr val="1838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682496"/>
            <a:ext cx="329184" cy="32918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682496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measurement result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157984"/>
            <a:ext cx="4809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7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leakage-free venue-grouped evaluation the model ranking inverts, and a practitioner following the weaker protocol would deploy the weakest generaliser. Paired with a trivial-baseline floor — a clock rule within 0.007 macro-F1 of a deep probe using no pixels — this is a contribution about how such systems are evaluated, and it survives every data limitation intact.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1444752"/>
            <a:ext cx="5358384" cy="1965960"/>
          </a:xfrm>
          <a:prstGeom prst="roundRect">
            <a:avLst>
              <a:gd name="adj" fmla="val 2326"/>
            </a:avLst>
          </a:prstGeom>
          <a:solidFill>
            <a:srgbClr val="18382A"/>
          </a:solidFill>
          <a:ln w="12700">
            <a:solidFill>
              <a:srgbClr val="1838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1682496"/>
            <a:ext cx="329184" cy="32918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0528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967728" y="1682496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two-axis correction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10528" y="2157984"/>
            <a:ext cx="4809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7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Cross-venue recall alone recommends the model that calls 99.2% of empty pitches a match. Reporting recall and false-play together changes the recommendation.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3611880"/>
            <a:ext cx="5358384" cy="1965960"/>
          </a:xfrm>
          <a:prstGeom prst="roundRect">
            <a:avLst>
              <a:gd name="adj" fmla="val 2326"/>
            </a:avLst>
          </a:prstGeom>
          <a:solidFill>
            <a:srgbClr val="18382A"/>
          </a:solidFill>
          <a:ln w="12700">
            <a:solidFill>
              <a:srgbClr val="1838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849624"/>
            <a:ext cx="329184" cy="32918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849624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325112"/>
            <a:ext cx="4809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7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sampling to slot verdict to booking reconciliation, CPU-only, validated end to end and reported at the sample size that exists.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36208" y="3611880"/>
            <a:ext cx="5358384" cy="1965960"/>
          </a:xfrm>
          <a:prstGeom prst="roundRect">
            <a:avLst>
              <a:gd name="adj" fmla="val 2326"/>
            </a:avLst>
          </a:prstGeom>
          <a:solidFill>
            <a:srgbClr val="18382A"/>
          </a:solidFill>
          <a:ln w="12700">
            <a:solidFill>
              <a:srgbClr val="1838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0528" y="3849624"/>
            <a:ext cx="329184" cy="32918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0528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E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67728" y="3849624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limits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510528" y="4325112"/>
            <a:ext cx="4809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7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dated, pre-registered, and used to scope every claim rather than discovered under examination.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587044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protocol, not the architecture, turned out to be the result.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Master's thesis progress review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Low-Bandwidth, CPU-Only Occupancy Verification for Multi-Pitch Football Facilities</dc:title>
  <dc:subject>Thesis progress presentation</dc:subject>
  <dc:creator>Mariam Srour</dc:creator>
  <cp:lastModifiedBy>Mariam Srour</cp:lastModifiedBy>
  <cp:revision>1</cp:revision>
  <dcterms:created xsi:type="dcterms:W3CDTF">2026-09-08T18:38:13Z</dcterms:created>
  <dcterms:modified xsi:type="dcterms:W3CDTF">2026-09-08T18:38:13Z</dcterms:modified>
</cp:coreProperties>
</file>