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image" Target="../media/image-23-4.jpg"/><Relationship Id="rId5" Type="http://schemas.openxmlformats.org/officeDocument/2006/relationships/image" Target="../media/image-23-5.jpg"/><Relationship Id="rId6" Type="http://schemas.openxmlformats.org/officeDocument/2006/relationships/image" Target="../media/image-23-6.jp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1.jp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1.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1.jpg"/><Relationship Id="rId3" Type="http://schemas.openxmlformats.org/officeDocument/2006/relationships/image" Target="../media/image-27-1.jpg"/><Relationship Id="rId4" Type="http://schemas.openxmlformats.org/officeDocument/2006/relationships/image" Target="../media/image-27-1.jp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gradFill rotWithShape="1">
            <a:gsLst>
              <a:gs pos="0">
                <a:srgbClr val="0E1B2C"/>
              </a:gs>
              <a:gs pos="60000">
                <a:srgbClr val="16283F"/>
              </a:gs>
              <a:gs pos="100000">
                <a:srgbClr val="0B2A3A"/>
              </a:gs>
            </a:gsLst>
            <a:lin ang="3000000" scaled="0"/>
          </a:gradFill>
          <a:ln/>
        </p:spPr>
      </p:sp>
      <p:sp>
        <p:nvSpPr>
          <p:cNvPr id="3" name="Text 1"/>
          <p:cNvSpPr/>
          <p:nvPr/>
        </p:nvSpPr>
        <p:spPr>
          <a:xfrm>
            <a:off x="822960" y="1664208"/>
            <a:ext cx="10545775" cy="292608"/>
          </a:xfrm>
          <a:prstGeom prst="rect">
            <a:avLst/>
          </a:prstGeom>
          <a:noFill/>
          <a:ln/>
        </p:spPr>
        <p:txBody>
          <a:bodyPr wrap="square" rtlCol="0" anchor="b"/>
          <a:lstStyle/>
          <a:p>
            <a:pPr indent="0" marL="0">
              <a:buNone/>
            </a:pPr>
            <a:r>
              <a:rPr lang="en-US" sz="1200" b="1" spc="300" kern="0" dirty="0">
                <a:solidFill>
                  <a:srgbClr val="BBC9D6"/>
                </a:solidFill>
                <a:latin typeface="Consolas" pitchFamily="34" charset="0"/>
                <a:ea typeface="Consolas" pitchFamily="34" charset="-122"/>
                <a:cs typeface="Consolas" pitchFamily="34" charset="-120"/>
              </a:rPr>
              <a:t>MASTER'S THESIS · DEFENCE</a:t>
            </a:r>
            <a:endParaRPr lang="en-US" sz="1200" dirty="0"/>
          </a:p>
        </p:txBody>
      </p:sp>
      <p:sp>
        <p:nvSpPr>
          <p:cNvPr id="4" name="Text 2"/>
          <p:cNvSpPr/>
          <p:nvPr/>
        </p:nvSpPr>
        <p:spPr>
          <a:xfrm>
            <a:off x="822960" y="2048256"/>
            <a:ext cx="10332720" cy="1288288"/>
          </a:xfrm>
          <a:prstGeom prst="rect">
            <a:avLst/>
          </a:prstGeom>
          <a:noFill/>
          <a:ln/>
        </p:spPr>
        <p:txBody>
          <a:bodyPr wrap="square" rtlCol="0" anchor="t"/>
          <a:lstStyle/>
          <a:p>
            <a:pPr indent="0" marL="0">
              <a:lnSpc>
                <a:spcPts val="4640"/>
              </a:lnSpc>
              <a:buNone/>
            </a:pPr>
            <a:r>
              <a:rPr lang="en-US" sz="4000" b="1" dirty="0">
                <a:solidFill>
                  <a:srgbClr val="FFFFFF"/>
                </a:solidFill>
                <a:latin typeface="Segoe UI" pitchFamily="34" charset="0"/>
                <a:ea typeface="Segoe UI" pitchFamily="34" charset="-122"/>
                <a:cs typeface="Segoe UI" pitchFamily="34" charset="-120"/>
              </a:rPr>
              <a:t>Playground Activity Detection using Deep Learning</a:t>
            </a:r>
            <a:endParaRPr lang="en-US" sz="4000" dirty="0"/>
          </a:p>
        </p:txBody>
      </p:sp>
      <p:sp>
        <p:nvSpPr>
          <p:cNvPr id="5" name="Text 3"/>
          <p:cNvSpPr/>
          <p:nvPr/>
        </p:nvSpPr>
        <p:spPr>
          <a:xfrm>
            <a:off x="822960" y="3574288"/>
            <a:ext cx="9509760" cy="415290"/>
          </a:xfrm>
          <a:prstGeom prst="rect">
            <a:avLst/>
          </a:prstGeom>
          <a:noFill/>
          <a:ln/>
        </p:spPr>
        <p:txBody>
          <a:bodyPr wrap="square" rtlCol="0" anchor="t"/>
          <a:lstStyle/>
          <a:p>
            <a:pPr indent="0" marL="0">
              <a:lnSpc>
                <a:spcPts val="2550"/>
              </a:lnSpc>
              <a:buNone/>
            </a:pPr>
            <a:r>
              <a:rPr lang="en-US" sz="1700" dirty="0">
                <a:solidFill>
                  <a:srgbClr val="DCE6EE"/>
                </a:solidFill>
                <a:latin typeface="Segoe UI" pitchFamily="34" charset="0"/>
                <a:ea typeface="Segoe UI" pitchFamily="34" charset="-122"/>
                <a:cs typeface="Segoe UI" pitchFamily="34" charset="-120"/>
              </a:rPr>
              <a:t>A CPU-only system that detects activity and verifies booked pitch usage.</a:t>
            </a:r>
            <a:endParaRPr lang="en-US" sz="1700" dirty="0"/>
          </a:p>
        </p:txBody>
      </p:sp>
      <p:sp>
        <p:nvSpPr>
          <p:cNvPr id="6" name="Shape 4"/>
          <p:cNvSpPr/>
          <p:nvPr/>
        </p:nvSpPr>
        <p:spPr>
          <a:xfrm>
            <a:off x="822960" y="4498848"/>
            <a:ext cx="3108960" cy="20117"/>
          </a:xfrm>
          <a:prstGeom prst="rect">
            <a:avLst/>
          </a:prstGeom>
          <a:solidFill>
            <a:srgbClr val="4E657C"/>
          </a:solidFill>
          <a:ln/>
        </p:spPr>
      </p:sp>
      <p:sp>
        <p:nvSpPr>
          <p:cNvPr id="7" name="Text 5"/>
          <p:cNvSpPr/>
          <p:nvPr/>
        </p:nvSpPr>
        <p:spPr>
          <a:xfrm>
            <a:off x="822960" y="4736592"/>
            <a:ext cx="7315200" cy="868680"/>
          </a:xfrm>
          <a:prstGeom prst="rect">
            <a:avLst/>
          </a:prstGeom>
          <a:noFill/>
          <a:ln/>
        </p:spPr>
        <p:txBody>
          <a:bodyPr wrap="square" rtlCol="0" anchor="t"/>
          <a:lstStyle/>
          <a:p>
            <a:pPr indent="0" marL="0">
              <a:lnSpc>
                <a:spcPts val="2700"/>
              </a:lnSpc>
              <a:buNone/>
            </a:pPr>
            <a:r>
              <a:rPr lang="en-US" sz="2000" b="1" dirty="0">
                <a:solidFill>
                  <a:srgbClr val="FFFFFF"/>
                </a:solidFill>
                <a:latin typeface="Segoe UI" pitchFamily="34" charset="0"/>
                <a:ea typeface="Segoe UI" pitchFamily="34" charset="-122"/>
                <a:cs typeface="Segoe UI" pitchFamily="34" charset="-120"/>
              </a:rPr>
              <a:t>Fady Khazaka</a:t>
            </a:r>
            <a:endParaRPr lang="en-US" sz="2000" dirty="0"/>
          </a:p>
          <a:p>
            <a:pPr indent="0" marL="0">
              <a:lnSpc>
                <a:spcPts val="2700"/>
              </a:lnSpc>
              <a:buNone/>
            </a:pPr>
            <a:r>
              <a:rPr lang="en-US" sz="1450" dirty="0">
                <a:solidFill>
                  <a:srgbClr val="C6D3DF"/>
                </a:solidFill>
                <a:latin typeface="Segoe UI" pitchFamily="34" charset="0"/>
                <a:ea typeface="Segoe UI" pitchFamily="34" charset="-122"/>
                <a:cs typeface="Segoe UI" pitchFamily="34" charset="-120"/>
              </a:rPr>
              <a:t>Supervisor: Dr. Mohammad Khalil</a:t>
            </a:r>
            <a:endParaRPr lang="en-US" sz="2000" dirty="0"/>
          </a:p>
        </p:txBody>
      </p:sp>
    </p:spTree>
  </p:cSld>
  <p:clrMapOvr>
    <a:masterClrMapping/>
  </p:clrMapOvr>
  <mc:AlternateContent xmlns:mc="http://schemas.openxmlformats.org/markup-compatibility/2006">
    <mc:Choice xmlns:p14="http://schemas.microsoft.com/office/powerpoint/2010/main" Requires="p14">
      <p:transition spd="slow" p14:dur="7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20" fill="hold"/>
                                        <p:tgtEl>
                                          <p:spTgt spid="3"/>
                                        </p:tgtEl>
                                        <p:attrNameLst>
                                          <p:attrName>ppt_y</p:attrName>
                                        </p:attrNameLst>
                                      </p:cBhvr>
                                      <p:tavLst>
                                        <p:tav tm="0">
                                          <p:val>
                                            <p:strVal val="#ppt_y+0.035"/>
                                          </p:val>
                                        </p:tav>
                                        <p:tav tm="100000">
                                          <p:val>
                                            <p:strVal val="#ppt_y"/>
                                          </p:val>
                                        </p:tav>
                                      </p:tavLst>
                                    </p:anim>
                                    <p:animEffect transition="in" filter="fade">
                                      <p:cBhvr>
                                        <p:cTn id="8" dur="52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275"/>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20" fill="hold"/>
                                        <p:tgtEl>
                                          <p:spTgt spid="4"/>
                                        </p:tgtEl>
                                        <p:attrNameLst>
                                          <p:attrName>ppt_y</p:attrName>
                                        </p:attrNameLst>
                                      </p:cBhvr>
                                      <p:tavLst>
                                        <p:tav tm="0">
                                          <p:val>
                                            <p:strVal val="#ppt_y+0.035"/>
                                          </p:val>
                                        </p:tav>
                                        <p:tav tm="100000">
                                          <p:val>
                                            <p:strVal val="#ppt_y"/>
                                          </p:val>
                                        </p:tav>
                                      </p:tavLst>
                                    </p:anim>
                                    <p:animEffect transition="in" filter="fade">
                                      <p:cBhvr>
                                        <p:cTn id="14" dur="52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grpId="0" nodeType="afterEffect">
                                  <p:stCondLst>
                                    <p:cond delay="275"/>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20" fill="hold"/>
                                        <p:tgtEl>
                                          <p:spTgt spid="5"/>
                                        </p:tgtEl>
                                        <p:attrNameLst>
                                          <p:attrName>ppt_y</p:attrName>
                                        </p:attrNameLst>
                                      </p:cBhvr>
                                      <p:tavLst>
                                        <p:tav tm="0">
                                          <p:val>
                                            <p:strVal val="#ppt_y+0.035"/>
                                          </p:val>
                                        </p:tav>
                                        <p:tav tm="100000">
                                          <p:val>
                                            <p:strVal val="#ppt_y"/>
                                          </p:val>
                                        </p:tav>
                                      </p:tavLst>
                                    </p:anim>
                                    <p:animEffect transition="in" filter="fade">
                                      <p:cBhvr>
                                        <p:cTn id="20" dur="52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4" presetClass="entr" presetSubtype="0" fill="hold" grpId="0" nodeType="afterEffect">
                                  <p:stCondLst>
                                    <p:cond delay="275"/>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20" fill="hold"/>
                                        <p:tgtEl>
                                          <p:spTgt spid="6"/>
                                        </p:tgtEl>
                                        <p:attrNameLst>
                                          <p:attrName>ppt_y</p:attrName>
                                        </p:attrNameLst>
                                      </p:cBhvr>
                                      <p:tavLst>
                                        <p:tav tm="0">
                                          <p:val>
                                            <p:strVal val="#ppt_y+0.035"/>
                                          </p:val>
                                        </p:tav>
                                        <p:tav tm="100000">
                                          <p:val>
                                            <p:strVal val="#ppt_y"/>
                                          </p:val>
                                        </p:tav>
                                      </p:tavLst>
                                    </p:anim>
                                    <p:animEffect transition="in" filter="fade">
                                      <p:cBhvr>
                                        <p:cTn id="26" dur="520"/>
                                        <p:tgtEl>
                                          <p:spTgt spid="6"/>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20" fill="hold"/>
                                        <p:tgtEl>
                                          <p:spTgt spid="7"/>
                                        </p:tgtEl>
                                        <p:attrNameLst>
                                          <p:attrName>ppt_y</p:attrName>
                                        </p:attrNameLst>
                                      </p:cBhvr>
                                      <p:tavLst>
                                        <p:tav tm="0">
                                          <p:val>
                                            <p:strVal val="#ppt_y+0.035"/>
                                          </p:val>
                                        </p:tav>
                                        <p:tav tm="100000">
                                          <p:val>
                                            <p:strVal val="#ppt_y"/>
                                          </p:val>
                                        </p:tav>
                                      </p:tavLst>
                                    </p:anim>
                                    <p:animEffect transition="in" filter="fade">
                                      <p:cBhvr>
                                        <p:cTn id="30" dur="52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2.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SUMMARY</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The abstract</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0D6D78"/>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a:t>
            </a:r>
            <a:endParaRPr lang="en-US" sz="1000" dirty="0"/>
          </a:p>
        </p:txBody>
      </p:sp>
      <p:sp>
        <p:nvSpPr>
          <p:cNvPr id="7" name="Shape 5"/>
          <p:cNvSpPr/>
          <p:nvPr/>
        </p:nvSpPr>
        <p:spPr>
          <a:xfrm>
            <a:off x="502920" y="1444752"/>
            <a:ext cx="11185855" cy="2084832"/>
          </a:xfrm>
          <a:prstGeom prst="roundRect">
            <a:avLst>
              <a:gd name="adj" fmla="val 3509"/>
            </a:avLst>
          </a:prstGeom>
          <a:solidFill>
            <a:srgbClr val="3FA7E0"/>
          </a:solidFill>
          <a:ln/>
        </p:spPr>
      </p:sp>
      <p:sp>
        <p:nvSpPr>
          <p:cNvPr id="8" name="Shape 6"/>
          <p:cNvSpPr/>
          <p:nvPr/>
        </p:nvSpPr>
        <p:spPr>
          <a:xfrm>
            <a:off x="585216" y="1444752"/>
            <a:ext cx="11103559" cy="2084832"/>
          </a:xfrm>
          <a:prstGeom prst="roundRect">
            <a:avLst>
              <a:gd name="adj" fmla="val 3509"/>
            </a:avLst>
          </a:prstGeom>
          <a:solidFill>
            <a:srgbClr val="FFFFFF"/>
          </a:solidFill>
          <a:ln/>
        </p:spPr>
      </p:sp>
      <p:sp>
        <p:nvSpPr>
          <p:cNvPr id="9" name="Text 7"/>
          <p:cNvSpPr/>
          <p:nvPr/>
        </p:nvSpPr>
        <p:spPr>
          <a:xfrm>
            <a:off x="832104" y="1609344"/>
            <a:ext cx="10527487" cy="1755648"/>
          </a:xfrm>
          <a:prstGeom prst="rect">
            <a:avLst/>
          </a:prstGeom>
          <a:noFill/>
          <a:ln/>
        </p:spPr>
        <p:txBody>
          <a:bodyPr wrap="square" rtlCol="0" anchor="ctr"/>
          <a:lstStyle/>
          <a:p>
            <a:pPr indent="0" marL="0">
              <a:lnSpc>
                <a:spcPts val="1875"/>
              </a:lnSpc>
              <a:spcBef>
                <a:spcPts val="800"/>
              </a:spcBef>
              <a:buNone/>
            </a:pPr>
            <a:r>
              <a:rPr lang="en-US" sz="1250" dirty="0">
                <a:solidFill>
                  <a:srgbClr val="111817"/>
                </a:solidFill>
                <a:latin typeface="Segoe UI" pitchFamily="34" charset="0"/>
                <a:ea typeface="Segoe UI" pitchFamily="34" charset="-122"/>
                <a:cs typeface="Segoe UI" pitchFamily="34" charset="-120"/>
              </a:rPr>
              <a:t>I developed this project after noticing that most AI solutions for football pitches focus on athletes, not business owners. Our system uses deep learning to automatically verify whether booked pitches were actually used, giving owners greater trust and peace of mind without relying on human monitoring. The system takes the CCTV camera stream and analyzes one picture every minute. Each picture is classified as Active Play, Empty, Maintenance, or Not Playing, so the owner doesn’t need to constantly check the cameras to know what is happening on the pitch.</a:t>
            </a:r>
            <a:endParaRPr lang="en-US" sz="1250" dirty="0"/>
          </a:p>
          <a:p>
            <a:pPr indent="0" marL="0">
              <a:lnSpc>
                <a:spcPts val="1875"/>
              </a:lnSpc>
              <a:spcBef>
                <a:spcPts val="800"/>
              </a:spcBef>
              <a:buNone/>
            </a:pPr>
            <a:endParaRPr lang="en-US" sz="1250" dirty="0"/>
          </a:p>
          <a:p>
            <a:pPr indent="0" marL="0">
              <a:lnSpc>
                <a:spcPts val="1875"/>
              </a:lnSpc>
              <a:spcBef>
                <a:spcPts val="800"/>
              </a:spcBef>
              <a:buNone/>
            </a:pPr>
            <a:r>
              <a:rPr lang="en-US" sz="1250" dirty="0">
                <a:solidFill>
                  <a:srgbClr val="111817"/>
                </a:solidFill>
                <a:latin typeface="Segoe UI" pitchFamily="34" charset="0"/>
                <a:ea typeface="Segoe UI" pitchFamily="34" charset="-122"/>
                <a:cs typeface="Segoe UI" pitchFamily="34" charset="-120"/>
              </a:rPr>
              <a:t>It runs on a CPU-only server, so it is affordable and deployable in the real world.</a:t>
            </a:r>
            <a:endParaRPr lang="en-US" sz="1250" dirty="0"/>
          </a:p>
        </p:txBody>
      </p:sp>
      <p:sp>
        <p:nvSpPr>
          <p:cNvPr id="10" name="Shape 8"/>
          <p:cNvSpPr/>
          <p:nvPr/>
        </p:nvSpPr>
        <p:spPr>
          <a:xfrm>
            <a:off x="502920" y="4172476"/>
            <a:ext cx="2673020" cy="1256919"/>
          </a:xfrm>
          <a:prstGeom prst="roundRect">
            <a:avLst>
              <a:gd name="adj" fmla="val 7275"/>
            </a:avLst>
          </a:prstGeom>
          <a:solidFill>
            <a:srgbClr val="17B978"/>
          </a:solidFill>
          <a:ln/>
        </p:spPr>
      </p:sp>
      <p:sp>
        <p:nvSpPr>
          <p:cNvPr id="11" name="Shape 9"/>
          <p:cNvSpPr/>
          <p:nvPr/>
        </p:nvSpPr>
        <p:spPr>
          <a:xfrm>
            <a:off x="566928" y="4172476"/>
            <a:ext cx="2609012" cy="1256919"/>
          </a:xfrm>
          <a:prstGeom prst="roundRect">
            <a:avLst>
              <a:gd name="adj" fmla="val 7275"/>
            </a:avLst>
          </a:prstGeom>
          <a:solidFill>
            <a:srgbClr val="FFFFFF"/>
          </a:solidFill>
          <a:ln w="9525">
            <a:solidFill>
              <a:srgbClr val="DDE4E2"/>
            </a:solidFill>
            <a:prstDash val="solid"/>
          </a:ln>
        </p:spPr>
      </p:sp>
      <p:sp>
        <p:nvSpPr>
          <p:cNvPr id="12" name="Text 10"/>
          <p:cNvSpPr/>
          <p:nvPr/>
        </p:nvSpPr>
        <p:spPr>
          <a:xfrm>
            <a:off x="758952" y="4309636"/>
            <a:ext cx="2215820" cy="982599"/>
          </a:xfrm>
          <a:prstGeom prst="rect">
            <a:avLst/>
          </a:prstGeom>
          <a:noFill/>
          <a:ln/>
        </p:spPr>
        <p:txBody>
          <a:bodyPr wrap="square" rtlCol="0" anchor="t"/>
          <a:lstStyle/>
          <a:p>
            <a:pPr indent="0" marL="0">
              <a:lnSpc>
                <a:spcPts val="1400"/>
              </a:lnSpc>
              <a:spcBef>
                <a:spcPts val="400"/>
              </a:spcBef>
              <a:buNone/>
            </a:pPr>
            <a:r>
              <a:rPr lang="en-US" sz="1250" b="1" dirty="0">
                <a:solidFill>
                  <a:srgbClr val="111817"/>
                </a:solidFill>
                <a:latin typeface="Segoe UI" pitchFamily="34" charset="0"/>
                <a:ea typeface="Segoe UI" pitchFamily="34" charset="-122"/>
                <a:cs typeface="Segoe UI" pitchFamily="34" charset="-120"/>
              </a:rPr>
              <a:t>The owner’s problem</a:t>
            </a:r>
            <a:endParaRPr lang="en-US" sz="1250" dirty="0"/>
          </a:p>
          <a:p>
            <a:pPr indent="0" marL="0">
              <a:lnSpc>
                <a:spcPts val="1400"/>
              </a:lnSpc>
              <a:spcBef>
                <a:spcPts val="400"/>
              </a:spcBef>
              <a:buNone/>
            </a:pPr>
            <a:r>
              <a:rPr lang="en-US" sz="1000" dirty="0">
                <a:solidFill>
                  <a:srgbClr val="4B5A58"/>
                </a:solidFill>
                <a:latin typeface="Segoe UI" pitchFamily="34" charset="0"/>
                <a:ea typeface="Segoe UI" pitchFamily="34" charset="-122"/>
                <a:cs typeface="Segoe UI" pitchFamily="34" charset="-120"/>
              </a:rPr>
              <a:t>For example: Seven pitches, one person, and no way to watch them all. Checking by eye is a sample, not an audit.</a:t>
            </a:r>
            <a:endParaRPr lang="en-US" sz="1250" dirty="0"/>
          </a:p>
        </p:txBody>
      </p:sp>
      <p:sp>
        <p:nvSpPr>
          <p:cNvPr id="13" name="Shape 11"/>
          <p:cNvSpPr/>
          <p:nvPr/>
        </p:nvSpPr>
        <p:spPr>
          <a:xfrm>
            <a:off x="3340532" y="4172476"/>
            <a:ext cx="2673020" cy="1256919"/>
          </a:xfrm>
          <a:prstGeom prst="roundRect">
            <a:avLst>
              <a:gd name="adj" fmla="val 7275"/>
            </a:avLst>
          </a:prstGeom>
          <a:solidFill>
            <a:srgbClr val="3FA7E0"/>
          </a:solidFill>
          <a:ln/>
        </p:spPr>
      </p:sp>
      <p:sp>
        <p:nvSpPr>
          <p:cNvPr id="14" name="Shape 12"/>
          <p:cNvSpPr/>
          <p:nvPr/>
        </p:nvSpPr>
        <p:spPr>
          <a:xfrm>
            <a:off x="3404540" y="4172476"/>
            <a:ext cx="2609012" cy="1256919"/>
          </a:xfrm>
          <a:prstGeom prst="roundRect">
            <a:avLst>
              <a:gd name="adj" fmla="val 7275"/>
            </a:avLst>
          </a:prstGeom>
          <a:solidFill>
            <a:srgbClr val="FFFFFF"/>
          </a:solidFill>
          <a:ln w="9525">
            <a:solidFill>
              <a:srgbClr val="DDE4E2"/>
            </a:solidFill>
            <a:prstDash val="solid"/>
          </a:ln>
        </p:spPr>
      </p:sp>
      <p:sp>
        <p:nvSpPr>
          <p:cNvPr id="15" name="Text 13"/>
          <p:cNvSpPr/>
          <p:nvPr/>
        </p:nvSpPr>
        <p:spPr>
          <a:xfrm>
            <a:off x="3596564" y="4309636"/>
            <a:ext cx="2215820" cy="982599"/>
          </a:xfrm>
          <a:prstGeom prst="rect">
            <a:avLst/>
          </a:prstGeom>
          <a:noFill/>
          <a:ln/>
        </p:spPr>
        <p:txBody>
          <a:bodyPr wrap="square" rtlCol="0" anchor="t"/>
          <a:lstStyle/>
          <a:p>
            <a:pPr indent="0" marL="0">
              <a:lnSpc>
                <a:spcPts val="1400"/>
              </a:lnSpc>
              <a:spcBef>
                <a:spcPts val="400"/>
              </a:spcBef>
              <a:buNone/>
            </a:pPr>
            <a:r>
              <a:rPr lang="en-US" sz="1250" b="1" dirty="0">
                <a:solidFill>
                  <a:srgbClr val="111817"/>
                </a:solidFill>
                <a:latin typeface="Segoe UI" pitchFamily="34" charset="0"/>
                <a:ea typeface="Segoe UI" pitchFamily="34" charset="-122"/>
                <a:cs typeface="Segoe UI" pitchFamily="34" charset="-120"/>
              </a:rPr>
              <a:t>The market</a:t>
            </a:r>
            <a:endParaRPr lang="en-US" sz="1250" dirty="0"/>
          </a:p>
          <a:p>
            <a:pPr indent="0" marL="0">
              <a:lnSpc>
                <a:spcPts val="1400"/>
              </a:lnSpc>
              <a:spcBef>
                <a:spcPts val="400"/>
              </a:spcBef>
              <a:buNone/>
            </a:pPr>
            <a:r>
              <a:rPr lang="en-US" sz="1000" dirty="0">
                <a:solidFill>
                  <a:srgbClr val="4B5A58"/>
                </a:solidFill>
                <a:latin typeface="Segoe UI" pitchFamily="34" charset="0"/>
                <a:ea typeface="Segoe UI" pitchFamily="34" charset="-122"/>
                <a:cs typeface="Segoe UI" pitchFamily="34" charset="-120"/>
              </a:rPr>
              <a:t>~</a:t>
            </a:r>
            <a:pPr indent="0" marL="0">
              <a:lnSpc>
                <a:spcPts val="1400"/>
              </a:lnSpc>
              <a:spcBef>
                <a:spcPts val="400"/>
              </a:spcBef>
              <a:buNone/>
            </a:pPr>
            <a:r>
              <a:rPr lang="en-US" sz="1000" b="1" dirty="0">
                <a:solidFill>
                  <a:srgbClr val="4B5A58"/>
                </a:solidFill>
                <a:latin typeface="Segoe UI" pitchFamily="34" charset="0"/>
                <a:ea typeface="Segoe UI" pitchFamily="34" charset="-122"/>
                <a:cs typeface="Segoe UI" pitchFamily="34" charset="-120"/>
              </a:rPr>
              <a:t>1,200</a:t>
            </a:r>
            <a:pPr indent="0" marL="0">
              <a:lnSpc>
                <a:spcPts val="1400"/>
              </a:lnSpc>
              <a:spcBef>
                <a:spcPts val="400"/>
              </a:spcBef>
              <a:buNone/>
            </a:pPr>
            <a:r>
              <a:rPr lang="en-US" sz="1000" dirty="0">
                <a:solidFill>
                  <a:srgbClr val="4B5A58"/>
                </a:solidFill>
                <a:latin typeface="Segoe UI" pitchFamily="34" charset="0"/>
                <a:ea typeface="Segoe UI" pitchFamily="34" charset="-122"/>
                <a:cs typeface="Segoe UI" pitchFamily="34" charset="-120"/>
              </a:rPr>
              <a:t> football playgrounds in Lebanon — the same problem, multiplied.</a:t>
            </a:r>
            <a:endParaRPr lang="en-US" sz="1250" dirty="0"/>
          </a:p>
        </p:txBody>
      </p:sp>
      <p:sp>
        <p:nvSpPr>
          <p:cNvPr id="16" name="Shape 14"/>
          <p:cNvSpPr/>
          <p:nvPr/>
        </p:nvSpPr>
        <p:spPr>
          <a:xfrm>
            <a:off x="6178144" y="4172476"/>
            <a:ext cx="2673020" cy="1256919"/>
          </a:xfrm>
          <a:prstGeom prst="roundRect">
            <a:avLst>
              <a:gd name="adj" fmla="val 7275"/>
            </a:avLst>
          </a:prstGeom>
          <a:solidFill>
            <a:srgbClr val="F5A524"/>
          </a:solidFill>
          <a:ln/>
        </p:spPr>
      </p:sp>
      <p:sp>
        <p:nvSpPr>
          <p:cNvPr id="17" name="Shape 15"/>
          <p:cNvSpPr/>
          <p:nvPr/>
        </p:nvSpPr>
        <p:spPr>
          <a:xfrm>
            <a:off x="6242152" y="4172476"/>
            <a:ext cx="2609012" cy="1256919"/>
          </a:xfrm>
          <a:prstGeom prst="roundRect">
            <a:avLst>
              <a:gd name="adj" fmla="val 7275"/>
            </a:avLst>
          </a:prstGeom>
          <a:solidFill>
            <a:srgbClr val="FFFFFF"/>
          </a:solidFill>
          <a:ln w="9525">
            <a:solidFill>
              <a:srgbClr val="DDE4E2"/>
            </a:solidFill>
            <a:prstDash val="solid"/>
          </a:ln>
        </p:spPr>
      </p:sp>
      <p:sp>
        <p:nvSpPr>
          <p:cNvPr id="18" name="Text 16"/>
          <p:cNvSpPr/>
          <p:nvPr/>
        </p:nvSpPr>
        <p:spPr>
          <a:xfrm>
            <a:off x="6434176" y="4309636"/>
            <a:ext cx="2215820" cy="982599"/>
          </a:xfrm>
          <a:prstGeom prst="rect">
            <a:avLst/>
          </a:prstGeom>
          <a:noFill/>
          <a:ln/>
        </p:spPr>
        <p:txBody>
          <a:bodyPr wrap="square" rtlCol="0" anchor="t"/>
          <a:lstStyle/>
          <a:p>
            <a:pPr indent="0" marL="0">
              <a:lnSpc>
                <a:spcPts val="1400"/>
              </a:lnSpc>
              <a:spcBef>
                <a:spcPts val="400"/>
              </a:spcBef>
              <a:buNone/>
            </a:pPr>
            <a:r>
              <a:rPr lang="en-US" sz="1250" b="1" dirty="0">
                <a:solidFill>
                  <a:srgbClr val="111817"/>
                </a:solidFill>
                <a:latin typeface="Segoe UI" pitchFamily="34" charset="0"/>
                <a:ea typeface="Segoe UI" pitchFamily="34" charset="-122"/>
                <a:cs typeface="Segoe UI" pitchFamily="34" charset="-120"/>
              </a:rPr>
              <a:t>Booking ≠ attendance</a:t>
            </a:r>
            <a:endParaRPr lang="en-US" sz="1250" dirty="0"/>
          </a:p>
          <a:p>
            <a:pPr indent="0" marL="0">
              <a:lnSpc>
                <a:spcPts val="1400"/>
              </a:lnSpc>
              <a:spcBef>
                <a:spcPts val="400"/>
              </a:spcBef>
              <a:buNone/>
            </a:pPr>
            <a:r>
              <a:rPr lang="en-US" sz="1000" dirty="0">
                <a:solidFill>
                  <a:srgbClr val="4B5A58"/>
                </a:solidFill>
                <a:latin typeface="Segoe UI" pitchFamily="34" charset="0"/>
                <a:ea typeface="Segoe UI" pitchFamily="34" charset="-122"/>
                <a:cs typeface="Segoe UI" pitchFamily="34" charset="-120"/>
              </a:rPr>
              <a:t>An online booking says a slot was </a:t>
            </a:r>
            <a:pPr indent="0" marL="0">
              <a:lnSpc>
                <a:spcPts val="1400"/>
              </a:lnSpc>
              <a:spcBef>
                <a:spcPts val="400"/>
              </a:spcBef>
              <a:buNone/>
            </a:pPr>
            <a:r>
              <a:rPr lang="en-US" sz="1000" i="1" dirty="0">
                <a:solidFill>
                  <a:srgbClr val="4B5A58"/>
                </a:solidFill>
                <a:latin typeface="Segoe UI" pitchFamily="34" charset="0"/>
                <a:ea typeface="Segoe UI" pitchFamily="34" charset="-122"/>
                <a:cs typeface="Segoe UI" pitchFamily="34" charset="-120"/>
              </a:rPr>
              <a:t>sold</a:t>
            </a:r>
            <a:pPr indent="0" marL="0">
              <a:lnSpc>
                <a:spcPts val="1400"/>
              </a:lnSpc>
              <a:spcBef>
                <a:spcPts val="400"/>
              </a:spcBef>
              <a:buNone/>
            </a:pPr>
            <a:r>
              <a:rPr lang="en-US" sz="1000" dirty="0">
                <a:solidFill>
                  <a:srgbClr val="4B5A58"/>
                </a:solidFill>
                <a:latin typeface="Segoe UI" pitchFamily="34" charset="0"/>
                <a:ea typeface="Segoe UI" pitchFamily="34" charset="-122"/>
                <a:cs typeface="Segoe UI" pitchFamily="34" charset="-120"/>
              </a:rPr>
              <a:t>. It does not say anyone came.</a:t>
            </a:r>
            <a:endParaRPr lang="en-US" sz="1250" dirty="0"/>
          </a:p>
        </p:txBody>
      </p:sp>
      <p:sp>
        <p:nvSpPr>
          <p:cNvPr id="19" name="Shape 17"/>
          <p:cNvSpPr/>
          <p:nvPr/>
        </p:nvSpPr>
        <p:spPr>
          <a:xfrm>
            <a:off x="9015755" y="4172476"/>
            <a:ext cx="2673020" cy="1256919"/>
          </a:xfrm>
          <a:prstGeom prst="roundRect">
            <a:avLst>
              <a:gd name="adj" fmla="val 7275"/>
            </a:avLst>
          </a:prstGeom>
          <a:solidFill>
            <a:srgbClr val="EF4F6B"/>
          </a:solidFill>
          <a:ln/>
        </p:spPr>
      </p:sp>
      <p:sp>
        <p:nvSpPr>
          <p:cNvPr id="20" name="Shape 18"/>
          <p:cNvSpPr/>
          <p:nvPr/>
        </p:nvSpPr>
        <p:spPr>
          <a:xfrm>
            <a:off x="9079763" y="4172476"/>
            <a:ext cx="2609012" cy="1256919"/>
          </a:xfrm>
          <a:prstGeom prst="roundRect">
            <a:avLst>
              <a:gd name="adj" fmla="val 7275"/>
            </a:avLst>
          </a:prstGeom>
          <a:solidFill>
            <a:srgbClr val="FFFFFF"/>
          </a:solidFill>
          <a:ln w="9525">
            <a:solidFill>
              <a:srgbClr val="DDE4E2"/>
            </a:solidFill>
            <a:prstDash val="solid"/>
          </a:ln>
        </p:spPr>
      </p:sp>
      <p:sp>
        <p:nvSpPr>
          <p:cNvPr id="21" name="Text 19"/>
          <p:cNvSpPr/>
          <p:nvPr/>
        </p:nvSpPr>
        <p:spPr>
          <a:xfrm>
            <a:off x="9271787" y="4309636"/>
            <a:ext cx="2215820" cy="982599"/>
          </a:xfrm>
          <a:prstGeom prst="rect">
            <a:avLst/>
          </a:prstGeom>
          <a:noFill/>
          <a:ln/>
        </p:spPr>
        <p:txBody>
          <a:bodyPr wrap="square" rtlCol="0" anchor="t"/>
          <a:lstStyle/>
          <a:p>
            <a:pPr indent="0" marL="0">
              <a:lnSpc>
                <a:spcPts val="1400"/>
              </a:lnSpc>
              <a:spcBef>
                <a:spcPts val="400"/>
              </a:spcBef>
              <a:buNone/>
            </a:pPr>
            <a:r>
              <a:rPr lang="en-US" sz="1250" b="1" dirty="0">
                <a:solidFill>
                  <a:srgbClr val="111817"/>
                </a:solidFill>
                <a:latin typeface="Segoe UI" pitchFamily="34" charset="0"/>
                <a:ea typeface="Segoe UI" pitchFamily="34" charset="-122"/>
                <a:cs typeface="Segoe UI" pitchFamily="34" charset="-120"/>
              </a:rPr>
              <a:t>Affordable by design</a:t>
            </a:r>
            <a:endParaRPr lang="en-US" sz="1250" dirty="0"/>
          </a:p>
          <a:p>
            <a:pPr indent="0" marL="0">
              <a:lnSpc>
                <a:spcPts val="1400"/>
              </a:lnSpc>
              <a:spcBef>
                <a:spcPts val="400"/>
              </a:spcBef>
              <a:buNone/>
            </a:pPr>
            <a:r>
              <a:rPr lang="en-US" sz="1000" dirty="0">
                <a:solidFill>
                  <a:srgbClr val="4B5A58"/>
                </a:solidFill>
                <a:latin typeface="Segoe UI" pitchFamily="34" charset="0"/>
                <a:ea typeface="Segoe UI" pitchFamily="34" charset="-122"/>
                <a:cs typeface="Segoe UI" pitchFamily="34" charset="-120"/>
              </a:rPr>
              <a:t>CPU servers rather than GPUs or cloud inference. The constraint is what makes it deployable, not a limitation to work around.</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20" fill="hold"/>
                                        <p:tgtEl>
                                          <p:spTgt spid="9"/>
                                        </p:tgtEl>
                                        <p:attrNameLst>
                                          <p:attrName>ppt_y</p:attrName>
                                        </p:attrNameLst>
                                      </p:cBhvr>
                                      <p:tavLst>
                                        <p:tav tm="0">
                                          <p:val>
                                            <p:strVal val="#ppt_y+0.035"/>
                                          </p:val>
                                        </p:tav>
                                        <p:tav tm="100000">
                                          <p:val>
                                            <p:strVal val="#ppt_y"/>
                                          </p:val>
                                        </p:tav>
                                      </p:tavLst>
                                    </p:anim>
                                    <p:animEffect transition="in" filter="fade">
                                      <p:cBhvr>
                                        <p:cTn id="16" dur="52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4" presetClass="entr" presetSubtype="0" fill="hold" grpId="0" nodeType="afterEffect">
                                  <p:stCondLst>
                                    <p:cond delay="22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20" fill="hold"/>
                                        <p:tgtEl>
                                          <p:spTgt spid="10"/>
                                        </p:tgtEl>
                                        <p:attrNameLst>
                                          <p:attrName>ppt_y</p:attrName>
                                        </p:attrNameLst>
                                      </p:cBhvr>
                                      <p:tavLst>
                                        <p:tav tm="0">
                                          <p:val>
                                            <p:strVal val="#ppt_y+0.035"/>
                                          </p:val>
                                        </p:tav>
                                        <p:tav tm="100000">
                                          <p:val>
                                            <p:strVal val="#ppt_y"/>
                                          </p:val>
                                        </p:tav>
                                      </p:tavLst>
                                    </p:anim>
                                    <p:animEffect transition="in" filter="fade">
                                      <p:cBhvr>
                                        <p:cTn id="22" dur="520"/>
                                        <p:tgtEl>
                                          <p:spTgt spid="10"/>
                                        </p:tgtEl>
                                      </p:cBhvr>
                                    </p:animEffect>
                                  </p:childTnLst>
                                </p:cTn>
                              </p:par>
                              <p:par>
                                <p:cTn id="23" presetID="34"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20" fill="hold"/>
                                        <p:tgtEl>
                                          <p:spTgt spid="11"/>
                                        </p:tgtEl>
                                        <p:attrNameLst>
                                          <p:attrName>ppt_y</p:attrName>
                                        </p:attrNameLst>
                                      </p:cBhvr>
                                      <p:tavLst>
                                        <p:tav tm="0">
                                          <p:val>
                                            <p:strVal val="#ppt_y+0.035"/>
                                          </p:val>
                                        </p:tav>
                                        <p:tav tm="100000">
                                          <p:val>
                                            <p:strVal val="#ppt_y"/>
                                          </p:val>
                                        </p:tav>
                                      </p:tavLst>
                                    </p:anim>
                                    <p:animEffect transition="in" filter="fade">
                                      <p:cBhvr>
                                        <p:cTn id="26" dur="520"/>
                                        <p:tgtEl>
                                          <p:spTgt spid="11"/>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20" fill="hold"/>
                                        <p:tgtEl>
                                          <p:spTgt spid="12"/>
                                        </p:tgtEl>
                                        <p:attrNameLst>
                                          <p:attrName>ppt_y</p:attrName>
                                        </p:attrNameLst>
                                      </p:cBhvr>
                                      <p:tavLst>
                                        <p:tav tm="0">
                                          <p:val>
                                            <p:strVal val="#ppt_y+0.035"/>
                                          </p:val>
                                        </p:tav>
                                        <p:tav tm="100000">
                                          <p:val>
                                            <p:strVal val="#ppt_y"/>
                                          </p:val>
                                        </p:tav>
                                      </p:tavLst>
                                    </p:anim>
                                    <p:animEffect transition="in" filter="fade">
                                      <p:cBhvr>
                                        <p:cTn id="30" dur="52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34" presetClass="entr" presetSubtype="0" fill="hold" grpId="0" nodeType="afterEffect">
                                  <p:stCondLst>
                                    <p:cond delay="22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20" fill="hold"/>
                                        <p:tgtEl>
                                          <p:spTgt spid="13"/>
                                        </p:tgtEl>
                                        <p:attrNameLst>
                                          <p:attrName>ppt_y</p:attrName>
                                        </p:attrNameLst>
                                      </p:cBhvr>
                                      <p:tavLst>
                                        <p:tav tm="0">
                                          <p:val>
                                            <p:strVal val="#ppt_y+0.035"/>
                                          </p:val>
                                        </p:tav>
                                        <p:tav tm="100000">
                                          <p:val>
                                            <p:strVal val="#ppt_y"/>
                                          </p:val>
                                        </p:tav>
                                      </p:tavLst>
                                    </p:anim>
                                    <p:animEffect transition="in" filter="fade">
                                      <p:cBhvr>
                                        <p:cTn id="36" dur="520"/>
                                        <p:tgtEl>
                                          <p:spTgt spid="13"/>
                                        </p:tgtEl>
                                      </p:cBhvr>
                                    </p:animEffect>
                                  </p:childTnLst>
                                </p:cTn>
                              </p:par>
                              <p:par>
                                <p:cTn id="37" presetID="34"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20" fill="hold"/>
                                        <p:tgtEl>
                                          <p:spTgt spid="14"/>
                                        </p:tgtEl>
                                        <p:attrNameLst>
                                          <p:attrName>ppt_y</p:attrName>
                                        </p:attrNameLst>
                                      </p:cBhvr>
                                      <p:tavLst>
                                        <p:tav tm="0">
                                          <p:val>
                                            <p:strVal val="#ppt_y+0.035"/>
                                          </p:val>
                                        </p:tav>
                                        <p:tav tm="100000">
                                          <p:val>
                                            <p:strVal val="#ppt_y"/>
                                          </p:val>
                                        </p:tav>
                                      </p:tavLst>
                                    </p:anim>
                                    <p:animEffect transition="in" filter="fade">
                                      <p:cBhvr>
                                        <p:cTn id="40" dur="520"/>
                                        <p:tgtEl>
                                          <p:spTgt spid="14"/>
                                        </p:tgtEl>
                                      </p:cBhvr>
                                    </p:animEffect>
                                  </p:childTnLst>
                                </p:cTn>
                              </p:par>
                              <p:par>
                                <p:cTn id="41" presetID="34"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20" fill="hold"/>
                                        <p:tgtEl>
                                          <p:spTgt spid="15"/>
                                        </p:tgtEl>
                                        <p:attrNameLst>
                                          <p:attrName>ppt_y</p:attrName>
                                        </p:attrNameLst>
                                      </p:cBhvr>
                                      <p:tavLst>
                                        <p:tav tm="0">
                                          <p:val>
                                            <p:strVal val="#ppt_y+0.035"/>
                                          </p:val>
                                        </p:tav>
                                        <p:tav tm="100000">
                                          <p:val>
                                            <p:strVal val="#ppt_y"/>
                                          </p:val>
                                        </p:tav>
                                      </p:tavLst>
                                    </p:anim>
                                    <p:animEffect transition="in" filter="fade">
                                      <p:cBhvr>
                                        <p:cTn id="44" dur="52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34" presetClass="entr" presetSubtype="0" fill="hold" grpId="0" nodeType="afterEffect">
                                  <p:stCondLst>
                                    <p:cond delay="22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20" fill="hold"/>
                                        <p:tgtEl>
                                          <p:spTgt spid="16"/>
                                        </p:tgtEl>
                                        <p:attrNameLst>
                                          <p:attrName>ppt_y</p:attrName>
                                        </p:attrNameLst>
                                      </p:cBhvr>
                                      <p:tavLst>
                                        <p:tav tm="0">
                                          <p:val>
                                            <p:strVal val="#ppt_y+0.035"/>
                                          </p:val>
                                        </p:tav>
                                        <p:tav tm="100000">
                                          <p:val>
                                            <p:strVal val="#ppt_y"/>
                                          </p:val>
                                        </p:tav>
                                      </p:tavLst>
                                    </p:anim>
                                    <p:animEffect transition="in" filter="fade">
                                      <p:cBhvr>
                                        <p:cTn id="50" dur="520"/>
                                        <p:tgtEl>
                                          <p:spTgt spid="16"/>
                                        </p:tgtEl>
                                      </p:cBhvr>
                                    </p:animEffect>
                                  </p:childTnLst>
                                </p:cTn>
                              </p:par>
                              <p:par>
                                <p:cTn id="51" presetID="34"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20" fill="hold"/>
                                        <p:tgtEl>
                                          <p:spTgt spid="17"/>
                                        </p:tgtEl>
                                        <p:attrNameLst>
                                          <p:attrName>ppt_y</p:attrName>
                                        </p:attrNameLst>
                                      </p:cBhvr>
                                      <p:tavLst>
                                        <p:tav tm="0">
                                          <p:val>
                                            <p:strVal val="#ppt_y+0.035"/>
                                          </p:val>
                                        </p:tav>
                                        <p:tav tm="100000">
                                          <p:val>
                                            <p:strVal val="#ppt_y"/>
                                          </p:val>
                                        </p:tav>
                                      </p:tavLst>
                                    </p:anim>
                                    <p:animEffect transition="in" filter="fade">
                                      <p:cBhvr>
                                        <p:cTn id="54" dur="520"/>
                                        <p:tgtEl>
                                          <p:spTgt spid="17"/>
                                        </p:tgtEl>
                                      </p:cBhvr>
                                    </p:animEffect>
                                  </p:childTnLst>
                                </p:cTn>
                              </p:par>
                              <p:par>
                                <p:cTn id="55" presetID="34"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20" fill="hold"/>
                                        <p:tgtEl>
                                          <p:spTgt spid="18"/>
                                        </p:tgtEl>
                                        <p:attrNameLst>
                                          <p:attrName>ppt_y</p:attrName>
                                        </p:attrNameLst>
                                      </p:cBhvr>
                                      <p:tavLst>
                                        <p:tav tm="0">
                                          <p:val>
                                            <p:strVal val="#ppt_y+0.035"/>
                                          </p:val>
                                        </p:tav>
                                        <p:tav tm="100000">
                                          <p:val>
                                            <p:strVal val="#ppt_y"/>
                                          </p:val>
                                        </p:tav>
                                      </p:tavLst>
                                    </p:anim>
                                    <p:animEffect transition="in" filter="fade">
                                      <p:cBhvr>
                                        <p:cTn id="58" dur="52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34" presetClass="entr" presetSubtype="0" fill="hold" grpId="0" nodeType="afterEffect">
                                  <p:stCondLst>
                                    <p:cond delay="22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20" fill="hold"/>
                                        <p:tgtEl>
                                          <p:spTgt spid="19"/>
                                        </p:tgtEl>
                                        <p:attrNameLst>
                                          <p:attrName>ppt_y</p:attrName>
                                        </p:attrNameLst>
                                      </p:cBhvr>
                                      <p:tavLst>
                                        <p:tav tm="0">
                                          <p:val>
                                            <p:strVal val="#ppt_y+0.035"/>
                                          </p:val>
                                        </p:tav>
                                        <p:tav tm="100000">
                                          <p:val>
                                            <p:strVal val="#ppt_y"/>
                                          </p:val>
                                        </p:tav>
                                      </p:tavLst>
                                    </p:anim>
                                    <p:animEffect transition="in" filter="fade">
                                      <p:cBhvr>
                                        <p:cTn id="64" dur="520"/>
                                        <p:tgtEl>
                                          <p:spTgt spid="19"/>
                                        </p:tgtEl>
                                      </p:cBhvr>
                                    </p:animEffect>
                                  </p:childTnLst>
                                </p:cTn>
                              </p:par>
                              <p:par>
                                <p:cTn id="65" presetID="34"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20" fill="hold"/>
                                        <p:tgtEl>
                                          <p:spTgt spid="20"/>
                                        </p:tgtEl>
                                        <p:attrNameLst>
                                          <p:attrName>ppt_y</p:attrName>
                                        </p:attrNameLst>
                                      </p:cBhvr>
                                      <p:tavLst>
                                        <p:tav tm="0">
                                          <p:val>
                                            <p:strVal val="#ppt_y+0.035"/>
                                          </p:val>
                                        </p:tav>
                                        <p:tav tm="100000">
                                          <p:val>
                                            <p:strVal val="#ppt_y"/>
                                          </p:val>
                                        </p:tav>
                                      </p:tavLst>
                                    </p:anim>
                                    <p:animEffect transition="in" filter="fade">
                                      <p:cBhvr>
                                        <p:cTn id="68" dur="520"/>
                                        <p:tgtEl>
                                          <p:spTgt spid="20"/>
                                        </p:tgtEl>
                                      </p:cBhvr>
                                    </p:animEffect>
                                  </p:childTnLst>
                                </p:cTn>
                              </p:par>
                              <p:par>
                                <p:cTn id="69" presetID="34"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20" fill="hold"/>
                                        <p:tgtEl>
                                          <p:spTgt spid="21"/>
                                        </p:tgtEl>
                                        <p:attrNameLst>
                                          <p:attrName>ppt_y</p:attrName>
                                        </p:attrNameLst>
                                      </p:cBhvr>
                                      <p:tavLst>
                                        <p:tav tm="0">
                                          <p:val>
                                            <p:strVal val="#ppt_y+0.035"/>
                                          </p:val>
                                        </p:tav>
                                        <p:tav tm="100000">
                                          <p:val>
                                            <p:strVal val="#ppt_y"/>
                                          </p:val>
                                        </p:tav>
                                      </p:tavLst>
                                    </p:anim>
                                    <p:animEffect transition="in" filter="fade">
                                      <p:cBhvr>
                                        <p:cTn id="72" dur="52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3.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SUMMARY</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The study in numbers</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0D6D78"/>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2</a:t>
            </a:r>
            <a:endParaRPr lang="en-US" sz="1000" dirty="0"/>
          </a:p>
        </p:txBody>
      </p:sp>
      <p:sp>
        <p:nvSpPr>
          <p:cNvPr id="7" name="Shape 5"/>
          <p:cNvSpPr/>
          <p:nvPr/>
        </p:nvSpPr>
        <p:spPr>
          <a:xfrm>
            <a:off x="502920" y="2628976"/>
            <a:ext cx="11185855" cy="2042414"/>
          </a:xfrm>
          <a:prstGeom prst="roundRect">
            <a:avLst>
              <a:gd name="adj" fmla="val 4925"/>
            </a:avLst>
          </a:prstGeom>
          <a:solidFill>
            <a:srgbClr val="E3F2FB"/>
          </a:solidFill>
          <a:ln/>
        </p:spPr>
      </p:sp>
      <p:sp>
        <p:nvSpPr>
          <p:cNvPr id="8" name="Shape 6"/>
          <p:cNvSpPr/>
          <p:nvPr/>
        </p:nvSpPr>
        <p:spPr>
          <a:xfrm>
            <a:off x="813816" y="2939872"/>
            <a:ext cx="2517572" cy="1420622"/>
          </a:xfrm>
          <a:prstGeom prst="roundRect">
            <a:avLst>
              <a:gd name="adj" fmla="val 6437"/>
            </a:avLst>
          </a:prstGeom>
          <a:solidFill>
            <a:srgbClr val="3FA7E0"/>
          </a:solidFill>
          <a:ln/>
        </p:spPr>
      </p:sp>
      <p:sp>
        <p:nvSpPr>
          <p:cNvPr id="9" name="Shape 7"/>
          <p:cNvSpPr/>
          <p:nvPr/>
        </p:nvSpPr>
        <p:spPr>
          <a:xfrm>
            <a:off x="813816" y="3003880"/>
            <a:ext cx="2517572" cy="1356614"/>
          </a:xfrm>
          <a:prstGeom prst="roundRect">
            <a:avLst>
              <a:gd name="adj" fmla="val 6740"/>
            </a:avLst>
          </a:prstGeom>
          <a:solidFill>
            <a:srgbClr val="FFFFFF"/>
          </a:solidFill>
          <a:ln w="9525">
            <a:solidFill>
              <a:srgbClr val="DDE4E2"/>
            </a:solidFill>
            <a:prstDash val="solid"/>
          </a:ln>
        </p:spPr>
      </p:sp>
      <p:sp>
        <p:nvSpPr>
          <p:cNvPr id="10" name="Text 8"/>
          <p:cNvSpPr/>
          <p:nvPr/>
        </p:nvSpPr>
        <p:spPr>
          <a:xfrm>
            <a:off x="978408" y="3159328"/>
            <a:ext cx="2188388" cy="566928"/>
          </a:xfrm>
          <a:prstGeom prst="rect">
            <a:avLst/>
          </a:prstGeom>
          <a:noFill/>
          <a:ln/>
        </p:spPr>
        <p:txBody>
          <a:bodyPr wrap="square" rtlCol="0" anchor="ctr"/>
          <a:lstStyle/>
          <a:p>
            <a:pPr indent="0" marL="0">
              <a:buNone/>
            </a:pPr>
            <a:r>
              <a:rPr lang="en-US" sz="3200" b="1" dirty="0">
                <a:solidFill>
                  <a:srgbClr val="1D6FA5"/>
                </a:solidFill>
                <a:latin typeface="Consolas" pitchFamily="34" charset="0"/>
                <a:ea typeface="Consolas" pitchFamily="34" charset="-122"/>
                <a:cs typeface="Consolas" pitchFamily="34" charset="-120"/>
              </a:rPr>
              <a:t>1692</a:t>
            </a:r>
            <a:endParaRPr lang="en-US" sz="3200" dirty="0"/>
          </a:p>
        </p:txBody>
      </p:sp>
      <p:sp>
        <p:nvSpPr>
          <p:cNvPr id="11" name="Text 9"/>
          <p:cNvSpPr/>
          <p:nvPr/>
        </p:nvSpPr>
        <p:spPr>
          <a:xfrm>
            <a:off x="978408" y="3744544"/>
            <a:ext cx="2188388" cy="524510"/>
          </a:xfrm>
          <a:prstGeom prst="rect">
            <a:avLst/>
          </a:prstGeom>
          <a:noFill/>
          <a:ln/>
        </p:spPr>
        <p:txBody>
          <a:bodyPr wrap="square" rtlCol="0" anchor="t"/>
          <a:lstStyle/>
          <a:p>
            <a:pPr indent="0" marL="0">
              <a:lnSpc>
                <a:spcPts val="1600"/>
              </a:lnSpc>
              <a:buNone/>
            </a:pPr>
            <a:r>
              <a:rPr lang="en-US" sz="1150" dirty="0">
                <a:solidFill>
                  <a:srgbClr val="4B5A58"/>
                </a:solidFill>
                <a:latin typeface="Segoe UI" pitchFamily="34" charset="0"/>
                <a:ea typeface="Segoe UI" pitchFamily="34" charset="-122"/>
                <a:cs typeface="Segoe UI" pitchFamily="34" charset="-120"/>
              </a:rPr>
              <a:t>labelled frames</a:t>
            </a:r>
            <a:endParaRPr lang="en-US" sz="1150" dirty="0"/>
          </a:p>
        </p:txBody>
      </p:sp>
      <p:sp>
        <p:nvSpPr>
          <p:cNvPr id="12" name="Shape 10"/>
          <p:cNvSpPr/>
          <p:nvPr/>
        </p:nvSpPr>
        <p:spPr>
          <a:xfrm>
            <a:off x="3495980" y="2939872"/>
            <a:ext cx="2517572" cy="1420622"/>
          </a:xfrm>
          <a:prstGeom prst="roundRect">
            <a:avLst>
              <a:gd name="adj" fmla="val 6437"/>
            </a:avLst>
          </a:prstGeom>
          <a:solidFill>
            <a:srgbClr val="17B978"/>
          </a:solidFill>
          <a:ln/>
        </p:spPr>
      </p:sp>
      <p:sp>
        <p:nvSpPr>
          <p:cNvPr id="13" name="Shape 11"/>
          <p:cNvSpPr/>
          <p:nvPr/>
        </p:nvSpPr>
        <p:spPr>
          <a:xfrm>
            <a:off x="3495980" y="3003880"/>
            <a:ext cx="2517572" cy="1356614"/>
          </a:xfrm>
          <a:prstGeom prst="roundRect">
            <a:avLst>
              <a:gd name="adj" fmla="val 6740"/>
            </a:avLst>
          </a:prstGeom>
          <a:solidFill>
            <a:srgbClr val="FFFFFF"/>
          </a:solidFill>
          <a:ln w="9525">
            <a:solidFill>
              <a:srgbClr val="DDE4E2"/>
            </a:solidFill>
            <a:prstDash val="solid"/>
          </a:ln>
        </p:spPr>
      </p:sp>
      <p:sp>
        <p:nvSpPr>
          <p:cNvPr id="14" name="Text 12"/>
          <p:cNvSpPr/>
          <p:nvPr/>
        </p:nvSpPr>
        <p:spPr>
          <a:xfrm>
            <a:off x="3660572" y="3159328"/>
            <a:ext cx="2188388" cy="566928"/>
          </a:xfrm>
          <a:prstGeom prst="rect">
            <a:avLst/>
          </a:prstGeom>
          <a:noFill/>
          <a:ln/>
        </p:spPr>
        <p:txBody>
          <a:bodyPr wrap="square" rtlCol="0" anchor="ctr"/>
          <a:lstStyle/>
          <a:p>
            <a:pPr indent="0" marL="0">
              <a:buNone/>
            </a:pPr>
            <a:r>
              <a:rPr lang="en-US" sz="3200" b="1" dirty="0">
                <a:solidFill>
                  <a:srgbClr val="0E8F5C"/>
                </a:solidFill>
                <a:latin typeface="Consolas" pitchFamily="34" charset="0"/>
                <a:ea typeface="Consolas" pitchFamily="34" charset="-122"/>
                <a:cs typeface="Consolas" pitchFamily="34" charset="-120"/>
              </a:rPr>
              <a:t>3</a:t>
            </a:r>
            <a:endParaRPr lang="en-US" sz="3200" dirty="0"/>
          </a:p>
        </p:txBody>
      </p:sp>
      <p:sp>
        <p:nvSpPr>
          <p:cNvPr id="15" name="Text 13"/>
          <p:cNvSpPr/>
          <p:nvPr/>
        </p:nvSpPr>
        <p:spPr>
          <a:xfrm>
            <a:off x="3660572" y="3744544"/>
            <a:ext cx="2188388" cy="524510"/>
          </a:xfrm>
          <a:prstGeom prst="rect">
            <a:avLst/>
          </a:prstGeom>
          <a:noFill/>
          <a:ln/>
        </p:spPr>
        <p:txBody>
          <a:bodyPr wrap="square" rtlCol="0" anchor="t"/>
          <a:lstStyle/>
          <a:p>
            <a:pPr indent="0" marL="0">
              <a:lnSpc>
                <a:spcPts val="1600"/>
              </a:lnSpc>
              <a:buNone/>
            </a:pPr>
            <a:r>
              <a:rPr lang="en-US" sz="1150" dirty="0">
                <a:solidFill>
                  <a:srgbClr val="4B5A58"/>
                </a:solidFill>
                <a:latin typeface="Segoe UI" pitchFamily="34" charset="0"/>
                <a:ea typeface="Segoe UI" pitchFamily="34" charset="-122"/>
                <a:cs typeface="Segoe UI" pitchFamily="34" charset="-120"/>
              </a:rPr>
              <a:t>classes</a:t>
            </a:r>
            <a:endParaRPr lang="en-US" sz="1150" dirty="0"/>
          </a:p>
        </p:txBody>
      </p:sp>
      <p:sp>
        <p:nvSpPr>
          <p:cNvPr id="16" name="Shape 14"/>
          <p:cNvSpPr/>
          <p:nvPr/>
        </p:nvSpPr>
        <p:spPr>
          <a:xfrm>
            <a:off x="6178144" y="2939872"/>
            <a:ext cx="2517572" cy="1420622"/>
          </a:xfrm>
          <a:prstGeom prst="roundRect">
            <a:avLst>
              <a:gd name="adj" fmla="val 6437"/>
            </a:avLst>
          </a:prstGeom>
          <a:solidFill>
            <a:srgbClr val="F5A524"/>
          </a:solidFill>
          <a:ln/>
        </p:spPr>
      </p:sp>
      <p:sp>
        <p:nvSpPr>
          <p:cNvPr id="17" name="Shape 15"/>
          <p:cNvSpPr/>
          <p:nvPr/>
        </p:nvSpPr>
        <p:spPr>
          <a:xfrm>
            <a:off x="6178144" y="3003880"/>
            <a:ext cx="2517572" cy="1356614"/>
          </a:xfrm>
          <a:prstGeom prst="roundRect">
            <a:avLst>
              <a:gd name="adj" fmla="val 6740"/>
            </a:avLst>
          </a:prstGeom>
          <a:solidFill>
            <a:srgbClr val="FFFFFF"/>
          </a:solidFill>
          <a:ln w="9525">
            <a:solidFill>
              <a:srgbClr val="DDE4E2"/>
            </a:solidFill>
            <a:prstDash val="solid"/>
          </a:ln>
        </p:spPr>
      </p:sp>
      <p:sp>
        <p:nvSpPr>
          <p:cNvPr id="18" name="Text 16"/>
          <p:cNvSpPr/>
          <p:nvPr/>
        </p:nvSpPr>
        <p:spPr>
          <a:xfrm>
            <a:off x="6342736" y="3159328"/>
            <a:ext cx="2188388" cy="566928"/>
          </a:xfrm>
          <a:prstGeom prst="rect">
            <a:avLst/>
          </a:prstGeom>
          <a:noFill/>
          <a:ln/>
        </p:spPr>
        <p:txBody>
          <a:bodyPr wrap="square" rtlCol="0" anchor="ctr"/>
          <a:lstStyle/>
          <a:p>
            <a:pPr indent="0" marL="0">
              <a:buNone/>
            </a:pPr>
            <a:r>
              <a:rPr lang="en-US" sz="3200" b="1" dirty="0">
                <a:solidFill>
                  <a:srgbClr val="B26A00"/>
                </a:solidFill>
                <a:latin typeface="Consolas" pitchFamily="34" charset="0"/>
                <a:ea typeface="Consolas" pitchFamily="34" charset="-122"/>
                <a:cs typeface="Consolas" pitchFamily="34" charset="-120"/>
              </a:rPr>
              <a:t>7</a:t>
            </a:r>
            <a:endParaRPr lang="en-US" sz="3200" dirty="0"/>
          </a:p>
        </p:txBody>
      </p:sp>
      <p:sp>
        <p:nvSpPr>
          <p:cNvPr id="19" name="Text 17"/>
          <p:cNvSpPr/>
          <p:nvPr/>
        </p:nvSpPr>
        <p:spPr>
          <a:xfrm>
            <a:off x="6342736" y="3744544"/>
            <a:ext cx="2188388" cy="524510"/>
          </a:xfrm>
          <a:prstGeom prst="rect">
            <a:avLst/>
          </a:prstGeom>
          <a:noFill/>
          <a:ln/>
        </p:spPr>
        <p:txBody>
          <a:bodyPr wrap="square" rtlCol="0" anchor="t"/>
          <a:lstStyle/>
          <a:p>
            <a:pPr indent="0" marL="0">
              <a:lnSpc>
                <a:spcPts val="1600"/>
              </a:lnSpc>
              <a:buNone/>
            </a:pPr>
            <a:r>
              <a:rPr lang="en-US" sz="1150" dirty="0">
                <a:solidFill>
                  <a:srgbClr val="4B5A58"/>
                </a:solidFill>
                <a:latin typeface="Segoe UI" pitchFamily="34" charset="0"/>
                <a:ea typeface="Segoe UI" pitchFamily="34" charset="-122"/>
                <a:cs typeface="Segoe UI" pitchFamily="34" charset="-120"/>
              </a:rPr>
              <a:t>venue folds</a:t>
            </a:r>
            <a:endParaRPr lang="en-US" sz="1150" dirty="0"/>
          </a:p>
        </p:txBody>
      </p:sp>
      <p:sp>
        <p:nvSpPr>
          <p:cNvPr id="20" name="Shape 18"/>
          <p:cNvSpPr/>
          <p:nvPr/>
        </p:nvSpPr>
        <p:spPr>
          <a:xfrm>
            <a:off x="8860307" y="2939872"/>
            <a:ext cx="2517572" cy="1420622"/>
          </a:xfrm>
          <a:prstGeom prst="roundRect">
            <a:avLst>
              <a:gd name="adj" fmla="val 6437"/>
            </a:avLst>
          </a:prstGeom>
          <a:solidFill>
            <a:srgbClr val="EF4F6B"/>
          </a:solidFill>
          <a:ln/>
        </p:spPr>
      </p:sp>
      <p:sp>
        <p:nvSpPr>
          <p:cNvPr id="21" name="Shape 19"/>
          <p:cNvSpPr/>
          <p:nvPr/>
        </p:nvSpPr>
        <p:spPr>
          <a:xfrm>
            <a:off x="8860307" y="3003880"/>
            <a:ext cx="2517572" cy="1356614"/>
          </a:xfrm>
          <a:prstGeom prst="roundRect">
            <a:avLst>
              <a:gd name="adj" fmla="val 6740"/>
            </a:avLst>
          </a:prstGeom>
          <a:solidFill>
            <a:srgbClr val="FFFFFF"/>
          </a:solidFill>
          <a:ln w="9525">
            <a:solidFill>
              <a:srgbClr val="DDE4E2"/>
            </a:solidFill>
            <a:prstDash val="solid"/>
          </a:ln>
        </p:spPr>
      </p:sp>
      <p:sp>
        <p:nvSpPr>
          <p:cNvPr id="22" name="Text 20"/>
          <p:cNvSpPr/>
          <p:nvPr/>
        </p:nvSpPr>
        <p:spPr>
          <a:xfrm>
            <a:off x="9024899" y="3159328"/>
            <a:ext cx="2188388" cy="566928"/>
          </a:xfrm>
          <a:prstGeom prst="rect">
            <a:avLst/>
          </a:prstGeom>
          <a:noFill/>
          <a:ln/>
        </p:spPr>
        <p:txBody>
          <a:bodyPr wrap="square" rtlCol="0" anchor="ctr"/>
          <a:lstStyle/>
          <a:p>
            <a:pPr indent="0" marL="0">
              <a:buNone/>
            </a:pPr>
            <a:r>
              <a:rPr lang="en-US" sz="3200" b="1" dirty="0">
                <a:solidFill>
                  <a:srgbClr val="D22D4C"/>
                </a:solidFill>
                <a:latin typeface="Consolas" pitchFamily="34" charset="0"/>
                <a:ea typeface="Consolas" pitchFamily="34" charset="-122"/>
                <a:cs typeface="Consolas" pitchFamily="34" charset="-120"/>
              </a:rPr>
              <a:t>0</a:t>
            </a:r>
            <a:endParaRPr lang="en-US" sz="3200" dirty="0"/>
          </a:p>
        </p:txBody>
      </p:sp>
      <p:sp>
        <p:nvSpPr>
          <p:cNvPr id="23" name="Text 21"/>
          <p:cNvSpPr/>
          <p:nvPr/>
        </p:nvSpPr>
        <p:spPr>
          <a:xfrm>
            <a:off x="9024899" y="3744544"/>
            <a:ext cx="2188388" cy="524510"/>
          </a:xfrm>
          <a:prstGeom prst="rect">
            <a:avLst/>
          </a:prstGeom>
          <a:noFill/>
          <a:ln/>
        </p:spPr>
        <p:txBody>
          <a:bodyPr wrap="square" rtlCol="0" anchor="t"/>
          <a:lstStyle/>
          <a:p>
            <a:pPr indent="0" marL="0">
              <a:lnSpc>
                <a:spcPts val="1600"/>
              </a:lnSpc>
              <a:buNone/>
            </a:pPr>
            <a:r>
              <a:rPr lang="en-US" sz="1150" dirty="0">
                <a:solidFill>
                  <a:srgbClr val="4B5A58"/>
                </a:solidFill>
                <a:latin typeface="Segoe UI" pitchFamily="34" charset="0"/>
                <a:ea typeface="Segoe UI" pitchFamily="34" charset="-122"/>
                <a:cs typeface="Segoe UI" pitchFamily="34" charset="-120"/>
              </a:rPr>
              <a:t>GPUs — and no cloud services either</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20" fill="hold"/>
                                        <p:tgtEl>
                                          <p:spTgt spid="8"/>
                                        </p:tgtEl>
                                        <p:attrNameLst>
                                          <p:attrName>ppt_y</p:attrName>
                                        </p:attrNameLst>
                                      </p:cBhvr>
                                      <p:tavLst>
                                        <p:tav tm="0">
                                          <p:val>
                                            <p:strVal val="#ppt_y+0.035"/>
                                          </p:val>
                                        </p:tav>
                                        <p:tav tm="100000">
                                          <p:val>
                                            <p:strVal val="#ppt_y"/>
                                          </p:val>
                                        </p:tav>
                                      </p:tavLst>
                                    </p:anim>
                                    <p:animEffect transition="in" filter="fade">
                                      <p:cBhvr>
                                        <p:cTn id="8" dur="520"/>
                                        <p:tgtEl>
                                          <p:spTgt spid="8"/>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20" fill="hold"/>
                                        <p:tgtEl>
                                          <p:spTgt spid="9"/>
                                        </p:tgtEl>
                                        <p:attrNameLst>
                                          <p:attrName>ppt_y</p:attrName>
                                        </p:attrNameLst>
                                      </p:cBhvr>
                                      <p:tavLst>
                                        <p:tav tm="0">
                                          <p:val>
                                            <p:strVal val="#ppt_y+0.035"/>
                                          </p:val>
                                        </p:tav>
                                        <p:tav tm="100000">
                                          <p:val>
                                            <p:strVal val="#ppt_y"/>
                                          </p:val>
                                        </p:tav>
                                      </p:tavLst>
                                    </p:anim>
                                    <p:animEffect transition="in" filter="fade">
                                      <p:cBhvr>
                                        <p:cTn id="12" dur="520"/>
                                        <p:tgtEl>
                                          <p:spTgt spid="9"/>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20" fill="hold"/>
                                        <p:tgtEl>
                                          <p:spTgt spid="10"/>
                                        </p:tgtEl>
                                        <p:attrNameLst>
                                          <p:attrName>ppt_y</p:attrName>
                                        </p:attrNameLst>
                                      </p:cBhvr>
                                      <p:tavLst>
                                        <p:tav tm="0">
                                          <p:val>
                                            <p:strVal val="#ppt_y+0.035"/>
                                          </p:val>
                                        </p:tav>
                                        <p:tav tm="100000">
                                          <p:val>
                                            <p:strVal val="#ppt_y"/>
                                          </p:val>
                                        </p:tav>
                                      </p:tavLst>
                                    </p:anim>
                                    <p:animEffect transition="in" filter="fade">
                                      <p:cBhvr>
                                        <p:cTn id="16" dur="520"/>
                                        <p:tgtEl>
                                          <p:spTgt spid="10"/>
                                        </p:tgtEl>
                                      </p:cBhvr>
                                    </p:animEffect>
                                  </p:childTnLst>
                                </p:cTn>
                              </p:par>
                              <p:par>
                                <p:cTn id="17" presetID="34"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20" fill="hold"/>
                                        <p:tgtEl>
                                          <p:spTgt spid="11"/>
                                        </p:tgtEl>
                                        <p:attrNameLst>
                                          <p:attrName>ppt_y</p:attrName>
                                        </p:attrNameLst>
                                      </p:cBhvr>
                                      <p:tavLst>
                                        <p:tav tm="0">
                                          <p:val>
                                            <p:strVal val="#ppt_y+0.035"/>
                                          </p:val>
                                        </p:tav>
                                        <p:tav tm="100000">
                                          <p:val>
                                            <p:strVal val="#ppt_y"/>
                                          </p:val>
                                        </p:tav>
                                      </p:tavLst>
                                    </p:anim>
                                    <p:animEffect transition="in" filter="fade">
                                      <p:cBhvr>
                                        <p:cTn id="20" dur="52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34" presetClass="entr" presetSubtype="0" fill="hold" grpId="0" nodeType="afterEffect">
                                  <p:stCondLst>
                                    <p:cond delay="275"/>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20" fill="hold"/>
                                        <p:tgtEl>
                                          <p:spTgt spid="12"/>
                                        </p:tgtEl>
                                        <p:attrNameLst>
                                          <p:attrName>ppt_y</p:attrName>
                                        </p:attrNameLst>
                                      </p:cBhvr>
                                      <p:tavLst>
                                        <p:tav tm="0">
                                          <p:val>
                                            <p:strVal val="#ppt_y+0.035"/>
                                          </p:val>
                                        </p:tav>
                                        <p:tav tm="100000">
                                          <p:val>
                                            <p:strVal val="#ppt_y"/>
                                          </p:val>
                                        </p:tav>
                                      </p:tavLst>
                                    </p:anim>
                                    <p:animEffect transition="in" filter="fade">
                                      <p:cBhvr>
                                        <p:cTn id="26" dur="520"/>
                                        <p:tgtEl>
                                          <p:spTgt spid="12"/>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20" fill="hold"/>
                                        <p:tgtEl>
                                          <p:spTgt spid="13"/>
                                        </p:tgtEl>
                                        <p:attrNameLst>
                                          <p:attrName>ppt_y</p:attrName>
                                        </p:attrNameLst>
                                      </p:cBhvr>
                                      <p:tavLst>
                                        <p:tav tm="0">
                                          <p:val>
                                            <p:strVal val="#ppt_y+0.035"/>
                                          </p:val>
                                        </p:tav>
                                        <p:tav tm="100000">
                                          <p:val>
                                            <p:strVal val="#ppt_y"/>
                                          </p:val>
                                        </p:tav>
                                      </p:tavLst>
                                    </p:anim>
                                    <p:animEffect transition="in" filter="fade">
                                      <p:cBhvr>
                                        <p:cTn id="30" dur="520"/>
                                        <p:tgtEl>
                                          <p:spTgt spid="13"/>
                                        </p:tgtEl>
                                      </p:cBhvr>
                                    </p:animEffect>
                                  </p:childTnLst>
                                </p:cTn>
                              </p:par>
                              <p:par>
                                <p:cTn id="31" presetID="34"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20" fill="hold"/>
                                        <p:tgtEl>
                                          <p:spTgt spid="14"/>
                                        </p:tgtEl>
                                        <p:attrNameLst>
                                          <p:attrName>ppt_y</p:attrName>
                                        </p:attrNameLst>
                                      </p:cBhvr>
                                      <p:tavLst>
                                        <p:tav tm="0">
                                          <p:val>
                                            <p:strVal val="#ppt_y+0.035"/>
                                          </p:val>
                                        </p:tav>
                                        <p:tav tm="100000">
                                          <p:val>
                                            <p:strVal val="#ppt_y"/>
                                          </p:val>
                                        </p:tav>
                                      </p:tavLst>
                                    </p:anim>
                                    <p:animEffect transition="in" filter="fade">
                                      <p:cBhvr>
                                        <p:cTn id="34" dur="520"/>
                                        <p:tgtEl>
                                          <p:spTgt spid="14"/>
                                        </p:tgtEl>
                                      </p:cBhvr>
                                    </p:animEffect>
                                  </p:childTnLst>
                                </p:cTn>
                              </p:par>
                              <p:par>
                                <p:cTn id="35" presetID="34"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20" fill="hold"/>
                                        <p:tgtEl>
                                          <p:spTgt spid="15"/>
                                        </p:tgtEl>
                                        <p:attrNameLst>
                                          <p:attrName>ppt_y</p:attrName>
                                        </p:attrNameLst>
                                      </p:cBhvr>
                                      <p:tavLst>
                                        <p:tav tm="0">
                                          <p:val>
                                            <p:strVal val="#ppt_y+0.035"/>
                                          </p:val>
                                        </p:tav>
                                        <p:tav tm="100000">
                                          <p:val>
                                            <p:strVal val="#ppt_y"/>
                                          </p:val>
                                        </p:tav>
                                      </p:tavLst>
                                    </p:anim>
                                    <p:animEffect transition="in" filter="fade">
                                      <p:cBhvr>
                                        <p:cTn id="38" dur="52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34" presetClass="entr" presetSubtype="0" fill="hold" grpId="0" nodeType="afterEffect">
                                  <p:stCondLst>
                                    <p:cond delay="275"/>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20" fill="hold"/>
                                        <p:tgtEl>
                                          <p:spTgt spid="16"/>
                                        </p:tgtEl>
                                        <p:attrNameLst>
                                          <p:attrName>ppt_y</p:attrName>
                                        </p:attrNameLst>
                                      </p:cBhvr>
                                      <p:tavLst>
                                        <p:tav tm="0">
                                          <p:val>
                                            <p:strVal val="#ppt_y+0.035"/>
                                          </p:val>
                                        </p:tav>
                                        <p:tav tm="100000">
                                          <p:val>
                                            <p:strVal val="#ppt_y"/>
                                          </p:val>
                                        </p:tav>
                                      </p:tavLst>
                                    </p:anim>
                                    <p:animEffect transition="in" filter="fade">
                                      <p:cBhvr>
                                        <p:cTn id="44" dur="520"/>
                                        <p:tgtEl>
                                          <p:spTgt spid="16"/>
                                        </p:tgtEl>
                                      </p:cBhvr>
                                    </p:animEffect>
                                  </p:childTnLst>
                                </p:cTn>
                              </p:par>
                              <p:par>
                                <p:cTn id="45" presetID="34"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20" fill="hold"/>
                                        <p:tgtEl>
                                          <p:spTgt spid="17"/>
                                        </p:tgtEl>
                                        <p:attrNameLst>
                                          <p:attrName>ppt_y</p:attrName>
                                        </p:attrNameLst>
                                      </p:cBhvr>
                                      <p:tavLst>
                                        <p:tav tm="0">
                                          <p:val>
                                            <p:strVal val="#ppt_y+0.035"/>
                                          </p:val>
                                        </p:tav>
                                        <p:tav tm="100000">
                                          <p:val>
                                            <p:strVal val="#ppt_y"/>
                                          </p:val>
                                        </p:tav>
                                      </p:tavLst>
                                    </p:anim>
                                    <p:animEffect transition="in" filter="fade">
                                      <p:cBhvr>
                                        <p:cTn id="48" dur="520"/>
                                        <p:tgtEl>
                                          <p:spTgt spid="17"/>
                                        </p:tgtEl>
                                      </p:cBhvr>
                                    </p:animEffect>
                                  </p:childTnLst>
                                </p:cTn>
                              </p:par>
                              <p:par>
                                <p:cTn id="49" presetID="34"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20" fill="hold"/>
                                        <p:tgtEl>
                                          <p:spTgt spid="18"/>
                                        </p:tgtEl>
                                        <p:attrNameLst>
                                          <p:attrName>ppt_y</p:attrName>
                                        </p:attrNameLst>
                                      </p:cBhvr>
                                      <p:tavLst>
                                        <p:tav tm="0">
                                          <p:val>
                                            <p:strVal val="#ppt_y+0.035"/>
                                          </p:val>
                                        </p:tav>
                                        <p:tav tm="100000">
                                          <p:val>
                                            <p:strVal val="#ppt_y"/>
                                          </p:val>
                                        </p:tav>
                                      </p:tavLst>
                                    </p:anim>
                                    <p:animEffect transition="in" filter="fade">
                                      <p:cBhvr>
                                        <p:cTn id="52" dur="520"/>
                                        <p:tgtEl>
                                          <p:spTgt spid="18"/>
                                        </p:tgtEl>
                                      </p:cBhvr>
                                    </p:animEffect>
                                  </p:childTnLst>
                                </p:cTn>
                              </p:par>
                              <p:par>
                                <p:cTn id="53" presetID="34"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20" fill="hold"/>
                                        <p:tgtEl>
                                          <p:spTgt spid="19"/>
                                        </p:tgtEl>
                                        <p:attrNameLst>
                                          <p:attrName>ppt_y</p:attrName>
                                        </p:attrNameLst>
                                      </p:cBhvr>
                                      <p:tavLst>
                                        <p:tav tm="0">
                                          <p:val>
                                            <p:strVal val="#ppt_y+0.035"/>
                                          </p:val>
                                        </p:tav>
                                        <p:tav tm="100000">
                                          <p:val>
                                            <p:strVal val="#ppt_y"/>
                                          </p:val>
                                        </p:tav>
                                      </p:tavLst>
                                    </p:anim>
                                    <p:animEffect transition="in" filter="fade">
                                      <p:cBhvr>
                                        <p:cTn id="56" dur="52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34" presetClass="entr" presetSubtype="0" fill="hold" grpId="0" nodeType="afterEffect">
                                  <p:stCondLst>
                                    <p:cond delay="275"/>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20" fill="hold"/>
                                        <p:tgtEl>
                                          <p:spTgt spid="20"/>
                                        </p:tgtEl>
                                        <p:attrNameLst>
                                          <p:attrName>ppt_y</p:attrName>
                                        </p:attrNameLst>
                                      </p:cBhvr>
                                      <p:tavLst>
                                        <p:tav tm="0">
                                          <p:val>
                                            <p:strVal val="#ppt_y+0.035"/>
                                          </p:val>
                                        </p:tav>
                                        <p:tav tm="100000">
                                          <p:val>
                                            <p:strVal val="#ppt_y"/>
                                          </p:val>
                                        </p:tav>
                                      </p:tavLst>
                                    </p:anim>
                                    <p:animEffect transition="in" filter="fade">
                                      <p:cBhvr>
                                        <p:cTn id="62" dur="520"/>
                                        <p:tgtEl>
                                          <p:spTgt spid="20"/>
                                        </p:tgtEl>
                                      </p:cBhvr>
                                    </p:animEffect>
                                  </p:childTnLst>
                                </p:cTn>
                              </p:par>
                              <p:par>
                                <p:cTn id="63" presetID="34"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520" fill="hold"/>
                                        <p:tgtEl>
                                          <p:spTgt spid="21"/>
                                        </p:tgtEl>
                                        <p:attrNameLst>
                                          <p:attrName>ppt_y</p:attrName>
                                        </p:attrNameLst>
                                      </p:cBhvr>
                                      <p:tavLst>
                                        <p:tav tm="0">
                                          <p:val>
                                            <p:strVal val="#ppt_y+0.035"/>
                                          </p:val>
                                        </p:tav>
                                        <p:tav tm="100000">
                                          <p:val>
                                            <p:strVal val="#ppt_y"/>
                                          </p:val>
                                        </p:tav>
                                      </p:tavLst>
                                    </p:anim>
                                    <p:animEffect transition="in" filter="fade">
                                      <p:cBhvr>
                                        <p:cTn id="66" dur="520"/>
                                        <p:tgtEl>
                                          <p:spTgt spid="21"/>
                                        </p:tgtEl>
                                      </p:cBhvr>
                                    </p:animEffect>
                                  </p:childTnLst>
                                </p:cTn>
                              </p:par>
                              <p:par>
                                <p:cTn id="67" presetID="34"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additive="base">
                                        <p:cTn id="69" dur="520" fill="hold"/>
                                        <p:tgtEl>
                                          <p:spTgt spid="22"/>
                                        </p:tgtEl>
                                        <p:attrNameLst>
                                          <p:attrName>ppt_y</p:attrName>
                                        </p:attrNameLst>
                                      </p:cBhvr>
                                      <p:tavLst>
                                        <p:tav tm="0">
                                          <p:val>
                                            <p:strVal val="#ppt_y+0.035"/>
                                          </p:val>
                                        </p:tav>
                                        <p:tav tm="100000">
                                          <p:val>
                                            <p:strVal val="#ppt_y"/>
                                          </p:val>
                                        </p:tav>
                                      </p:tavLst>
                                    </p:anim>
                                    <p:animEffect transition="in" filter="fade">
                                      <p:cBhvr>
                                        <p:cTn id="70" dur="520"/>
                                        <p:tgtEl>
                                          <p:spTgt spid="22"/>
                                        </p:tgtEl>
                                      </p:cBhvr>
                                    </p:animEffect>
                                  </p:childTnLst>
                                </p:cTn>
                              </p:par>
                              <p:par>
                                <p:cTn id="71" presetID="34"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20" fill="hold"/>
                                        <p:tgtEl>
                                          <p:spTgt spid="23"/>
                                        </p:tgtEl>
                                        <p:attrNameLst>
                                          <p:attrName>ppt_y</p:attrName>
                                        </p:attrNameLst>
                                      </p:cBhvr>
                                      <p:tavLst>
                                        <p:tav tm="0">
                                          <p:val>
                                            <p:strVal val="#ppt_y+0.035"/>
                                          </p:val>
                                        </p:tav>
                                        <p:tav tm="100000">
                                          <p:val>
                                            <p:strVal val="#ppt_y"/>
                                          </p:val>
                                        </p:tav>
                                      </p:tavLst>
                                    </p:anim>
                                    <p:animEffect transition="in" filter="fade">
                                      <p:cBhvr>
                                        <p:cTn id="74" dur="52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4.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SUMMARY</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Three findings</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0D6D78"/>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3</a:t>
            </a:r>
            <a:endParaRPr lang="en-US" sz="1000" dirty="0"/>
          </a:p>
        </p:txBody>
      </p:sp>
      <p:sp>
        <p:nvSpPr>
          <p:cNvPr id="7" name="Shape 5"/>
          <p:cNvSpPr/>
          <p:nvPr/>
        </p:nvSpPr>
        <p:spPr>
          <a:xfrm>
            <a:off x="502920" y="2443437"/>
            <a:ext cx="3618890" cy="1828419"/>
          </a:xfrm>
          <a:prstGeom prst="roundRect">
            <a:avLst>
              <a:gd name="adj" fmla="val 5001"/>
            </a:avLst>
          </a:prstGeom>
          <a:solidFill>
            <a:srgbClr val="17B978"/>
          </a:solidFill>
          <a:ln/>
        </p:spPr>
      </p:sp>
      <p:sp>
        <p:nvSpPr>
          <p:cNvPr id="8" name="Shape 6"/>
          <p:cNvSpPr/>
          <p:nvPr/>
        </p:nvSpPr>
        <p:spPr>
          <a:xfrm>
            <a:off x="566928" y="2443437"/>
            <a:ext cx="3554882" cy="1828419"/>
          </a:xfrm>
          <a:prstGeom prst="roundRect">
            <a:avLst>
              <a:gd name="adj" fmla="val 5001"/>
            </a:avLst>
          </a:prstGeom>
          <a:solidFill>
            <a:srgbClr val="FFFFFF"/>
          </a:solidFill>
          <a:ln w="9525">
            <a:solidFill>
              <a:srgbClr val="DDE4E2"/>
            </a:solidFill>
            <a:prstDash val="solid"/>
          </a:ln>
        </p:spPr>
      </p:sp>
      <p:sp>
        <p:nvSpPr>
          <p:cNvPr id="9" name="Text 7"/>
          <p:cNvSpPr/>
          <p:nvPr/>
        </p:nvSpPr>
        <p:spPr>
          <a:xfrm>
            <a:off x="758952" y="2580597"/>
            <a:ext cx="3161690" cy="1554099"/>
          </a:xfrm>
          <a:prstGeom prst="rect">
            <a:avLst/>
          </a:prstGeom>
          <a:noFill/>
          <a:ln/>
        </p:spPr>
        <p:txBody>
          <a:bodyPr wrap="square" rtlCol="0" anchor="t"/>
          <a:lstStyle/>
          <a:p>
            <a:pPr indent="0" marL="0">
              <a:lnSpc>
                <a:spcPts val="1610"/>
              </a:lnSpc>
              <a:spcBef>
                <a:spcPts val="400"/>
              </a:spcBef>
              <a:buNone/>
            </a:pPr>
            <a:r>
              <a:rPr lang="en-US" sz="1400" b="1" dirty="0">
                <a:solidFill>
                  <a:srgbClr val="111817"/>
                </a:solidFill>
                <a:latin typeface="Segoe UI" pitchFamily="34" charset="0"/>
                <a:ea typeface="Segoe UI" pitchFamily="34" charset="-122"/>
                <a:cs typeface="Segoe UI" pitchFamily="34" charset="-120"/>
              </a:rPr>
              <a:t>A high score does not always mean the model understands the pitch</a:t>
            </a:r>
            <a:endParaRPr lang="en-US" sz="1400" dirty="0"/>
          </a:p>
          <a:p>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For example, the model learned that dark images mean playing and bright images mean empty. So, it learned the lighting instead of the real activity.</a:t>
            </a:r>
            <a:endParaRPr lang="en-US" sz="1400" dirty="0"/>
          </a:p>
        </p:txBody>
      </p:sp>
      <p:sp>
        <p:nvSpPr>
          <p:cNvPr id="10" name="Shape 8"/>
          <p:cNvSpPr/>
          <p:nvPr/>
        </p:nvSpPr>
        <p:spPr>
          <a:xfrm>
            <a:off x="4286402" y="2443437"/>
            <a:ext cx="3618890" cy="1828419"/>
          </a:xfrm>
          <a:prstGeom prst="roundRect">
            <a:avLst>
              <a:gd name="adj" fmla="val 5001"/>
            </a:avLst>
          </a:prstGeom>
          <a:solidFill>
            <a:srgbClr val="3FA7E0"/>
          </a:solidFill>
          <a:ln/>
        </p:spPr>
      </p:sp>
      <p:sp>
        <p:nvSpPr>
          <p:cNvPr id="11" name="Shape 9"/>
          <p:cNvSpPr/>
          <p:nvPr/>
        </p:nvSpPr>
        <p:spPr>
          <a:xfrm>
            <a:off x="4350410" y="2443437"/>
            <a:ext cx="3554882" cy="1828419"/>
          </a:xfrm>
          <a:prstGeom prst="roundRect">
            <a:avLst>
              <a:gd name="adj" fmla="val 5001"/>
            </a:avLst>
          </a:prstGeom>
          <a:solidFill>
            <a:srgbClr val="FFFFFF"/>
          </a:solidFill>
          <a:ln w="9525">
            <a:solidFill>
              <a:srgbClr val="DDE4E2"/>
            </a:solidFill>
            <a:prstDash val="solid"/>
          </a:ln>
        </p:spPr>
      </p:sp>
      <p:sp>
        <p:nvSpPr>
          <p:cNvPr id="12" name="Text 10"/>
          <p:cNvSpPr/>
          <p:nvPr/>
        </p:nvSpPr>
        <p:spPr>
          <a:xfrm>
            <a:off x="4542434" y="2580597"/>
            <a:ext cx="3161690" cy="1554099"/>
          </a:xfrm>
          <a:prstGeom prst="rect">
            <a:avLst/>
          </a:prstGeom>
          <a:noFill/>
          <a:ln/>
        </p:spPr>
        <p:txBody>
          <a:bodyPr wrap="square" rtlCol="0" anchor="t"/>
          <a:lstStyle/>
          <a:p>
            <a:pPr indent="0" marL="0">
              <a:lnSpc>
                <a:spcPts val="1610"/>
              </a:lnSpc>
              <a:spcBef>
                <a:spcPts val="400"/>
              </a:spcBef>
              <a:buNone/>
            </a:pPr>
            <a:r>
              <a:rPr lang="en-US" sz="1400" b="1" dirty="0">
                <a:solidFill>
                  <a:srgbClr val="111817"/>
                </a:solidFill>
                <a:latin typeface="Segoe UI" pitchFamily="34" charset="0"/>
                <a:ea typeface="Segoe UI" pitchFamily="34" charset="-122"/>
                <a:cs typeface="Segoe UI" pitchFamily="34" charset="-120"/>
              </a:rPr>
              <a:t>When we tested a new video, we found a bigger problem.</a:t>
            </a:r>
            <a:endParaRPr lang="en-US" sz="1400" dirty="0"/>
          </a:p>
          <a:p>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The original dataset did not contain enough different situations. So the model could work well on the original data, but not always on new data.</a:t>
            </a:r>
            <a:endParaRPr lang="en-US" sz="1400" dirty="0"/>
          </a:p>
        </p:txBody>
      </p:sp>
      <p:sp>
        <p:nvSpPr>
          <p:cNvPr id="13" name="Shape 11"/>
          <p:cNvSpPr/>
          <p:nvPr/>
        </p:nvSpPr>
        <p:spPr>
          <a:xfrm>
            <a:off x="8069885" y="2443437"/>
            <a:ext cx="3618890" cy="1828419"/>
          </a:xfrm>
          <a:prstGeom prst="roundRect">
            <a:avLst>
              <a:gd name="adj" fmla="val 5001"/>
            </a:avLst>
          </a:prstGeom>
          <a:solidFill>
            <a:srgbClr val="F5A524"/>
          </a:solidFill>
          <a:ln/>
        </p:spPr>
      </p:sp>
      <p:sp>
        <p:nvSpPr>
          <p:cNvPr id="14" name="Shape 12"/>
          <p:cNvSpPr/>
          <p:nvPr/>
        </p:nvSpPr>
        <p:spPr>
          <a:xfrm>
            <a:off x="8133893" y="2443437"/>
            <a:ext cx="3554882" cy="1828419"/>
          </a:xfrm>
          <a:prstGeom prst="roundRect">
            <a:avLst>
              <a:gd name="adj" fmla="val 5001"/>
            </a:avLst>
          </a:prstGeom>
          <a:solidFill>
            <a:srgbClr val="FFFFFF"/>
          </a:solidFill>
          <a:ln w="9525">
            <a:solidFill>
              <a:srgbClr val="DDE4E2"/>
            </a:solidFill>
            <a:prstDash val="solid"/>
          </a:ln>
        </p:spPr>
      </p:sp>
      <p:sp>
        <p:nvSpPr>
          <p:cNvPr id="15" name="Text 13"/>
          <p:cNvSpPr/>
          <p:nvPr/>
        </p:nvSpPr>
        <p:spPr>
          <a:xfrm>
            <a:off x="8325917" y="2580597"/>
            <a:ext cx="3161690" cy="1554099"/>
          </a:xfrm>
          <a:prstGeom prst="rect">
            <a:avLst/>
          </a:prstGeom>
          <a:noFill/>
          <a:ln/>
        </p:spPr>
        <p:txBody>
          <a:bodyPr wrap="square" rtlCol="0" anchor="t"/>
          <a:lstStyle/>
          <a:p>
            <a:pPr indent="0" marL="0">
              <a:lnSpc>
                <a:spcPts val="1610"/>
              </a:lnSpc>
              <a:spcBef>
                <a:spcPts val="400"/>
              </a:spcBef>
              <a:buNone/>
            </a:pPr>
            <a:r>
              <a:rPr lang="en-US" sz="1400" b="1" dirty="0">
                <a:solidFill>
                  <a:srgbClr val="111817"/>
                </a:solidFill>
                <a:latin typeface="Segoe UI" pitchFamily="34" charset="0"/>
                <a:ea typeface="Segoe UI" pitchFamily="34" charset="-122"/>
                <a:cs typeface="Segoe UI" pitchFamily="34" charset="-120"/>
              </a:rPr>
              <a:t>Data augmentation did not always improve the model</a:t>
            </a:r>
            <a:endParaRPr lang="en-US" sz="1400" dirty="0"/>
          </a:p>
          <a:p>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One experiment gave us </a:t>
            </a:r>
            <a:pPr indent="0" marL="0">
              <a:lnSpc>
                <a:spcPts val="1610"/>
              </a:lnSpc>
              <a:spcBef>
                <a:spcPts val="400"/>
              </a:spcBef>
              <a:buNone/>
            </a:pPr>
            <a:r>
              <a:rPr lang="en-US" sz="1150" b="1" dirty="0">
                <a:solidFill>
                  <a:srgbClr val="4B5A58"/>
                </a:solidFill>
                <a:latin typeface="Segoe UI" pitchFamily="34" charset="0"/>
                <a:ea typeface="Segoe UI" pitchFamily="34" charset="-122"/>
                <a:cs typeface="Segoe UI" pitchFamily="34" charset="-120"/>
              </a:rPr>
              <a:t>85.5%</a:t>
            </a:r>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 but when repeated the same experiment, the results dropped to </a:t>
            </a:r>
            <a:pPr indent="0" marL="0">
              <a:lnSpc>
                <a:spcPts val="1610"/>
              </a:lnSpc>
              <a:spcBef>
                <a:spcPts val="400"/>
              </a:spcBef>
              <a:buNone/>
            </a:pPr>
            <a:r>
              <a:rPr lang="en-US" sz="1150" b="1" dirty="0">
                <a:solidFill>
                  <a:srgbClr val="4B5A58"/>
                </a:solidFill>
                <a:latin typeface="Segoe UI" pitchFamily="34" charset="0"/>
                <a:ea typeface="Segoe UI" pitchFamily="34" charset="-122"/>
                <a:cs typeface="Segoe UI" pitchFamily="34" charset="-120"/>
              </a:rPr>
              <a:t>34.8%–41.4%</a:t>
            </a:r>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 This showed us that the high score was not stable, it was a random result.</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20" fill="hold"/>
                                        <p:tgtEl>
                                          <p:spTgt spid="9"/>
                                        </p:tgtEl>
                                        <p:attrNameLst>
                                          <p:attrName>ppt_y</p:attrName>
                                        </p:attrNameLst>
                                      </p:cBhvr>
                                      <p:tavLst>
                                        <p:tav tm="0">
                                          <p:val>
                                            <p:strVal val="#ppt_y+0.035"/>
                                          </p:val>
                                        </p:tav>
                                        <p:tav tm="100000">
                                          <p:val>
                                            <p:strVal val="#ppt_y"/>
                                          </p:val>
                                        </p:tav>
                                      </p:tavLst>
                                    </p:anim>
                                    <p:animEffect transition="in" filter="fade">
                                      <p:cBhvr>
                                        <p:cTn id="16" dur="52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4" presetClass="entr" presetSubtype="0" fill="hold" grpId="0" nodeType="afterEffect">
                                  <p:stCondLst>
                                    <p:cond delay="367"/>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20" fill="hold"/>
                                        <p:tgtEl>
                                          <p:spTgt spid="10"/>
                                        </p:tgtEl>
                                        <p:attrNameLst>
                                          <p:attrName>ppt_y</p:attrName>
                                        </p:attrNameLst>
                                      </p:cBhvr>
                                      <p:tavLst>
                                        <p:tav tm="0">
                                          <p:val>
                                            <p:strVal val="#ppt_y+0.035"/>
                                          </p:val>
                                        </p:tav>
                                        <p:tav tm="100000">
                                          <p:val>
                                            <p:strVal val="#ppt_y"/>
                                          </p:val>
                                        </p:tav>
                                      </p:tavLst>
                                    </p:anim>
                                    <p:animEffect transition="in" filter="fade">
                                      <p:cBhvr>
                                        <p:cTn id="22" dur="520"/>
                                        <p:tgtEl>
                                          <p:spTgt spid="10"/>
                                        </p:tgtEl>
                                      </p:cBhvr>
                                    </p:animEffect>
                                  </p:childTnLst>
                                </p:cTn>
                              </p:par>
                              <p:par>
                                <p:cTn id="23" presetID="34"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20" fill="hold"/>
                                        <p:tgtEl>
                                          <p:spTgt spid="11"/>
                                        </p:tgtEl>
                                        <p:attrNameLst>
                                          <p:attrName>ppt_y</p:attrName>
                                        </p:attrNameLst>
                                      </p:cBhvr>
                                      <p:tavLst>
                                        <p:tav tm="0">
                                          <p:val>
                                            <p:strVal val="#ppt_y+0.035"/>
                                          </p:val>
                                        </p:tav>
                                        <p:tav tm="100000">
                                          <p:val>
                                            <p:strVal val="#ppt_y"/>
                                          </p:val>
                                        </p:tav>
                                      </p:tavLst>
                                    </p:anim>
                                    <p:animEffect transition="in" filter="fade">
                                      <p:cBhvr>
                                        <p:cTn id="26" dur="520"/>
                                        <p:tgtEl>
                                          <p:spTgt spid="11"/>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20" fill="hold"/>
                                        <p:tgtEl>
                                          <p:spTgt spid="12"/>
                                        </p:tgtEl>
                                        <p:attrNameLst>
                                          <p:attrName>ppt_y</p:attrName>
                                        </p:attrNameLst>
                                      </p:cBhvr>
                                      <p:tavLst>
                                        <p:tav tm="0">
                                          <p:val>
                                            <p:strVal val="#ppt_y+0.035"/>
                                          </p:val>
                                        </p:tav>
                                        <p:tav tm="100000">
                                          <p:val>
                                            <p:strVal val="#ppt_y"/>
                                          </p:val>
                                        </p:tav>
                                      </p:tavLst>
                                    </p:anim>
                                    <p:animEffect transition="in" filter="fade">
                                      <p:cBhvr>
                                        <p:cTn id="30" dur="52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34" presetClass="entr" presetSubtype="0" fill="hold" grpId="0" nodeType="afterEffect">
                                  <p:stCondLst>
                                    <p:cond delay="367"/>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20" fill="hold"/>
                                        <p:tgtEl>
                                          <p:spTgt spid="13"/>
                                        </p:tgtEl>
                                        <p:attrNameLst>
                                          <p:attrName>ppt_y</p:attrName>
                                        </p:attrNameLst>
                                      </p:cBhvr>
                                      <p:tavLst>
                                        <p:tav tm="0">
                                          <p:val>
                                            <p:strVal val="#ppt_y+0.035"/>
                                          </p:val>
                                        </p:tav>
                                        <p:tav tm="100000">
                                          <p:val>
                                            <p:strVal val="#ppt_y"/>
                                          </p:val>
                                        </p:tav>
                                      </p:tavLst>
                                    </p:anim>
                                    <p:animEffect transition="in" filter="fade">
                                      <p:cBhvr>
                                        <p:cTn id="36" dur="520"/>
                                        <p:tgtEl>
                                          <p:spTgt spid="13"/>
                                        </p:tgtEl>
                                      </p:cBhvr>
                                    </p:animEffect>
                                  </p:childTnLst>
                                </p:cTn>
                              </p:par>
                              <p:par>
                                <p:cTn id="37" presetID="34"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20" fill="hold"/>
                                        <p:tgtEl>
                                          <p:spTgt spid="14"/>
                                        </p:tgtEl>
                                        <p:attrNameLst>
                                          <p:attrName>ppt_y</p:attrName>
                                        </p:attrNameLst>
                                      </p:cBhvr>
                                      <p:tavLst>
                                        <p:tav tm="0">
                                          <p:val>
                                            <p:strVal val="#ppt_y+0.035"/>
                                          </p:val>
                                        </p:tav>
                                        <p:tav tm="100000">
                                          <p:val>
                                            <p:strVal val="#ppt_y"/>
                                          </p:val>
                                        </p:tav>
                                      </p:tavLst>
                                    </p:anim>
                                    <p:animEffect transition="in" filter="fade">
                                      <p:cBhvr>
                                        <p:cTn id="40" dur="520"/>
                                        <p:tgtEl>
                                          <p:spTgt spid="14"/>
                                        </p:tgtEl>
                                      </p:cBhvr>
                                    </p:animEffect>
                                  </p:childTnLst>
                                </p:cTn>
                              </p:par>
                              <p:par>
                                <p:cTn id="41" presetID="34"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20" fill="hold"/>
                                        <p:tgtEl>
                                          <p:spTgt spid="15"/>
                                        </p:tgtEl>
                                        <p:attrNameLst>
                                          <p:attrName>ppt_y</p:attrName>
                                        </p:attrNameLst>
                                      </p:cBhvr>
                                      <p:tavLst>
                                        <p:tav tm="0">
                                          <p:val>
                                            <p:strVal val="#ppt_y+0.035"/>
                                          </p:val>
                                        </p:tav>
                                        <p:tav tm="100000">
                                          <p:val>
                                            <p:strVal val="#ppt_y"/>
                                          </p:val>
                                        </p:tav>
                                      </p:tavLst>
                                    </p:anim>
                                    <p:animEffect transition="in" filter="fade">
                                      <p:cBhvr>
                                        <p:cTn id="44" dur="5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5.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gradFill rotWithShape="1">
            <a:gsLst>
              <a:gs pos="0">
                <a:srgbClr val="14567F"/>
              </a:gs>
              <a:gs pos="100000">
                <a:srgbClr val="2C89C4"/>
              </a:gs>
            </a:gsLst>
            <a:lin ang="2700000" scaled="0"/>
          </a:gradFill>
          <a:ln/>
        </p:spPr>
      </p:sp>
      <p:sp>
        <p:nvSpPr>
          <p:cNvPr id="3" name="Text 1"/>
          <p:cNvSpPr/>
          <p:nvPr/>
        </p:nvSpPr>
        <p:spPr>
          <a:xfrm>
            <a:off x="822960" y="2183953"/>
            <a:ext cx="10545775" cy="292608"/>
          </a:xfrm>
          <a:prstGeom prst="rect">
            <a:avLst/>
          </a:prstGeom>
          <a:noFill/>
          <a:ln/>
        </p:spPr>
        <p:txBody>
          <a:bodyPr wrap="square" rtlCol="0" anchor="b"/>
          <a:lstStyle/>
          <a:p>
            <a:pPr indent="0" marL="0">
              <a:buNone/>
            </a:pPr>
            <a:r>
              <a:rPr lang="en-US" sz="1200" b="1" spc="300" kern="0" dirty="0">
                <a:solidFill>
                  <a:srgbClr val="BBC9D6"/>
                </a:solidFill>
                <a:latin typeface="Consolas" pitchFamily="34" charset="0"/>
                <a:ea typeface="Consolas" pitchFamily="34" charset="-122"/>
                <a:cs typeface="Consolas" pitchFamily="34" charset="-120"/>
              </a:rPr>
              <a:t>PLAN</a:t>
            </a:r>
            <a:endParaRPr lang="en-US" sz="1200" dirty="0"/>
          </a:p>
        </p:txBody>
      </p:sp>
      <p:sp>
        <p:nvSpPr>
          <p:cNvPr id="4" name="Text 2"/>
          <p:cNvSpPr/>
          <p:nvPr/>
        </p:nvSpPr>
        <p:spPr>
          <a:xfrm>
            <a:off x="822960" y="2568001"/>
            <a:ext cx="9692640" cy="640080"/>
          </a:xfrm>
          <a:prstGeom prst="rect">
            <a:avLst/>
          </a:prstGeom>
          <a:noFill/>
          <a:ln/>
        </p:spPr>
        <p:txBody>
          <a:bodyPr wrap="square" rtlCol="0" anchor="t"/>
          <a:lstStyle/>
          <a:p>
            <a:pPr indent="0" marL="0">
              <a:lnSpc>
                <a:spcPts val="4176"/>
              </a:lnSpc>
              <a:buNone/>
            </a:pPr>
            <a:r>
              <a:rPr lang="en-US" sz="3600" b="1" dirty="0">
                <a:solidFill>
                  <a:srgbClr val="FFFFFF"/>
                </a:solidFill>
                <a:latin typeface="Segoe UI" pitchFamily="34" charset="0"/>
                <a:ea typeface="Segoe UI" pitchFamily="34" charset="-122"/>
                <a:cs typeface="Segoe UI" pitchFamily="34" charset="-120"/>
              </a:rPr>
              <a:t>How this report is organised</a:t>
            </a:r>
            <a:endParaRPr lang="en-US" sz="3600" dirty="0"/>
          </a:p>
        </p:txBody>
      </p:sp>
      <p:sp>
        <p:nvSpPr>
          <p:cNvPr id="5" name="Text 3"/>
          <p:cNvSpPr/>
          <p:nvPr/>
        </p:nvSpPr>
        <p:spPr>
          <a:xfrm>
            <a:off x="822960" y="3445825"/>
            <a:ext cx="8961120" cy="396240"/>
          </a:xfrm>
          <a:prstGeom prst="rect">
            <a:avLst/>
          </a:prstGeom>
          <a:noFill/>
          <a:ln/>
        </p:spPr>
        <p:txBody>
          <a:bodyPr wrap="square" rtlCol="0" anchor="t"/>
          <a:lstStyle/>
          <a:p>
            <a:pPr indent="0" marL="0">
              <a:lnSpc>
                <a:spcPts val="2400"/>
              </a:lnSpc>
              <a:buNone/>
            </a:pPr>
            <a:r>
              <a:rPr lang="en-US" sz="1600" dirty="0">
                <a:solidFill>
                  <a:srgbClr val="DCE6EE"/>
                </a:solidFill>
                <a:latin typeface="Segoe UI" pitchFamily="34" charset="0"/>
                <a:ea typeface="Segoe UI" pitchFamily="34" charset="-122"/>
                <a:cs typeface="Segoe UI" pitchFamily="34" charset="-120"/>
              </a:rPr>
              <a:t>Eight parts: a summary, this plan, an introduction, four chapters, and a conclusion.</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7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20" fill="hold"/>
                                        <p:tgtEl>
                                          <p:spTgt spid="3"/>
                                        </p:tgtEl>
                                        <p:attrNameLst>
                                          <p:attrName>ppt_y</p:attrName>
                                        </p:attrNameLst>
                                      </p:cBhvr>
                                      <p:tavLst>
                                        <p:tav tm="0">
                                          <p:val>
                                            <p:strVal val="#ppt_y+0.035"/>
                                          </p:val>
                                        </p:tav>
                                        <p:tav tm="100000">
                                          <p:val>
                                            <p:strVal val="#ppt_y"/>
                                          </p:val>
                                        </p:tav>
                                      </p:tavLst>
                                    </p:anim>
                                    <p:animEffect transition="in" filter="fade">
                                      <p:cBhvr>
                                        <p:cTn id="8" dur="52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367"/>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20" fill="hold"/>
                                        <p:tgtEl>
                                          <p:spTgt spid="4"/>
                                        </p:tgtEl>
                                        <p:attrNameLst>
                                          <p:attrName>ppt_y</p:attrName>
                                        </p:attrNameLst>
                                      </p:cBhvr>
                                      <p:tavLst>
                                        <p:tav tm="0">
                                          <p:val>
                                            <p:strVal val="#ppt_y+0.035"/>
                                          </p:val>
                                        </p:tav>
                                        <p:tav tm="100000">
                                          <p:val>
                                            <p:strVal val="#ppt_y"/>
                                          </p:val>
                                        </p:tav>
                                      </p:tavLst>
                                    </p:anim>
                                    <p:animEffect transition="in" filter="fade">
                                      <p:cBhvr>
                                        <p:cTn id="14" dur="52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grpId="0" nodeType="afterEffect">
                                  <p:stCondLst>
                                    <p:cond delay="367"/>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20" fill="hold"/>
                                        <p:tgtEl>
                                          <p:spTgt spid="5"/>
                                        </p:tgtEl>
                                        <p:attrNameLst>
                                          <p:attrName>ppt_y</p:attrName>
                                        </p:attrNameLst>
                                      </p:cBhvr>
                                      <p:tavLst>
                                        <p:tav tm="0">
                                          <p:val>
                                            <p:strVal val="#ppt_y+0.035"/>
                                          </p:val>
                                        </p:tav>
                                        <p:tav tm="100000">
                                          <p:val>
                                            <p:strVal val="#ppt_y"/>
                                          </p:val>
                                        </p:tav>
                                      </p:tavLst>
                                    </p:anim>
                                    <p:animEffect transition="in" filter="fade">
                                      <p:cBhvr>
                                        <p:cTn id="20" dur="5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6.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PLAN</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The eight parts</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3FA7E0"/>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4</a:t>
            </a:r>
            <a:endParaRPr lang="en-US" sz="1000" dirty="0"/>
          </a:p>
        </p:txBody>
      </p:sp>
      <p:sp>
        <p:nvSpPr>
          <p:cNvPr id="7" name="Shape 5"/>
          <p:cNvSpPr/>
          <p:nvPr/>
        </p:nvSpPr>
        <p:spPr>
          <a:xfrm>
            <a:off x="502920" y="2057400"/>
            <a:ext cx="11185855" cy="731520"/>
          </a:xfrm>
          <a:prstGeom prst="roundRect">
            <a:avLst>
              <a:gd name="adj" fmla="val 11250"/>
            </a:avLst>
          </a:prstGeom>
          <a:solidFill>
            <a:srgbClr val="FFFFFF"/>
          </a:solidFill>
          <a:ln w="9525">
            <a:solidFill>
              <a:srgbClr val="DDE4E2"/>
            </a:solidFill>
            <a:prstDash val="solid"/>
          </a:ln>
        </p:spPr>
      </p:sp>
      <p:sp>
        <p:nvSpPr>
          <p:cNvPr id="8" name="Shape 6"/>
          <p:cNvSpPr/>
          <p:nvPr/>
        </p:nvSpPr>
        <p:spPr>
          <a:xfrm>
            <a:off x="704088" y="2231136"/>
            <a:ext cx="384048" cy="384048"/>
          </a:xfrm>
          <a:prstGeom prst="ellipse">
            <a:avLst/>
          </a:prstGeom>
          <a:solidFill>
            <a:srgbClr val="17B978"/>
          </a:solidFill>
          <a:ln/>
        </p:spPr>
      </p:sp>
      <p:sp>
        <p:nvSpPr>
          <p:cNvPr id="9" name="Text 7"/>
          <p:cNvSpPr/>
          <p:nvPr/>
        </p:nvSpPr>
        <p:spPr>
          <a:xfrm>
            <a:off x="704088" y="2231136"/>
            <a:ext cx="384048" cy="384048"/>
          </a:xfrm>
          <a:prstGeom prst="rect">
            <a:avLst/>
          </a:prstGeom>
          <a:noFill/>
          <a:ln/>
        </p:spPr>
        <p:txBody>
          <a:bodyPr wrap="square" rtlCol="0" anchor="ctr"/>
          <a:lstStyle/>
          <a:p>
            <a:pPr algn="ctr" indent="0" marL="0">
              <a:buNone/>
            </a:pPr>
            <a:r>
              <a:rPr lang="en-US" sz="1300" b="1" dirty="0">
                <a:solidFill>
                  <a:srgbClr val="04301F"/>
                </a:solidFill>
                <a:latin typeface="Consolas" pitchFamily="34" charset="0"/>
                <a:ea typeface="Consolas" pitchFamily="34" charset="-122"/>
                <a:cs typeface="Consolas" pitchFamily="34" charset="-120"/>
              </a:rPr>
              <a:t>1</a:t>
            </a:r>
            <a:endParaRPr lang="en-US" sz="1300" dirty="0"/>
          </a:p>
        </p:txBody>
      </p:sp>
      <p:sp>
        <p:nvSpPr>
          <p:cNvPr id="10" name="Text 8"/>
          <p:cNvSpPr/>
          <p:nvPr/>
        </p:nvSpPr>
        <p:spPr>
          <a:xfrm>
            <a:off x="1252728" y="2167128"/>
            <a:ext cx="10225735" cy="512064"/>
          </a:xfrm>
          <a:prstGeom prst="rect">
            <a:avLst/>
          </a:prstGeom>
          <a:noFill/>
          <a:ln/>
        </p:spPr>
        <p:txBody>
          <a:bodyPr wrap="square" rtlCol="0" anchor="t"/>
          <a:lstStyle/>
          <a:p>
            <a:pPr indent="0" marL="0">
              <a:lnSpc>
                <a:spcPts val="1518"/>
              </a:lnSpc>
              <a:spcBef>
                <a:spcPts val="400"/>
              </a:spcBef>
              <a:buNone/>
            </a:pPr>
            <a:r>
              <a:rPr lang="en-US" sz="1350" b="1" dirty="0">
                <a:solidFill>
                  <a:srgbClr val="111817"/>
                </a:solidFill>
                <a:latin typeface="Segoe UI" pitchFamily="34" charset="0"/>
                <a:ea typeface="Segoe UI" pitchFamily="34" charset="-122"/>
                <a:cs typeface="Segoe UI" pitchFamily="34" charset="-120"/>
              </a:rPr>
              <a:t>Summary</a:t>
            </a:r>
            <a:endParaRPr lang="en-US" sz="135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The abstract, the scale of the study, and the three findings.</a:t>
            </a:r>
            <a:endParaRPr lang="en-US" sz="1350" dirty="0"/>
          </a:p>
        </p:txBody>
      </p:sp>
      <p:sp>
        <p:nvSpPr>
          <p:cNvPr id="11" name="Shape 9"/>
          <p:cNvSpPr/>
          <p:nvPr/>
        </p:nvSpPr>
        <p:spPr>
          <a:xfrm>
            <a:off x="502920" y="2916936"/>
            <a:ext cx="11185855" cy="731520"/>
          </a:xfrm>
          <a:prstGeom prst="roundRect">
            <a:avLst>
              <a:gd name="adj" fmla="val 11250"/>
            </a:avLst>
          </a:prstGeom>
          <a:solidFill>
            <a:srgbClr val="FFFFFF"/>
          </a:solidFill>
          <a:ln w="9525">
            <a:solidFill>
              <a:srgbClr val="DDE4E2"/>
            </a:solidFill>
            <a:prstDash val="solid"/>
          </a:ln>
        </p:spPr>
      </p:sp>
      <p:sp>
        <p:nvSpPr>
          <p:cNvPr id="12" name="Shape 10"/>
          <p:cNvSpPr/>
          <p:nvPr/>
        </p:nvSpPr>
        <p:spPr>
          <a:xfrm>
            <a:off x="704088" y="3090672"/>
            <a:ext cx="384048" cy="384048"/>
          </a:xfrm>
          <a:prstGeom prst="ellipse">
            <a:avLst/>
          </a:prstGeom>
          <a:solidFill>
            <a:srgbClr val="3FA7E0"/>
          </a:solidFill>
          <a:ln/>
        </p:spPr>
      </p:sp>
      <p:sp>
        <p:nvSpPr>
          <p:cNvPr id="13" name="Text 11"/>
          <p:cNvSpPr/>
          <p:nvPr/>
        </p:nvSpPr>
        <p:spPr>
          <a:xfrm>
            <a:off x="704088" y="3090672"/>
            <a:ext cx="384048" cy="384048"/>
          </a:xfrm>
          <a:prstGeom prst="rect">
            <a:avLst/>
          </a:prstGeom>
          <a:noFill/>
          <a:ln/>
        </p:spPr>
        <p:txBody>
          <a:bodyPr wrap="square" rtlCol="0" anchor="ctr"/>
          <a:lstStyle/>
          <a:p>
            <a:pPr algn="ctr" indent="0" marL="0">
              <a:buNone/>
            </a:pPr>
            <a:r>
              <a:rPr lang="en-US" sz="1300" b="1" dirty="0">
                <a:solidFill>
                  <a:srgbClr val="04283D"/>
                </a:solidFill>
                <a:latin typeface="Consolas" pitchFamily="34" charset="0"/>
                <a:ea typeface="Consolas" pitchFamily="34" charset="-122"/>
                <a:cs typeface="Consolas" pitchFamily="34" charset="-120"/>
              </a:rPr>
              <a:t>2</a:t>
            </a:r>
            <a:endParaRPr lang="en-US" sz="1300" dirty="0"/>
          </a:p>
        </p:txBody>
      </p:sp>
      <p:sp>
        <p:nvSpPr>
          <p:cNvPr id="14" name="Text 12"/>
          <p:cNvSpPr/>
          <p:nvPr/>
        </p:nvSpPr>
        <p:spPr>
          <a:xfrm>
            <a:off x="1252728" y="3026664"/>
            <a:ext cx="10225735" cy="512064"/>
          </a:xfrm>
          <a:prstGeom prst="rect">
            <a:avLst/>
          </a:prstGeom>
          <a:noFill/>
          <a:ln/>
        </p:spPr>
        <p:txBody>
          <a:bodyPr wrap="square" rtlCol="0" anchor="t"/>
          <a:lstStyle/>
          <a:p>
            <a:pPr indent="0" marL="0">
              <a:lnSpc>
                <a:spcPts val="1518"/>
              </a:lnSpc>
              <a:spcBef>
                <a:spcPts val="400"/>
              </a:spcBef>
              <a:buNone/>
            </a:pPr>
            <a:r>
              <a:rPr lang="en-US" sz="1350" b="1" dirty="0">
                <a:solidFill>
                  <a:srgbClr val="111817"/>
                </a:solidFill>
                <a:latin typeface="Segoe UI" pitchFamily="34" charset="0"/>
                <a:ea typeface="Segoe UI" pitchFamily="34" charset="-122"/>
                <a:cs typeface="Segoe UI" pitchFamily="34" charset="-120"/>
              </a:rPr>
              <a:t>Plan</a:t>
            </a:r>
            <a:endParaRPr lang="en-US" sz="135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This page.</a:t>
            </a:r>
            <a:endParaRPr lang="en-US" sz="1350" dirty="0"/>
          </a:p>
        </p:txBody>
      </p:sp>
      <p:sp>
        <p:nvSpPr>
          <p:cNvPr id="15" name="Shape 13"/>
          <p:cNvSpPr/>
          <p:nvPr/>
        </p:nvSpPr>
        <p:spPr>
          <a:xfrm>
            <a:off x="502920" y="3776472"/>
            <a:ext cx="11185855" cy="731520"/>
          </a:xfrm>
          <a:prstGeom prst="roundRect">
            <a:avLst>
              <a:gd name="adj" fmla="val 11250"/>
            </a:avLst>
          </a:prstGeom>
          <a:solidFill>
            <a:srgbClr val="FFFFFF"/>
          </a:solidFill>
          <a:ln w="9525">
            <a:solidFill>
              <a:srgbClr val="DDE4E2"/>
            </a:solidFill>
            <a:prstDash val="solid"/>
          </a:ln>
        </p:spPr>
      </p:sp>
      <p:sp>
        <p:nvSpPr>
          <p:cNvPr id="16" name="Shape 14"/>
          <p:cNvSpPr/>
          <p:nvPr/>
        </p:nvSpPr>
        <p:spPr>
          <a:xfrm>
            <a:off x="704088" y="3950208"/>
            <a:ext cx="384048" cy="384048"/>
          </a:xfrm>
          <a:prstGeom prst="ellipse">
            <a:avLst/>
          </a:prstGeom>
          <a:solidFill>
            <a:srgbClr val="6A57D6"/>
          </a:solidFill>
          <a:ln/>
        </p:spPr>
      </p:sp>
      <p:sp>
        <p:nvSpPr>
          <p:cNvPr id="17" name="Text 15"/>
          <p:cNvSpPr/>
          <p:nvPr/>
        </p:nvSpPr>
        <p:spPr>
          <a:xfrm>
            <a:off x="704088" y="3950208"/>
            <a:ext cx="384048" cy="384048"/>
          </a:xfrm>
          <a:prstGeom prst="rect">
            <a:avLst/>
          </a:prstGeom>
          <a:noFill/>
          <a:ln/>
        </p:spPr>
        <p:txBody>
          <a:bodyPr wrap="square"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3</a:t>
            </a:r>
            <a:endParaRPr lang="en-US" sz="1300" dirty="0"/>
          </a:p>
        </p:txBody>
      </p:sp>
      <p:sp>
        <p:nvSpPr>
          <p:cNvPr id="18" name="Text 16"/>
          <p:cNvSpPr/>
          <p:nvPr/>
        </p:nvSpPr>
        <p:spPr>
          <a:xfrm>
            <a:off x="1252728" y="3886200"/>
            <a:ext cx="10225735" cy="512064"/>
          </a:xfrm>
          <a:prstGeom prst="rect">
            <a:avLst/>
          </a:prstGeom>
          <a:noFill/>
          <a:ln/>
        </p:spPr>
        <p:txBody>
          <a:bodyPr wrap="square" rtlCol="0" anchor="t"/>
          <a:lstStyle/>
          <a:p>
            <a:pPr indent="0" marL="0">
              <a:lnSpc>
                <a:spcPts val="1518"/>
              </a:lnSpc>
              <a:spcBef>
                <a:spcPts val="400"/>
              </a:spcBef>
              <a:buNone/>
            </a:pPr>
            <a:r>
              <a:rPr lang="en-US" sz="1350" b="1" dirty="0">
                <a:solidFill>
                  <a:srgbClr val="111817"/>
                </a:solidFill>
                <a:latin typeface="Segoe UI" pitchFamily="34" charset="0"/>
                <a:ea typeface="Segoe UI" pitchFamily="34" charset="-122"/>
                <a:cs typeface="Segoe UI" pitchFamily="34" charset="-120"/>
              </a:rPr>
              <a:t>Introduction</a:t>
            </a:r>
            <a:endParaRPr lang="en-US" sz="135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The problem in general, who has worked on it, and how we resolve it.</a:t>
            </a:r>
            <a:endParaRPr lang="en-US" sz="1350" dirty="0"/>
          </a:p>
        </p:txBody>
      </p:sp>
      <p:sp>
        <p:nvSpPr>
          <p:cNvPr id="19" name="Shape 17"/>
          <p:cNvSpPr/>
          <p:nvPr/>
        </p:nvSpPr>
        <p:spPr>
          <a:xfrm>
            <a:off x="502920" y="4636008"/>
            <a:ext cx="11185855" cy="731520"/>
          </a:xfrm>
          <a:prstGeom prst="roundRect">
            <a:avLst>
              <a:gd name="adj" fmla="val 11250"/>
            </a:avLst>
          </a:prstGeom>
          <a:solidFill>
            <a:srgbClr val="FFFFFF"/>
          </a:solidFill>
          <a:ln w="9525">
            <a:solidFill>
              <a:srgbClr val="DDE4E2"/>
            </a:solidFill>
            <a:prstDash val="solid"/>
          </a:ln>
        </p:spPr>
      </p:sp>
      <p:sp>
        <p:nvSpPr>
          <p:cNvPr id="20" name="Shape 18"/>
          <p:cNvSpPr/>
          <p:nvPr/>
        </p:nvSpPr>
        <p:spPr>
          <a:xfrm>
            <a:off x="704088" y="4809744"/>
            <a:ext cx="384048" cy="384048"/>
          </a:xfrm>
          <a:prstGeom prst="ellipse">
            <a:avLst/>
          </a:prstGeom>
          <a:solidFill>
            <a:srgbClr val="F5A524"/>
          </a:solidFill>
          <a:ln/>
        </p:spPr>
      </p:sp>
      <p:sp>
        <p:nvSpPr>
          <p:cNvPr id="21" name="Text 19"/>
          <p:cNvSpPr/>
          <p:nvPr/>
        </p:nvSpPr>
        <p:spPr>
          <a:xfrm>
            <a:off x="704088" y="4809744"/>
            <a:ext cx="384048" cy="384048"/>
          </a:xfrm>
          <a:prstGeom prst="rect">
            <a:avLst/>
          </a:prstGeom>
          <a:noFill/>
          <a:ln/>
        </p:spPr>
        <p:txBody>
          <a:bodyPr wrap="square" rtlCol="0" anchor="ctr"/>
          <a:lstStyle/>
          <a:p>
            <a:pPr algn="ctr" indent="0" marL="0">
              <a:buNone/>
            </a:pPr>
            <a:r>
              <a:rPr lang="en-US" sz="1300" b="1" dirty="0">
                <a:solidFill>
                  <a:srgbClr val="3A2400"/>
                </a:solidFill>
                <a:latin typeface="Consolas" pitchFamily="34" charset="0"/>
                <a:ea typeface="Consolas" pitchFamily="34" charset="-122"/>
                <a:cs typeface="Consolas" pitchFamily="34" charset="-120"/>
              </a:rPr>
              <a:t>4</a:t>
            </a:r>
            <a:endParaRPr lang="en-US" sz="1300" dirty="0"/>
          </a:p>
        </p:txBody>
      </p:sp>
      <p:sp>
        <p:nvSpPr>
          <p:cNvPr id="22" name="Text 20"/>
          <p:cNvSpPr/>
          <p:nvPr/>
        </p:nvSpPr>
        <p:spPr>
          <a:xfrm>
            <a:off x="1252728" y="4745736"/>
            <a:ext cx="10225735" cy="512064"/>
          </a:xfrm>
          <a:prstGeom prst="rect">
            <a:avLst/>
          </a:prstGeom>
          <a:noFill/>
          <a:ln/>
        </p:spPr>
        <p:txBody>
          <a:bodyPr wrap="square" rtlCol="0" anchor="t"/>
          <a:lstStyle/>
          <a:p>
            <a:pPr indent="0" marL="0">
              <a:lnSpc>
                <a:spcPts val="1518"/>
              </a:lnSpc>
              <a:spcBef>
                <a:spcPts val="400"/>
              </a:spcBef>
              <a:buNone/>
            </a:pPr>
            <a:r>
              <a:rPr lang="en-US" sz="1350" b="1" dirty="0">
                <a:solidFill>
                  <a:srgbClr val="111817"/>
                </a:solidFill>
                <a:latin typeface="Segoe UI" pitchFamily="34" charset="0"/>
                <a:ea typeface="Segoe UI" pitchFamily="34" charset="-122"/>
                <a:cs typeface="Segoe UI" pitchFamily="34" charset="-120"/>
              </a:rPr>
              <a:t>Chapter 1 — State of the art</a:t>
            </a:r>
            <a:endParaRPr lang="en-US" sz="135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Playgrounds: how facilities are monitored today and why each alternative fails. Deep learning: what the field has established, and the gap.</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20" fill="hold"/>
                                        <p:tgtEl>
                                          <p:spTgt spid="9"/>
                                        </p:tgtEl>
                                        <p:attrNameLst>
                                          <p:attrName>ppt_y</p:attrName>
                                        </p:attrNameLst>
                                      </p:cBhvr>
                                      <p:tavLst>
                                        <p:tav tm="0">
                                          <p:val>
                                            <p:strVal val="#ppt_y+0.035"/>
                                          </p:val>
                                        </p:tav>
                                        <p:tav tm="100000">
                                          <p:val>
                                            <p:strVal val="#ppt_y"/>
                                          </p:val>
                                        </p:tav>
                                      </p:tavLst>
                                    </p:anim>
                                    <p:animEffect transition="in" filter="fade">
                                      <p:cBhvr>
                                        <p:cTn id="16" dur="520"/>
                                        <p:tgtEl>
                                          <p:spTgt spid="9"/>
                                        </p:tgtEl>
                                      </p:cBhvr>
                                    </p:animEffect>
                                  </p:childTnLst>
                                </p:cTn>
                              </p:par>
                              <p:par>
                                <p:cTn id="17" presetID="34"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20" fill="hold"/>
                                        <p:tgtEl>
                                          <p:spTgt spid="10"/>
                                        </p:tgtEl>
                                        <p:attrNameLst>
                                          <p:attrName>ppt_y</p:attrName>
                                        </p:attrNameLst>
                                      </p:cBhvr>
                                      <p:tavLst>
                                        <p:tav tm="0">
                                          <p:val>
                                            <p:strVal val="#ppt_y+0.035"/>
                                          </p:val>
                                        </p:tav>
                                        <p:tav tm="100000">
                                          <p:val>
                                            <p:strVal val="#ppt_y"/>
                                          </p:val>
                                        </p:tav>
                                      </p:tavLst>
                                    </p:anim>
                                    <p:animEffect transition="in" filter="fade">
                                      <p:cBhvr>
                                        <p:cTn id="20" dur="52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4" presetClass="entr" presetSubtype="0" fill="hold" grpId="0" nodeType="afterEffect">
                                  <p:stCondLst>
                                    <p:cond delay="275"/>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20" fill="hold"/>
                                        <p:tgtEl>
                                          <p:spTgt spid="11"/>
                                        </p:tgtEl>
                                        <p:attrNameLst>
                                          <p:attrName>ppt_y</p:attrName>
                                        </p:attrNameLst>
                                      </p:cBhvr>
                                      <p:tavLst>
                                        <p:tav tm="0">
                                          <p:val>
                                            <p:strVal val="#ppt_y+0.035"/>
                                          </p:val>
                                        </p:tav>
                                        <p:tav tm="100000">
                                          <p:val>
                                            <p:strVal val="#ppt_y"/>
                                          </p:val>
                                        </p:tav>
                                      </p:tavLst>
                                    </p:anim>
                                    <p:animEffect transition="in" filter="fade">
                                      <p:cBhvr>
                                        <p:cTn id="26" dur="520"/>
                                        <p:tgtEl>
                                          <p:spTgt spid="11"/>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20" fill="hold"/>
                                        <p:tgtEl>
                                          <p:spTgt spid="12"/>
                                        </p:tgtEl>
                                        <p:attrNameLst>
                                          <p:attrName>ppt_y</p:attrName>
                                        </p:attrNameLst>
                                      </p:cBhvr>
                                      <p:tavLst>
                                        <p:tav tm="0">
                                          <p:val>
                                            <p:strVal val="#ppt_y+0.035"/>
                                          </p:val>
                                        </p:tav>
                                        <p:tav tm="100000">
                                          <p:val>
                                            <p:strVal val="#ppt_y"/>
                                          </p:val>
                                        </p:tav>
                                      </p:tavLst>
                                    </p:anim>
                                    <p:animEffect transition="in" filter="fade">
                                      <p:cBhvr>
                                        <p:cTn id="30" dur="520"/>
                                        <p:tgtEl>
                                          <p:spTgt spid="12"/>
                                        </p:tgtEl>
                                      </p:cBhvr>
                                    </p:animEffect>
                                  </p:childTnLst>
                                </p:cTn>
                              </p:par>
                              <p:par>
                                <p:cTn id="31" presetID="34"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20" fill="hold"/>
                                        <p:tgtEl>
                                          <p:spTgt spid="13"/>
                                        </p:tgtEl>
                                        <p:attrNameLst>
                                          <p:attrName>ppt_y</p:attrName>
                                        </p:attrNameLst>
                                      </p:cBhvr>
                                      <p:tavLst>
                                        <p:tav tm="0">
                                          <p:val>
                                            <p:strVal val="#ppt_y+0.035"/>
                                          </p:val>
                                        </p:tav>
                                        <p:tav tm="100000">
                                          <p:val>
                                            <p:strVal val="#ppt_y"/>
                                          </p:val>
                                        </p:tav>
                                      </p:tavLst>
                                    </p:anim>
                                    <p:animEffect transition="in" filter="fade">
                                      <p:cBhvr>
                                        <p:cTn id="34" dur="520"/>
                                        <p:tgtEl>
                                          <p:spTgt spid="13"/>
                                        </p:tgtEl>
                                      </p:cBhvr>
                                    </p:animEffect>
                                  </p:childTnLst>
                                </p:cTn>
                              </p:par>
                              <p:par>
                                <p:cTn id="35" presetID="34"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20" fill="hold"/>
                                        <p:tgtEl>
                                          <p:spTgt spid="14"/>
                                        </p:tgtEl>
                                        <p:attrNameLst>
                                          <p:attrName>ppt_y</p:attrName>
                                        </p:attrNameLst>
                                      </p:cBhvr>
                                      <p:tavLst>
                                        <p:tav tm="0">
                                          <p:val>
                                            <p:strVal val="#ppt_y+0.035"/>
                                          </p:val>
                                        </p:tav>
                                        <p:tav tm="100000">
                                          <p:val>
                                            <p:strVal val="#ppt_y"/>
                                          </p:val>
                                        </p:tav>
                                      </p:tavLst>
                                    </p:anim>
                                    <p:animEffect transition="in" filter="fade">
                                      <p:cBhvr>
                                        <p:cTn id="38" dur="52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34" presetClass="entr" presetSubtype="0" fill="hold" grpId="0" nodeType="afterEffect">
                                  <p:stCondLst>
                                    <p:cond delay="275"/>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20" fill="hold"/>
                                        <p:tgtEl>
                                          <p:spTgt spid="15"/>
                                        </p:tgtEl>
                                        <p:attrNameLst>
                                          <p:attrName>ppt_y</p:attrName>
                                        </p:attrNameLst>
                                      </p:cBhvr>
                                      <p:tavLst>
                                        <p:tav tm="0">
                                          <p:val>
                                            <p:strVal val="#ppt_y+0.035"/>
                                          </p:val>
                                        </p:tav>
                                        <p:tav tm="100000">
                                          <p:val>
                                            <p:strVal val="#ppt_y"/>
                                          </p:val>
                                        </p:tav>
                                      </p:tavLst>
                                    </p:anim>
                                    <p:animEffect transition="in" filter="fade">
                                      <p:cBhvr>
                                        <p:cTn id="44" dur="520"/>
                                        <p:tgtEl>
                                          <p:spTgt spid="15"/>
                                        </p:tgtEl>
                                      </p:cBhvr>
                                    </p:animEffect>
                                  </p:childTnLst>
                                </p:cTn>
                              </p:par>
                              <p:par>
                                <p:cTn id="45" presetID="34"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20" fill="hold"/>
                                        <p:tgtEl>
                                          <p:spTgt spid="16"/>
                                        </p:tgtEl>
                                        <p:attrNameLst>
                                          <p:attrName>ppt_y</p:attrName>
                                        </p:attrNameLst>
                                      </p:cBhvr>
                                      <p:tavLst>
                                        <p:tav tm="0">
                                          <p:val>
                                            <p:strVal val="#ppt_y+0.035"/>
                                          </p:val>
                                        </p:tav>
                                        <p:tav tm="100000">
                                          <p:val>
                                            <p:strVal val="#ppt_y"/>
                                          </p:val>
                                        </p:tav>
                                      </p:tavLst>
                                    </p:anim>
                                    <p:animEffect transition="in" filter="fade">
                                      <p:cBhvr>
                                        <p:cTn id="48" dur="520"/>
                                        <p:tgtEl>
                                          <p:spTgt spid="16"/>
                                        </p:tgtEl>
                                      </p:cBhvr>
                                    </p:animEffect>
                                  </p:childTnLst>
                                </p:cTn>
                              </p:par>
                              <p:par>
                                <p:cTn id="49" presetID="34"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20" fill="hold"/>
                                        <p:tgtEl>
                                          <p:spTgt spid="17"/>
                                        </p:tgtEl>
                                        <p:attrNameLst>
                                          <p:attrName>ppt_y</p:attrName>
                                        </p:attrNameLst>
                                      </p:cBhvr>
                                      <p:tavLst>
                                        <p:tav tm="0">
                                          <p:val>
                                            <p:strVal val="#ppt_y+0.035"/>
                                          </p:val>
                                        </p:tav>
                                        <p:tav tm="100000">
                                          <p:val>
                                            <p:strVal val="#ppt_y"/>
                                          </p:val>
                                        </p:tav>
                                      </p:tavLst>
                                    </p:anim>
                                    <p:animEffect transition="in" filter="fade">
                                      <p:cBhvr>
                                        <p:cTn id="52" dur="520"/>
                                        <p:tgtEl>
                                          <p:spTgt spid="17"/>
                                        </p:tgtEl>
                                      </p:cBhvr>
                                    </p:animEffect>
                                  </p:childTnLst>
                                </p:cTn>
                              </p:par>
                              <p:par>
                                <p:cTn id="53" presetID="34"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20" fill="hold"/>
                                        <p:tgtEl>
                                          <p:spTgt spid="18"/>
                                        </p:tgtEl>
                                        <p:attrNameLst>
                                          <p:attrName>ppt_y</p:attrName>
                                        </p:attrNameLst>
                                      </p:cBhvr>
                                      <p:tavLst>
                                        <p:tav tm="0">
                                          <p:val>
                                            <p:strVal val="#ppt_y+0.035"/>
                                          </p:val>
                                        </p:tav>
                                        <p:tav tm="100000">
                                          <p:val>
                                            <p:strVal val="#ppt_y"/>
                                          </p:val>
                                        </p:tav>
                                      </p:tavLst>
                                    </p:anim>
                                    <p:animEffect transition="in" filter="fade">
                                      <p:cBhvr>
                                        <p:cTn id="56" dur="52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34" presetClass="entr" presetSubtype="0" fill="hold" grpId="0" nodeType="afterEffect">
                                  <p:stCondLst>
                                    <p:cond delay="275"/>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520" fill="hold"/>
                                        <p:tgtEl>
                                          <p:spTgt spid="19"/>
                                        </p:tgtEl>
                                        <p:attrNameLst>
                                          <p:attrName>ppt_y</p:attrName>
                                        </p:attrNameLst>
                                      </p:cBhvr>
                                      <p:tavLst>
                                        <p:tav tm="0">
                                          <p:val>
                                            <p:strVal val="#ppt_y+0.035"/>
                                          </p:val>
                                        </p:tav>
                                        <p:tav tm="100000">
                                          <p:val>
                                            <p:strVal val="#ppt_y"/>
                                          </p:val>
                                        </p:tav>
                                      </p:tavLst>
                                    </p:anim>
                                    <p:animEffect transition="in" filter="fade">
                                      <p:cBhvr>
                                        <p:cTn id="62" dur="520"/>
                                        <p:tgtEl>
                                          <p:spTgt spid="19"/>
                                        </p:tgtEl>
                                      </p:cBhvr>
                                    </p:animEffect>
                                  </p:childTnLst>
                                </p:cTn>
                              </p:par>
                              <p:par>
                                <p:cTn id="63" presetID="34"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 calcmode="lin" valueType="num">
                                      <p:cBhvr additive="base">
                                        <p:cTn id="65" dur="520" fill="hold"/>
                                        <p:tgtEl>
                                          <p:spTgt spid="20"/>
                                        </p:tgtEl>
                                        <p:attrNameLst>
                                          <p:attrName>ppt_y</p:attrName>
                                        </p:attrNameLst>
                                      </p:cBhvr>
                                      <p:tavLst>
                                        <p:tav tm="0">
                                          <p:val>
                                            <p:strVal val="#ppt_y+0.035"/>
                                          </p:val>
                                        </p:tav>
                                        <p:tav tm="100000">
                                          <p:val>
                                            <p:strVal val="#ppt_y"/>
                                          </p:val>
                                        </p:tav>
                                      </p:tavLst>
                                    </p:anim>
                                    <p:animEffect transition="in" filter="fade">
                                      <p:cBhvr>
                                        <p:cTn id="66" dur="520"/>
                                        <p:tgtEl>
                                          <p:spTgt spid="20"/>
                                        </p:tgtEl>
                                      </p:cBhvr>
                                    </p:animEffect>
                                  </p:childTnLst>
                                </p:cTn>
                              </p:par>
                              <p:par>
                                <p:cTn id="67" presetID="34"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20" fill="hold"/>
                                        <p:tgtEl>
                                          <p:spTgt spid="21"/>
                                        </p:tgtEl>
                                        <p:attrNameLst>
                                          <p:attrName>ppt_y</p:attrName>
                                        </p:attrNameLst>
                                      </p:cBhvr>
                                      <p:tavLst>
                                        <p:tav tm="0">
                                          <p:val>
                                            <p:strVal val="#ppt_y+0.035"/>
                                          </p:val>
                                        </p:tav>
                                        <p:tav tm="100000">
                                          <p:val>
                                            <p:strVal val="#ppt_y"/>
                                          </p:val>
                                        </p:tav>
                                      </p:tavLst>
                                    </p:anim>
                                    <p:animEffect transition="in" filter="fade">
                                      <p:cBhvr>
                                        <p:cTn id="70" dur="520"/>
                                        <p:tgtEl>
                                          <p:spTgt spid="21"/>
                                        </p:tgtEl>
                                      </p:cBhvr>
                                    </p:animEffect>
                                  </p:childTnLst>
                                </p:cTn>
                              </p:par>
                              <p:par>
                                <p:cTn id="71" presetID="34"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additive="base">
                                        <p:cTn id="73" dur="520" fill="hold"/>
                                        <p:tgtEl>
                                          <p:spTgt spid="22"/>
                                        </p:tgtEl>
                                        <p:attrNameLst>
                                          <p:attrName>ppt_y</p:attrName>
                                        </p:attrNameLst>
                                      </p:cBhvr>
                                      <p:tavLst>
                                        <p:tav tm="0">
                                          <p:val>
                                            <p:strVal val="#ppt_y+0.035"/>
                                          </p:val>
                                        </p:tav>
                                        <p:tav tm="100000">
                                          <p:val>
                                            <p:strVal val="#ppt_y"/>
                                          </p:val>
                                        </p:tav>
                                      </p:tavLst>
                                    </p:anim>
                                    <p:animEffect transition="in" filter="fade">
                                      <p:cBhvr>
                                        <p:cTn id="74" dur="5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7.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PLAN</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The eight parts</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3FA7E0"/>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5</a:t>
            </a:r>
            <a:endParaRPr lang="en-US" sz="1000" dirty="0"/>
          </a:p>
        </p:txBody>
      </p:sp>
      <p:sp>
        <p:nvSpPr>
          <p:cNvPr id="7" name="Shape 5"/>
          <p:cNvSpPr/>
          <p:nvPr/>
        </p:nvSpPr>
        <p:spPr>
          <a:xfrm>
            <a:off x="502920" y="1909382"/>
            <a:ext cx="11185855" cy="731520"/>
          </a:xfrm>
          <a:prstGeom prst="roundRect">
            <a:avLst>
              <a:gd name="adj" fmla="val 11250"/>
            </a:avLst>
          </a:prstGeom>
          <a:solidFill>
            <a:srgbClr val="FFFFFF"/>
          </a:solidFill>
          <a:ln w="9525">
            <a:solidFill>
              <a:srgbClr val="DDE4E2"/>
            </a:solidFill>
            <a:prstDash val="solid"/>
          </a:ln>
        </p:spPr>
      </p:sp>
      <p:sp>
        <p:nvSpPr>
          <p:cNvPr id="8" name="Shape 6"/>
          <p:cNvSpPr/>
          <p:nvPr/>
        </p:nvSpPr>
        <p:spPr>
          <a:xfrm>
            <a:off x="704088" y="2083118"/>
            <a:ext cx="384048" cy="384048"/>
          </a:xfrm>
          <a:prstGeom prst="ellipse">
            <a:avLst/>
          </a:prstGeom>
          <a:solidFill>
            <a:srgbClr val="EF4F6B"/>
          </a:solidFill>
          <a:ln/>
        </p:spPr>
      </p:sp>
      <p:sp>
        <p:nvSpPr>
          <p:cNvPr id="9" name="Text 7"/>
          <p:cNvSpPr/>
          <p:nvPr/>
        </p:nvSpPr>
        <p:spPr>
          <a:xfrm>
            <a:off x="704088" y="2083118"/>
            <a:ext cx="384048" cy="384048"/>
          </a:xfrm>
          <a:prstGeom prst="rect">
            <a:avLst/>
          </a:prstGeom>
          <a:noFill/>
          <a:ln/>
        </p:spPr>
        <p:txBody>
          <a:bodyPr wrap="square"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5</a:t>
            </a:r>
            <a:endParaRPr lang="en-US" sz="1300" dirty="0"/>
          </a:p>
        </p:txBody>
      </p:sp>
      <p:sp>
        <p:nvSpPr>
          <p:cNvPr id="10" name="Text 8"/>
          <p:cNvSpPr/>
          <p:nvPr/>
        </p:nvSpPr>
        <p:spPr>
          <a:xfrm>
            <a:off x="1252728" y="2019110"/>
            <a:ext cx="10225735" cy="512064"/>
          </a:xfrm>
          <a:prstGeom prst="rect">
            <a:avLst/>
          </a:prstGeom>
          <a:noFill/>
          <a:ln/>
        </p:spPr>
        <p:txBody>
          <a:bodyPr wrap="square" rtlCol="0" anchor="t"/>
          <a:lstStyle/>
          <a:p>
            <a:pPr indent="0" marL="0">
              <a:lnSpc>
                <a:spcPts val="1518"/>
              </a:lnSpc>
              <a:spcBef>
                <a:spcPts val="400"/>
              </a:spcBef>
              <a:buNone/>
            </a:pPr>
            <a:r>
              <a:rPr lang="en-US" sz="1350" b="1" dirty="0">
                <a:solidFill>
                  <a:srgbClr val="111817"/>
                </a:solidFill>
                <a:latin typeface="Segoe UI" pitchFamily="34" charset="0"/>
                <a:ea typeface="Segoe UI" pitchFamily="34" charset="-122"/>
                <a:cs typeface="Segoe UI" pitchFamily="34" charset="-120"/>
              </a:rPr>
              <a:t>Chapter 2 — Deep learning methods and our model</a:t>
            </a:r>
            <a:endParaRPr lang="en-US" sz="135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The families considered, why the backbones are frozen, the architecture, and how it is evaluated.</a:t>
            </a:r>
            <a:endParaRPr lang="en-US" sz="1350" dirty="0"/>
          </a:p>
        </p:txBody>
      </p:sp>
      <p:sp>
        <p:nvSpPr>
          <p:cNvPr id="11" name="Shape 9"/>
          <p:cNvSpPr/>
          <p:nvPr/>
        </p:nvSpPr>
        <p:spPr>
          <a:xfrm>
            <a:off x="502920" y="2768918"/>
            <a:ext cx="11185855" cy="1083945"/>
          </a:xfrm>
          <a:prstGeom prst="roundRect">
            <a:avLst>
              <a:gd name="adj" fmla="val 7592"/>
            </a:avLst>
          </a:prstGeom>
          <a:solidFill>
            <a:srgbClr val="FFFFFF"/>
          </a:solidFill>
          <a:ln w="9525">
            <a:solidFill>
              <a:srgbClr val="DDE4E2"/>
            </a:solidFill>
            <a:prstDash val="solid"/>
          </a:ln>
        </p:spPr>
      </p:sp>
      <p:sp>
        <p:nvSpPr>
          <p:cNvPr id="12" name="Shape 10"/>
          <p:cNvSpPr/>
          <p:nvPr/>
        </p:nvSpPr>
        <p:spPr>
          <a:xfrm>
            <a:off x="704088" y="3118866"/>
            <a:ext cx="384048" cy="384048"/>
          </a:xfrm>
          <a:prstGeom prst="ellipse">
            <a:avLst/>
          </a:prstGeom>
          <a:solidFill>
            <a:srgbClr val="17B978"/>
          </a:solidFill>
          <a:ln/>
        </p:spPr>
      </p:sp>
      <p:sp>
        <p:nvSpPr>
          <p:cNvPr id="13" name="Text 11"/>
          <p:cNvSpPr/>
          <p:nvPr/>
        </p:nvSpPr>
        <p:spPr>
          <a:xfrm>
            <a:off x="704088" y="3118866"/>
            <a:ext cx="384048" cy="384048"/>
          </a:xfrm>
          <a:prstGeom prst="rect">
            <a:avLst/>
          </a:prstGeom>
          <a:noFill/>
          <a:ln/>
        </p:spPr>
        <p:txBody>
          <a:bodyPr wrap="square" rtlCol="0" anchor="ctr"/>
          <a:lstStyle/>
          <a:p>
            <a:pPr algn="ctr" indent="0" marL="0">
              <a:buNone/>
            </a:pPr>
            <a:r>
              <a:rPr lang="en-US" sz="1300" b="1" dirty="0">
                <a:solidFill>
                  <a:srgbClr val="04301F"/>
                </a:solidFill>
                <a:latin typeface="Consolas" pitchFamily="34" charset="0"/>
                <a:ea typeface="Consolas" pitchFamily="34" charset="-122"/>
                <a:cs typeface="Consolas" pitchFamily="34" charset="-120"/>
              </a:rPr>
              <a:t>6</a:t>
            </a:r>
            <a:endParaRPr lang="en-US" sz="1300" dirty="0"/>
          </a:p>
        </p:txBody>
      </p:sp>
      <p:sp>
        <p:nvSpPr>
          <p:cNvPr id="14" name="Text 12"/>
          <p:cNvSpPr/>
          <p:nvPr/>
        </p:nvSpPr>
        <p:spPr>
          <a:xfrm>
            <a:off x="1252728" y="2878646"/>
            <a:ext cx="10225735" cy="864489"/>
          </a:xfrm>
          <a:prstGeom prst="rect">
            <a:avLst/>
          </a:prstGeom>
          <a:noFill/>
          <a:ln/>
        </p:spPr>
        <p:txBody>
          <a:bodyPr wrap="square" rtlCol="0" anchor="t"/>
          <a:lstStyle/>
          <a:p>
            <a:pPr indent="0" marL="0">
              <a:lnSpc>
                <a:spcPts val="1518"/>
              </a:lnSpc>
              <a:spcBef>
                <a:spcPts val="400"/>
              </a:spcBef>
              <a:buNone/>
            </a:pPr>
            <a:r>
              <a:rPr lang="en-US" sz="1350" b="1" dirty="0">
                <a:solidFill>
                  <a:srgbClr val="111817"/>
                </a:solidFill>
                <a:latin typeface="Segoe UI" pitchFamily="34" charset="0"/>
                <a:ea typeface="Segoe UI" pitchFamily="34" charset="-122"/>
                <a:cs typeface="Segoe UI" pitchFamily="34" charset="-120"/>
              </a:rPr>
              <a:t>Chapter 3 — YOLOv8</a:t>
            </a:r>
            <a:endParaRPr lang="en-US" sz="135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Why a detector at all, the candidates tested, the bake-off that chose one, what it cannot see, and how it is wired to the classifier of Chapter 2: a motion check between two frames and a head count inside the pitch boundary, each able to overturn a match-in-progress verdict but never to create one.</a:t>
            </a:r>
            <a:endParaRPr lang="en-US" sz="1350" dirty="0"/>
          </a:p>
        </p:txBody>
      </p:sp>
      <p:sp>
        <p:nvSpPr>
          <p:cNvPr id="15" name="Shape 13"/>
          <p:cNvSpPr/>
          <p:nvPr/>
        </p:nvSpPr>
        <p:spPr>
          <a:xfrm>
            <a:off x="502920" y="3980879"/>
            <a:ext cx="11185855" cy="731520"/>
          </a:xfrm>
          <a:prstGeom prst="roundRect">
            <a:avLst>
              <a:gd name="adj" fmla="val 11250"/>
            </a:avLst>
          </a:prstGeom>
          <a:solidFill>
            <a:srgbClr val="FFFFFF"/>
          </a:solidFill>
          <a:ln w="9525">
            <a:solidFill>
              <a:srgbClr val="DDE4E2"/>
            </a:solidFill>
            <a:prstDash val="solid"/>
          </a:ln>
        </p:spPr>
      </p:sp>
      <p:sp>
        <p:nvSpPr>
          <p:cNvPr id="16" name="Shape 14"/>
          <p:cNvSpPr/>
          <p:nvPr/>
        </p:nvSpPr>
        <p:spPr>
          <a:xfrm>
            <a:off x="704088" y="4154615"/>
            <a:ext cx="384048" cy="384048"/>
          </a:xfrm>
          <a:prstGeom prst="ellipse">
            <a:avLst/>
          </a:prstGeom>
          <a:solidFill>
            <a:srgbClr val="3FA7E0"/>
          </a:solidFill>
          <a:ln/>
        </p:spPr>
      </p:sp>
      <p:sp>
        <p:nvSpPr>
          <p:cNvPr id="17" name="Text 15"/>
          <p:cNvSpPr/>
          <p:nvPr/>
        </p:nvSpPr>
        <p:spPr>
          <a:xfrm>
            <a:off x="704088" y="4154615"/>
            <a:ext cx="384048" cy="384048"/>
          </a:xfrm>
          <a:prstGeom prst="rect">
            <a:avLst/>
          </a:prstGeom>
          <a:noFill/>
          <a:ln/>
        </p:spPr>
        <p:txBody>
          <a:bodyPr wrap="square" rtlCol="0" anchor="ctr"/>
          <a:lstStyle/>
          <a:p>
            <a:pPr algn="ctr" indent="0" marL="0">
              <a:buNone/>
            </a:pPr>
            <a:r>
              <a:rPr lang="en-US" sz="1300" b="1" dirty="0">
                <a:solidFill>
                  <a:srgbClr val="04283D"/>
                </a:solidFill>
                <a:latin typeface="Consolas" pitchFamily="34" charset="0"/>
                <a:ea typeface="Consolas" pitchFamily="34" charset="-122"/>
                <a:cs typeface="Consolas" pitchFamily="34" charset="-120"/>
              </a:rPr>
              <a:t>7</a:t>
            </a:r>
            <a:endParaRPr lang="en-US" sz="1300" dirty="0"/>
          </a:p>
        </p:txBody>
      </p:sp>
      <p:sp>
        <p:nvSpPr>
          <p:cNvPr id="18" name="Text 16"/>
          <p:cNvSpPr/>
          <p:nvPr/>
        </p:nvSpPr>
        <p:spPr>
          <a:xfrm>
            <a:off x="1252728" y="4090607"/>
            <a:ext cx="10225735" cy="512064"/>
          </a:xfrm>
          <a:prstGeom prst="rect">
            <a:avLst/>
          </a:prstGeom>
          <a:noFill/>
          <a:ln/>
        </p:spPr>
        <p:txBody>
          <a:bodyPr wrap="square" rtlCol="0" anchor="t"/>
          <a:lstStyle/>
          <a:p>
            <a:pPr indent="0" marL="0">
              <a:lnSpc>
                <a:spcPts val="1518"/>
              </a:lnSpc>
              <a:spcBef>
                <a:spcPts val="400"/>
              </a:spcBef>
              <a:buNone/>
            </a:pPr>
            <a:r>
              <a:rPr lang="en-US" sz="1350" b="1" dirty="0">
                <a:solidFill>
                  <a:srgbClr val="111817"/>
                </a:solidFill>
                <a:latin typeface="Segoe UI" pitchFamily="34" charset="0"/>
                <a:ea typeface="Segoe UI" pitchFamily="34" charset="-122"/>
                <a:cs typeface="Segoe UI" pitchFamily="34" charset="-120"/>
              </a:rPr>
              <a:t>Chapter 4 — Applications and data augmentation</a:t>
            </a:r>
            <a:endParaRPr lang="en-US" sz="135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The deployed application, preprocessing, the augmentation presets, the retraction, and the data generated with AI.</a:t>
            </a:r>
            <a:endParaRPr lang="en-US" sz="1350" dirty="0"/>
          </a:p>
        </p:txBody>
      </p:sp>
      <p:sp>
        <p:nvSpPr>
          <p:cNvPr id="19" name="Shape 17"/>
          <p:cNvSpPr/>
          <p:nvPr/>
        </p:nvSpPr>
        <p:spPr>
          <a:xfrm>
            <a:off x="502920" y="4840415"/>
            <a:ext cx="11185855" cy="731520"/>
          </a:xfrm>
          <a:prstGeom prst="roundRect">
            <a:avLst>
              <a:gd name="adj" fmla="val 11250"/>
            </a:avLst>
          </a:prstGeom>
          <a:solidFill>
            <a:srgbClr val="FFFFFF"/>
          </a:solidFill>
          <a:ln w="9525">
            <a:solidFill>
              <a:srgbClr val="DDE4E2"/>
            </a:solidFill>
            <a:prstDash val="solid"/>
          </a:ln>
        </p:spPr>
      </p:sp>
      <p:sp>
        <p:nvSpPr>
          <p:cNvPr id="20" name="Shape 18"/>
          <p:cNvSpPr/>
          <p:nvPr/>
        </p:nvSpPr>
        <p:spPr>
          <a:xfrm>
            <a:off x="704088" y="5014151"/>
            <a:ext cx="384048" cy="384048"/>
          </a:xfrm>
          <a:prstGeom prst="ellipse">
            <a:avLst/>
          </a:prstGeom>
          <a:solidFill>
            <a:srgbClr val="6A57D6"/>
          </a:solidFill>
          <a:ln/>
        </p:spPr>
      </p:sp>
      <p:sp>
        <p:nvSpPr>
          <p:cNvPr id="21" name="Text 19"/>
          <p:cNvSpPr/>
          <p:nvPr/>
        </p:nvSpPr>
        <p:spPr>
          <a:xfrm>
            <a:off x="704088" y="5014151"/>
            <a:ext cx="384048" cy="384048"/>
          </a:xfrm>
          <a:prstGeom prst="rect">
            <a:avLst/>
          </a:prstGeom>
          <a:noFill/>
          <a:ln/>
        </p:spPr>
        <p:txBody>
          <a:bodyPr wrap="square"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8</a:t>
            </a:r>
            <a:endParaRPr lang="en-US" sz="1300" dirty="0"/>
          </a:p>
        </p:txBody>
      </p:sp>
      <p:sp>
        <p:nvSpPr>
          <p:cNvPr id="22" name="Text 20"/>
          <p:cNvSpPr/>
          <p:nvPr/>
        </p:nvSpPr>
        <p:spPr>
          <a:xfrm>
            <a:off x="1252728" y="4950143"/>
            <a:ext cx="10225735" cy="512064"/>
          </a:xfrm>
          <a:prstGeom prst="rect">
            <a:avLst/>
          </a:prstGeom>
          <a:noFill/>
          <a:ln/>
        </p:spPr>
        <p:txBody>
          <a:bodyPr wrap="square" rtlCol="0" anchor="t"/>
          <a:lstStyle/>
          <a:p>
            <a:pPr indent="0" marL="0">
              <a:lnSpc>
                <a:spcPts val="1518"/>
              </a:lnSpc>
              <a:spcBef>
                <a:spcPts val="400"/>
              </a:spcBef>
              <a:buNone/>
            </a:pPr>
            <a:r>
              <a:rPr lang="en-US" sz="1350" b="1" dirty="0">
                <a:solidFill>
                  <a:srgbClr val="111817"/>
                </a:solidFill>
                <a:latin typeface="Segoe UI" pitchFamily="34" charset="0"/>
                <a:ea typeface="Segoe UI" pitchFamily="34" charset="-122"/>
                <a:cs typeface="Segoe UI" pitchFamily="34" charset="-120"/>
              </a:rPr>
              <a:t>Conclusion and perspectives</a:t>
            </a:r>
            <a:endParaRPr lang="en-US" sz="135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What was achieved, what it cannot claim, and what would change that.</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20" fill="hold"/>
                                        <p:tgtEl>
                                          <p:spTgt spid="9"/>
                                        </p:tgtEl>
                                        <p:attrNameLst>
                                          <p:attrName>ppt_y</p:attrName>
                                        </p:attrNameLst>
                                      </p:cBhvr>
                                      <p:tavLst>
                                        <p:tav tm="0">
                                          <p:val>
                                            <p:strVal val="#ppt_y+0.035"/>
                                          </p:val>
                                        </p:tav>
                                        <p:tav tm="100000">
                                          <p:val>
                                            <p:strVal val="#ppt_y"/>
                                          </p:val>
                                        </p:tav>
                                      </p:tavLst>
                                    </p:anim>
                                    <p:animEffect transition="in" filter="fade">
                                      <p:cBhvr>
                                        <p:cTn id="16" dur="520"/>
                                        <p:tgtEl>
                                          <p:spTgt spid="9"/>
                                        </p:tgtEl>
                                      </p:cBhvr>
                                    </p:animEffect>
                                  </p:childTnLst>
                                </p:cTn>
                              </p:par>
                              <p:par>
                                <p:cTn id="17" presetID="34"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20" fill="hold"/>
                                        <p:tgtEl>
                                          <p:spTgt spid="10"/>
                                        </p:tgtEl>
                                        <p:attrNameLst>
                                          <p:attrName>ppt_y</p:attrName>
                                        </p:attrNameLst>
                                      </p:cBhvr>
                                      <p:tavLst>
                                        <p:tav tm="0">
                                          <p:val>
                                            <p:strVal val="#ppt_y+0.035"/>
                                          </p:val>
                                        </p:tav>
                                        <p:tav tm="100000">
                                          <p:val>
                                            <p:strVal val="#ppt_y"/>
                                          </p:val>
                                        </p:tav>
                                      </p:tavLst>
                                    </p:anim>
                                    <p:animEffect transition="in" filter="fade">
                                      <p:cBhvr>
                                        <p:cTn id="20" dur="52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4" presetClass="entr" presetSubtype="0" fill="hold" grpId="0" nodeType="afterEffect">
                                  <p:stCondLst>
                                    <p:cond delay="275"/>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20" fill="hold"/>
                                        <p:tgtEl>
                                          <p:spTgt spid="11"/>
                                        </p:tgtEl>
                                        <p:attrNameLst>
                                          <p:attrName>ppt_y</p:attrName>
                                        </p:attrNameLst>
                                      </p:cBhvr>
                                      <p:tavLst>
                                        <p:tav tm="0">
                                          <p:val>
                                            <p:strVal val="#ppt_y+0.035"/>
                                          </p:val>
                                        </p:tav>
                                        <p:tav tm="100000">
                                          <p:val>
                                            <p:strVal val="#ppt_y"/>
                                          </p:val>
                                        </p:tav>
                                      </p:tavLst>
                                    </p:anim>
                                    <p:animEffect transition="in" filter="fade">
                                      <p:cBhvr>
                                        <p:cTn id="26" dur="520"/>
                                        <p:tgtEl>
                                          <p:spTgt spid="11"/>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20" fill="hold"/>
                                        <p:tgtEl>
                                          <p:spTgt spid="12"/>
                                        </p:tgtEl>
                                        <p:attrNameLst>
                                          <p:attrName>ppt_y</p:attrName>
                                        </p:attrNameLst>
                                      </p:cBhvr>
                                      <p:tavLst>
                                        <p:tav tm="0">
                                          <p:val>
                                            <p:strVal val="#ppt_y+0.035"/>
                                          </p:val>
                                        </p:tav>
                                        <p:tav tm="100000">
                                          <p:val>
                                            <p:strVal val="#ppt_y"/>
                                          </p:val>
                                        </p:tav>
                                      </p:tavLst>
                                    </p:anim>
                                    <p:animEffect transition="in" filter="fade">
                                      <p:cBhvr>
                                        <p:cTn id="30" dur="520"/>
                                        <p:tgtEl>
                                          <p:spTgt spid="12"/>
                                        </p:tgtEl>
                                      </p:cBhvr>
                                    </p:animEffect>
                                  </p:childTnLst>
                                </p:cTn>
                              </p:par>
                              <p:par>
                                <p:cTn id="31" presetID="34"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20" fill="hold"/>
                                        <p:tgtEl>
                                          <p:spTgt spid="13"/>
                                        </p:tgtEl>
                                        <p:attrNameLst>
                                          <p:attrName>ppt_y</p:attrName>
                                        </p:attrNameLst>
                                      </p:cBhvr>
                                      <p:tavLst>
                                        <p:tav tm="0">
                                          <p:val>
                                            <p:strVal val="#ppt_y+0.035"/>
                                          </p:val>
                                        </p:tav>
                                        <p:tav tm="100000">
                                          <p:val>
                                            <p:strVal val="#ppt_y"/>
                                          </p:val>
                                        </p:tav>
                                      </p:tavLst>
                                    </p:anim>
                                    <p:animEffect transition="in" filter="fade">
                                      <p:cBhvr>
                                        <p:cTn id="34" dur="520"/>
                                        <p:tgtEl>
                                          <p:spTgt spid="13"/>
                                        </p:tgtEl>
                                      </p:cBhvr>
                                    </p:animEffect>
                                  </p:childTnLst>
                                </p:cTn>
                              </p:par>
                              <p:par>
                                <p:cTn id="35" presetID="34"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20" fill="hold"/>
                                        <p:tgtEl>
                                          <p:spTgt spid="14"/>
                                        </p:tgtEl>
                                        <p:attrNameLst>
                                          <p:attrName>ppt_y</p:attrName>
                                        </p:attrNameLst>
                                      </p:cBhvr>
                                      <p:tavLst>
                                        <p:tav tm="0">
                                          <p:val>
                                            <p:strVal val="#ppt_y+0.035"/>
                                          </p:val>
                                        </p:tav>
                                        <p:tav tm="100000">
                                          <p:val>
                                            <p:strVal val="#ppt_y"/>
                                          </p:val>
                                        </p:tav>
                                      </p:tavLst>
                                    </p:anim>
                                    <p:animEffect transition="in" filter="fade">
                                      <p:cBhvr>
                                        <p:cTn id="38" dur="52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34" presetClass="entr" presetSubtype="0" fill="hold" grpId="0" nodeType="afterEffect">
                                  <p:stCondLst>
                                    <p:cond delay="275"/>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20" fill="hold"/>
                                        <p:tgtEl>
                                          <p:spTgt spid="15"/>
                                        </p:tgtEl>
                                        <p:attrNameLst>
                                          <p:attrName>ppt_y</p:attrName>
                                        </p:attrNameLst>
                                      </p:cBhvr>
                                      <p:tavLst>
                                        <p:tav tm="0">
                                          <p:val>
                                            <p:strVal val="#ppt_y+0.035"/>
                                          </p:val>
                                        </p:tav>
                                        <p:tav tm="100000">
                                          <p:val>
                                            <p:strVal val="#ppt_y"/>
                                          </p:val>
                                        </p:tav>
                                      </p:tavLst>
                                    </p:anim>
                                    <p:animEffect transition="in" filter="fade">
                                      <p:cBhvr>
                                        <p:cTn id="44" dur="520"/>
                                        <p:tgtEl>
                                          <p:spTgt spid="15"/>
                                        </p:tgtEl>
                                      </p:cBhvr>
                                    </p:animEffect>
                                  </p:childTnLst>
                                </p:cTn>
                              </p:par>
                              <p:par>
                                <p:cTn id="45" presetID="34"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20" fill="hold"/>
                                        <p:tgtEl>
                                          <p:spTgt spid="16"/>
                                        </p:tgtEl>
                                        <p:attrNameLst>
                                          <p:attrName>ppt_y</p:attrName>
                                        </p:attrNameLst>
                                      </p:cBhvr>
                                      <p:tavLst>
                                        <p:tav tm="0">
                                          <p:val>
                                            <p:strVal val="#ppt_y+0.035"/>
                                          </p:val>
                                        </p:tav>
                                        <p:tav tm="100000">
                                          <p:val>
                                            <p:strVal val="#ppt_y"/>
                                          </p:val>
                                        </p:tav>
                                      </p:tavLst>
                                    </p:anim>
                                    <p:animEffect transition="in" filter="fade">
                                      <p:cBhvr>
                                        <p:cTn id="48" dur="520"/>
                                        <p:tgtEl>
                                          <p:spTgt spid="16"/>
                                        </p:tgtEl>
                                      </p:cBhvr>
                                    </p:animEffect>
                                  </p:childTnLst>
                                </p:cTn>
                              </p:par>
                              <p:par>
                                <p:cTn id="49" presetID="34"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20" fill="hold"/>
                                        <p:tgtEl>
                                          <p:spTgt spid="17"/>
                                        </p:tgtEl>
                                        <p:attrNameLst>
                                          <p:attrName>ppt_y</p:attrName>
                                        </p:attrNameLst>
                                      </p:cBhvr>
                                      <p:tavLst>
                                        <p:tav tm="0">
                                          <p:val>
                                            <p:strVal val="#ppt_y+0.035"/>
                                          </p:val>
                                        </p:tav>
                                        <p:tav tm="100000">
                                          <p:val>
                                            <p:strVal val="#ppt_y"/>
                                          </p:val>
                                        </p:tav>
                                      </p:tavLst>
                                    </p:anim>
                                    <p:animEffect transition="in" filter="fade">
                                      <p:cBhvr>
                                        <p:cTn id="52" dur="520"/>
                                        <p:tgtEl>
                                          <p:spTgt spid="17"/>
                                        </p:tgtEl>
                                      </p:cBhvr>
                                    </p:animEffect>
                                  </p:childTnLst>
                                </p:cTn>
                              </p:par>
                              <p:par>
                                <p:cTn id="53" presetID="34"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20" fill="hold"/>
                                        <p:tgtEl>
                                          <p:spTgt spid="18"/>
                                        </p:tgtEl>
                                        <p:attrNameLst>
                                          <p:attrName>ppt_y</p:attrName>
                                        </p:attrNameLst>
                                      </p:cBhvr>
                                      <p:tavLst>
                                        <p:tav tm="0">
                                          <p:val>
                                            <p:strVal val="#ppt_y+0.035"/>
                                          </p:val>
                                        </p:tav>
                                        <p:tav tm="100000">
                                          <p:val>
                                            <p:strVal val="#ppt_y"/>
                                          </p:val>
                                        </p:tav>
                                      </p:tavLst>
                                    </p:anim>
                                    <p:animEffect transition="in" filter="fade">
                                      <p:cBhvr>
                                        <p:cTn id="56" dur="52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34" presetClass="entr" presetSubtype="0" fill="hold" grpId="0" nodeType="afterEffect">
                                  <p:stCondLst>
                                    <p:cond delay="275"/>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520" fill="hold"/>
                                        <p:tgtEl>
                                          <p:spTgt spid="19"/>
                                        </p:tgtEl>
                                        <p:attrNameLst>
                                          <p:attrName>ppt_y</p:attrName>
                                        </p:attrNameLst>
                                      </p:cBhvr>
                                      <p:tavLst>
                                        <p:tav tm="0">
                                          <p:val>
                                            <p:strVal val="#ppt_y+0.035"/>
                                          </p:val>
                                        </p:tav>
                                        <p:tav tm="100000">
                                          <p:val>
                                            <p:strVal val="#ppt_y"/>
                                          </p:val>
                                        </p:tav>
                                      </p:tavLst>
                                    </p:anim>
                                    <p:animEffect transition="in" filter="fade">
                                      <p:cBhvr>
                                        <p:cTn id="62" dur="520"/>
                                        <p:tgtEl>
                                          <p:spTgt spid="19"/>
                                        </p:tgtEl>
                                      </p:cBhvr>
                                    </p:animEffect>
                                  </p:childTnLst>
                                </p:cTn>
                              </p:par>
                              <p:par>
                                <p:cTn id="63" presetID="34"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 calcmode="lin" valueType="num">
                                      <p:cBhvr additive="base">
                                        <p:cTn id="65" dur="520" fill="hold"/>
                                        <p:tgtEl>
                                          <p:spTgt spid="20"/>
                                        </p:tgtEl>
                                        <p:attrNameLst>
                                          <p:attrName>ppt_y</p:attrName>
                                        </p:attrNameLst>
                                      </p:cBhvr>
                                      <p:tavLst>
                                        <p:tav tm="0">
                                          <p:val>
                                            <p:strVal val="#ppt_y+0.035"/>
                                          </p:val>
                                        </p:tav>
                                        <p:tav tm="100000">
                                          <p:val>
                                            <p:strVal val="#ppt_y"/>
                                          </p:val>
                                        </p:tav>
                                      </p:tavLst>
                                    </p:anim>
                                    <p:animEffect transition="in" filter="fade">
                                      <p:cBhvr>
                                        <p:cTn id="66" dur="520"/>
                                        <p:tgtEl>
                                          <p:spTgt spid="20"/>
                                        </p:tgtEl>
                                      </p:cBhvr>
                                    </p:animEffect>
                                  </p:childTnLst>
                                </p:cTn>
                              </p:par>
                              <p:par>
                                <p:cTn id="67" presetID="34"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20" fill="hold"/>
                                        <p:tgtEl>
                                          <p:spTgt spid="21"/>
                                        </p:tgtEl>
                                        <p:attrNameLst>
                                          <p:attrName>ppt_y</p:attrName>
                                        </p:attrNameLst>
                                      </p:cBhvr>
                                      <p:tavLst>
                                        <p:tav tm="0">
                                          <p:val>
                                            <p:strVal val="#ppt_y+0.035"/>
                                          </p:val>
                                        </p:tav>
                                        <p:tav tm="100000">
                                          <p:val>
                                            <p:strVal val="#ppt_y"/>
                                          </p:val>
                                        </p:tav>
                                      </p:tavLst>
                                    </p:anim>
                                    <p:animEffect transition="in" filter="fade">
                                      <p:cBhvr>
                                        <p:cTn id="70" dur="520"/>
                                        <p:tgtEl>
                                          <p:spTgt spid="21"/>
                                        </p:tgtEl>
                                      </p:cBhvr>
                                    </p:animEffect>
                                  </p:childTnLst>
                                </p:cTn>
                              </p:par>
                              <p:par>
                                <p:cTn id="71" presetID="34"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additive="base">
                                        <p:cTn id="73" dur="520" fill="hold"/>
                                        <p:tgtEl>
                                          <p:spTgt spid="22"/>
                                        </p:tgtEl>
                                        <p:attrNameLst>
                                          <p:attrName>ppt_y</p:attrName>
                                        </p:attrNameLst>
                                      </p:cBhvr>
                                      <p:tavLst>
                                        <p:tav tm="0">
                                          <p:val>
                                            <p:strVal val="#ppt_y+0.035"/>
                                          </p:val>
                                        </p:tav>
                                        <p:tav tm="100000">
                                          <p:val>
                                            <p:strVal val="#ppt_y"/>
                                          </p:val>
                                        </p:tav>
                                      </p:tavLst>
                                    </p:anim>
                                    <p:animEffect transition="in" filter="fade">
                                      <p:cBhvr>
                                        <p:cTn id="74" dur="5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8.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gradFill rotWithShape="1">
            <a:gsLst>
              <a:gs pos="0">
                <a:srgbClr val="0E8F5C"/>
              </a:gs>
              <a:gs pos="100000">
                <a:srgbClr val="14A86D"/>
              </a:gs>
            </a:gsLst>
            <a:lin ang="2700000" scaled="0"/>
          </a:gradFill>
          <a:ln/>
        </p:spPr>
      </p:sp>
      <p:sp>
        <p:nvSpPr>
          <p:cNvPr id="3" name="Text 1"/>
          <p:cNvSpPr/>
          <p:nvPr/>
        </p:nvSpPr>
        <p:spPr>
          <a:xfrm>
            <a:off x="822960" y="1741924"/>
            <a:ext cx="10545775" cy="292608"/>
          </a:xfrm>
          <a:prstGeom prst="rect">
            <a:avLst/>
          </a:prstGeom>
          <a:noFill/>
          <a:ln/>
        </p:spPr>
        <p:txBody>
          <a:bodyPr wrap="square" rtlCol="0" anchor="b"/>
          <a:lstStyle/>
          <a:p>
            <a:pPr indent="0" marL="0">
              <a:buNone/>
            </a:pPr>
            <a:r>
              <a:rPr lang="en-US" sz="1200" b="1" spc="300" kern="0" dirty="0">
                <a:solidFill>
                  <a:srgbClr val="BBC9D6"/>
                </a:solidFill>
                <a:latin typeface="Consolas" pitchFamily="34" charset="0"/>
                <a:ea typeface="Consolas" pitchFamily="34" charset="-122"/>
                <a:cs typeface="Consolas" pitchFamily="34" charset="-120"/>
              </a:rPr>
              <a:t>THE MAIN IDEA OF THE PROJECT IS:</a:t>
            </a:r>
            <a:endParaRPr lang="en-US" sz="1200" dirty="0"/>
          </a:p>
        </p:txBody>
      </p:sp>
      <p:sp>
        <p:nvSpPr>
          <p:cNvPr id="4" name="Text 2"/>
          <p:cNvSpPr/>
          <p:nvPr/>
        </p:nvSpPr>
        <p:spPr>
          <a:xfrm>
            <a:off x="822960" y="2125972"/>
            <a:ext cx="9966960" cy="1111504"/>
          </a:xfrm>
          <a:prstGeom prst="rect">
            <a:avLst/>
          </a:prstGeom>
          <a:noFill/>
          <a:ln/>
        </p:spPr>
        <p:txBody>
          <a:bodyPr wrap="square" rtlCol="0" anchor="t"/>
          <a:lstStyle/>
          <a:p>
            <a:pPr indent="0" marL="0">
              <a:lnSpc>
                <a:spcPts val="3944"/>
              </a:lnSpc>
              <a:buNone/>
            </a:pPr>
            <a:r>
              <a:rPr lang="en-US" sz="3400" b="1" dirty="0">
                <a:solidFill>
                  <a:srgbClr val="FFFFFF"/>
                </a:solidFill>
                <a:latin typeface="Segoe UI" pitchFamily="34" charset="0"/>
                <a:ea typeface="Segoe UI" pitchFamily="34" charset="-122"/>
                <a:cs typeface="Segoe UI" pitchFamily="34" charset="-120"/>
              </a:rPr>
              <a:t>The booking says an hour was sold. Only the camera knows if anyone came.</a:t>
            </a:r>
            <a:endParaRPr lang="en-US" sz="3400" dirty="0"/>
          </a:p>
        </p:txBody>
      </p:sp>
      <p:sp>
        <p:nvSpPr>
          <p:cNvPr id="5" name="Text 3"/>
          <p:cNvSpPr/>
          <p:nvPr/>
        </p:nvSpPr>
        <p:spPr>
          <a:xfrm>
            <a:off x="822960" y="3475220"/>
            <a:ext cx="9326880" cy="977265"/>
          </a:xfrm>
          <a:prstGeom prst="rect">
            <a:avLst/>
          </a:prstGeom>
          <a:noFill/>
          <a:ln/>
        </p:spPr>
        <p:txBody>
          <a:bodyPr wrap="square" rtlCol="0" anchor="t"/>
          <a:lstStyle/>
          <a:p>
            <a:pPr indent="0" marL="0">
              <a:lnSpc>
                <a:spcPts val="2325"/>
              </a:lnSpc>
              <a:buNone/>
            </a:pPr>
            <a:r>
              <a:rPr lang="en-US" sz="1550" dirty="0">
                <a:solidFill>
                  <a:srgbClr val="DCE6EE"/>
                </a:solidFill>
                <a:latin typeface="Segoe UI" pitchFamily="34" charset="0"/>
                <a:ea typeface="Segoe UI" pitchFamily="34" charset="-122"/>
                <a:cs typeface="Segoe UI" pitchFamily="34" charset="-120"/>
              </a:rPr>
              <a:t>What is really being sold here is </a:t>
            </a:r>
            <a:pPr indent="0" marL="0">
              <a:lnSpc>
                <a:spcPts val="2325"/>
              </a:lnSpc>
              <a:buNone/>
            </a:pPr>
            <a:r>
              <a:rPr lang="en-US" sz="1550" b="1" dirty="0">
                <a:solidFill>
                  <a:srgbClr val="DCE6EE"/>
                </a:solidFill>
                <a:latin typeface="Segoe UI" pitchFamily="34" charset="0"/>
                <a:ea typeface="Segoe UI" pitchFamily="34" charset="-122"/>
                <a:cs typeface="Segoe UI" pitchFamily="34" charset="-120"/>
              </a:rPr>
              <a:t>trust</a:t>
            </a:r>
            <a:pPr indent="0" marL="0">
              <a:lnSpc>
                <a:spcPts val="2325"/>
              </a:lnSpc>
              <a:buNone/>
            </a:pPr>
            <a:r>
              <a:rPr lang="en-US" sz="1550" dirty="0">
                <a:solidFill>
                  <a:srgbClr val="DCE6EE"/>
                </a:solidFill>
                <a:latin typeface="Segoe UI" pitchFamily="34" charset="0"/>
                <a:ea typeface="Segoe UI" pitchFamily="34" charset="-122"/>
                <a:cs typeface="Segoe UI" pitchFamily="34" charset="-120"/>
              </a:rPr>
              <a:t>, and today this information can depend on a paper or a manual record made by employees. The problem is that nobody can check this information all the time.</a:t>
            </a:r>
            <a:endParaRPr lang="en-US" sz="1550" dirty="0"/>
          </a:p>
        </p:txBody>
      </p:sp>
    </p:spTree>
  </p:cSld>
  <p:clrMapOvr>
    <a:masterClrMapping/>
  </p:clrMapOvr>
  <mc:AlternateContent xmlns:mc="http://schemas.openxmlformats.org/markup-compatibility/2006">
    <mc:Choice xmlns:p14="http://schemas.microsoft.com/office/powerpoint/2010/main" Requires="p14">
      <p:transition spd="slow" p14:dur="7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20" fill="hold"/>
                                        <p:tgtEl>
                                          <p:spTgt spid="3"/>
                                        </p:tgtEl>
                                        <p:attrNameLst>
                                          <p:attrName>ppt_y</p:attrName>
                                        </p:attrNameLst>
                                      </p:cBhvr>
                                      <p:tavLst>
                                        <p:tav tm="0">
                                          <p:val>
                                            <p:strVal val="#ppt_y+0.035"/>
                                          </p:val>
                                        </p:tav>
                                        <p:tav tm="100000">
                                          <p:val>
                                            <p:strVal val="#ppt_y"/>
                                          </p:val>
                                        </p:tav>
                                      </p:tavLst>
                                    </p:anim>
                                    <p:animEffect transition="in" filter="fade">
                                      <p:cBhvr>
                                        <p:cTn id="8" dur="52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367"/>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20" fill="hold"/>
                                        <p:tgtEl>
                                          <p:spTgt spid="4"/>
                                        </p:tgtEl>
                                        <p:attrNameLst>
                                          <p:attrName>ppt_y</p:attrName>
                                        </p:attrNameLst>
                                      </p:cBhvr>
                                      <p:tavLst>
                                        <p:tav tm="0">
                                          <p:val>
                                            <p:strVal val="#ppt_y+0.035"/>
                                          </p:val>
                                        </p:tav>
                                        <p:tav tm="100000">
                                          <p:val>
                                            <p:strVal val="#ppt_y"/>
                                          </p:val>
                                        </p:tav>
                                      </p:tavLst>
                                    </p:anim>
                                    <p:animEffect transition="in" filter="fade">
                                      <p:cBhvr>
                                        <p:cTn id="14" dur="52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grpId="0" nodeType="afterEffect">
                                  <p:stCondLst>
                                    <p:cond delay="367"/>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20" fill="hold"/>
                                        <p:tgtEl>
                                          <p:spTgt spid="5"/>
                                        </p:tgtEl>
                                        <p:attrNameLst>
                                          <p:attrName>ppt_y</p:attrName>
                                        </p:attrNameLst>
                                      </p:cBhvr>
                                      <p:tavLst>
                                        <p:tav tm="0">
                                          <p:val>
                                            <p:strVal val="#ppt_y+0.035"/>
                                          </p:val>
                                        </p:tav>
                                        <p:tav tm="100000">
                                          <p:val>
                                            <p:strVal val="#ppt_y"/>
                                          </p:val>
                                        </p:tav>
                                      </p:tavLst>
                                    </p:anim>
                                    <p:animEffect transition="in" filter="fade">
                                      <p:cBhvr>
                                        <p:cTn id="20" dur="5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9.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9">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INTRODUCTION</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Our system tries to answer simple questions:</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17B978"/>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6</a:t>
            </a:r>
            <a:endParaRPr lang="en-US" sz="1000" dirty="0"/>
          </a:p>
        </p:txBody>
      </p:sp>
      <p:sp>
        <p:nvSpPr>
          <p:cNvPr id="7" name="Shape 5"/>
          <p:cNvSpPr/>
          <p:nvPr/>
        </p:nvSpPr>
        <p:spPr>
          <a:xfrm>
            <a:off x="502920" y="2428631"/>
            <a:ext cx="3618890" cy="948817"/>
          </a:xfrm>
          <a:prstGeom prst="roundRect">
            <a:avLst>
              <a:gd name="adj" fmla="val 9637"/>
            </a:avLst>
          </a:prstGeom>
          <a:solidFill>
            <a:srgbClr val="17B978"/>
          </a:solidFill>
          <a:ln/>
        </p:spPr>
      </p:sp>
      <p:sp>
        <p:nvSpPr>
          <p:cNvPr id="8" name="Shape 6"/>
          <p:cNvSpPr/>
          <p:nvPr/>
        </p:nvSpPr>
        <p:spPr>
          <a:xfrm>
            <a:off x="566928" y="2428631"/>
            <a:ext cx="3554882" cy="948817"/>
          </a:xfrm>
          <a:prstGeom prst="roundRect">
            <a:avLst>
              <a:gd name="adj" fmla="val 9637"/>
            </a:avLst>
          </a:prstGeom>
          <a:solidFill>
            <a:srgbClr val="FFFFFF"/>
          </a:solidFill>
          <a:ln w="9525">
            <a:solidFill>
              <a:srgbClr val="DDE4E2"/>
            </a:solidFill>
            <a:prstDash val="solid"/>
          </a:ln>
        </p:spPr>
      </p:sp>
      <p:sp>
        <p:nvSpPr>
          <p:cNvPr id="9" name="Text 7"/>
          <p:cNvSpPr/>
          <p:nvPr/>
        </p:nvSpPr>
        <p:spPr>
          <a:xfrm>
            <a:off x="758952" y="2565791"/>
            <a:ext cx="3161690" cy="674497"/>
          </a:xfrm>
          <a:prstGeom prst="rect">
            <a:avLst/>
          </a:prstGeom>
          <a:noFill/>
          <a:ln/>
        </p:spPr>
        <p:txBody>
          <a:bodyPr wrap="square" rtlCol="0" anchor="t"/>
          <a:lstStyle/>
          <a:p>
            <a:pPr indent="0" marL="0">
              <a:lnSpc>
                <a:spcPts val="1540"/>
              </a:lnSpc>
              <a:spcBef>
                <a:spcPts val="400"/>
              </a:spcBef>
              <a:buNone/>
            </a:pPr>
            <a:r>
              <a:rPr lang="en-US" sz="1350" b="1" dirty="0">
                <a:solidFill>
                  <a:srgbClr val="111817"/>
                </a:solidFill>
                <a:latin typeface="Segoe UI" pitchFamily="34" charset="0"/>
                <a:ea typeface="Segoe UI" pitchFamily="34" charset="-122"/>
                <a:cs typeface="Segoe UI" pitchFamily="34" charset="-120"/>
              </a:rPr>
              <a:t>Was this hour booked?</a:t>
            </a:r>
            <a:endParaRPr lang="en-US" sz="1350" dirty="0"/>
          </a:p>
          <a:p>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The system shows the booking, but not what actually happened on the pitch.</a:t>
            </a:r>
            <a:endParaRPr lang="en-US" sz="1350" dirty="0"/>
          </a:p>
        </p:txBody>
      </p:sp>
      <p:sp>
        <p:nvSpPr>
          <p:cNvPr id="10" name="Shape 8"/>
          <p:cNvSpPr/>
          <p:nvPr/>
        </p:nvSpPr>
        <p:spPr>
          <a:xfrm>
            <a:off x="4286402" y="2428631"/>
            <a:ext cx="3618890" cy="948817"/>
          </a:xfrm>
          <a:prstGeom prst="roundRect">
            <a:avLst>
              <a:gd name="adj" fmla="val 9637"/>
            </a:avLst>
          </a:prstGeom>
          <a:solidFill>
            <a:srgbClr val="3FA7E0"/>
          </a:solidFill>
          <a:ln/>
        </p:spPr>
      </p:sp>
      <p:sp>
        <p:nvSpPr>
          <p:cNvPr id="11" name="Shape 9"/>
          <p:cNvSpPr/>
          <p:nvPr/>
        </p:nvSpPr>
        <p:spPr>
          <a:xfrm>
            <a:off x="4350410" y="2428631"/>
            <a:ext cx="3554882" cy="948817"/>
          </a:xfrm>
          <a:prstGeom prst="roundRect">
            <a:avLst>
              <a:gd name="adj" fmla="val 9637"/>
            </a:avLst>
          </a:prstGeom>
          <a:solidFill>
            <a:srgbClr val="FFFFFF"/>
          </a:solidFill>
          <a:ln w="9525">
            <a:solidFill>
              <a:srgbClr val="DDE4E2"/>
            </a:solidFill>
            <a:prstDash val="solid"/>
          </a:ln>
        </p:spPr>
      </p:sp>
      <p:sp>
        <p:nvSpPr>
          <p:cNvPr id="12" name="Text 10"/>
          <p:cNvSpPr/>
          <p:nvPr/>
        </p:nvSpPr>
        <p:spPr>
          <a:xfrm>
            <a:off x="4542434" y="2565791"/>
            <a:ext cx="3161690" cy="674497"/>
          </a:xfrm>
          <a:prstGeom prst="rect">
            <a:avLst/>
          </a:prstGeom>
          <a:noFill/>
          <a:ln/>
        </p:spPr>
        <p:txBody>
          <a:bodyPr wrap="square" rtlCol="0" anchor="t"/>
          <a:lstStyle/>
          <a:p>
            <a:pPr indent="0" marL="0">
              <a:lnSpc>
                <a:spcPts val="1540"/>
              </a:lnSpc>
              <a:spcBef>
                <a:spcPts val="400"/>
              </a:spcBef>
              <a:buNone/>
            </a:pPr>
            <a:r>
              <a:rPr lang="en-US" sz="1350" b="1" dirty="0">
                <a:solidFill>
                  <a:srgbClr val="111817"/>
                </a:solidFill>
                <a:latin typeface="Segoe UI" pitchFamily="34" charset="0"/>
                <a:ea typeface="Segoe UI" pitchFamily="34" charset="-122"/>
                <a:cs typeface="Segoe UI" pitchFamily="34" charset="-120"/>
              </a:rPr>
              <a:t>Did they actually come?</a:t>
            </a:r>
            <a:endParaRPr lang="en-US" sz="1350" dirty="0"/>
          </a:p>
          <a:p>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A customer may book the pitch but never show up.</a:t>
            </a:r>
            <a:endParaRPr lang="en-US" sz="1350" dirty="0"/>
          </a:p>
        </p:txBody>
      </p:sp>
      <p:sp>
        <p:nvSpPr>
          <p:cNvPr id="13" name="Shape 11"/>
          <p:cNvSpPr/>
          <p:nvPr/>
        </p:nvSpPr>
        <p:spPr>
          <a:xfrm>
            <a:off x="8069885" y="2428631"/>
            <a:ext cx="3618890" cy="948817"/>
          </a:xfrm>
          <a:prstGeom prst="roundRect">
            <a:avLst>
              <a:gd name="adj" fmla="val 9637"/>
            </a:avLst>
          </a:prstGeom>
          <a:solidFill>
            <a:srgbClr val="F5A524"/>
          </a:solidFill>
          <a:ln/>
        </p:spPr>
      </p:sp>
      <p:sp>
        <p:nvSpPr>
          <p:cNvPr id="14" name="Shape 12"/>
          <p:cNvSpPr/>
          <p:nvPr/>
        </p:nvSpPr>
        <p:spPr>
          <a:xfrm>
            <a:off x="8133893" y="2428631"/>
            <a:ext cx="3554882" cy="948817"/>
          </a:xfrm>
          <a:prstGeom prst="roundRect">
            <a:avLst>
              <a:gd name="adj" fmla="val 9637"/>
            </a:avLst>
          </a:prstGeom>
          <a:solidFill>
            <a:srgbClr val="FFFFFF"/>
          </a:solidFill>
          <a:ln w="9525">
            <a:solidFill>
              <a:srgbClr val="DDE4E2"/>
            </a:solidFill>
            <a:prstDash val="solid"/>
          </a:ln>
        </p:spPr>
      </p:sp>
      <p:sp>
        <p:nvSpPr>
          <p:cNvPr id="15" name="Text 13"/>
          <p:cNvSpPr/>
          <p:nvPr/>
        </p:nvSpPr>
        <p:spPr>
          <a:xfrm>
            <a:off x="8325917" y="2565791"/>
            <a:ext cx="3161690" cy="674497"/>
          </a:xfrm>
          <a:prstGeom prst="rect">
            <a:avLst/>
          </a:prstGeom>
          <a:noFill/>
          <a:ln/>
        </p:spPr>
        <p:txBody>
          <a:bodyPr wrap="square" rtlCol="0" anchor="t"/>
          <a:lstStyle/>
          <a:p>
            <a:pPr indent="0" marL="0">
              <a:lnSpc>
                <a:spcPts val="1540"/>
              </a:lnSpc>
              <a:spcBef>
                <a:spcPts val="400"/>
              </a:spcBef>
              <a:buNone/>
            </a:pPr>
            <a:r>
              <a:rPr lang="en-US" sz="1350" b="1" dirty="0">
                <a:solidFill>
                  <a:srgbClr val="111817"/>
                </a:solidFill>
                <a:latin typeface="Segoe UI" pitchFamily="34" charset="0"/>
                <a:ea typeface="Segoe UI" pitchFamily="34" charset="-122"/>
                <a:cs typeface="Segoe UI" pitchFamily="34" charset="-120"/>
              </a:rPr>
              <a:t>Did they actually play?</a:t>
            </a:r>
            <a:endParaRPr lang="en-US" sz="1350" dirty="0"/>
          </a:p>
          <a:p>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People may be on the pitch without actually playing a game.</a:t>
            </a:r>
            <a:endParaRPr lang="en-US" sz="1350" dirty="0"/>
          </a:p>
        </p:txBody>
      </p:sp>
      <p:sp>
        <p:nvSpPr>
          <p:cNvPr id="16" name="Shape 14"/>
          <p:cNvSpPr/>
          <p:nvPr/>
        </p:nvSpPr>
        <p:spPr>
          <a:xfrm>
            <a:off x="502920" y="3542040"/>
            <a:ext cx="3618890" cy="948817"/>
          </a:xfrm>
          <a:prstGeom prst="roundRect">
            <a:avLst>
              <a:gd name="adj" fmla="val 9637"/>
            </a:avLst>
          </a:prstGeom>
          <a:solidFill>
            <a:srgbClr val="EF4F6B"/>
          </a:solidFill>
          <a:ln/>
        </p:spPr>
      </p:sp>
      <p:sp>
        <p:nvSpPr>
          <p:cNvPr id="17" name="Shape 15"/>
          <p:cNvSpPr/>
          <p:nvPr/>
        </p:nvSpPr>
        <p:spPr>
          <a:xfrm>
            <a:off x="566928" y="3542040"/>
            <a:ext cx="3554882" cy="948817"/>
          </a:xfrm>
          <a:prstGeom prst="roundRect">
            <a:avLst>
              <a:gd name="adj" fmla="val 9637"/>
            </a:avLst>
          </a:prstGeom>
          <a:solidFill>
            <a:srgbClr val="FFFFFF"/>
          </a:solidFill>
          <a:ln w="9525">
            <a:solidFill>
              <a:srgbClr val="DDE4E2"/>
            </a:solidFill>
            <a:prstDash val="solid"/>
          </a:ln>
        </p:spPr>
      </p:sp>
      <p:sp>
        <p:nvSpPr>
          <p:cNvPr id="18" name="Text 16"/>
          <p:cNvSpPr/>
          <p:nvPr/>
        </p:nvSpPr>
        <p:spPr>
          <a:xfrm>
            <a:off x="758952" y="3679200"/>
            <a:ext cx="3161690" cy="674497"/>
          </a:xfrm>
          <a:prstGeom prst="rect">
            <a:avLst/>
          </a:prstGeom>
          <a:noFill/>
          <a:ln/>
        </p:spPr>
        <p:txBody>
          <a:bodyPr wrap="square" rtlCol="0" anchor="t"/>
          <a:lstStyle/>
          <a:p>
            <a:pPr indent="0" marL="0">
              <a:lnSpc>
                <a:spcPts val="1540"/>
              </a:lnSpc>
              <a:spcBef>
                <a:spcPts val="400"/>
              </a:spcBef>
              <a:buNone/>
            </a:pPr>
            <a:r>
              <a:rPr lang="en-US" sz="1350" b="1" dirty="0">
                <a:solidFill>
                  <a:srgbClr val="111817"/>
                </a:solidFill>
                <a:latin typeface="Segoe UI" pitchFamily="34" charset="0"/>
                <a:ea typeface="Segoe UI" pitchFamily="34" charset="-122"/>
                <a:cs typeface="Segoe UI" pitchFamily="34" charset="-120"/>
              </a:rPr>
              <a:t>Is the pitch empty right now?</a:t>
            </a:r>
            <a:endParaRPr lang="en-US" sz="1350" dirty="0"/>
          </a:p>
          <a:p>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The owner cannot know unless someone checks the pitch or the camera.</a:t>
            </a:r>
            <a:endParaRPr lang="en-US" sz="1350" dirty="0"/>
          </a:p>
        </p:txBody>
      </p:sp>
      <p:sp>
        <p:nvSpPr>
          <p:cNvPr id="19" name="Shape 17"/>
          <p:cNvSpPr/>
          <p:nvPr/>
        </p:nvSpPr>
        <p:spPr>
          <a:xfrm>
            <a:off x="4286402" y="3542040"/>
            <a:ext cx="3618890" cy="948817"/>
          </a:xfrm>
          <a:prstGeom prst="roundRect">
            <a:avLst>
              <a:gd name="adj" fmla="val 9637"/>
            </a:avLst>
          </a:prstGeom>
          <a:solidFill>
            <a:srgbClr val="17B978"/>
          </a:solidFill>
          <a:ln/>
        </p:spPr>
      </p:sp>
      <p:sp>
        <p:nvSpPr>
          <p:cNvPr id="20" name="Shape 18"/>
          <p:cNvSpPr/>
          <p:nvPr/>
        </p:nvSpPr>
        <p:spPr>
          <a:xfrm>
            <a:off x="4350410" y="3542040"/>
            <a:ext cx="3554882" cy="948817"/>
          </a:xfrm>
          <a:prstGeom prst="roundRect">
            <a:avLst>
              <a:gd name="adj" fmla="val 9637"/>
            </a:avLst>
          </a:prstGeom>
          <a:solidFill>
            <a:srgbClr val="FFFFFF"/>
          </a:solidFill>
          <a:ln w="9525">
            <a:solidFill>
              <a:srgbClr val="DDE4E2"/>
            </a:solidFill>
            <a:prstDash val="solid"/>
          </a:ln>
        </p:spPr>
      </p:sp>
      <p:sp>
        <p:nvSpPr>
          <p:cNvPr id="21" name="Text 19"/>
          <p:cNvSpPr/>
          <p:nvPr/>
        </p:nvSpPr>
        <p:spPr>
          <a:xfrm>
            <a:off x="4542434" y="3679200"/>
            <a:ext cx="3161690" cy="674497"/>
          </a:xfrm>
          <a:prstGeom prst="rect">
            <a:avLst/>
          </a:prstGeom>
          <a:noFill/>
          <a:ln/>
        </p:spPr>
        <p:txBody>
          <a:bodyPr wrap="square" rtlCol="0" anchor="t"/>
          <a:lstStyle/>
          <a:p>
            <a:pPr indent="0" marL="0">
              <a:lnSpc>
                <a:spcPts val="1540"/>
              </a:lnSpc>
              <a:spcBef>
                <a:spcPts val="400"/>
              </a:spcBef>
              <a:buNone/>
            </a:pPr>
            <a:r>
              <a:rPr lang="en-US" sz="1350" b="1" dirty="0">
                <a:solidFill>
                  <a:srgbClr val="111817"/>
                </a:solidFill>
                <a:latin typeface="Segoe UI" pitchFamily="34" charset="0"/>
                <a:ea typeface="Segoe UI" pitchFamily="34" charset="-122"/>
                <a:cs typeface="Segoe UI" pitchFamily="34" charset="-120"/>
              </a:rPr>
              <a:t>Did someone play without booking?</a:t>
            </a:r>
            <a:endParaRPr lang="en-US" sz="1350" dirty="0"/>
          </a:p>
          <a:p>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Someone may use the pitch without a booking, so the owner could lose money.</a:t>
            </a:r>
            <a:endParaRPr lang="en-US" sz="1350" dirty="0"/>
          </a:p>
        </p:txBody>
      </p:sp>
      <p:sp>
        <p:nvSpPr>
          <p:cNvPr id="22" name="Shape 20"/>
          <p:cNvSpPr/>
          <p:nvPr/>
        </p:nvSpPr>
        <p:spPr>
          <a:xfrm>
            <a:off x="8069885" y="3542040"/>
            <a:ext cx="3618890" cy="948817"/>
          </a:xfrm>
          <a:prstGeom prst="roundRect">
            <a:avLst>
              <a:gd name="adj" fmla="val 9637"/>
            </a:avLst>
          </a:prstGeom>
          <a:solidFill>
            <a:srgbClr val="3FA7E0"/>
          </a:solidFill>
          <a:ln/>
        </p:spPr>
      </p:sp>
      <p:sp>
        <p:nvSpPr>
          <p:cNvPr id="23" name="Shape 21"/>
          <p:cNvSpPr/>
          <p:nvPr/>
        </p:nvSpPr>
        <p:spPr>
          <a:xfrm>
            <a:off x="8133893" y="3542040"/>
            <a:ext cx="3554882" cy="948817"/>
          </a:xfrm>
          <a:prstGeom prst="roundRect">
            <a:avLst>
              <a:gd name="adj" fmla="val 9637"/>
            </a:avLst>
          </a:prstGeom>
          <a:solidFill>
            <a:srgbClr val="FFFFFF"/>
          </a:solidFill>
          <a:ln w="9525">
            <a:solidFill>
              <a:srgbClr val="DDE4E2"/>
            </a:solidFill>
            <a:prstDash val="solid"/>
          </a:ln>
        </p:spPr>
      </p:sp>
      <p:sp>
        <p:nvSpPr>
          <p:cNvPr id="24" name="Text 22"/>
          <p:cNvSpPr/>
          <p:nvPr/>
        </p:nvSpPr>
        <p:spPr>
          <a:xfrm>
            <a:off x="8325917" y="3679200"/>
            <a:ext cx="3161690" cy="674497"/>
          </a:xfrm>
          <a:prstGeom prst="rect">
            <a:avLst/>
          </a:prstGeom>
          <a:noFill/>
          <a:ln/>
        </p:spPr>
        <p:txBody>
          <a:bodyPr wrap="square" rtlCol="0" anchor="t"/>
          <a:lstStyle/>
          <a:p>
            <a:pPr indent="0" marL="0">
              <a:lnSpc>
                <a:spcPts val="1540"/>
              </a:lnSpc>
              <a:spcBef>
                <a:spcPts val="400"/>
              </a:spcBef>
              <a:buNone/>
            </a:pPr>
            <a:r>
              <a:rPr lang="en-US" sz="1350" b="1" dirty="0">
                <a:solidFill>
                  <a:srgbClr val="111817"/>
                </a:solidFill>
                <a:latin typeface="Segoe UI" pitchFamily="34" charset="0"/>
                <a:ea typeface="Segoe UI" pitchFamily="34" charset="-122"/>
                <a:cs typeface="Segoe UI" pitchFamily="34" charset="-120"/>
              </a:rPr>
              <a:t>Did staff record it correctly?</a:t>
            </a:r>
            <a:endParaRPr lang="en-US" sz="1350" dirty="0"/>
          </a:p>
          <a:p>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Manual records can be entered incorrectly or forgotten.</a:t>
            </a:r>
            <a:endParaRPr lang="en-US" sz="1350" dirty="0"/>
          </a:p>
        </p:txBody>
      </p:sp>
      <p:sp>
        <p:nvSpPr>
          <p:cNvPr id="25" name="Text 23"/>
          <p:cNvSpPr/>
          <p:nvPr/>
        </p:nvSpPr>
        <p:spPr>
          <a:xfrm>
            <a:off x="502920" y="4765177"/>
            <a:ext cx="11185855" cy="365760"/>
          </a:xfrm>
          <a:prstGeom prst="rect">
            <a:avLst/>
          </a:prstGeom>
          <a:noFill/>
          <a:ln/>
        </p:spPr>
        <p:txBody>
          <a:bodyPr wrap="square" rtlCol="0" anchor="t"/>
          <a:lstStyle/>
          <a:p>
            <a:pPr indent="0" marL="0">
              <a:lnSpc>
                <a:spcPts val="1540"/>
              </a:lnSpc>
              <a:buNone/>
            </a:pPr>
            <a:r>
              <a:rPr lang="en-US" sz="1100" dirty="0">
                <a:solidFill>
                  <a:srgbClr val="7A8886"/>
                </a:solidFill>
                <a:latin typeface="Segoe UI" pitchFamily="34" charset="0"/>
                <a:ea typeface="Segoe UI" pitchFamily="34" charset="-122"/>
                <a:cs typeface="Segoe UI" pitchFamily="34" charset="-120"/>
              </a:rPr>
              <a:t>The CCTV camera gives us real visual evidence.</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20" fill="hold"/>
                                        <p:tgtEl>
                                          <p:spTgt spid="9"/>
                                        </p:tgtEl>
                                        <p:attrNameLst>
                                          <p:attrName>ppt_y</p:attrName>
                                        </p:attrNameLst>
                                      </p:cBhvr>
                                      <p:tavLst>
                                        <p:tav tm="0">
                                          <p:val>
                                            <p:strVal val="#ppt_y+0.035"/>
                                          </p:val>
                                        </p:tav>
                                        <p:tav tm="100000">
                                          <p:val>
                                            <p:strVal val="#ppt_y"/>
                                          </p:val>
                                        </p:tav>
                                      </p:tavLst>
                                    </p:anim>
                                    <p:animEffect transition="in" filter="fade">
                                      <p:cBhvr>
                                        <p:cTn id="16" dur="52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4" presetClass="entr" presetSubtype="0" fill="hold" grpId="0" nodeType="afterEffect">
                                  <p:stCondLst>
                                    <p:cond delay="157"/>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20" fill="hold"/>
                                        <p:tgtEl>
                                          <p:spTgt spid="10"/>
                                        </p:tgtEl>
                                        <p:attrNameLst>
                                          <p:attrName>ppt_y</p:attrName>
                                        </p:attrNameLst>
                                      </p:cBhvr>
                                      <p:tavLst>
                                        <p:tav tm="0">
                                          <p:val>
                                            <p:strVal val="#ppt_y+0.035"/>
                                          </p:val>
                                        </p:tav>
                                        <p:tav tm="100000">
                                          <p:val>
                                            <p:strVal val="#ppt_y"/>
                                          </p:val>
                                        </p:tav>
                                      </p:tavLst>
                                    </p:anim>
                                    <p:animEffect transition="in" filter="fade">
                                      <p:cBhvr>
                                        <p:cTn id="22" dur="520"/>
                                        <p:tgtEl>
                                          <p:spTgt spid="10"/>
                                        </p:tgtEl>
                                      </p:cBhvr>
                                    </p:animEffect>
                                  </p:childTnLst>
                                </p:cTn>
                              </p:par>
                              <p:par>
                                <p:cTn id="23" presetID="34"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20" fill="hold"/>
                                        <p:tgtEl>
                                          <p:spTgt spid="11"/>
                                        </p:tgtEl>
                                        <p:attrNameLst>
                                          <p:attrName>ppt_y</p:attrName>
                                        </p:attrNameLst>
                                      </p:cBhvr>
                                      <p:tavLst>
                                        <p:tav tm="0">
                                          <p:val>
                                            <p:strVal val="#ppt_y+0.035"/>
                                          </p:val>
                                        </p:tav>
                                        <p:tav tm="100000">
                                          <p:val>
                                            <p:strVal val="#ppt_y"/>
                                          </p:val>
                                        </p:tav>
                                      </p:tavLst>
                                    </p:anim>
                                    <p:animEffect transition="in" filter="fade">
                                      <p:cBhvr>
                                        <p:cTn id="26" dur="520"/>
                                        <p:tgtEl>
                                          <p:spTgt spid="11"/>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20" fill="hold"/>
                                        <p:tgtEl>
                                          <p:spTgt spid="12"/>
                                        </p:tgtEl>
                                        <p:attrNameLst>
                                          <p:attrName>ppt_y</p:attrName>
                                        </p:attrNameLst>
                                      </p:cBhvr>
                                      <p:tavLst>
                                        <p:tav tm="0">
                                          <p:val>
                                            <p:strVal val="#ppt_y+0.035"/>
                                          </p:val>
                                        </p:tav>
                                        <p:tav tm="100000">
                                          <p:val>
                                            <p:strVal val="#ppt_y"/>
                                          </p:val>
                                        </p:tav>
                                      </p:tavLst>
                                    </p:anim>
                                    <p:animEffect transition="in" filter="fade">
                                      <p:cBhvr>
                                        <p:cTn id="30" dur="52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34" presetClass="entr" presetSubtype="0" fill="hold" grpId="0" nodeType="afterEffect">
                                  <p:stCondLst>
                                    <p:cond delay="157"/>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20" fill="hold"/>
                                        <p:tgtEl>
                                          <p:spTgt spid="13"/>
                                        </p:tgtEl>
                                        <p:attrNameLst>
                                          <p:attrName>ppt_y</p:attrName>
                                        </p:attrNameLst>
                                      </p:cBhvr>
                                      <p:tavLst>
                                        <p:tav tm="0">
                                          <p:val>
                                            <p:strVal val="#ppt_y+0.035"/>
                                          </p:val>
                                        </p:tav>
                                        <p:tav tm="100000">
                                          <p:val>
                                            <p:strVal val="#ppt_y"/>
                                          </p:val>
                                        </p:tav>
                                      </p:tavLst>
                                    </p:anim>
                                    <p:animEffect transition="in" filter="fade">
                                      <p:cBhvr>
                                        <p:cTn id="36" dur="520"/>
                                        <p:tgtEl>
                                          <p:spTgt spid="13"/>
                                        </p:tgtEl>
                                      </p:cBhvr>
                                    </p:animEffect>
                                  </p:childTnLst>
                                </p:cTn>
                              </p:par>
                              <p:par>
                                <p:cTn id="37" presetID="34"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20" fill="hold"/>
                                        <p:tgtEl>
                                          <p:spTgt spid="14"/>
                                        </p:tgtEl>
                                        <p:attrNameLst>
                                          <p:attrName>ppt_y</p:attrName>
                                        </p:attrNameLst>
                                      </p:cBhvr>
                                      <p:tavLst>
                                        <p:tav tm="0">
                                          <p:val>
                                            <p:strVal val="#ppt_y+0.035"/>
                                          </p:val>
                                        </p:tav>
                                        <p:tav tm="100000">
                                          <p:val>
                                            <p:strVal val="#ppt_y"/>
                                          </p:val>
                                        </p:tav>
                                      </p:tavLst>
                                    </p:anim>
                                    <p:animEffect transition="in" filter="fade">
                                      <p:cBhvr>
                                        <p:cTn id="40" dur="520"/>
                                        <p:tgtEl>
                                          <p:spTgt spid="14"/>
                                        </p:tgtEl>
                                      </p:cBhvr>
                                    </p:animEffect>
                                  </p:childTnLst>
                                </p:cTn>
                              </p:par>
                              <p:par>
                                <p:cTn id="41" presetID="34"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20" fill="hold"/>
                                        <p:tgtEl>
                                          <p:spTgt spid="15"/>
                                        </p:tgtEl>
                                        <p:attrNameLst>
                                          <p:attrName>ppt_y</p:attrName>
                                        </p:attrNameLst>
                                      </p:cBhvr>
                                      <p:tavLst>
                                        <p:tav tm="0">
                                          <p:val>
                                            <p:strVal val="#ppt_y+0.035"/>
                                          </p:val>
                                        </p:tav>
                                        <p:tav tm="100000">
                                          <p:val>
                                            <p:strVal val="#ppt_y"/>
                                          </p:val>
                                        </p:tav>
                                      </p:tavLst>
                                    </p:anim>
                                    <p:animEffect transition="in" filter="fade">
                                      <p:cBhvr>
                                        <p:cTn id="44" dur="52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34" presetClass="entr" presetSubtype="0" fill="hold" grpId="0" nodeType="afterEffect">
                                  <p:stCondLst>
                                    <p:cond delay="157"/>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20" fill="hold"/>
                                        <p:tgtEl>
                                          <p:spTgt spid="16"/>
                                        </p:tgtEl>
                                        <p:attrNameLst>
                                          <p:attrName>ppt_y</p:attrName>
                                        </p:attrNameLst>
                                      </p:cBhvr>
                                      <p:tavLst>
                                        <p:tav tm="0">
                                          <p:val>
                                            <p:strVal val="#ppt_y+0.035"/>
                                          </p:val>
                                        </p:tav>
                                        <p:tav tm="100000">
                                          <p:val>
                                            <p:strVal val="#ppt_y"/>
                                          </p:val>
                                        </p:tav>
                                      </p:tavLst>
                                    </p:anim>
                                    <p:animEffect transition="in" filter="fade">
                                      <p:cBhvr>
                                        <p:cTn id="50" dur="520"/>
                                        <p:tgtEl>
                                          <p:spTgt spid="16"/>
                                        </p:tgtEl>
                                      </p:cBhvr>
                                    </p:animEffect>
                                  </p:childTnLst>
                                </p:cTn>
                              </p:par>
                              <p:par>
                                <p:cTn id="51" presetID="34"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20" fill="hold"/>
                                        <p:tgtEl>
                                          <p:spTgt spid="17"/>
                                        </p:tgtEl>
                                        <p:attrNameLst>
                                          <p:attrName>ppt_y</p:attrName>
                                        </p:attrNameLst>
                                      </p:cBhvr>
                                      <p:tavLst>
                                        <p:tav tm="0">
                                          <p:val>
                                            <p:strVal val="#ppt_y+0.035"/>
                                          </p:val>
                                        </p:tav>
                                        <p:tav tm="100000">
                                          <p:val>
                                            <p:strVal val="#ppt_y"/>
                                          </p:val>
                                        </p:tav>
                                      </p:tavLst>
                                    </p:anim>
                                    <p:animEffect transition="in" filter="fade">
                                      <p:cBhvr>
                                        <p:cTn id="54" dur="520"/>
                                        <p:tgtEl>
                                          <p:spTgt spid="17"/>
                                        </p:tgtEl>
                                      </p:cBhvr>
                                    </p:animEffect>
                                  </p:childTnLst>
                                </p:cTn>
                              </p:par>
                              <p:par>
                                <p:cTn id="55" presetID="34"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20" fill="hold"/>
                                        <p:tgtEl>
                                          <p:spTgt spid="18"/>
                                        </p:tgtEl>
                                        <p:attrNameLst>
                                          <p:attrName>ppt_y</p:attrName>
                                        </p:attrNameLst>
                                      </p:cBhvr>
                                      <p:tavLst>
                                        <p:tav tm="0">
                                          <p:val>
                                            <p:strVal val="#ppt_y+0.035"/>
                                          </p:val>
                                        </p:tav>
                                        <p:tav tm="100000">
                                          <p:val>
                                            <p:strVal val="#ppt_y"/>
                                          </p:val>
                                        </p:tav>
                                      </p:tavLst>
                                    </p:anim>
                                    <p:animEffect transition="in" filter="fade">
                                      <p:cBhvr>
                                        <p:cTn id="58" dur="52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34" presetClass="entr" presetSubtype="0" fill="hold" grpId="0" nodeType="afterEffect">
                                  <p:stCondLst>
                                    <p:cond delay="157"/>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20" fill="hold"/>
                                        <p:tgtEl>
                                          <p:spTgt spid="19"/>
                                        </p:tgtEl>
                                        <p:attrNameLst>
                                          <p:attrName>ppt_y</p:attrName>
                                        </p:attrNameLst>
                                      </p:cBhvr>
                                      <p:tavLst>
                                        <p:tav tm="0">
                                          <p:val>
                                            <p:strVal val="#ppt_y+0.035"/>
                                          </p:val>
                                        </p:tav>
                                        <p:tav tm="100000">
                                          <p:val>
                                            <p:strVal val="#ppt_y"/>
                                          </p:val>
                                        </p:tav>
                                      </p:tavLst>
                                    </p:anim>
                                    <p:animEffect transition="in" filter="fade">
                                      <p:cBhvr>
                                        <p:cTn id="64" dur="520"/>
                                        <p:tgtEl>
                                          <p:spTgt spid="19"/>
                                        </p:tgtEl>
                                      </p:cBhvr>
                                    </p:animEffect>
                                  </p:childTnLst>
                                </p:cTn>
                              </p:par>
                              <p:par>
                                <p:cTn id="65" presetID="34"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20" fill="hold"/>
                                        <p:tgtEl>
                                          <p:spTgt spid="20"/>
                                        </p:tgtEl>
                                        <p:attrNameLst>
                                          <p:attrName>ppt_y</p:attrName>
                                        </p:attrNameLst>
                                      </p:cBhvr>
                                      <p:tavLst>
                                        <p:tav tm="0">
                                          <p:val>
                                            <p:strVal val="#ppt_y+0.035"/>
                                          </p:val>
                                        </p:tav>
                                        <p:tav tm="100000">
                                          <p:val>
                                            <p:strVal val="#ppt_y"/>
                                          </p:val>
                                        </p:tav>
                                      </p:tavLst>
                                    </p:anim>
                                    <p:animEffect transition="in" filter="fade">
                                      <p:cBhvr>
                                        <p:cTn id="68" dur="520"/>
                                        <p:tgtEl>
                                          <p:spTgt spid="20"/>
                                        </p:tgtEl>
                                      </p:cBhvr>
                                    </p:animEffect>
                                  </p:childTnLst>
                                </p:cTn>
                              </p:par>
                              <p:par>
                                <p:cTn id="69" presetID="34"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20" fill="hold"/>
                                        <p:tgtEl>
                                          <p:spTgt spid="21"/>
                                        </p:tgtEl>
                                        <p:attrNameLst>
                                          <p:attrName>ppt_y</p:attrName>
                                        </p:attrNameLst>
                                      </p:cBhvr>
                                      <p:tavLst>
                                        <p:tav tm="0">
                                          <p:val>
                                            <p:strVal val="#ppt_y+0.035"/>
                                          </p:val>
                                        </p:tav>
                                        <p:tav tm="100000">
                                          <p:val>
                                            <p:strVal val="#ppt_y"/>
                                          </p:val>
                                        </p:tav>
                                      </p:tavLst>
                                    </p:anim>
                                    <p:animEffect transition="in" filter="fade">
                                      <p:cBhvr>
                                        <p:cTn id="72" dur="52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34" presetClass="entr" presetSubtype="0" fill="hold" grpId="0" nodeType="afterEffect">
                                  <p:stCondLst>
                                    <p:cond delay="157"/>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20" fill="hold"/>
                                        <p:tgtEl>
                                          <p:spTgt spid="22"/>
                                        </p:tgtEl>
                                        <p:attrNameLst>
                                          <p:attrName>ppt_y</p:attrName>
                                        </p:attrNameLst>
                                      </p:cBhvr>
                                      <p:tavLst>
                                        <p:tav tm="0">
                                          <p:val>
                                            <p:strVal val="#ppt_y+0.035"/>
                                          </p:val>
                                        </p:tav>
                                        <p:tav tm="100000">
                                          <p:val>
                                            <p:strVal val="#ppt_y"/>
                                          </p:val>
                                        </p:tav>
                                      </p:tavLst>
                                    </p:anim>
                                    <p:animEffect transition="in" filter="fade">
                                      <p:cBhvr>
                                        <p:cTn id="78" dur="520"/>
                                        <p:tgtEl>
                                          <p:spTgt spid="22"/>
                                        </p:tgtEl>
                                      </p:cBhvr>
                                    </p:animEffect>
                                  </p:childTnLst>
                                </p:cTn>
                              </p:par>
                              <p:par>
                                <p:cTn id="79" presetID="34"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520" fill="hold"/>
                                        <p:tgtEl>
                                          <p:spTgt spid="23"/>
                                        </p:tgtEl>
                                        <p:attrNameLst>
                                          <p:attrName>ppt_y</p:attrName>
                                        </p:attrNameLst>
                                      </p:cBhvr>
                                      <p:tavLst>
                                        <p:tav tm="0">
                                          <p:val>
                                            <p:strVal val="#ppt_y+0.035"/>
                                          </p:val>
                                        </p:tav>
                                        <p:tav tm="100000">
                                          <p:val>
                                            <p:strVal val="#ppt_y"/>
                                          </p:val>
                                        </p:tav>
                                      </p:tavLst>
                                    </p:anim>
                                    <p:animEffect transition="in" filter="fade">
                                      <p:cBhvr>
                                        <p:cTn id="82" dur="520"/>
                                        <p:tgtEl>
                                          <p:spTgt spid="23"/>
                                        </p:tgtEl>
                                      </p:cBhvr>
                                    </p:animEffect>
                                  </p:childTnLst>
                                </p:cTn>
                              </p:par>
                              <p:par>
                                <p:cTn id="83" presetID="34"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additive="base">
                                        <p:cTn id="85" dur="520" fill="hold"/>
                                        <p:tgtEl>
                                          <p:spTgt spid="24"/>
                                        </p:tgtEl>
                                        <p:attrNameLst>
                                          <p:attrName>ppt_y</p:attrName>
                                        </p:attrNameLst>
                                      </p:cBhvr>
                                      <p:tavLst>
                                        <p:tav tm="0">
                                          <p:val>
                                            <p:strVal val="#ppt_y+0.035"/>
                                          </p:val>
                                        </p:tav>
                                        <p:tav tm="100000">
                                          <p:val>
                                            <p:strVal val="#ppt_y"/>
                                          </p:val>
                                        </p:tav>
                                      </p:tavLst>
                                    </p:anim>
                                    <p:animEffect transition="in" filter="fade">
                                      <p:cBhvr>
                                        <p:cTn id="86" dur="520"/>
                                        <p:tgtEl>
                                          <p:spTgt spid="24"/>
                                        </p:tgtEl>
                                      </p:cBhvr>
                                    </p:animEffect>
                                  </p:childTnLst>
                                </p:cTn>
                              </p:par>
                            </p:childTnLst>
                          </p:cTn>
                        </p:par>
                      </p:childTnLst>
                    </p:cTn>
                  </p:par>
                  <p:par>
                    <p:cTn id="87" fill="hold">
                      <p:stCondLst>
                        <p:cond delay="indefinite"/>
                      </p:stCondLst>
                      <p:childTnLst>
                        <p:par>
                          <p:cTn id="88" fill="hold">
                            <p:stCondLst>
                              <p:cond delay="0"/>
                            </p:stCondLst>
                            <p:childTnLst>
                              <p:par>
                                <p:cTn id="89" presetID="34" presetClass="entr" presetSubtype="0" fill="hold" grpId="0" nodeType="afterEffect">
                                  <p:stCondLst>
                                    <p:cond delay="157"/>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520" fill="hold"/>
                                        <p:tgtEl>
                                          <p:spTgt spid="25"/>
                                        </p:tgtEl>
                                        <p:attrNameLst>
                                          <p:attrName>ppt_y</p:attrName>
                                        </p:attrNameLst>
                                      </p:cBhvr>
                                      <p:tavLst>
                                        <p:tav tm="0">
                                          <p:val>
                                            <p:strVal val="#ppt_y+0.035"/>
                                          </p:val>
                                        </p:tav>
                                        <p:tav tm="100000">
                                          <p:val>
                                            <p:strVal val="#ppt_y"/>
                                          </p:val>
                                        </p:tav>
                                      </p:tavLst>
                                    </p:anim>
                                    <p:animEffect transition="in" filter="fade">
                                      <p:cBhvr>
                                        <p:cTn id="92" dur="52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0.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gradFill rotWithShape="1">
            <a:gsLst>
              <a:gs pos="0">
                <a:srgbClr val="4A3AA8"/>
              </a:gs>
              <a:gs pos="100000">
                <a:srgbClr val="7A68E0"/>
              </a:gs>
            </a:gsLst>
            <a:lin ang="2700000" scaled="0"/>
          </a:gradFill>
          <a:ln/>
        </p:spPr>
      </p:sp>
      <p:sp>
        <p:nvSpPr>
          <p:cNvPr id="3" name="Text 1"/>
          <p:cNvSpPr/>
          <p:nvPr/>
        </p:nvSpPr>
        <p:spPr>
          <a:xfrm>
            <a:off x="822960" y="2183953"/>
            <a:ext cx="10545775" cy="292608"/>
          </a:xfrm>
          <a:prstGeom prst="rect">
            <a:avLst/>
          </a:prstGeom>
          <a:noFill/>
          <a:ln/>
        </p:spPr>
        <p:txBody>
          <a:bodyPr wrap="square" rtlCol="0" anchor="b"/>
          <a:lstStyle/>
          <a:p>
            <a:pPr indent="0" marL="0">
              <a:buNone/>
            </a:pPr>
            <a:r>
              <a:rPr lang="en-US" sz="1200" b="1" spc="300" kern="0" dirty="0">
                <a:solidFill>
                  <a:srgbClr val="BBC9D6"/>
                </a:solidFill>
                <a:latin typeface="Consolas" pitchFamily="34" charset="0"/>
                <a:ea typeface="Consolas" pitchFamily="34" charset="-122"/>
                <a:cs typeface="Consolas" pitchFamily="34" charset="-120"/>
              </a:rPr>
              <a:t>CHAPTER 1 — STATE OF THE ART</a:t>
            </a:r>
            <a:endParaRPr lang="en-US" sz="1200" dirty="0"/>
          </a:p>
        </p:txBody>
      </p:sp>
      <p:sp>
        <p:nvSpPr>
          <p:cNvPr id="4" name="Text 2"/>
          <p:cNvSpPr/>
          <p:nvPr/>
        </p:nvSpPr>
        <p:spPr>
          <a:xfrm>
            <a:off x="822960" y="2568001"/>
            <a:ext cx="9692640" cy="640080"/>
          </a:xfrm>
          <a:prstGeom prst="rect">
            <a:avLst/>
          </a:prstGeom>
          <a:noFill/>
          <a:ln/>
        </p:spPr>
        <p:txBody>
          <a:bodyPr wrap="square" rtlCol="0" anchor="t"/>
          <a:lstStyle/>
          <a:p>
            <a:pPr indent="0" marL="0">
              <a:lnSpc>
                <a:spcPts val="4176"/>
              </a:lnSpc>
              <a:buNone/>
            </a:pPr>
            <a:r>
              <a:rPr lang="en-US" sz="3600" b="1" dirty="0">
                <a:solidFill>
                  <a:srgbClr val="FFFFFF"/>
                </a:solidFill>
                <a:latin typeface="Segoe UI" pitchFamily="34" charset="0"/>
                <a:ea typeface="Segoe UI" pitchFamily="34" charset="-122"/>
                <a:cs typeface="Segoe UI" pitchFamily="34" charset="-120"/>
              </a:rPr>
              <a:t>Playgrounds, and deep learning</a:t>
            </a:r>
            <a:endParaRPr lang="en-US" sz="3600" dirty="0"/>
          </a:p>
        </p:txBody>
      </p:sp>
      <p:sp>
        <p:nvSpPr>
          <p:cNvPr id="5" name="Text 3"/>
          <p:cNvSpPr/>
          <p:nvPr/>
        </p:nvSpPr>
        <p:spPr>
          <a:xfrm>
            <a:off x="822960" y="3445825"/>
            <a:ext cx="8961120" cy="396240"/>
          </a:xfrm>
          <a:prstGeom prst="rect">
            <a:avLst/>
          </a:prstGeom>
          <a:noFill/>
          <a:ln/>
        </p:spPr>
        <p:txBody>
          <a:bodyPr wrap="square" rtlCol="0" anchor="t"/>
          <a:lstStyle/>
          <a:p>
            <a:pPr indent="0" marL="0">
              <a:lnSpc>
                <a:spcPts val="2400"/>
              </a:lnSpc>
              <a:buNone/>
            </a:pPr>
            <a:r>
              <a:rPr lang="en-US" sz="1600" dirty="0">
                <a:solidFill>
                  <a:srgbClr val="DCE6EE"/>
                </a:solidFill>
                <a:latin typeface="Segoe UI" pitchFamily="34" charset="0"/>
                <a:ea typeface="Segoe UI" pitchFamily="34" charset="-122"/>
                <a:cs typeface="Segoe UI" pitchFamily="34" charset="-120"/>
              </a:rPr>
              <a:t>There are already different ways to monitor activity. But each solution has limitations.</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7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20" fill="hold"/>
                                        <p:tgtEl>
                                          <p:spTgt spid="3"/>
                                        </p:tgtEl>
                                        <p:attrNameLst>
                                          <p:attrName>ppt_y</p:attrName>
                                        </p:attrNameLst>
                                      </p:cBhvr>
                                      <p:tavLst>
                                        <p:tav tm="0">
                                          <p:val>
                                            <p:strVal val="#ppt_y+0.035"/>
                                          </p:val>
                                        </p:tav>
                                        <p:tav tm="100000">
                                          <p:val>
                                            <p:strVal val="#ppt_y"/>
                                          </p:val>
                                        </p:tav>
                                      </p:tavLst>
                                    </p:anim>
                                    <p:animEffect transition="in" filter="fade">
                                      <p:cBhvr>
                                        <p:cTn id="8" dur="52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367"/>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20" fill="hold"/>
                                        <p:tgtEl>
                                          <p:spTgt spid="4"/>
                                        </p:tgtEl>
                                        <p:attrNameLst>
                                          <p:attrName>ppt_y</p:attrName>
                                        </p:attrNameLst>
                                      </p:cBhvr>
                                      <p:tavLst>
                                        <p:tav tm="0">
                                          <p:val>
                                            <p:strVal val="#ppt_y+0.035"/>
                                          </p:val>
                                        </p:tav>
                                        <p:tav tm="100000">
                                          <p:val>
                                            <p:strVal val="#ppt_y"/>
                                          </p:val>
                                        </p:tav>
                                      </p:tavLst>
                                    </p:anim>
                                    <p:animEffect transition="in" filter="fade">
                                      <p:cBhvr>
                                        <p:cTn id="14" dur="52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grpId="0" nodeType="afterEffect">
                                  <p:stCondLst>
                                    <p:cond delay="367"/>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20" fill="hold"/>
                                        <p:tgtEl>
                                          <p:spTgt spid="5"/>
                                        </p:tgtEl>
                                        <p:attrNameLst>
                                          <p:attrName>ppt_y</p:attrName>
                                        </p:attrNameLst>
                                      </p:cBhvr>
                                      <p:tavLst>
                                        <p:tav tm="0">
                                          <p:val>
                                            <p:strVal val="#ppt_y+0.035"/>
                                          </p:val>
                                        </p:tav>
                                        <p:tav tm="100000">
                                          <p:val>
                                            <p:strVal val="#ppt_y"/>
                                          </p:val>
                                        </p:tav>
                                      </p:tavLst>
                                    </p:anim>
                                    <p:animEffect transition="in" filter="fade">
                                      <p:cBhvr>
                                        <p:cTn id="20" dur="5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1.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1">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1 — STATE OF THE ART</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Playgrounds — how occupancy is measured today</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7A68E0"/>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7</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1920240"/>
                <a:gridCol w="1417320"/>
                <a:gridCol w="2697480"/>
                <a:gridCol w="5150815"/>
              </a:tblGrid>
              <a:tr h="365760">
                <a:tc>
                  <a:txBody>
                    <a:bodyPr/>
                    <a:lstStyle/>
                    <a:p>
                      <a:pPr indent="0" marL="0">
                        <a:buNone/>
                      </a:pPr>
                      <a:r>
                        <a:rPr lang="en-US" sz="900" b="1" spc="120" kern="0" dirty="0">
                          <a:solidFill>
                            <a:srgbClr val="7A8886"/>
                          </a:solidFill>
                          <a:latin typeface="Consolas" pitchFamily="34" charset="0"/>
                          <a:ea typeface="Consolas" pitchFamily="34" charset="-122"/>
                          <a:cs typeface="Consolas" pitchFamily="34" charset="-120"/>
                        </a:rPr>
                        <a:t>APPROACH</a:t>
                      </a:r>
                      <a:endParaRPr lang="en-US" sz="900" dirty="0">
                        <a:latin typeface="Consolas" charset="0"/>
                        <a:ea typeface="Consolas" charset="0"/>
                        <a:cs typeface="Consolas"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indent="0" marL="0">
                        <a:buNone/>
                      </a:pPr>
                      <a:r>
                        <a:rPr lang="en-US" sz="900" b="1" spc="120" kern="0" dirty="0">
                          <a:solidFill>
                            <a:srgbClr val="7A8886"/>
                          </a:solidFill>
                          <a:latin typeface="Consolas" pitchFamily="34" charset="0"/>
                          <a:ea typeface="Consolas" pitchFamily="34" charset="-122"/>
                          <a:cs typeface="Consolas" pitchFamily="34" charset="-120"/>
                        </a:rPr>
                        <a:t>COST PER PITCH</a:t>
                      </a:r>
                      <a:endParaRPr lang="en-US" sz="900" dirty="0">
                        <a:latin typeface="Consolas" charset="0"/>
                        <a:ea typeface="Consolas" charset="0"/>
                        <a:cs typeface="Consolas"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indent="0" marL="0">
                        <a:buNone/>
                      </a:pPr>
                      <a:r>
                        <a:rPr lang="en-US" sz="900" b="1" spc="120" kern="0" dirty="0">
                          <a:solidFill>
                            <a:srgbClr val="7A8886"/>
                          </a:solidFill>
                          <a:latin typeface="Consolas" pitchFamily="34" charset="0"/>
                          <a:ea typeface="Consolas" pitchFamily="34" charset="-122"/>
                          <a:cs typeface="Consolas" pitchFamily="34" charset="-120"/>
                        </a:rPr>
                        <a:t>WHAT IT MEASURES</a:t>
                      </a:r>
                      <a:endParaRPr lang="en-US" sz="900" dirty="0">
                        <a:latin typeface="Consolas" charset="0"/>
                        <a:ea typeface="Consolas" charset="0"/>
                        <a:cs typeface="Consolas"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indent="0" marL="0">
                        <a:buNone/>
                      </a:pPr>
                      <a:r>
                        <a:rPr lang="en-US" sz="900" b="1" spc="120" kern="0" dirty="0">
                          <a:solidFill>
                            <a:srgbClr val="7A8886"/>
                          </a:solidFill>
                          <a:latin typeface="Consolas" pitchFamily="34" charset="0"/>
                          <a:ea typeface="Consolas" pitchFamily="34" charset="-122"/>
                          <a:cs typeface="Consolas" pitchFamily="34" charset="-120"/>
                        </a:rPr>
                        <a:t>HOW IT FAILS</a:t>
                      </a:r>
                      <a:endParaRPr lang="en-US" sz="900" dirty="0">
                        <a:latin typeface="Consolas" charset="0"/>
                        <a:ea typeface="Consolas" charset="0"/>
                        <a:cs typeface="Consolas"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r>
              <a:tr h="701040">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PIR / motion sensor</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~€20</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Detect movements</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Gave us false alarm, Rain, wind-blown netting, foxes, staff crossing — and no evidence trail</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701040">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Door counter / turnstile</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€300–2,000</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Count people entering</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Cannot tell us if they actually played, nobody counts </a:t>
                      </a:r>
                      <a:pPr indent="0" marL="0">
                        <a:buNone/>
                      </a:pPr>
                      <a:r>
                        <a:rPr lang="en-US" sz="1100" i="1" dirty="0">
                          <a:solidFill>
                            <a:srgbClr val="4B5A58"/>
                          </a:solidFill>
                          <a:latin typeface="Segoe UI" pitchFamily="34" charset="0"/>
                          <a:ea typeface="Segoe UI" pitchFamily="34" charset="-122"/>
                          <a:cs typeface="Segoe UI" pitchFamily="34" charset="-120"/>
                        </a:rPr>
                        <a:t>out</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701040">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Floodlight power draw</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~€60</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Lights on</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Daylight slots invisible; lights left on; shared circuits</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701040">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Mobile App check-in</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~€0</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ask customers to check in</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It depends on the customer, and they may not do it</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701040">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Manual logging</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Staff time</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dirty="0">
                          <a:solidFill>
                            <a:srgbClr val="4B5A58"/>
                          </a:solidFill>
                          <a:latin typeface="Segoe UI" pitchFamily="34" charset="0"/>
                          <a:ea typeface="Segoe UI" pitchFamily="34" charset="-122"/>
                          <a:cs typeface="Segoe UI" pitchFamily="34" charset="-120"/>
                        </a:rPr>
                        <a:t>What staff wrote down</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00" b="1" dirty="0">
                          <a:solidFill>
                            <a:srgbClr val="4B5A58"/>
                          </a:solidFill>
                          <a:latin typeface="Segoe UI" pitchFamily="34" charset="0"/>
                          <a:ea typeface="Segoe UI" pitchFamily="34" charset="-122"/>
                          <a:cs typeface="Segoe UI" pitchFamily="34" charset="-120"/>
                        </a:rPr>
                        <a:t>It is one of the three records being audited</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701040">
                <a:tc>
                  <a:txBody>
                    <a:bodyPr/>
                    <a:lstStyle/>
                    <a:p>
                      <a:pPr indent="0" marL="0">
                        <a:buNone/>
                      </a:pPr>
                      <a:r>
                        <a:rPr lang="en-US" sz="1100" b="1" dirty="0">
                          <a:solidFill>
                            <a:srgbClr val="111817"/>
                          </a:solidFill>
                          <a:latin typeface="Segoe UI" pitchFamily="34" charset="0"/>
                          <a:ea typeface="Segoe UI" pitchFamily="34" charset="-122"/>
                          <a:cs typeface="Segoe UI" pitchFamily="34" charset="-120"/>
                        </a:rPr>
                        <a:t>This system</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6F7EF"/>
                    </a:solidFill>
                  </a:tcPr>
                </a:tc>
                <a:tc>
                  <a:txBody>
                    <a:bodyPr/>
                    <a:lstStyle/>
                    <a:p>
                      <a:pPr indent="0" marL="0">
                        <a:buNone/>
                      </a:pPr>
                      <a:r>
                        <a:rPr lang="en-US" sz="1100" b="1" dirty="0">
                          <a:solidFill>
                            <a:srgbClr val="111817"/>
                          </a:solidFill>
                          <a:latin typeface="Segoe UI" pitchFamily="34" charset="0"/>
                          <a:ea typeface="Segoe UI" pitchFamily="34" charset="-122"/>
                          <a:cs typeface="Segoe UI" pitchFamily="34" charset="-120"/>
                        </a:rPr>
                        <a:t>Reuses existing CCTV</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6F7EF"/>
                    </a:solidFill>
                  </a:tcPr>
                </a:tc>
                <a:tc>
                  <a:txBody>
                    <a:bodyPr/>
                    <a:lstStyle/>
                    <a:p>
                      <a:pPr indent="0" marL="0">
                        <a:buNone/>
                      </a:pPr>
                      <a:r>
                        <a:rPr lang="en-US" sz="1100" b="1" dirty="0">
                          <a:solidFill>
                            <a:srgbClr val="111817"/>
                          </a:solidFill>
                          <a:latin typeface="Segoe UI" pitchFamily="34" charset="0"/>
                          <a:ea typeface="Segoe UI" pitchFamily="34" charset="-122"/>
                          <a:cs typeface="Segoe UI" pitchFamily="34" charset="-120"/>
                        </a:rPr>
                        <a:t>Give us real images using CCTV, with evidence</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6F7EF"/>
                    </a:solidFill>
                  </a:tcPr>
                </a:tc>
                <a:tc>
                  <a:txBody>
                    <a:bodyPr/>
                    <a:lstStyle/>
                    <a:p>
                      <a:pPr indent="0" marL="0">
                        <a:buNone/>
                      </a:pPr>
                      <a:r>
                        <a:rPr lang="en-US" sz="1100" b="1" dirty="0">
                          <a:solidFill>
                            <a:srgbClr val="111817"/>
                          </a:solidFill>
                          <a:latin typeface="Segoe UI" pitchFamily="34" charset="0"/>
                          <a:ea typeface="Segoe UI" pitchFamily="34" charset="-122"/>
                          <a:cs typeface="Segoe UI" pitchFamily="34" charset="-120"/>
                        </a:rPr>
                        <a:t>Needs a camera view; classification error</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6F7EF"/>
                    </a:solid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1 — STATE OF THE ART</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Deep learning — what the field must establish</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7A68E0"/>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8</a:t>
            </a:r>
            <a:endParaRPr lang="en-US" sz="1000" dirty="0"/>
          </a:p>
        </p:txBody>
      </p:sp>
      <p:sp>
        <p:nvSpPr>
          <p:cNvPr id="7" name="Shape 5"/>
          <p:cNvSpPr/>
          <p:nvPr/>
        </p:nvSpPr>
        <p:spPr>
          <a:xfrm>
            <a:off x="502920" y="1459337"/>
            <a:ext cx="3618890" cy="1499362"/>
          </a:xfrm>
          <a:prstGeom prst="roundRect">
            <a:avLst>
              <a:gd name="adj" fmla="val 6099"/>
            </a:avLst>
          </a:prstGeom>
          <a:solidFill>
            <a:srgbClr val="17B978"/>
          </a:solidFill>
          <a:ln/>
        </p:spPr>
      </p:sp>
      <p:sp>
        <p:nvSpPr>
          <p:cNvPr id="8" name="Shape 6"/>
          <p:cNvSpPr/>
          <p:nvPr/>
        </p:nvSpPr>
        <p:spPr>
          <a:xfrm>
            <a:off x="566928" y="1459337"/>
            <a:ext cx="3554882" cy="1499362"/>
          </a:xfrm>
          <a:prstGeom prst="roundRect">
            <a:avLst>
              <a:gd name="adj" fmla="val 6099"/>
            </a:avLst>
          </a:prstGeom>
          <a:solidFill>
            <a:srgbClr val="FFFFFF"/>
          </a:solidFill>
          <a:ln w="9525">
            <a:solidFill>
              <a:srgbClr val="DDE4E2"/>
            </a:solidFill>
            <a:prstDash val="solid"/>
          </a:ln>
        </p:spPr>
      </p:sp>
      <p:sp>
        <p:nvSpPr>
          <p:cNvPr id="9" name="Text 7"/>
          <p:cNvSpPr/>
          <p:nvPr/>
        </p:nvSpPr>
        <p:spPr>
          <a:xfrm>
            <a:off x="758952" y="1596497"/>
            <a:ext cx="3161690" cy="1225042"/>
          </a:xfrm>
          <a:prstGeom prst="rect">
            <a:avLst/>
          </a:prstGeom>
          <a:noFill/>
          <a:ln/>
        </p:spPr>
        <p:txBody>
          <a:bodyPr wrap="square" rtlCol="0" anchor="t"/>
          <a:lstStyle/>
          <a:p>
            <a:pPr indent="0" marL="0">
              <a:lnSpc>
                <a:spcPts val="1470"/>
              </a:lnSpc>
              <a:spcBef>
                <a:spcPts val="400"/>
              </a:spcBef>
              <a:buNone/>
            </a:pPr>
            <a:r>
              <a:rPr lang="en-US" sz="1250" b="1" dirty="0">
                <a:solidFill>
                  <a:srgbClr val="111817"/>
                </a:solidFill>
                <a:latin typeface="Segoe UI" pitchFamily="34" charset="0"/>
                <a:ea typeface="Segoe UI" pitchFamily="34" charset="-122"/>
                <a:cs typeface="Segoe UI" pitchFamily="34" charset="-120"/>
              </a:rPr>
              <a:t>§2.1 Occupancy and activity recognition from fixed cameras</a:t>
            </a:r>
            <a:endParaRPr lang="en-US" sz="1250" dirty="0"/>
          </a:p>
          <a:p>
            <a:pPr indent="0" marL="0">
              <a:lnSpc>
                <a:spcPts val="1470"/>
              </a:lnSpc>
              <a:spcBef>
                <a:spcPts val="400"/>
              </a:spcBef>
              <a:buNone/>
            </a:pPr>
            <a:r>
              <a:rPr lang="en-US" sz="1050" dirty="0">
                <a:solidFill>
                  <a:srgbClr val="4B5A58"/>
                </a:solidFill>
                <a:latin typeface="Segoe UI" pitchFamily="34" charset="0"/>
                <a:ea typeface="Segoe UI" pitchFamily="34" charset="-122"/>
                <a:cs typeface="Segoe UI" pitchFamily="34" charset="-120"/>
              </a:rPr>
              <a:t>That classifying scene state from a fixed viewpoint is a solved problem class, and what accuracy the field considers ordinary.</a:t>
            </a:r>
            <a:endParaRPr lang="en-US" sz="1250" dirty="0"/>
          </a:p>
        </p:txBody>
      </p:sp>
      <p:sp>
        <p:nvSpPr>
          <p:cNvPr id="10" name="Shape 8"/>
          <p:cNvSpPr/>
          <p:nvPr/>
        </p:nvSpPr>
        <p:spPr>
          <a:xfrm>
            <a:off x="4286402" y="1459337"/>
            <a:ext cx="3618890" cy="1499362"/>
          </a:xfrm>
          <a:prstGeom prst="roundRect">
            <a:avLst>
              <a:gd name="adj" fmla="val 6099"/>
            </a:avLst>
          </a:prstGeom>
          <a:solidFill>
            <a:srgbClr val="3FA7E0"/>
          </a:solidFill>
          <a:ln/>
        </p:spPr>
      </p:sp>
      <p:sp>
        <p:nvSpPr>
          <p:cNvPr id="11" name="Shape 9"/>
          <p:cNvSpPr/>
          <p:nvPr/>
        </p:nvSpPr>
        <p:spPr>
          <a:xfrm>
            <a:off x="4350410" y="1459337"/>
            <a:ext cx="3554882" cy="1499362"/>
          </a:xfrm>
          <a:prstGeom prst="roundRect">
            <a:avLst>
              <a:gd name="adj" fmla="val 6099"/>
            </a:avLst>
          </a:prstGeom>
          <a:solidFill>
            <a:srgbClr val="FFFFFF"/>
          </a:solidFill>
          <a:ln w="9525">
            <a:solidFill>
              <a:srgbClr val="DDE4E2"/>
            </a:solidFill>
            <a:prstDash val="solid"/>
          </a:ln>
        </p:spPr>
      </p:sp>
      <p:sp>
        <p:nvSpPr>
          <p:cNvPr id="12" name="Text 10"/>
          <p:cNvSpPr/>
          <p:nvPr/>
        </p:nvSpPr>
        <p:spPr>
          <a:xfrm>
            <a:off x="4542434" y="1596497"/>
            <a:ext cx="3161690" cy="1225042"/>
          </a:xfrm>
          <a:prstGeom prst="rect">
            <a:avLst/>
          </a:prstGeom>
          <a:noFill/>
          <a:ln/>
        </p:spPr>
        <p:txBody>
          <a:bodyPr wrap="square" rtlCol="0" anchor="t"/>
          <a:lstStyle/>
          <a:p>
            <a:pPr indent="0" marL="0">
              <a:lnSpc>
                <a:spcPts val="1470"/>
              </a:lnSpc>
              <a:spcBef>
                <a:spcPts val="400"/>
              </a:spcBef>
              <a:buNone/>
            </a:pPr>
            <a:r>
              <a:rPr lang="en-US" sz="1250" b="1" dirty="0">
                <a:solidFill>
                  <a:srgbClr val="111817"/>
                </a:solidFill>
                <a:latin typeface="Segoe UI" pitchFamily="34" charset="0"/>
                <a:ea typeface="Segoe UI" pitchFamily="34" charset="-122"/>
                <a:cs typeface="Segoe UI" pitchFamily="34" charset="-120"/>
              </a:rPr>
              <a:t>§2.2 Frozen features and linear probes</a:t>
            </a:r>
            <a:endParaRPr lang="en-US" sz="1250" dirty="0"/>
          </a:p>
          <a:p>
            <a:pPr indent="0" marL="0">
              <a:lnSpc>
                <a:spcPts val="1470"/>
              </a:lnSpc>
              <a:spcBef>
                <a:spcPts val="400"/>
              </a:spcBef>
              <a:buNone/>
            </a:pPr>
            <a:r>
              <a:rPr lang="en-US" sz="1050" dirty="0">
                <a:solidFill>
                  <a:srgbClr val="4B5A58"/>
                </a:solidFill>
                <a:latin typeface="Segoe UI" pitchFamily="34" charset="0"/>
                <a:ea typeface="Segoe UI" pitchFamily="34" charset="-122"/>
                <a:cs typeface="Segoe UI" pitchFamily="34" charset="-120"/>
              </a:rPr>
              <a:t>That a frozen backbone with a small trained head is a legitimate method rather than a shortcut.</a:t>
            </a:r>
            <a:endParaRPr lang="en-US" sz="1250" dirty="0"/>
          </a:p>
        </p:txBody>
      </p:sp>
      <p:sp>
        <p:nvSpPr>
          <p:cNvPr id="13" name="Shape 11"/>
          <p:cNvSpPr/>
          <p:nvPr/>
        </p:nvSpPr>
        <p:spPr>
          <a:xfrm>
            <a:off x="8069885" y="1459337"/>
            <a:ext cx="3618890" cy="1499362"/>
          </a:xfrm>
          <a:prstGeom prst="roundRect">
            <a:avLst>
              <a:gd name="adj" fmla="val 6099"/>
            </a:avLst>
          </a:prstGeom>
          <a:solidFill>
            <a:srgbClr val="F5A524"/>
          </a:solidFill>
          <a:ln/>
        </p:spPr>
      </p:sp>
      <p:sp>
        <p:nvSpPr>
          <p:cNvPr id="14" name="Shape 12"/>
          <p:cNvSpPr/>
          <p:nvPr/>
        </p:nvSpPr>
        <p:spPr>
          <a:xfrm>
            <a:off x="8133893" y="1459337"/>
            <a:ext cx="3554882" cy="1499362"/>
          </a:xfrm>
          <a:prstGeom prst="roundRect">
            <a:avLst>
              <a:gd name="adj" fmla="val 6099"/>
            </a:avLst>
          </a:prstGeom>
          <a:solidFill>
            <a:srgbClr val="FFFFFF"/>
          </a:solidFill>
          <a:ln w="9525">
            <a:solidFill>
              <a:srgbClr val="DDE4E2"/>
            </a:solidFill>
            <a:prstDash val="solid"/>
          </a:ln>
        </p:spPr>
      </p:sp>
      <p:sp>
        <p:nvSpPr>
          <p:cNvPr id="15" name="Text 13"/>
          <p:cNvSpPr/>
          <p:nvPr/>
        </p:nvSpPr>
        <p:spPr>
          <a:xfrm>
            <a:off x="8325917" y="1596497"/>
            <a:ext cx="3161690" cy="1225042"/>
          </a:xfrm>
          <a:prstGeom prst="rect">
            <a:avLst/>
          </a:prstGeom>
          <a:noFill/>
          <a:ln/>
        </p:spPr>
        <p:txBody>
          <a:bodyPr wrap="square" rtlCol="0" anchor="t"/>
          <a:lstStyle/>
          <a:p>
            <a:pPr indent="0" marL="0">
              <a:lnSpc>
                <a:spcPts val="1470"/>
              </a:lnSpc>
              <a:spcBef>
                <a:spcPts val="400"/>
              </a:spcBef>
              <a:buNone/>
            </a:pPr>
            <a:r>
              <a:rPr lang="en-US" sz="1250" b="1" dirty="0">
                <a:solidFill>
                  <a:srgbClr val="111817"/>
                </a:solidFill>
                <a:latin typeface="Segoe UI" pitchFamily="34" charset="0"/>
                <a:ea typeface="Segoe UI" pitchFamily="34" charset="-122"/>
                <a:cs typeface="Segoe UI" pitchFamily="34" charset="-120"/>
              </a:rPr>
              <a:t>§2.3 Dataset leakage and evaluation protocol</a:t>
            </a:r>
            <a:endParaRPr lang="en-US" sz="1250" dirty="0"/>
          </a:p>
          <a:p>
            <a:pPr indent="0" marL="0">
              <a:lnSpc>
                <a:spcPts val="1470"/>
              </a:lnSpc>
              <a:spcBef>
                <a:spcPts val="400"/>
              </a:spcBef>
              <a:buNone/>
            </a:pPr>
            <a:r>
              <a:rPr lang="en-US" sz="1050" dirty="0">
                <a:solidFill>
                  <a:srgbClr val="4B5A58"/>
                </a:solidFill>
                <a:latin typeface="Segoe UI" pitchFamily="34" charset="0"/>
                <a:ea typeface="Segoe UI" pitchFamily="34" charset="-122"/>
                <a:cs typeface="Segoe UI" pitchFamily="34" charset="-120"/>
              </a:rPr>
              <a:t>That near-duplicate leakage is a known, recurring problem, with prior cases where a benchmark was found to be measuring memorisation.</a:t>
            </a:r>
            <a:endParaRPr lang="en-US" sz="1250" dirty="0"/>
          </a:p>
        </p:txBody>
      </p:sp>
      <p:sp>
        <p:nvSpPr>
          <p:cNvPr id="16" name="Shape 14"/>
          <p:cNvSpPr/>
          <p:nvPr/>
        </p:nvSpPr>
        <p:spPr>
          <a:xfrm>
            <a:off x="502920" y="3123291"/>
            <a:ext cx="3618890" cy="1499362"/>
          </a:xfrm>
          <a:prstGeom prst="roundRect">
            <a:avLst>
              <a:gd name="adj" fmla="val 6099"/>
            </a:avLst>
          </a:prstGeom>
          <a:solidFill>
            <a:srgbClr val="EF4F6B"/>
          </a:solidFill>
          <a:ln/>
        </p:spPr>
      </p:sp>
      <p:sp>
        <p:nvSpPr>
          <p:cNvPr id="17" name="Shape 15"/>
          <p:cNvSpPr/>
          <p:nvPr/>
        </p:nvSpPr>
        <p:spPr>
          <a:xfrm>
            <a:off x="566928" y="3123291"/>
            <a:ext cx="3554882" cy="1499362"/>
          </a:xfrm>
          <a:prstGeom prst="roundRect">
            <a:avLst>
              <a:gd name="adj" fmla="val 6099"/>
            </a:avLst>
          </a:prstGeom>
          <a:solidFill>
            <a:srgbClr val="FFFFFF"/>
          </a:solidFill>
          <a:ln w="9525">
            <a:solidFill>
              <a:srgbClr val="DDE4E2"/>
            </a:solidFill>
            <a:prstDash val="solid"/>
          </a:ln>
        </p:spPr>
      </p:sp>
      <p:sp>
        <p:nvSpPr>
          <p:cNvPr id="18" name="Text 16"/>
          <p:cNvSpPr/>
          <p:nvPr/>
        </p:nvSpPr>
        <p:spPr>
          <a:xfrm>
            <a:off x="758952" y="3260451"/>
            <a:ext cx="3161690" cy="1225042"/>
          </a:xfrm>
          <a:prstGeom prst="rect">
            <a:avLst/>
          </a:prstGeom>
          <a:noFill/>
          <a:ln/>
        </p:spPr>
        <p:txBody>
          <a:bodyPr wrap="square" rtlCol="0" anchor="t"/>
          <a:lstStyle/>
          <a:p>
            <a:pPr indent="0" marL="0">
              <a:lnSpc>
                <a:spcPts val="1470"/>
              </a:lnSpc>
              <a:spcBef>
                <a:spcPts val="400"/>
              </a:spcBef>
              <a:buNone/>
            </a:pPr>
            <a:r>
              <a:rPr lang="en-US" sz="1250" b="1" dirty="0">
                <a:solidFill>
                  <a:srgbClr val="111817"/>
                </a:solidFill>
                <a:latin typeface="Segoe UI" pitchFamily="34" charset="0"/>
                <a:ea typeface="Segoe UI" pitchFamily="34" charset="-122"/>
                <a:cs typeface="Segoe UI" pitchFamily="34" charset="-120"/>
              </a:rPr>
              <a:t>§2.4 Trivial baselines and benchmark validity</a:t>
            </a:r>
            <a:endParaRPr lang="en-US" sz="1250" dirty="0"/>
          </a:p>
          <a:p>
            <a:pPr indent="0" marL="0">
              <a:lnSpc>
                <a:spcPts val="1470"/>
              </a:lnSpc>
              <a:spcBef>
                <a:spcPts val="400"/>
              </a:spcBef>
              <a:buNone/>
            </a:pPr>
            <a:r>
              <a:rPr lang="en-US" sz="1050" dirty="0">
                <a:solidFill>
                  <a:srgbClr val="4B5A58"/>
                </a:solidFill>
                <a:latin typeface="Segoe UI" pitchFamily="34" charset="0"/>
                <a:ea typeface="Segoe UI" pitchFamily="34" charset="-122"/>
                <a:cs typeface="Segoe UI" pitchFamily="34" charset="-120"/>
              </a:rPr>
              <a:t>That checking a benchmark against a baseline which ignores the input is established practice.</a:t>
            </a:r>
            <a:endParaRPr lang="en-US" sz="1250" dirty="0"/>
          </a:p>
        </p:txBody>
      </p:sp>
      <p:sp>
        <p:nvSpPr>
          <p:cNvPr id="19" name="Shape 17"/>
          <p:cNvSpPr/>
          <p:nvPr/>
        </p:nvSpPr>
        <p:spPr>
          <a:xfrm>
            <a:off x="4286402" y="3123291"/>
            <a:ext cx="3618890" cy="1499362"/>
          </a:xfrm>
          <a:prstGeom prst="roundRect">
            <a:avLst>
              <a:gd name="adj" fmla="val 6099"/>
            </a:avLst>
          </a:prstGeom>
          <a:solidFill>
            <a:srgbClr val="17B978"/>
          </a:solidFill>
          <a:ln/>
        </p:spPr>
      </p:sp>
      <p:sp>
        <p:nvSpPr>
          <p:cNvPr id="20" name="Shape 18"/>
          <p:cNvSpPr/>
          <p:nvPr/>
        </p:nvSpPr>
        <p:spPr>
          <a:xfrm>
            <a:off x="4350410" y="3123291"/>
            <a:ext cx="3554882" cy="1499362"/>
          </a:xfrm>
          <a:prstGeom prst="roundRect">
            <a:avLst>
              <a:gd name="adj" fmla="val 6099"/>
            </a:avLst>
          </a:prstGeom>
          <a:solidFill>
            <a:srgbClr val="FFFFFF"/>
          </a:solidFill>
          <a:ln w="9525">
            <a:solidFill>
              <a:srgbClr val="DDE4E2"/>
            </a:solidFill>
            <a:prstDash val="solid"/>
          </a:ln>
        </p:spPr>
      </p:sp>
      <p:sp>
        <p:nvSpPr>
          <p:cNvPr id="21" name="Text 19"/>
          <p:cNvSpPr/>
          <p:nvPr/>
        </p:nvSpPr>
        <p:spPr>
          <a:xfrm>
            <a:off x="4542434" y="3260451"/>
            <a:ext cx="3161690" cy="1225042"/>
          </a:xfrm>
          <a:prstGeom prst="rect">
            <a:avLst/>
          </a:prstGeom>
          <a:noFill/>
          <a:ln/>
        </p:spPr>
        <p:txBody>
          <a:bodyPr wrap="square" rtlCol="0" anchor="t"/>
          <a:lstStyle/>
          <a:p>
            <a:pPr indent="0" marL="0">
              <a:lnSpc>
                <a:spcPts val="1470"/>
              </a:lnSpc>
              <a:spcBef>
                <a:spcPts val="400"/>
              </a:spcBef>
              <a:buNone/>
            </a:pPr>
            <a:r>
              <a:rPr lang="en-US" sz="1250" b="1" dirty="0">
                <a:solidFill>
                  <a:srgbClr val="111817"/>
                </a:solidFill>
                <a:latin typeface="Segoe UI" pitchFamily="34" charset="0"/>
                <a:ea typeface="Segoe UI" pitchFamily="34" charset="-122"/>
                <a:cs typeface="Segoe UI" pitchFamily="34" charset="-120"/>
              </a:rPr>
              <a:t>§2.5 Edge and CPU-constrained inference</a:t>
            </a:r>
            <a:endParaRPr lang="en-US" sz="1250" dirty="0"/>
          </a:p>
          <a:p>
            <a:pPr indent="0" marL="0">
              <a:lnSpc>
                <a:spcPts val="1470"/>
              </a:lnSpc>
              <a:spcBef>
                <a:spcPts val="400"/>
              </a:spcBef>
              <a:buNone/>
            </a:pPr>
            <a:r>
              <a:rPr lang="en-US" sz="1050" dirty="0">
                <a:solidFill>
                  <a:srgbClr val="4B5A58"/>
                </a:solidFill>
                <a:latin typeface="Segoe UI" pitchFamily="34" charset="0"/>
                <a:ea typeface="Segoe UI" pitchFamily="34" charset="-122"/>
                <a:cs typeface="Segoe UI" pitchFamily="34" charset="-120"/>
              </a:rPr>
              <a:t>What is achievable without a GPU, and at what accuracy cost.</a:t>
            </a:r>
            <a:endParaRPr lang="en-US" sz="1250" dirty="0"/>
          </a:p>
        </p:txBody>
      </p:sp>
      <p:sp>
        <p:nvSpPr>
          <p:cNvPr id="22" name="Shape 20"/>
          <p:cNvSpPr/>
          <p:nvPr/>
        </p:nvSpPr>
        <p:spPr>
          <a:xfrm>
            <a:off x="8069885" y="3123291"/>
            <a:ext cx="3618890" cy="1499362"/>
          </a:xfrm>
          <a:prstGeom prst="roundRect">
            <a:avLst>
              <a:gd name="adj" fmla="val 6099"/>
            </a:avLst>
          </a:prstGeom>
          <a:solidFill>
            <a:srgbClr val="3FA7E0"/>
          </a:solidFill>
          <a:ln/>
        </p:spPr>
      </p:sp>
      <p:sp>
        <p:nvSpPr>
          <p:cNvPr id="23" name="Shape 21"/>
          <p:cNvSpPr/>
          <p:nvPr/>
        </p:nvSpPr>
        <p:spPr>
          <a:xfrm>
            <a:off x="8133893" y="3123291"/>
            <a:ext cx="3554882" cy="1499362"/>
          </a:xfrm>
          <a:prstGeom prst="roundRect">
            <a:avLst>
              <a:gd name="adj" fmla="val 6099"/>
            </a:avLst>
          </a:prstGeom>
          <a:solidFill>
            <a:srgbClr val="FFFFFF"/>
          </a:solidFill>
          <a:ln w="9525">
            <a:solidFill>
              <a:srgbClr val="DDE4E2"/>
            </a:solidFill>
            <a:prstDash val="solid"/>
          </a:ln>
        </p:spPr>
      </p:sp>
      <p:sp>
        <p:nvSpPr>
          <p:cNvPr id="24" name="Text 22"/>
          <p:cNvSpPr/>
          <p:nvPr/>
        </p:nvSpPr>
        <p:spPr>
          <a:xfrm>
            <a:off x="8325917" y="3260451"/>
            <a:ext cx="3161690" cy="1225042"/>
          </a:xfrm>
          <a:prstGeom prst="rect">
            <a:avLst/>
          </a:prstGeom>
          <a:noFill/>
          <a:ln/>
        </p:spPr>
        <p:txBody>
          <a:bodyPr wrap="square" rtlCol="0" anchor="t"/>
          <a:lstStyle/>
          <a:p>
            <a:pPr indent="0" marL="0">
              <a:lnSpc>
                <a:spcPts val="1470"/>
              </a:lnSpc>
              <a:spcBef>
                <a:spcPts val="400"/>
              </a:spcBef>
              <a:buNone/>
            </a:pPr>
            <a:r>
              <a:rPr lang="en-US" sz="1250" b="1" dirty="0">
                <a:solidFill>
                  <a:srgbClr val="111817"/>
                </a:solidFill>
                <a:latin typeface="Segoe UI" pitchFamily="34" charset="0"/>
                <a:ea typeface="Segoe UI" pitchFamily="34" charset="-122"/>
                <a:cs typeface="Segoe UI" pitchFamily="34" charset="-120"/>
              </a:rPr>
              <a:t>§2.6 Calibration and uncertainty for deployed classifiers</a:t>
            </a:r>
            <a:endParaRPr lang="en-US" sz="1250" dirty="0"/>
          </a:p>
          <a:p>
            <a:pPr indent="0" marL="0">
              <a:lnSpc>
                <a:spcPts val="1470"/>
              </a:lnSpc>
              <a:spcBef>
                <a:spcPts val="400"/>
              </a:spcBef>
              <a:buNone/>
            </a:pPr>
            <a:r>
              <a:rPr lang="en-US" sz="1050" dirty="0">
                <a:solidFill>
                  <a:srgbClr val="4B5A58"/>
                </a:solidFill>
                <a:latin typeface="Segoe UI" pitchFamily="34" charset="0"/>
                <a:ea typeface="Segoe UI" pitchFamily="34" charset="-122"/>
                <a:cs typeface="Segoe UI" pitchFamily="34" charset="-120"/>
              </a:rPr>
              <a:t>That a confidence score is an operational quantity once it routes work to a person, and how calibration is normally assessed.</a:t>
            </a:r>
            <a:endParaRPr lang="en-US" sz="1250" dirty="0"/>
          </a:p>
        </p:txBody>
      </p:sp>
      <p:sp>
        <p:nvSpPr>
          <p:cNvPr id="25" name="Shape 23"/>
          <p:cNvSpPr/>
          <p:nvPr/>
        </p:nvSpPr>
        <p:spPr>
          <a:xfrm>
            <a:off x="502920" y="4787245"/>
            <a:ext cx="3618890" cy="1499362"/>
          </a:xfrm>
          <a:prstGeom prst="roundRect">
            <a:avLst>
              <a:gd name="adj" fmla="val 6099"/>
            </a:avLst>
          </a:prstGeom>
          <a:solidFill>
            <a:srgbClr val="F5A524"/>
          </a:solidFill>
          <a:ln/>
        </p:spPr>
      </p:sp>
      <p:sp>
        <p:nvSpPr>
          <p:cNvPr id="26" name="Shape 24"/>
          <p:cNvSpPr/>
          <p:nvPr/>
        </p:nvSpPr>
        <p:spPr>
          <a:xfrm>
            <a:off x="566928" y="4787245"/>
            <a:ext cx="3554882" cy="1499362"/>
          </a:xfrm>
          <a:prstGeom prst="roundRect">
            <a:avLst>
              <a:gd name="adj" fmla="val 6099"/>
            </a:avLst>
          </a:prstGeom>
          <a:solidFill>
            <a:srgbClr val="FFFFFF"/>
          </a:solidFill>
          <a:ln w="9525">
            <a:solidFill>
              <a:srgbClr val="DDE4E2"/>
            </a:solidFill>
            <a:prstDash val="solid"/>
          </a:ln>
        </p:spPr>
      </p:sp>
      <p:sp>
        <p:nvSpPr>
          <p:cNvPr id="27" name="Text 25"/>
          <p:cNvSpPr/>
          <p:nvPr/>
        </p:nvSpPr>
        <p:spPr>
          <a:xfrm>
            <a:off x="758952" y="4924405"/>
            <a:ext cx="3161690" cy="1225042"/>
          </a:xfrm>
          <a:prstGeom prst="rect">
            <a:avLst/>
          </a:prstGeom>
          <a:noFill/>
          <a:ln/>
        </p:spPr>
        <p:txBody>
          <a:bodyPr wrap="square" rtlCol="0" anchor="t"/>
          <a:lstStyle/>
          <a:p>
            <a:pPr indent="0" marL="0">
              <a:lnSpc>
                <a:spcPts val="1470"/>
              </a:lnSpc>
              <a:spcBef>
                <a:spcPts val="400"/>
              </a:spcBef>
              <a:buNone/>
            </a:pPr>
            <a:r>
              <a:rPr lang="en-US" sz="1250" b="1" dirty="0">
                <a:solidFill>
                  <a:srgbClr val="111817"/>
                </a:solidFill>
                <a:latin typeface="Segoe UI" pitchFamily="34" charset="0"/>
                <a:ea typeface="Segoe UI" pitchFamily="34" charset="-122"/>
                <a:cs typeface="Segoe UI" pitchFamily="34" charset="-120"/>
              </a:rPr>
              <a:t>§2.7 Facility management, audit and record reconciliation</a:t>
            </a:r>
            <a:endParaRPr lang="en-US" sz="1250" dirty="0"/>
          </a:p>
          <a:p>
            <a:pPr indent="0" marL="0">
              <a:lnSpc>
                <a:spcPts val="1470"/>
              </a:lnSpc>
              <a:spcBef>
                <a:spcPts val="400"/>
              </a:spcBef>
              <a:buNone/>
            </a:pPr>
            <a:r>
              <a:rPr lang="en-US" sz="1050" dirty="0">
                <a:solidFill>
                  <a:srgbClr val="4B5A58"/>
                </a:solidFill>
                <a:latin typeface="Segoe UI" pitchFamily="34" charset="0"/>
                <a:ea typeface="Segoe UI" pitchFamily="34" charset="-122"/>
                <a:cs typeface="Segoe UI" pitchFamily="34" charset="-120"/>
              </a:rPr>
              <a:t>That cross-checking a sensor against an administrative record is a recognised problem, in this domain or an adjacent one.</a:t>
            </a:r>
            <a:endParaRPr lang="en-US" sz="1250" dirty="0"/>
          </a:p>
        </p:txBody>
      </p:sp>
      <p:sp>
        <p:nvSpPr>
          <p:cNvPr id="28" name="Shape 26"/>
          <p:cNvSpPr/>
          <p:nvPr/>
        </p:nvSpPr>
        <p:spPr>
          <a:xfrm>
            <a:off x="4286402" y="4787245"/>
            <a:ext cx="3618890" cy="1499362"/>
          </a:xfrm>
          <a:prstGeom prst="roundRect">
            <a:avLst>
              <a:gd name="adj" fmla="val 6099"/>
            </a:avLst>
          </a:prstGeom>
          <a:solidFill>
            <a:srgbClr val="EF4F6B"/>
          </a:solidFill>
          <a:ln/>
        </p:spPr>
      </p:sp>
      <p:sp>
        <p:nvSpPr>
          <p:cNvPr id="29" name="Shape 27"/>
          <p:cNvSpPr/>
          <p:nvPr/>
        </p:nvSpPr>
        <p:spPr>
          <a:xfrm>
            <a:off x="4350410" y="4787245"/>
            <a:ext cx="3554882" cy="1499362"/>
          </a:xfrm>
          <a:prstGeom prst="roundRect">
            <a:avLst>
              <a:gd name="adj" fmla="val 6099"/>
            </a:avLst>
          </a:prstGeom>
          <a:solidFill>
            <a:srgbClr val="FFFFFF"/>
          </a:solidFill>
          <a:ln w="9525">
            <a:solidFill>
              <a:srgbClr val="DDE4E2"/>
            </a:solidFill>
            <a:prstDash val="solid"/>
          </a:ln>
        </p:spPr>
      </p:sp>
      <p:sp>
        <p:nvSpPr>
          <p:cNvPr id="30" name="Text 28"/>
          <p:cNvSpPr/>
          <p:nvPr/>
        </p:nvSpPr>
        <p:spPr>
          <a:xfrm>
            <a:off x="4542434" y="4924405"/>
            <a:ext cx="3161690" cy="1225042"/>
          </a:xfrm>
          <a:prstGeom prst="rect">
            <a:avLst/>
          </a:prstGeom>
          <a:noFill/>
          <a:ln/>
        </p:spPr>
        <p:txBody>
          <a:bodyPr wrap="square" rtlCol="0" anchor="t"/>
          <a:lstStyle/>
          <a:p>
            <a:pPr indent="0" marL="0">
              <a:lnSpc>
                <a:spcPts val="1470"/>
              </a:lnSpc>
              <a:spcBef>
                <a:spcPts val="400"/>
              </a:spcBef>
              <a:buNone/>
            </a:pPr>
            <a:r>
              <a:rPr lang="en-US" sz="1250" b="1" dirty="0">
                <a:solidFill>
                  <a:srgbClr val="111817"/>
                </a:solidFill>
                <a:latin typeface="Segoe UI" pitchFamily="34" charset="0"/>
                <a:ea typeface="Segoe UI" pitchFamily="34" charset="-122"/>
                <a:cs typeface="Segoe UI" pitchFamily="34" charset="-120"/>
              </a:rPr>
              <a:t>§2.8 Prior art — who already does this</a:t>
            </a:r>
            <a:endParaRPr lang="en-US" sz="1250" dirty="0"/>
          </a:p>
          <a:p>
            <a:pPr indent="0" marL="0">
              <a:lnSpc>
                <a:spcPts val="1470"/>
              </a:lnSpc>
              <a:spcBef>
                <a:spcPts val="400"/>
              </a:spcBef>
              <a:buNone/>
            </a:pPr>
            <a:r>
              <a:rPr lang="en-US" sz="1050" dirty="0">
                <a:solidFill>
                  <a:srgbClr val="4B5A58"/>
                </a:solidFill>
                <a:latin typeface="Segoe UI" pitchFamily="34" charset="0"/>
                <a:ea typeface="Segoe UI" pitchFamily="34" charset="-122"/>
                <a:cs typeface="Segoe UI" pitchFamily="34" charset="-120"/>
              </a:rPr>
              <a:t>Whether a commercial or academic system already audits facility occupancy, and what it does not do.</a:t>
            </a:r>
            <a:endParaRPr lang="en-US" sz="1250" dirty="0"/>
          </a:p>
        </p:txBody>
      </p:sp>
      <p:sp>
        <p:nvSpPr>
          <p:cNvPr id="31" name="Shape 29"/>
          <p:cNvSpPr/>
          <p:nvPr/>
        </p:nvSpPr>
        <p:spPr>
          <a:xfrm>
            <a:off x="8069885" y="4787245"/>
            <a:ext cx="3618890" cy="1499362"/>
          </a:xfrm>
          <a:prstGeom prst="roundRect">
            <a:avLst>
              <a:gd name="adj" fmla="val 6099"/>
            </a:avLst>
          </a:prstGeom>
          <a:solidFill>
            <a:srgbClr val="17B978"/>
          </a:solidFill>
          <a:ln/>
        </p:spPr>
      </p:sp>
      <p:sp>
        <p:nvSpPr>
          <p:cNvPr id="32" name="Shape 30"/>
          <p:cNvSpPr/>
          <p:nvPr/>
        </p:nvSpPr>
        <p:spPr>
          <a:xfrm>
            <a:off x="8133893" y="4787245"/>
            <a:ext cx="3554882" cy="1499362"/>
          </a:xfrm>
          <a:prstGeom prst="roundRect">
            <a:avLst>
              <a:gd name="adj" fmla="val 6099"/>
            </a:avLst>
          </a:prstGeom>
          <a:solidFill>
            <a:srgbClr val="FFFFFF"/>
          </a:solidFill>
          <a:ln w="9525">
            <a:solidFill>
              <a:srgbClr val="DDE4E2"/>
            </a:solidFill>
            <a:prstDash val="solid"/>
          </a:ln>
        </p:spPr>
      </p:sp>
      <p:sp>
        <p:nvSpPr>
          <p:cNvPr id="33" name="Text 31"/>
          <p:cNvSpPr/>
          <p:nvPr/>
        </p:nvSpPr>
        <p:spPr>
          <a:xfrm>
            <a:off x="8325917" y="4924405"/>
            <a:ext cx="3161690" cy="1225042"/>
          </a:xfrm>
          <a:prstGeom prst="rect">
            <a:avLst/>
          </a:prstGeom>
          <a:noFill/>
          <a:ln/>
        </p:spPr>
        <p:txBody>
          <a:bodyPr wrap="square" rtlCol="0" anchor="t"/>
          <a:lstStyle/>
          <a:p>
            <a:pPr indent="0" marL="0">
              <a:lnSpc>
                <a:spcPts val="1470"/>
              </a:lnSpc>
              <a:spcBef>
                <a:spcPts val="400"/>
              </a:spcBef>
              <a:buNone/>
            </a:pPr>
            <a:r>
              <a:rPr lang="en-US" sz="1250" b="1" dirty="0">
                <a:solidFill>
                  <a:srgbClr val="111817"/>
                </a:solidFill>
                <a:latin typeface="Segoe UI" pitchFamily="34" charset="0"/>
                <a:ea typeface="Segoe UI" pitchFamily="34" charset="-122"/>
                <a:cs typeface="Segoe UI" pitchFamily="34" charset="-120"/>
              </a:rPr>
              <a:t>§2.9 Selective prediction and learning to defer</a:t>
            </a:r>
            <a:endParaRPr lang="en-US" sz="1250" dirty="0"/>
          </a:p>
          <a:p>
            <a:pPr indent="0" marL="0">
              <a:lnSpc>
                <a:spcPts val="1470"/>
              </a:lnSpc>
              <a:spcBef>
                <a:spcPts val="400"/>
              </a:spcBef>
              <a:buNone/>
            </a:pPr>
            <a:r>
              <a:rPr lang="en-US" sz="1050" dirty="0">
                <a:solidFill>
                  <a:srgbClr val="4B5A58"/>
                </a:solidFill>
                <a:latin typeface="Segoe UI" pitchFamily="34" charset="0"/>
                <a:ea typeface="Segoe UI" pitchFamily="34" charset="-122"/>
                <a:cs typeface="Segoe UI" pitchFamily="34" charset="-120"/>
              </a:rPr>
              <a:t>That abstaining and handing a case to a human is a studied design with its own metrics — so the REVIEW band is literature-backed, not an engineering convenience.</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20" fill="hold"/>
                                        <p:tgtEl>
                                          <p:spTgt spid="9"/>
                                        </p:tgtEl>
                                        <p:attrNameLst>
                                          <p:attrName>ppt_y</p:attrName>
                                        </p:attrNameLst>
                                      </p:cBhvr>
                                      <p:tavLst>
                                        <p:tav tm="0">
                                          <p:val>
                                            <p:strVal val="#ppt_y+0.035"/>
                                          </p:val>
                                        </p:tav>
                                        <p:tav tm="100000">
                                          <p:val>
                                            <p:strVal val="#ppt_y"/>
                                          </p:val>
                                        </p:tav>
                                      </p:tavLst>
                                    </p:anim>
                                    <p:animEffect transition="in" filter="fade">
                                      <p:cBhvr>
                                        <p:cTn id="16" dur="52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4" presetClass="entr" presetSubtype="0" fill="hold" grpId="0" nodeType="afterEffect">
                                  <p:stCondLst>
                                    <p:cond delay="122"/>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20" fill="hold"/>
                                        <p:tgtEl>
                                          <p:spTgt spid="10"/>
                                        </p:tgtEl>
                                        <p:attrNameLst>
                                          <p:attrName>ppt_y</p:attrName>
                                        </p:attrNameLst>
                                      </p:cBhvr>
                                      <p:tavLst>
                                        <p:tav tm="0">
                                          <p:val>
                                            <p:strVal val="#ppt_y+0.035"/>
                                          </p:val>
                                        </p:tav>
                                        <p:tav tm="100000">
                                          <p:val>
                                            <p:strVal val="#ppt_y"/>
                                          </p:val>
                                        </p:tav>
                                      </p:tavLst>
                                    </p:anim>
                                    <p:animEffect transition="in" filter="fade">
                                      <p:cBhvr>
                                        <p:cTn id="22" dur="520"/>
                                        <p:tgtEl>
                                          <p:spTgt spid="10"/>
                                        </p:tgtEl>
                                      </p:cBhvr>
                                    </p:animEffect>
                                  </p:childTnLst>
                                </p:cTn>
                              </p:par>
                              <p:par>
                                <p:cTn id="23" presetID="34"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20" fill="hold"/>
                                        <p:tgtEl>
                                          <p:spTgt spid="11"/>
                                        </p:tgtEl>
                                        <p:attrNameLst>
                                          <p:attrName>ppt_y</p:attrName>
                                        </p:attrNameLst>
                                      </p:cBhvr>
                                      <p:tavLst>
                                        <p:tav tm="0">
                                          <p:val>
                                            <p:strVal val="#ppt_y+0.035"/>
                                          </p:val>
                                        </p:tav>
                                        <p:tav tm="100000">
                                          <p:val>
                                            <p:strVal val="#ppt_y"/>
                                          </p:val>
                                        </p:tav>
                                      </p:tavLst>
                                    </p:anim>
                                    <p:animEffect transition="in" filter="fade">
                                      <p:cBhvr>
                                        <p:cTn id="26" dur="520"/>
                                        <p:tgtEl>
                                          <p:spTgt spid="11"/>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20" fill="hold"/>
                                        <p:tgtEl>
                                          <p:spTgt spid="12"/>
                                        </p:tgtEl>
                                        <p:attrNameLst>
                                          <p:attrName>ppt_y</p:attrName>
                                        </p:attrNameLst>
                                      </p:cBhvr>
                                      <p:tavLst>
                                        <p:tav tm="0">
                                          <p:val>
                                            <p:strVal val="#ppt_y+0.035"/>
                                          </p:val>
                                        </p:tav>
                                        <p:tav tm="100000">
                                          <p:val>
                                            <p:strVal val="#ppt_y"/>
                                          </p:val>
                                        </p:tav>
                                      </p:tavLst>
                                    </p:anim>
                                    <p:animEffect transition="in" filter="fade">
                                      <p:cBhvr>
                                        <p:cTn id="30" dur="52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34" presetClass="entr" presetSubtype="0" fill="hold" grpId="0" nodeType="afterEffect">
                                  <p:stCondLst>
                                    <p:cond delay="122"/>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20" fill="hold"/>
                                        <p:tgtEl>
                                          <p:spTgt spid="13"/>
                                        </p:tgtEl>
                                        <p:attrNameLst>
                                          <p:attrName>ppt_y</p:attrName>
                                        </p:attrNameLst>
                                      </p:cBhvr>
                                      <p:tavLst>
                                        <p:tav tm="0">
                                          <p:val>
                                            <p:strVal val="#ppt_y+0.035"/>
                                          </p:val>
                                        </p:tav>
                                        <p:tav tm="100000">
                                          <p:val>
                                            <p:strVal val="#ppt_y"/>
                                          </p:val>
                                        </p:tav>
                                      </p:tavLst>
                                    </p:anim>
                                    <p:animEffect transition="in" filter="fade">
                                      <p:cBhvr>
                                        <p:cTn id="36" dur="520"/>
                                        <p:tgtEl>
                                          <p:spTgt spid="13"/>
                                        </p:tgtEl>
                                      </p:cBhvr>
                                    </p:animEffect>
                                  </p:childTnLst>
                                </p:cTn>
                              </p:par>
                              <p:par>
                                <p:cTn id="37" presetID="34"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20" fill="hold"/>
                                        <p:tgtEl>
                                          <p:spTgt spid="14"/>
                                        </p:tgtEl>
                                        <p:attrNameLst>
                                          <p:attrName>ppt_y</p:attrName>
                                        </p:attrNameLst>
                                      </p:cBhvr>
                                      <p:tavLst>
                                        <p:tav tm="0">
                                          <p:val>
                                            <p:strVal val="#ppt_y+0.035"/>
                                          </p:val>
                                        </p:tav>
                                        <p:tav tm="100000">
                                          <p:val>
                                            <p:strVal val="#ppt_y"/>
                                          </p:val>
                                        </p:tav>
                                      </p:tavLst>
                                    </p:anim>
                                    <p:animEffect transition="in" filter="fade">
                                      <p:cBhvr>
                                        <p:cTn id="40" dur="520"/>
                                        <p:tgtEl>
                                          <p:spTgt spid="14"/>
                                        </p:tgtEl>
                                      </p:cBhvr>
                                    </p:animEffect>
                                  </p:childTnLst>
                                </p:cTn>
                              </p:par>
                              <p:par>
                                <p:cTn id="41" presetID="34"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20" fill="hold"/>
                                        <p:tgtEl>
                                          <p:spTgt spid="15"/>
                                        </p:tgtEl>
                                        <p:attrNameLst>
                                          <p:attrName>ppt_y</p:attrName>
                                        </p:attrNameLst>
                                      </p:cBhvr>
                                      <p:tavLst>
                                        <p:tav tm="0">
                                          <p:val>
                                            <p:strVal val="#ppt_y+0.035"/>
                                          </p:val>
                                        </p:tav>
                                        <p:tav tm="100000">
                                          <p:val>
                                            <p:strVal val="#ppt_y"/>
                                          </p:val>
                                        </p:tav>
                                      </p:tavLst>
                                    </p:anim>
                                    <p:animEffect transition="in" filter="fade">
                                      <p:cBhvr>
                                        <p:cTn id="44" dur="52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34" presetClass="entr" presetSubtype="0" fill="hold" grpId="0" nodeType="afterEffect">
                                  <p:stCondLst>
                                    <p:cond delay="122"/>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20" fill="hold"/>
                                        <p:tgtEl>
                                          <p:spTgt spid="16"/>
                                        </p:tgtEl>
                                        <p:attrNameLst>
                                          <p:attrName>ppt_y</p:attrName>
                                        </p:attrNameLst>
                                      </p:cBhvr>
                                      <p:tavLst>
                                        <p:tav tm="0">
                                          <p:val>
                                            <p:strVal val="#ppt_y+0.035"/>
                                          </p:val>
                                        </p:tav>
                                        <p:tav tm="100000">
                                          <p:val>
                                            <p:strVal val="#ppt_y"/>
                                          </p:val>
                                        </p:tav>
                                      </p:tavLst>
                                    </p:anim>
                                    <p:animEffect transition="in" filter="fade">
                                      <p:cBhvr>
                                        <p:cTn id="50" dur="520"/>
                                        <p:tgtEl>
                                          <p:spTgt spid="16"/>
                                        </p:tgtEl>
                                      </p:cBhvr>
                                    </p:animEffect>
                                  </p:childTnLst>
                                </p:cTn>
                              </p:par>
                              <p:par>
                                <p:cTn id="51" presetID="34"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20" fill="hold"/>
                                        <p:tgtEl>
                                          <p:spTgt spid="17"/>
                                        </p:tgtEl>
                                        <p:attrNameLst>
                                          <p:attrName>ppt_y</p:attrName>
                                        </p:attrNameLst>
                                      </p:cBhvr>
                                      <p:tavLst>
                                        <p:tav tm="0">
                                          <p:val>
                                            <p:strVal val="#ppt_y+0.035"/>
                                          </p:val>
                                        </p:tav>
                                        <p:tav tm="100000">
                                          <p:val>
                                            <p:strVal val="#ppt_y"/>
                                          </p:val>
                                        </p:tav>
                                      </p:tavLst>
                                    </p:anim>
                                    <p:animEffect transition="in" filter="fade">
                                      <p:cBhvr>
                                        <p:cTn id="54" dur="520"/>
                                        <p:tgtEl>
                                          <p:spTgt spid="17"/>
                                        </p:tgtEl>
                                      </p:cBhvr>
                                    </p:animEffect>
                                  </p:childTnLst>
                                </p:cTn>
                              </p:par>
                              <p:par>
                                <p:cTn id="55" presetID="34"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20" fill="hold"/>
                                        <p:tgtEl>
                                          <p:spTgt spid="18"/>
                                        </p:tgtEl>
                                        <p:attrNameLst>
                                          <p:attrName>ppt_y</p:attrName>
                                        </p:attrNameLst>
                                      </p:cBhvr>
                                      <p:tavLst>
                                        <p:tav tm="0">
                                          <p:val>
                                            <p:strVal val="#ppt_y+0.035"/>
                                          </p:val>
                                        </p:tav>
                                        <p:tav tm="100000">
                                          <p:val>
                                            <p:strVal val="#ppt_y"/>
                                          </p:val>
                                        </p:tav>
                                      </p:tavLst>
                                    </p:anim>
                                    <p:animEffect transition="in" filter="fade">
                                      <p:cBhvr>
                                        <p:cTn id="58" dur="52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34" presetClass="entr" presetSubtype="0" fill="hold" grpId="0" nodeType="afterEffect">
                                  <p:stCondLst>
                                    <p:cond delay="122"/>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20" fill="hold"/>
                                        <p:tgtEl>
                                          <p:spTgt spid="19"/>
                                        </p:tgtEl>
                                        <p:attrNameLst>
                                          <p:attrName>ppt_y</p:attrName>
                                        </p:attrNameLst>
                                      </p:cBhvr>
                                      <p:tavLst>
                                        <p:tav tm="0">
                                          <p:val>
                                            <p:strVal val="#ppt_y+0.035"/>
                                          </p:val>
                                        </p:tav>
                                        <p:tav tm="100000">
                                          <p:val>
                                            <p:strVal val="#ppt_y"/>
                                          </p:val>
                                        </p:tav>
                                      </p:tavLst>
                                    </p:anim>
                                    <p:animEffect transition="in" filter="fade">
                                      <p:cBhvr>
                                        <p:cTn id="64" dur="520"/>
                                        <p:tgtEl>
                                          <p:spTgt spid="19"/>
                                        </p:tgtEl>
                                      </p:cBhvr>
                                    </p:animEffect>
                                  </p:childTnLst>
                                </p:cTn>
                              </p:par>
                              <p:par>
                                <p:cTn id="65" presetID="34"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20" fill="hold"/>
                                        <p:tgtEl>
                                          <p:spTgt spid="20"/>
                                        </p:tgtEl>
                                        <p:attrNameLst>
                                          <p:attrName>ppt_y</p:attrName>
                                        </p:attrNameLst>
                                      </p:cBhvr>
                                      <p:tavLst>
                                        <p:tav tm="0">
                                          <p:val>
                                            <p:strVal val="#ppt_y+0.035"/>
                                          </p:val>
                                        </p:tav>
                                        <p:tav tm="100000">
                                          <p:val>
                                            <p:strVal val="#ppt_y"/>
                                          </p:val>
                                        </p:tav>
                                      </p:tavLst>
                                    </p:anim>
                                    <p:animEffect transition="in" filter="fade">
                                      <p:cBhvr>
                                        <p:cTn id="68" dur="520"/>
                                        <p:tgtEl>
                                          <p:spTgt spid="20"/>
                                        </p:tgtEl>
                                      </p:cBhvr>
                                    </p:animEffect>
                                  </p:childTnLst>
                                </p:cTn>
                              </p:par>
                              <p:par>
                                <p:cTn id="69" presetID="34"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20" fill="hold"/>
                                        <p:tgtEl>
                                          <p:spTgt spid="21"/>
                                        </p:tgtEl>
                                        <p:attrNameLst>
                                          <p:attrName>ppt_y</p:attrName>
                                        </p:attrNameLst>
                                      </p:cBhvr>
                                      <p:tavLst>
                                        <p:tav tm="0">
                                          <p:val>
                                            <p:strVal val="#ppt_y+0.035"/>
                                          </p:val>
                                        </p:tav>
                                        <p:tav tm="100000">
                                          <p:val>
                                            <p:strVal val="#ppt_y"/>
                                          </p:val>
                                        </p:tav>
                                      </p:tavLst>
                                    </p:anim>
                                    <p:animEffect transition="in" filter="fade">
                                      <p:cBhvr>
                                        <p:cTn id="72" dur="52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34" presetClass="entr" presetSubtype="0" fill="hold" grpId="0" nodeType="afterEffect">
                                  <p:stCondLst>
                                    <p:cond delay="122"/>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20" fill="hold"/>
                                        <p:tgtEl>
                                          <p:spTgt spid="22"/>
                                        </p:tgtEl>
                                        <p:attrNameLst>
                                          <p:attrName>ppt_y</p:attrName>
                                        </p:attrNameLst>
                                      </p:cBhvr>
                                      <p:tavLst>
                                        <p:tav tm="0">
                                          <p:val>
                                            <p:strVal val="#ppt_y+0.035"/>
                                          </p:val>
                                        </p:tav>
                                        <p:tav tm="100000">
                                          <p:val>
                                            <p:strVal val="#ppt_y"/>
                                          </p:val>
                                        </p:tav>
                                      </p:tavLst>
                                    </p:anim>
                                    <p:animEffect transition="in" filter="fade">
                                      <p:cBhvr>
                                        <p:cTn id="78" dur="520"/>
                                        <p:tgtEl>
                                          <p:spTgt spid="22"/>
                                        </p:tgtEl>
                                      </p:cBhvr>
                                    </p:animEffect>
                                  </p:childTnLst>
                                </p:cTn>
                              </p:par>
                              <p:par>
                                <p:cTn id="79" presetID="34"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520" fill="hold"/>
                                        <p:tgtEl>
                                          <p:spTgt spid="23"/>
                                        </p:tgtEl>
                                        <p:attrNameLst>
                                          <p:attrName>ppt_y</p:attrName>
                                        </p:attrNameLst>
                                      </p:cBhvr>
                                      <p:tavLst>
                                        <p:tav tm="0">
                                          <p:val>
                                            <p:strVal val="#ppt_y+0.035"/>
                                          </p:val>
                                        </p:tav>
                                        <p:tav tm="100000">
                                          <p:val>
                                            <p:strVal val="#ppt_y"/>
                                          </p:val>
                                        </p:tav>
                                      </p:tavLst>
                                    </p:anim>
                                    <p:animEffect transition="in" filter="fade">
                                      <p:cBhvr>
                                        <p:cTn id="82" dur="520"/>
                                        <p:tgtEl>
                                          <p:spTgt spid="23"/>
                                        </p:tgtEl>
                                      </p:cBhvr>
                                    </p:animEffect>
                                  </p:childTnLst>
                                </p:cTn>
                              </p:par>
                              <p:par>
                                <p:cTn id="83" presetID="34"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additive="base">
                                        <p:cTn id="85" dur="520" fill="hold"/>
                                        <p:tgtEl>
                                          <p:spTgt spid="24"/>
                                        </p:tgtEl>
                                        <p:attrNameLst>
                                          <p:attrName>ppt_y</p:attrName>
                                        </p:attrNameLst>
                                      </p:cBhvr>
                                      <p:tavLst>
                                        <p:tav tm="0">
                                          <p:val>
                                            <p:strVal val="#ppt_y+0.035"/>
                                          </p:val>
                                        </p:tav>
                                        <p:tav tm="100000">
                                          <p:val>
                                            <p:strVal val="#ppt_y"/>
                                          </p:val>
                                        </p:tav>
                                      </p:tavLst>
                                    </p:anim>
                                    <p:animEffect transition="in" filter="fade">
                                      <p:cBhvr>
                                        <p:cTn id="86" dur="520"/>
                                        <p:tgtEl>
                                          <p:spTgt spid="24"/>
                                        </p:tgtEl>
                                      </p:cBhvr>
                                    </p:animEffect>
                                  </p:childTnLst>
                                </p:cTn>
                              </p:par>
                            </p:childTnLst>
                          </p:cTn>
                        </p:par>
                      </p:childTnLst>
                    </p:cTn>
                  </p:par>
                  <p:par>
                    <p:cTn id="87" fill="hold">
                      <p:stCondLst>
                        <p:cond delay="indefinite"/>
                      </p:stCondLst>
                      <p:childTnLst>
                        <p:par>
                          <p:cTn id="88" fill="hold">
                            <p:stCondLst>
                              <p:cond delay="0"/>
                            </p:stCondLst>
                            <p:childTnLst>
                              <p:par>
                                <p:cTn id="89" presetID="34" presetClass="entr" presetSubtype="0" fill="hold" grpId="0" nodeType="afterEffect">
                                  <p:stCondLst>
                                    <p:cond delay="122"/>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520" fill="hold"/>
                                        <p:tgtEl>
                                          <p:spTgt spid="25"/>
                                        </p:tgtEl>
                                        <p:attrNameLst>
                                          <p:attrName>ppt_y</p:attrName>
                                        </p:attrNameLst>
                                      </p:cBhvr>
                                      <p:tavLst>
                                        <p:tav tm="0">
                                          <p:val>
                                            <p:strVal val="#ppt_y+0.035"/>
                                          </p:val>
                                        </p:tav>
                                        <p:tav tm="100000">
                                          <p:val>
                                            <p:strVal val="#ppt_y"/>
                                          </p:val>
                                        </p:tav>
                                      </p:tavLst>
                                    </p:anim>
                                    <p:animEffect transition="in" filter="fade">
                                      <p:cBhvr>
                                        <p:cTn id="92" dur="520"/>
                                        <p:tgtEl>
                                          <p:spTgt spid="25"/>
                                        </p:tgtEl>
                                      </p:cBhvr>
                                    </p:animEffect>
                                  </p:childTnLst>
                                </p:cTn>
                              </p:par>
                              <p:par>
                                <p:cTn id="93" presetID="34" presetClass="entr" presetSubtype="0"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additive="base">
                                        <p:cTn id="95" dur="520" fill="hold"/>
                                        <p:tgtEl>
                                          <p:spTgt spid="26"/>
                                        </p:tgtEl>
                                        <p:attrNameLst>
                                          <p:attrName>ppt_y</p:attrName>
                                        </p:attrNameLst>
                                      </p:cBhvr>
                                      <p:tavLst>
                                        <p:tav tm="0">
                                          <p:val>
                                            <p:strVal val="#ppt_y+0.035"/>
                                          </p:val>
                                        </p:tav>
                                        <p:tav tm="100000">
                                          <p:val>
                                            <p:strVal val="#ppt_y"/>
                                          </p:val>
                                        </p:tav>
                                      </p:tavLst>
                                    </p:anim>
                                    <p:animEffect transition="in" filter="fade">
                                      <p:cBhvr>
                                        <p:cTn id="96" dur="520"/>
                                        <p:tgtEl>
                                          <p:spTgt spid="26"/>
                                        </p:tgtEl>
                                      </p:cBhvr>
                                    </p:animEffect>
                                  </p:childTnLst>
                                </p:cTn>
                              </p:par>
                              <p:par>
                                <p:cTn id="97" presetID="34" presetClass="entr" presetSubtype="0" fill="hold" grpId="0" nodeType="withEffect">
                                  <p:stCondLst>
                                    <p:cond delay="0"/>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520" fill="hold"/>
                                        <p:tgtEl>
                                          <p:spTgt spid="27"/>
                                        </p:tgtEl>
                                        <p:attrNameLst>
                                          <p:attrName>ppt_y</p:attrName>
                                        </p:attrNameLst>
                                      </p:cBhvr>
                                      <p:tavLst>
                                        <p:tav tm="0">
                                          <p:val>
                                            <p:strVal val="#ppt_y+0.035"/>
                                          </p:val>
                                        </p:tav>
                                        <p:tav tm="100000">
                                          <p:val>
                                            <p:strVal val="#ppt_y"/>
                                          </p:val>
                                        </p:tav>
                                      </p:tavLst>
                                    </p:anim>
                                    <p:animEffect transition="in" filter="fade">
                                      <p:cBhvr>
                                        <p:cTn id="100" dur="520"/>
                                        <p:tgtEl>
                                          <p:spTgt spid="27"/>
                                        </p:tgtEl>
                                      </p:cBhvr>
                                    </p:animEffect>
                                  </p:childTnLst>
                                </p:cTn>
                              </p:par>
                            </p:childTnLst>
                          </p:cTn>
                        </p:par>
                      </p:childTnLst>
                    </p:cTn>
                  </p:par>
                  <p:par>
                    <p:cTn id="101" fill="hold">
                      <p:stCondLst>
                        <p:cond delay="indefinite"/>
                      </p:stCondLst>
                      <p:childTnLst>
                        <p:par>
                          <p:cTn id="102" fill="hold">
                            <p:stCondLst>
                              <p:cond delay="0"/>
                            </p:stCondLst>
                            <p:childTnLst>
                              <p:par>
                                <p:cTn id="103" presetID="34" presetClass="entr" presetSubtype="0" fill="hold" grpId="0" nodeType="afterEffect">
                                  <p:stCondLst>
                                    <p:cond delay="122"/>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20" fill="hold"/>
                                        <p:tgtEl>
                                          <p:spTgt spid="28"/>
                                        </p:tgtEl>
                                        <p:attrNameLst>
                                          <p:attrName>ppt_y</p:attrName>
                                        </p:attrNameLst>
                                      </p:cBhvr>
                                      <p:tavLst>
                                        <p:tav tm="0">
                                          <p:val>
                                            <p:strVal val="#ppt_y+0.035"/>
                                          </p:val>
                                        </p:tav>
                                        <p:tav tm="100000">
                                          <p:val>
                                            <p:strVal val="#ppt_y"/>
                                          </p:val>
                                        </p:tav>
                                      </p:tavLst>
                                    </p:anim>
                                    <p:animEffect transition="in" filter="fade">
                                      <p:cBhvr>
                                        <p:cTn id="106" dur="520"/>
                                        <p:tgtEl>
                                          <p:spTgt spid="28"/>
                                        </p:tgtEl>
                                      </p:cBhvr>
                                    </p:animEffect>
                                  </p:childTnLst>
                                </p:cTn>
                              </p:par>
                              <p:par>
                                <p:cTn id="107" presetID="34" presetClass="entr" presetSubtype="0" fill="hold" grpId="0" nodeType="withEffect">
                                  <p:stCondLst>
                                    <p:cond delay="0"/>
                                  </p:stCondLst>
                                  <p:childTnLst>
                                    <p:set>
                                      <p:cBhvr>
                                        <p:cTn id="108" dur="1" fill="hold">
                                          <p:stCondLst>
                                            <p:cond delay="0"/>
                                          </p:stCondLst>
                                        </p:cTn>
                                        <p:tgtEl>
                                          <p:spTgt spid="29"/>
                                        </p:tgtEl>
                                        <p:attrNameLst>
                                          <p:attrName>style.visibility</p:attrName>
                                        </p:attrNameLst>
                                      </p:cBhvr>
                                      <p:to>
                                        <p:strVal val="visible"/>
                                      </p:to>
                                    </p:set>
                                    <p:anim calcmode="lin" valueType="num">
                                      <p:cBhvr additive="base">
                                        <p:cTn id="109" dur="520" fill="hold"/>
                                        <p:tgtEl>
                                          <p:spTgt spid="29"/>
                                        </p:tgtEl>
                                        <p:attrNameLst>
                                          <p:attrName>ppt_y</p:attrName>
                                        </p:attrNameLst>
                                      </p:cBhvr>
                                      <p:tavLst>
                                        <p:tav tm="0">
                                          <p:val>
                                            <p:strVal val="#ppt_y+0.035"/>
                                          </p:val>
                                        </p:tav>
                                        <p:tav tm="100000">
                                          <p:val>
                                            <p:strVal val="#ppt_y"/>
                                          </p:val>
                                        </p:tav>
                                      </p:tavLst>
                                    </p:anim>
                                    <p:animEffect transition="in" filter="fade">
                                      <p:cBhvr>
                                        <p:cTn id="110" dur="520"/>
                                        <p:tgtEl>
                                          <p:spTgt spid="29"/>
                                        </p:tgtEl>
                                      </p:cBhvr>
                                    </p:animEffect>
                                  </p:childTnLst>
                                </p:cTn>
                              </p:par>
                              <p:par>
                                <p:cTn id="111" presetID="34" presetClass="entr" presetSubtype="0" fill="hold" grpId="0" nodeType="withEffect">
                                  <p:stCondLst>
                                    <p:cond delay="0"/>
                                  </p:stCondLst>
                                  <p:childTnLst>
                                    <p:set>
                                      <p:cBhvr>
                                        <p:cTn id="112" dur="1" fill="hold">
                                          <p:stCondLst>
                                            <p:cond delay="0"/>
                                          </p:stCondLst>
                                        </p:cTn>
                                        <p:tgtEl>
                                          <p:spTgt spid="30"/>
                                        </p:tgtEl>
                                        <p:attrNameLst>
                                          <p:attrName>style.visibility</p:attrName>
                                        </p:attrNameLst>
                                      </p:cBhvr>
                                      <p:to>
                                        <p:strVal val="visible"/>
                                      </p:to>
                                    </p:set>
                                    <p:anim calcmode="lin" valueType="num">
                                      <p:cBhvr additive="base">
                                        <p:cTn id="113" dur="520" fill="hold"/>
                                        <p:tgtEl>
                                          <p:spTgt spid="30"/>
                                        </p:tgtEl>
                                        <p:attrNameLst>
                                          <p:attrName>ppt_y</p:attrName>
                                        </p:attrNameLst>
                                      </p:cBhvr>
                                      <p:tavLst>
                                        <p:tav tm="0">
                                          <p:val>
                                            <p:strVal val="#ppt_y+0.035"/>
                                          </p:val>
                                        </p:tav>
                                        <p:tav tm="100000">
                                          <p:val>
                                            <p:strVal val="#ppt_y"/>
                                          </p:val>
                                        </p:tav>
                                      </p:tavLst>
                                    </p:anim>
                                    <p:animEffect transition="in" filter="fade">
                                      <p:cBhvr>
                                        <p:cTn id="114" dur="520"/>
                                        <p:tgtEl>
                                          <p:spTgt spid="30"/>
                                        </p:tgtEl>
                                      </p:cBhvr>
                                    </p:animEffect>
                                  </p:childTnLst>
                                </p:cTn>
                              </p:par>
                            </p:childTnLst>
                          </p:cTn>
                        </p:par>
                      </p:childTnLst>
                    </p:cTn>
                  </p:par>
                  <p:par>
                    <p:cTn id="115" fill="hold">
                      <p:stCondLst>
                        <p:cond delay="indefinite"/>
                      </p:stCondLst>
                      <p:childTnLst>
                        <p:par>
                          <p:cTn id="116" fill="hold">
                            <p:stCondLst>
                              <p:cond delay="0"/>
                            </p:stCondLst>
                            <p:childTnLst>
                              <p:par>
                                <p:cTn id="117" presetID="34" presetClass="entr" presetSubtype="0" fill="hold" grpId="0" nodeType="afterEffect">
                                  <p:stCondLst>
                                    <p:cond delay="122"/>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20" fill="hold"/>
                                        <p:tgtEl>
                                          <p:spTgt spid="31"/>
                                        </p:tgtEl>
                                        <p:attrNameLst>
                                          <p:attrName>ppt_y</p:attrName>
                                        </p:attrNameLst>
                                      </p:cBhvr>
                                      <p:tavLst>
                                        <p:tav tm="0">
                                          <p:val>
                                            <p:strVal val="#ppt_y+0.035"/>
                                          </p:val>
                                        </p:tav>
                                        <p:tav tm="100000">
                                          <p:val>
                                            <p:strVal val="#ppt_y"/>
                                          </p:val>
                                        </p:tav>
                                      </p:tavLst>
                                    </p:anim>
                                    <p:animEffect transition="in" filter="fade">
                                      <p:cBhvr>
                                        <p:cTn id="120" dur="520"/>
                                        <p:tgtEl>
                                          <p:spTgt spid="31"/>
                                        </p:tgtEl>
                                      </p:cBhvr>
                                    </p:animEffect>
                                  </p:childTnLst>
                                </p:cTn>
                              </p:par>
                              <p:par>
                                <p:cTn id="121" presetID="34" presetClass="entr" presetSubtype="0" fill="hold" grpId="0" nodeType="withEffect">
                                  <p:stCondLst>
                                    <p:cond delay="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520" fill="hold"/>
                                        <p:tgtEl>
                                          <p:spTgt spid="32"/>
                                        </p:tgtEl>
                                        <p:attrNameLst>
                                          <p:attrName>ppt_y</p:attrName>
                                        </p:attrNameLst>
                                      </p:cBhvr>
                                      <p:tavLst>
                                        <p:tav tm="0">
                                          <p:val>
                                            <p:strVal val="#ppt_y+0.035"/>
                                          </p:val>
                                        </p:tav>
                                        <p:tav tm="100000">
                                          <p:val>
                                            <p:strVal val="#ppt_y"/>
                                          </p:val>
                                        </p:tav>
                                      </p:tavLst>
                                    </p:anim>
                                    <p:animEffect transition="in" filter="fade">
                                      <p:cBhvr>
                                        <p:cTn id="124" dur="520"/>
                                        <p:tgtEl>
                                          <p:spTgt spid="32"/>
                                        </p:tgtEl>
                                      </p:cBhvr>
                                    </p:animEffect>
                                  </p:childTnLst>
                                </p:cTn>
                              </p:par>
                              <p:par>
                                <p:cTn id="125" presetID="34" presetClass="entr" presetSubtype="0" fill="hold" grpId="0" nodeType="withEffect">
                                  <p:stCondLst>
                                    <p:cond delay="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20" fill="hold"/>
                                        <p:tgtEl>
                                          <p:spTgt spid="33"/>
                                        </p:tgtEl>
                                        <p:attrNameLst>
                                          <p:attrName>ppt_y</p:attrName>
                                        </p:attrNameLst>
                                      </p:cBhvr>
                                      <p:tavLst>
                                        <p:tav tm="0">
                                          <p:val>
                                            <p:strVal val="#ppt_y+0.035"/>
                                          </p:val>
                                        </p:tav>
                                        <p:tav tm="100000">
                                          <p:val>
                                            <p:strVal val="#ppt_y"/>
                                          </p:val>
                                        </p:tav>
                                      </p:tavLst>
                                    </p:anim>
                                    <p:animEffect transition="in" filter="fade">
                                      <p:cBhvr>
                                        <p:cTn id="128" dur="5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3.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gradFill rotWithShape="1">
            <a:gsLst>
              <a:gs pos="0">
                <a:srgbClr val="0E1B2C"/>
              </a:gs>
              <a:gs pos="60000">
                <a:srgbClr val="16283F"/>
              </a:gs>
              <a:gs pos="100000">
                <a:srgbClr val="0B2A3A"/>
              </a:gs>
            </a:gsLst>
            <a:lin ang="3000000" scaled="0"/>
          </a:gradFill>
          <a:ln/>
        </p:spPr>
      </p:sp>
      <p:sp>
        <p:nvSpPr>
          <p:cNvPr id="3" name="Text 1"/>
          <p:cNvSpPr/>
          <p:nvPr/>
        </p:nvSpPr>
        <p:spPr>
          <a:xfrm>
            <a:off x="822960" y="1833189"/>
            <a:ext cx="10545775" cy="292608"/>
          </a:xfrm>
          <a:prstGeom prst="rect">
            <a:avLst/>
          </a:prstGeom>
          <a:noFill/>
          <a:ln/>
        </p:spPr>
        <p:txBody>
          <a:bodyPr wrap="square" rtlCol="0" anchor="b"/>
          <a:lstStyle/>
          <a:p>
            <a:pPr indent="0" marL="0">
              <a:buNone/>
            </a:pPr>
            <a:r>
              <a:rPr lang="en-US" sz="1200" b="1" spc="300" kern="0" dirty="0">
                <a:solidFill>
                  <a:srgbClr val="BBC9D6"/>
                </a:solidFill>
                <a:latin typeface="Consolas" pitchFamily="34" charset="0"/>
                <a:ea typeface="Consolas" pitchFamily="34" charset="-122"/>
                <a:cs typeface="Consolas" pitchFamily="34" charset="-120"/>
              </a:rPr>
              <a:t>CHAPTER 2 — DEEP LEARNING METHODS</a:t>
            </a:r>
            <a:endParaRPr lang="en-US" sz="1200" dirty="0"/>
          </a:p>
        </p:txBody>
      </p:sp>
      <p:sp>
        <p:nvSpPr>
          <p:cNvPr id="4" name="Text 2"/>
          <p:cNvSpPr/>
          <p:nvPr/>
        </p:nvSpPr>
        <p:spPr>
          <a:xfrm>
            <a:off x="822960" y="2217237"/>
            <a:ext cx="9692640" cy="1170432"/>
          </a:xfrm>
          <a:prstGeom prst="rect">
            <a:avLst/>
          </a:prstGeom>
          <a:noFill/>
          <a:ln/>
        </p:spPr>
        <p:txBody>
          <a:bodyPr wrap="square" rtlCol="0" anchor="t"/>
          <a:lstStyle/>
          <a:p>
            <a:pPr indent="0" marL="0">
              <a:lnSpc>
                <a:spcPts val="4176"/>
              </a:lnSpc>
              <a:buNone/>
            </a:pPr>
            <a:r>
              <a:rPr lang="en-US" sz="3600" b="1" dirty="0">
                <a:solidFill>
                  <a:srgbClr val="FFFFFF"/>
                </a:solidFill>
                <a:latin typeface="Segoe UI" pitchFamily="34" charset="0"/>
                <a:ea typeface="Segoe UI" pitchFamily="34" charset="-122"/>
                <a:cs typeface="Segoe UI" pitchFamily="34" charset="-120"/>
              </a:rPr>
              <a:t>The families considered, and the model we built</a:t>
            </a:r>
            <a:endParaRPr lang="en-US" sz="3600" dirty="0"/>
          </a:p>
        </p:txBody>
      </p:sp>
      <p:sp>
        <p:nvSpPr>
          <p:cNvPr id="5" name="Text 3"/>
          <p:cNvSpPr/>
          <p:nvPr/>
        </p:nvSpPr>
        <p:spPr>
          <a:xfrm>
            <a:off x="822960" y="3625413"/>
            <a:ext cx="8961120" cy="701040"/>
          </a:xfrm>
          <a:prstGeom prst="rect">
            <a:avLst/>
          </a:prstGeom>
          <a:noFill/>
          <a:ln/>
        </p:spPr>
        <p:txBody>
          <a:bodyPr wrap="square" rtlCol="0" anchor="t"/>
          <a:lstStyle/>
          <a:p>
            <a:pPr indent="0" marL="0">
              <a:lnSpc>
                <a:spcPts val="2400"/>
              </a:lnSpc>
              <a:buNone/>
            </a:pPr>
            <a:r>
              <a:rPr lang="en-US" sz="1600" dirty="0">
                <a:solidFill>
                  <a:srgbClr val="DCE6EE"/>
                </a:solidFill>
                <a:latin typeface="Segoe UI" pitchFamily="34" charset="0"/>
                <a:ea typeface="Segoe UI" pitchFamily="34" charset="-122"/>
                <a:cs typeface="Segoe UI" pitchFamily="34" charset="-120"/>
              </a:rPr>
              <a:t>Three frozen backbones, a classifier small enough to read on one screen, and the reason it is that way round.</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7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20" fill="hold"/>
                                        <p:tgtEl>
                                          <p:spTgt spid="3"/>
                                        </p:tgtEl>
                                        <p:attrNameLst>
                                          <p:attrName>ppt_y</p:attrName>
                                        </p:attrNameLst>
                                      </p:cBhvr>
                                      <p:tavLst>
                                        <p:tav tm="0">
                                          <p:val>
                                            <p:strVal val="#ppt_y+0.035"/>
                                          </p:val>
                                        </p:tav>
                                        <p:tav tm="100000">
                                          <p:val>
                                            <p:strVal val="#ppt_y"/>
                                          </p:val>
                                        </p:tav>
                                      </p:tavLst>
                                    </p:anim>
                                    <p:animEffect transition="in" filter="fade">
                                      <p:cBhvr>
                                        <p:cTn id="8" dur="52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367"/>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20" fill="hold"/>
                                        <p:tgtEl>
                                          <p:spTgt spid="4"/>
                                        </p:tgtEl>
                                        <p:attrNameLst>
                                          <p:attrName>ppt_y</p:attrName>
                                        </p:attrNameLst>
                                      </p:cBhvr>
                                      <p:tavLst>
                                        <p:tav tm="0">
                                          <p:val>
                                            <p:strVal val="#ppt_y+0.035"/>
                                          </p:val>
                                        </p:tav>
                                        <p:tav tm="100000">
                                          <p:val>
                                            <p:strVal val="#ppt_y"/>
                                          </p:val>
                                        </p:tav>
                                      </p:tavLst>
                                    </p:anim>
                                    <p:animEffect transition="in" filter="fade">
                                      <p:cBhvr>
                                        <p:cTn id="14" dur="52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grpId="0" nodeType="afterEffect">
                                  <p:stCondLst>
                                    <p:cond delay="367"/>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20" fill="hold"/>
                                        <p:tgtEl>
                                          <p:spTgt spid="5"/>
                                        </p:tgtEl>
                                        <p:attrNameLst>
                                          <p:attrName>ppt_y</p:attrName>
                                        </p:attrNameLst>
                                      </p:cBhvr>
                                      <p:tavLst>
                                        <p:tav tm="0">
                                          <p:val>
                                            <p:strVal val="#ppt_y+0.035"/>
                                          </p:val>
                                        </p:tav>
                                        <p:tav tm="100000">
                                          <p:val>
                                            <p:strVal val="#ppt_y"/>
                                          </p:val>
                                        </p:tav>
                                      </p:tavLst>
                                    </p:anim>
                                    <p:animEffect transition="in" filter="fade">
                                      <p:cBhvr>
                                        <p:cTn id="20" dur="5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4.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2 — DEEP LEARNING METHODS</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We considered four main AI models</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0D6D78"/>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9</a:t>
            </a:r>
            <a:endParaRPr lang="en-US" sz="1000" dirty="0"/>
          </a:p>
        </p:txBody>
      </p:sp>
      <p:sp>
        <p:nvSpPr>
          <p:cNvPr id="7" name="Shape 5"/>
          <p:cNvSpPr/>
          <p:nvPr/>
        </p:nvSpPr>
        <p:spPr>
          <a:xfrm>
            <a:off x="502920" y="2709733"/>
            <a:ext cx="2673020" cy="1155192"/>
          </a:xfrm>
          <a:prstGeom prst="roundRect">
            <a:avLst>
              <a:gd name="adj" fmla="val 7916"/>
            </a:avLst>
          </a:prstGeom>
          <a:solidFill>
            <a:srgbClr val="17B978"/>
          </a:solidFill>
          <a:ln/>
        </p:spPr>
      </p:sp>
      <p:sp>
        <p:nvSpPr>
          <p:cNvPr id="8" name="Shape 6"/>
          <p:cNvSpPr/>
          <p:nvPr/>
        </p:nvSpPr>
        <p:spPr>
          <a:xfrm>
            <a:off x="566928" y="2709733"/>
            <a:ext cx="2609012" cy="1155192"/>
          </a:xfrm>
          <a:prstGeom prst="roundRect">
            <a:avLst>
              <a:gd name="adj" fmla="val 7916"/>
            </a:avLst>
          </a:prstGeom>
          <a:solidFill>
            <a:srgbClr val="FFFFFF"/>
          </a:solidFill>
          <a:ln w="9525">
            <a:solidFill>
              <a:srgbClr val="DDE4E2"/>
            </a:solidFill>
            <a:prstDash val="solid"/>
          </a:ln>
        </p:spPr>
      </p:sp>
      <p:sp>
        <p:nvSpPr>
          <p:cNvPr id="9" name="Text 7"/>
          <p:cNvSpPr/>
          <p:nvPr/>
        </p:nvSpPr>
        <p:spPr>
          <a:xfrm>
            <a:off x="758952" y="2846893"/>
            <a:ext cx="2215820" cy="880872"/>
          </a:xfrm>
          <a:prstGeom prst="rect">
            <a:avLst/>
          </a:prstGeom>
          <a:noFill/>
          <a:ln/>
        </p:spPr>
        <p:txBody>
          <a:bodyPr wrap="square" rtlCol="0" anchor="t"/>
          <a:lstStyle/>
          <a:p>
            <a:pPr indent="0" marL="0">
              <a:lnSpc>
                <a:spcPts val="1540"/>
              </a:lnSpc>
              <a:spcBef>
                <a:spcPts val="400"/>
              </a:spcBef>
              <a:buNone/>
            </a:pPr>
            <a:r>
              <a:rPr lang="en-US" sz="1300" b="1" dirty="0">
                <a:solidFill>
                  <a:srgbClr val="111817"/>
                </a:solidFill>
                <a:latin typeface="Segoe UI" pitchFamily="34" charset="0"/>
                <a:ea typeface="Segoe UI" pitchFamily="34" charset="-122"/>
                <a:cs typeface="Segoe UI" pitchFamily="34" charset="-120"/>
              </a:rPr>
              <a:t>Convolutional networks</a:t>
            </a:r>
            <a:endParaRPr lang="en-US" sz="1300" dirty="0"/>
          </a:p>
          <a:p>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ConvNeXtV2 — a modern CNN, supervised and masked-autoencoder pretraining on ImageNet-22k.</a:t>
            </a:r>
            <a:endParaRPr lang="en-US" sz="1300" dirty="0"/>
          </a:p>
        </p:txBody>
      </p:sp>
      <p:sp>
        <p:nvSpPr>
          <p:cNvPr id="10" name="Shape 8"/>
          <p:cNvSpPr/>
          <p:nvPr/>
        </p:nvSpPr>
        <p:spPr>
          <a:xfrm>
            <a:off x="3340532" y="2709733"/>
            <a:ext cx="2673020" cy="1155192"/>
          </a:xfrm>
          <a:prstGeom prst="roundRect">
            <a:avLst>
              <a:gd name="adj" fmla="val 7916"/>
            </a:avLst>
          </a:prstGeom>
          <a:solidFill>
            <a:srgbClr val="3FA7E0"/>
          </a:solidFill>
          <a:ln/>
        </p:spPr>
      </p:sp>
      <p:sp>
        <p:nvSpPr>
          <p:cNvPr id="11" name="Shape 9"/>
          <p:cNvSpPr/>
          <p:nvPr/>
        </p:nvSpPr>
        <p:spPr>
          <a:xfrm>
            <a:off x="3404540" y="2709733"/>
            <a:ext cx="2609012" cy="1155192"/>
          </a:xfrm>
          <a:prstGeom prst="roundRect">
            <a:avLst>
              <a:gd name="adj" fmla="val 7916"/>
            </a:avLst>
          </a:prstGeom>
          <a:solidFill>
            <a:srgbClr val="FFFFFF"/>
          </a:solidFill>
          <a:ln w="9525">
            <a:solidFill>
              <a:srgbClr val="DDE4E2"/>
            </a:solidFill>
            <a:prstDash val="solid"/>
          </a:ln>
        </p:spPr>
      </p:sp>
      <p:sp>
        <p:nvSpPr>
          <p:cNvPr id="12" name="Text 10"/>
          <p:cNvSpPr/>
          <p:nvPr/>
        </p:nvSpPr>
        <p:spPr>
          <a:xfrm>
            <a:off x="3596564" y="2846893"/>
            <a:ext cx="2215820" cy="880872"/>
          </a:xfrm>
          <a:prstGeom prst="rect">
            <a:avLst/>
          </a:prstGeom>
          <a:noFill/>
          <a:ln/>
        </p:spPr>
        <p:txBody>
          <a:bodyPr wrap="square" rtlCol="0" anchor="t"/>
          <a:lstStyle/>
          <a:p>
            <a:pPr indent="0" marL="0">
              <a:lnSpc>
                <a:spcPts val="1540"/>
              </a:lnSpc>
              <a:spcBef>
                <a:spcPts val="400"/>
              </a:spcBef>
              <a:buNone/>
            </a:pPr>
            <a:r>
              <a:rPr lang="en-US" sz="1300" b="1" dirty="0">
                <a:solidFill>
                  <a:srgbClr val="111817"/>
                </a:solidFill>
                <a:latin typeface="Segoe UI" pitchFamily="34" charset="0"/>
                <a:ea typeface="Segoe UI" pitchFamily="34" charset="-122"/>
                <a:cs typeface="Segoe UI" pitchFamily="34" charset="-120"/>
              </a:rPr>
              <a:t>Vision transformers</a:t>
            </a:r>
            <a:endParaRPr lang="en-US" sz="1300" dirty="0"/>
          </a:p>
          <a:p>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ViT-Base — supervised ImageNet-21k, fine-tuned to 1k.</a:t>
            </a:r>
            <a:endParaRPr lang="en-US" sz="1300" dirty="0"/>
          </a:p>
        </p:txBody>
      </p:sp>
      <p:sp>
        <p:nvSpPr>
          <p:cNvPr id="13" name="Shape 11"/>
          <p:cNvSpPr/>
          <p:nvPr/>
        </p:nvSpPr>
        <p:spPr>
          <a:xfrm>
            <a:off x="6178144" y="2709733"/>
            <a:ext cx="2673020" cy="1155192"/>
          </a:xfrm>
          <a:prstGeom prst="roundRect">
            <a:avLst>
              <a:gd name="adj" fmla="val 7916"/>
            </a:avLst>
          </a:prstGeom>
          <a:solidFill>
            <a:srgbClr val="F5A524"/>
          </a:solidFill>
          <a:ln/>
        </p:spPr>
      </p:sp>
      <p:sp>
        <p:nvSpPr>
          <p:cNvPr id="14" name="Shape 12"/>
          <p:cNvSpPr/>
          <p:nvPr/>
        </p:nvSpPr>
        <p:spPr>
          <a:xfrm>
            <a:off x="6242152" y="2709733"/>
            <a:ext cx="2609012" cy="1155192"/>
          </a:xfrm>
          <a:prstGeom prst="roundRect">
            <a:avLst>
              <a:gd name="adj" fmla="val 7916"/>
            </a:avLst>
          </a:prstGeom>
          <a:solidFill>
            <a:srgbClr val="FFFFFF"/>
          </a:solidFill>
          <a:ln w="9525">
            <a:solidFill>
              <a:srgbClr val="DDE4E2"/>
            </a:solidFill>
            <a:prstDash val="solid"/>
          </a:ln>
        </p:spPr>
      </p:sp>
      <p:sp>
        <p:nvSpPr>
          <p:cNvPr id="15" name="Text 13"/>
          <p:cNvSpPr/>
          <p:nvPr/>
        </p:nvSpPr>
        <p:spPr>
          <a:xfrm>
            <a:off x="6434176" y="2846893"/>
            <a:ext cx="2215820" cy="880872"/>
          </a:xfrm>
          <a:prstGeom prst="rect">
            <a:avLst/>
          </a:prstGeom>
          <a:noFill/>
          <a:ln/>
        </p:spPr>
        <p:txBody>
          <a:bodyPr wrap="square" rtlCol="0" anchor="t"/>
          <a:lstStyle/>
          <a:p>
            <a:pPr indent="0" marL="0">
              <a:lnSpc>
                <a:spcPts val="1540"/>
              </a:lnSpc>
              <a:spcBef>
                <a:spcPts val="400"/>
              </a:spcBef>
              <a:buNone/>
            </a:pPr>
            <a:r>
              <a:rPr lang="en-US" sz="1300" b="1" dirty="0">
                <a:solidFill>
                  <a:srgbClr val="111817"/>
                </a:solidFill>
                <a:latin typeface="Segoe UI" pitchFamily="34" charset="0"/>
                <a:ea typeface="Segoe UI" pitchFamily="34" charset="-122"/>
                <a:cs typeface="Segoe UI" pitchFamily="34" charset="-120"/>
              </a:rPr>
              <a:t>Self-supervised transformers</a:t>
            </a:r>
            <a:endParaRPr lang="en-US" sz="1300" dirty="0"/>
          </a:p>
          <a:p>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DINOv2 — self-supervised on LVD-142M, no labels at all.</a:t>
            </a:r>
            <a:endParaRPr lang="en-US" sz="1300" dirty="0"/>
          </a:p>
        </p:txBody>
      </p:sp>
      <p:sp>
        <p:nvSpPr>
          <p:cNvPr id="16" name="Shape 14"/>
          <p:cNvSpPr/>
          <p:nvPr/>
        </p:nvSpPr>
        <p:spPr>
          <a:xfrm>
            <a:off x="9015755" y="2709733"/>
            <a:ext cx="2673020" cy="1155192"/>
          </a:xfrm>
          <a:prstGeom prst="roundRect">
            <a:avLst>
              <a:gd name="adj" fmla="val 7916"/>
            </a:avLst>
          </a:prstGeom>
          <a:solidFill>
            <a:srgbClr val="EF4F6B"/>
          </a:solidFill>
          <a:ln/>
        </p:spPr>
      </p:sp>
      <p:sp>
        <p:nvSpPr>
          <p:cNvPr id="17" name="Shape 15"/>
          <p:cNvSpPr/>
          <p:nvPr/>
        </p:nvSpPr>
        <p:spPr>
          <a:xfrm>
            <a:off x="9079763" y="2709733"/>
            <a:ext cx="2609012" cy="1155192"/>
          </a:xfrm>
          <a:prstGeom prst="roundRect">
            <a:avLst>
              <a:gd name="adj" fmla="val 7916"/>
            </a:avLst>
          </a:prstGeom>
          <a:solidFill>
            <a:srgbClr val="FFFFFF"/>
          </a:solidFill>
          <a:ln w="9525">
            <a:solidFill>
              <a:srgbClr val="DDE4E2"/>
            </a:solidFill>
            <a:prstDash val="solid"/>
          </a:ln>
        </p:spPr>
      </p:sp>
      <p:sp>
        <p:nvSpPr>
          <p:cNvPr id="18" name="Text 16"/>
          <p:cNvSpPr/>
          <p:nvPr/>
        </p:nvSpPr>
        <p:spPr>
          <a:xfrm>
            <a:off x="9271787" y="2846893"/>
            <a:ext cx="2215820" cy="880872"/>
          </a:xfrm>
          <a:prstGeom prst="rect">
            <a:avLst/>
          </a:prstGeom>
          <a:noFill/>
          <a:ln/>
        </p:spPr>
        <p:txBody>
          <a:bodyPr wrap="square" rtlCol="0" anchor="t"/>
          <a:lstStyle/>
          <a:p>
            <a:pPr indent="0" marL="0">
              <a:lnSpc>
                <a:spcPts val="1540"/>
              </a:lnSpc>
              <a:spcBef>
                <a:spcPts val="400"/>
              </a:spcBef>
              <a:buNone/>
            </a:pPr>
            <a:r>
              <a:rPr lang="en-US" sz="1300" b="1" dirty="0">
                <a:solidFill>
                  <a:srgbClr val="111817"/>
                </a:solidFill>
                <a:latin typeface="Segoe UI" pitchFamily="34" charset="0"/>
                <a:ea typeface="Segoe UI" pitchFamily="34" charset="-122"/>
                <a:cs typeface="Segoe UI" pitchFamily="34" charset="-120"/>
              </a:rPr>
              <a:t>Vision-language models</a:t>
            </a:r>
            <a:endParaRPr lang="en-US" sz="1300" dirty="0"/>
          </a:p>
          <a:p>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CLIP / OpenCLIP / SigLIP, used </a:t>
            </a:r>
            <a:pPr indent="0" marL="0">
              <a:lnSpc>
                <a:spcPts val="1540"/>
              </a:lnSpc>
              <a:spcBef>
                <a:spcPts val="400"/>
              </a:spcBef>
              <a:buNone/>
            </a:pPr>
            <a:r>
              <a:rPr lang="en-US" sz="1100" b="1" dirty="0">
                <a:solidFill>
                  <a:srgbClr val="4B5A58"/>
                </a:solidFill>
                <a:latin typeface="Segoe UI" pitchFamily="34" charset="0"/>
                <a:ea typeface="Segoe UI" pitchFamily="34" charset="-122"/>
                <a:cs typeface="Segoe UI" pitchFamily="34" charset="-120"/>
              </a:rPr>
              <a:t>zero-shot</a:t>
            </a:r>
            <a:pPr indent="0" marL="0">
              <a:lnSpc>
                <a:spcPts val="1540"/>
              </a:lnSpc>
              <a:spcBef>
                <a:spcPts val="400"/>
              </a:spcBef>
              <a:buNone/>
            </a:pPr>
            <a:r>
              <a:rPr lang="en-US" sz="1100" dirty="0">
                <a:solidFill>
                  <a:srgbClr val="4B5A58"/>
                </a:solidFill>
                <a:latin typeface="Segoe UI" pitchFamily="34" charset="0"/>
                <a:ea typeface="Segoe UI" pitchFamily="34" charset="-122"/>
                <a:cs typeface="Segoe UI" pitchFamily="34" charset="-120"/>
              </a:rPr>
              <a:t> with written class descriptions.</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20" fill="hold"/>
                                        <p:tgtEl>
                                          <p:spTgt spid="9"/>
                                        </p:tgtEl>
                                        <p:attrNameLst>
                                          <p:attrName>ppt_y</p:attrName>
                                        </p:attrNameLst>
                                      </p:cBhvr>
                                      <p:tavLst>
                                        <p:tav tm="0">
                                          <p:val>
                                            <p:strVal val="#ppt_y+0.035"/>
                                          </p:val>
                                        </p:tav>
                                        <p:tav tm="100000">
                                          <p:val>
                                            <p:strVal val="#ppt_y"/>
                                          </p:val>
                                        </p:tav>
                                      </p:tavLst>
                                    </p:anim>
                                    <p:animEffect transition="in" filter="fade">
                                      <p:cBhvr>
                                        <p:cTn id="16" dur="52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4" presetClass="entr" presetSubtype="0" fill="hold" grpId="0" nodeType="afterEffect">
                                  <p:stCondLst>
                                    <p:cond delay="275"/>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20" fill="hold"/>
                                        <p:tgtEl>
                                          <p:spTgt spid="10"/>
                                        </p:tgtEl>
                                        <p:attrNameLst>
                                          <p:attrName>ppt_y</p:attrName>
                                        </p:attrNameLst>
                                      </p:cBhvr>
                                      <p:tavLst>
                                        <p:tav tm="0">
                                          <p:val>
                                            <p:strVal val="#ppt_y+0.035"/>
                                          </p:val>
                                        </p:tav>
                                        <p:tav tm="100000">
                                          <p:val>
                                            <p:strVal val="#ppt_y"/>
                                          </p:val>
                                        </p:tav>
                                      </p:tavLst>
                                    </p:anim>
                                    <p:animEffect transition="in" filter="fade">
                                      <p:cBhvr>
                                        <p:cTn id="22" dur="520"/>
                                        <p:tgtEl>
                                          <p:spTgt spid="10"/>
                                        </p:tgtEl>
                                      </p:cBhvr>
                                    </p:animEffect>
                                  </p:childTnLst>
                                </p:cTn>
                              </p:par>
                              <p:par>
                                <p:cTn id="23" presetID="34"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20" fill="hold"/>
                                        <p:tgtEl>
                                          <p:spTgt spid="11"/>
                                        </p:tgtEl>
                                        <p:attrNameLst>
                                          <p:attrName>ppt_y</p:attrName>
                                        </p:attrNameLst>
                                      </p:cBhvr>
                                      <p:tavLst>
                                        <p:tav tm="0">
                                          <p:val>
                                            <p:strVal val="#ppt_y+0.035"/>
                                          </p:val>
                                        </p:tav>
                                        <p:tav tm="100000">
                                          <p:val>
                                            <p:strVal val="#ppt_y"/>
                                          </p:val>
                                        </p:tav>
                                      </p:tavLst>
                                    </p:anim>
                                    <p:animEffect transition="in" filter="fade">
                                      <p:cBhvr>
                                        <p:cTn id="26" dur="520"/>
                                        <p:tgtEl>
                                          <p:spTgt spid="11"/>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20" fill="hold"/>
                                        <p:tgtEl>
                                          <p:spTgt spid="12"/>
                                        </p:tgtEl>
                                        <p:attrNameLst>
                                          <p:attrName>ppt_y</p:attrName>
                                        </p:attrNameLst>
                                      </p:cBhvr>
                                      <p:tavLst>
                                        <p:tav tm="0">
                                          <p:val>
                                            <p:strVal val="#ppt_y+0.035"/>
                                          </p:val>
                                        </p:tav>
                                        <p:tav tm="100000">
                                          <p:val>
                                            <p:strVal val="#ppt_y"/>
                                          </p:val>
                                        </p:tav>
                                      </p:tavLst>
                                    </p:anim>
                                    <p:animEffect transition="in" filter="fade">
                                      <p:cBhvr>
                                        <p:cTn id="30" dur="52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34" presetClass="entr" presetSubtype="0" fill="hold" grpId="0" nodeType="afterEffect">
                                  <p:stCondLst>
                                    <p:cond delay="275"/>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20" fill="hold"/>
                                        <p:tgtEl>
                                          <p:spTgt spid="13"/>
                                        </p:tgtEl>
                                        <p:attrNameLst>
                                          <p:attrName>ppt_y</p:attrName>
                                        </p:attrNameLst>
                                      </p:cBhvr>
                                      <p:tavLst>
                                        <p:tav tm="0">
                                          <p:val>
                                            <p:strVal val="#ppt_y+0.035"/>
                                          </p:val>
                                        </p:tav>
                                        <p:tav tm="100000">
                                          <p:val>
                                            <p:strVal val="#ppt_y"/>
                                          </p:val>
                                        </p:tav>
                                      </p:tavLst>
                                    </p:anim>
                                    <p:animEffect transition="in" filter="fade">
                                      <p:cBhvr>
                                        <p:cTn id="36" dur="520"/>
                                        <p:tgtEl>
                                          <p:spTgt spid="13"/>
                                        </p:tgtEl>
                                      </p:cBhvr>
                                    </p:animEffect>
                                  </p:childTnLst>
                                </p:cTn>
                              </p:par>
                              <p:par>
                                <p:cTn id="37" presetID="34"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20" fill="hold"/>
                                        <p:tgtEl>
                                          <p:spTgt spid="14"/>
                                        </p:tgtEl>
                                        <p:attrNameLst>
                                          <p:attrName>ppt_y</p:attrName>
                                        </p:attrNameLst>
                                      </p:cBhvr>
                                      <p:tavLst>
                                        <p:tav tm="0">
                                          <p:val>
                                            <p:strVal val="#ppt_y+0.035"/>
                                          </p:val>
                                        </p:tav>
                                        <p:tav tm="100000">
                                          <p:val>
                                            <p:strVal val="#ppt_y"/>
                                          </p:val>
                                        </p:tav>
                                      </p:tavLst>
                                    </p:anim>
                                    <p:animEffect transition="in" filter="fade">
                                      <p:cBhvr>
                                        <p:cTn id="40" dur="520"/>
                                        <p:tgtEl>
                                          <p:spTgt spid="14"/>
                                        </p:tgtEl>
                                      </p:cBhvr>
                                    </p:animEffect>
                                  </p:childTnLst>
                                </p:cTn>
                              </p:par>
                              <p:par>
                                <p:cTn id="41" presetID="34"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20" fill="hold"/>
                                        <p:tgtEl>
                                          <p:spTgt spid="15"/>
                                        </p:tgtEl>
                                        <p:attrNameLst>
                                          <p:attrName>ppt_y</p:attrName>
                                        </p:attrNameLst>
                                      </p:cBhvr>
                                      <p:tavLst>
                                        <p:tav tm="0">
                                          <p:val>
                                            <p:strVal val="#ppt_y+0.035"/>
                                          </p:val>
                                        </p:tav>
                                        <p:tav tm="100000">
                                          <p:val>
                                            <p:strVal val="#ppt_y"/>
                                          </p:val>
                                        </p:tav>
                                      </p:tavLst>
                                    </p:anim>
                                    <p:animEffect transition="in" filter="fade">
                                      <p:cBhvr>
                                        <p:cTn id="44" dur="52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34" presetClass="entr" presetSubtype="0" fill="hold" grpId="0" nodeType="afterEffect">
                                  <p:stCondLst>
                                    <p:cond delay="275"/>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20" fill="hold"/>
                                        <p:tgtEl>
                                          <p:spTgt spid="16"/>
                                        </p:tgtEl>
                                        <p:attrNameLst>
                                          <p:attrName>ppt_y</p:attrName>
                                        </p:attrNameLst>
                                      </p:cBhvr>
                                      <p:tavLst>
                                        <p:tav tm="0">
                                          <p:val>
                                            <p:strVal val="#ppt_y+0.035"/>
                                          </p:val>
                                        </p:tav>
                                        <p:tav tm="100000">
                                          <p:val>
                                            <p:strVal val="#ppt_y"/>
                                          </p:val>
                                        </p:tav>
                                      </p:tavLst>
                                    </p:anim>
                                    <p:animEffect transition="in" filter="fade">
                                      <p:cBhvr>
                                        <p:cTn id="50" dur="520"/>
                                        <p:tgtEl>
                                          <p:spTgt spid="16"/>
                                        </p:tgtEl>
                                      </p:cBhvr>
                                    </p:animEffect>
                                  </p:childTnLst>
                                </p:cTn>
                              </p:par>
                              <p:par>
                                <p:cTn id="51" presetID="34"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20" fill="hold"/>
                                        <p:tgtEl>
                                          <p:spTgt spid="17"/>
                                        </p:tgtEl>
                                        <p:attrNameLst>
                                          <p:attrName>ppt_y</p:attrName>
                                        </p:attrNameLst>
                                      </p:cBhvr>
                                      <p:tavLst>
                                        <p:tav tm="0">
                                          <p:val>
                                            <p:strVal val="#ppt_y+0.035"/>
                                          </p:val>
                                        </p:tav>
                                        <p:tav tm="100000">
                                          <p:val>
                                            <p:strVal val="#ppt_y"/>
                                          </p:val>
                                        </p:tav>
                                      </p:tavLst>
                                    </p:anim>
                                    <p:animEffect transition="in" filter="fade">
                                      <p:cBhvr>
                                        <p:cTn id="54" dur="520"/>
                                        <p:tgtEl>
                                          <p:spTgt spid="17"/>
                                        </p:tgtEl>
                                      </p:cBhvr>
                                    </p:animEffect>
                                  </p:childTnLst>
                                </p:cTn>
                              </p:par>
                              <p:par>
                                <p:cTn id="55" presetID="34"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20" fill="hold"/>
                                        <p:tgtEl>
                                          <p:spTgt spid="18"/>
                                        </p:tgtEl>
                                        <p:attrNameLst>
                                          <p:attrName>ppt_y</p:attrName>
                                        </p:attrNameLst>
                                      </p:cBhvr>
                                      <p:tavLst>
                                        <p:tav tm="0">
                                          <p:val>
                                            <p:strVal val="#ppt_y+0.035"/>
                                          </p:val>
                                        </p:tav>
                                        <p:tav tm="100000">
                                          <p:val>
                                            <p:strVal val="#ppt_y"/>
                                          </p:val>
                                        </p:tav>
                                      </p:tavLst>
                                    </p:anim>
                                    <p:animEffect transition="in" filter="fade">
                                      <p:cBhvr>
                                        <p:cTn id="58" dur="5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5.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2 — DEEP LEARNING METHODS</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Why the Backbones Are Frozen</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0D6D78"/>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10</a:t>
            </a:r>
            <a:endParaRPr lang="en-US" sz="1000" dirty="0"/>
          </a:p>
        </p:txBody>
      </p:sp>
      <p:sp>
        <p:nvSpPr>
          <p:cNvPr id="7" name="Shape 5"/>
          <p:cNvSpPr/>
          <p:nvPr/>
        </p:nvSpPr>
        <p:spPr>
          <a:xfrm>
            <a:off x="502920" y="2226526"/>
            <a:ext cx="11185855" cy="2360549"/>
          </a:xfrm>
          <a:prstGeom prst="roundRect">
            <a:avLst>
              <a:gd name="adj" fmla="val 4261"/>
            </a:avLst>
          </a:prstGeom>
          <a:solidFill>
            <a:srgbClr val="E6F7EF"/>
          </a:solidFill>
          <a:ln/>
        </p:spPr>
      </p:sp>
      <p:sp>
        <p:nvSpPr>
          <p:cNvPr id="8" name="Shape 6"/>
          <p:cNvSpPr/>
          <p:nvPr/>
        </p:nvSpPr>
        <p:spPr>
          <a:xfrm>
            <a:off x="777240" y="2500846"/>
            <a:ext cx="3436010" cy="1811909"/>
          </a:xfrm>
          <a:prstGeom prst="roundRect">
            <a:avLst>
              <a:gd name="adj" fmla="val 5047"/>
            </a:avLst>
          </a:prstGeom>
          <a:solidFill>
            <a:srgbClr val="17B978"/>
          </a:solidFill>
          <a:ln/>
        </p:spPr>
      </p:sp>
      <p:sp>
        <p:nvSpPr>
          <p:cNvPr id="9" name="Shape 7"/>
          <p:cNvSpPr/>
          <p:nvPr/>
        </p:nvSpPr>
        <p:spPr>
          <a:xfrm>
            <a:off x="841248" y="2500846"/>
            <a:ext cx="3372002" cy="1811909"/>
          </a:xfrm>
          <a:prstGeom prst="roundRect">
            <a:avLst>
              <a:gd name="adj" fmla="val 5047"/>
            </a:avLst>
          </a:prstGeom>
          <a:solidFill>
            <a:srgbClr val="FFFFFF"/>
          </a:solidFill>
          <a:ln w="9525">
            <a:solidFill>
              <a:srgbClr val="DDE4E2"/>
            </a:solidFill>
            <a:prstDash val="solid"/>
          </a:ln>
        </p:spPr>
      </p:sp>
      <p:sp>
        <p:nvSpPr>
          <p:cNvPr id="10" name="Text 8"/>
          <p:cNvSpPr/>
          <p:nvPr/>
        </p:nvSpPr>
        <p:spPr>
          <a:xfrm>
            <a:off x="1033272" y="2638006"/>
            <a:ext cx="2978810" cy="1537589"/>
          </a:xfrm>
          <a:prstGeom prst="rect">
            <a:avLst/>
          </a:prstGeom>
          <a:noFill/>
          <a:ln/>
        </p:spPr>
        <p:txBody>
          <a:bodyPr wrap="square" rtlCol="0" anchor="t"/>
          <a:lstStyle/>
          <a:p>
            <a:pPr indent="0" marL="0">
              <a:lnSpc>
                <a:spcPts val="1610"/>
              </a:lnSpc>
              <a:spcBef>
                <a:spcPts val="400"/>
              </a:spcBef>
              <a:buNone/>
            </a:pPr>
            <a:r>
              <a:rPr lang="en-US" sz="1350" b="1" dirty="0">
                <a:solidFill>
                  <a:srgbClr val="111817"/>
                </a:solidFill>
                <a:latin typeface="Segoe UI" pitchFamily="34" charset="0"/>
                <a:ea typeface="Segoe UI" pitchFamily="34" charset="-122"/>
                <a:cs typeface="Segoe UI" pitchFamily="34" charset="-120"/>
              </a:rPr>
              <a:t>Fine-Tuning Needs Variety We Do Not Have</a:t>
            </a:r>
            <a:endParaRPr lang="en-US" sz="1350" dirty="0"/>
          </a:p>
          <a:p>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We did not fine-tune all </a:t>
            </a:r>
            <a:pPr indent="0" marL="0">
              <a:lnSpc>
                <a:spcPts val="1610"/>
              </a:lnSpc>
              <a:spcBef>
                <a:spcPts val="400"/>
              </a:spcBef>
              <a:buNone/>
            </a:pPr>
            <a:r>
              <a:rPr lang="en-US" sz="1150" b="1" dirty="0">
                <a:solidFill>
                  <a:srgbClr val="4B5A58"/>
                </a:solidFill>
                <a:latin typeface="Segoe UI" pitchFamily="34" charset="0"/>
                <a:ea typeface="Segoe UI" pitchFamily="34" charset="-122"/>
                <a:cs typeface="Segoe UI" pitchFamily="34" charset="-120"/>
              </a:rPr>
              <a:t>200 million parameters</a:t>
            </a:r>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 because we only have </a:t>
            </a:r>
            <a:pPr indent="0" marL="0">
              <a:lnSpc>
                <a:spcPts val="1610"/>
              </a:lnSpc>
              <a:spcBef>
                <a:spcPts val="400"/>
              </a:spcBef>
              <a:buNone/>
            </a:pPr>
            <a:r>
              <a:rPr lang="en-US" sz="1150" b="1" dirty="0">
                <a:solidFill>
                  <a:srgbClr val="4B5A58"/>
                </a:solidFill>
                <a:latin typeface="Segoe UI" pitchFamily="34" charset="0"/>
                <a:ea typeface="Segoe UI" pitchFamily="34" charset="-122"/>
                <a:cs typeface="Segoe UI" pitchFamily="34" charset="-120"/>
              </a:rPr>
              <a:t>~150 different scenes</a:t>
            </a:r>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 With so little data, the model could memorize the pictures instead of learning the game, causing </a:t>
            </a:r>
            <a:pPr indent="0" marL="0">
              <a:lnSpc>
                <a:spcPts val="1610"/>
              </a:lnSpc>
              <a:spcBef>
                <a:spcPts val="400"/>
              </a:spcBef>
              <a:buNone/>
            </a:pPr>
            <a:r>
              <a:rPr lang="en-US" sz="1150" b="1" dirty="0">
                <a:solidFill>
                  <a:srgbClr val="4B5A58"/>
                </a:solidFill>
                <a:latin typeface="Segoe UI" pitchFamily="34" charset="0"/>
                <a:ea typeface="Segoe UI" pitchFamily="34" charset="-122"/>
                <a:cs typeface="Segoe UI" pitchFamily="34" charset="-120"/>
              </a:rPr>
              <a:t>overfitting</a:t>
            </a:r>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a:t>
            </a:r>
            <a:endParaRPr lang="en-US" sz="1350" dirty="0"/>
          </a:p>
        </p:txBody>
      </p:sp>
      <p:sp>
        <p:nvSpPr>
          <p:cNvPr id="11" name="Shape 9"/>
          <p:cNvSpPr/>
          <p:nvPr/>
        </p:nvSpPr>
        <p:spPr>
          <a:xfrm>
            <a:off x="4377842" y="2500846"/>
            <a:ext cx="3436010" cy="1811909"/>
          </a:xfrm>
          <a:prstGeom prst="roundRect">
            <a:avLst>
              <a:gd name="adj" fmla="val 5047"/>
            </a:avLst>
          </a:prstGeom>
          <a:solidFill>
            <a:srgbClr val="3FA7E0"/>
          </a:solidFill>
          <a:ln/>
        </p:spPr>
      </p:sp>
      <p:sp>
        <p:nvSpPr>
          <p:cNvPr id="12" name="Shape 10"/>
          <p:cNvSpPr/>
          <p:nvPr/>
        </p:nvSpPr>
        <p:spPr>
          <a:xfrm>
            <a:off x="4441850" y="2500846"/>
            <a:ext cx="3372002" cy="1811909"/>
          </a:xfrm>
          <a:prstGeom prst="roundRect">
            <a:avLst>
              <a:gd name="adj" fmla="val 5047"/>
            </a:avLst>
          </a:prstGeom>
          <a:solidFill>
            <a:srgbClr val="FFFFFF"/>
          </a:solidFill>
          <a:ln w="9525">
            <a:solidFill>
              <a:srgbClr val="DDE4E2"/>
            </a:solidFill>
            <a:prstDash val="solid"/>
          </a:ln>
        </p:spPr>
      </p:sp>
      <p:sp>
        <p:nvSpPr>
          <p:cNvPr id="13" name="Text 11"/>
          <p:cNvSpPr/>
          <p:nvPr/>
        </p:nvSpPr>
        <p:spPr>
          <a:xfrm>
            <a:off x="4633874" y="2638006"/>
            <a:ext cx="2978810" cy="1537589"/>
          </a:xfrm>
          <a:prstGeom prst="rect">
            <a:avLst/>
          </a:prstGeom>
          <a:noFill/>
          <a:ln/>
        </p:spPr>
        <p:txBody>
          <a:bodyPr wrap="square" rtlCol="0" anchor="t"/>
          <a:lstStyle/>
          <a:p>
            <a:pPr indent="0" marL="0">
              <a:lnSpc>
                <a:spcPts val="1610"/>
              </a:lnSpc>
              <a:spcBef>
                <a:spcPts val="400"/>
              </a:spcBef>
              <a:buNone/>
            </a:pPr>
            <a:r>
              <a:rPr lang="en-US" sz="1350" b="1" dirty="0">
                <a:solidFill>
                  <a:srgbClr val="111817"/>
                </a:solidFill>
                <a:latin typeface="Segoe UI" pitchFamily="34" charset="0"/>
                <a:ea typeface="Segoe UI" pitchFamily="34" charset="-122"/>
                <a:cs typeface="Segoe UI" pitchFamily="34" charset="-120"/>
              </a:rPr>
              <a:t>More Data Is Not Easy to Collect</a:t>
            </a:r>
            <a:endParaRPr lang="en-US" sz="1350" dirty="0"/>
          </a:p>
          <a:p>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The videos show </a:t>
            </a:r>
            <a:pPr indent="0" marL="0">
              <a:lnSpc>
                <a:spcPts val="1610"/>
              </a:lnSpc>
              <a:spcBef>
                <a:spcPts val="400"/>
              </a:spcBef>
              <a:buNone/>
            </a:pPr>
            <a:r>
              <a:rPr lang="en-US" sz="1150" b="1" dirty="0">
                <a:solidFill>
                  <a:srgbClr val="4B5A58"/>
                </a:solidFill>
                <a:latin typeface="Segoe UI" pitchFamily="34" charset="0"/>
                <a:ea typeface="Segoe UI" pitchFamily="34" charset="-122"/>
                <a:cs typeface="Segoe UI" pitchFamily="34" charset="-120"/>
              </a:rPr>
              <a:t>real people</a:t>
            </a:r>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 so collecting footage from new venues requires </a:t>
            </a:r>
            <a:pPr indent="0" marL="0">
              <a:lnSpc>
                <a:spcPts val="1610"/>
              </a:lnSpc>
              <a:spcBef>
                <a:spcPts val="400"/>
              </a:spcBef>
              <a:buNone/>
            </a:pPr>
            <a:r>
              <a:rPr lang="en-US" sz="1150" b="1" dirty="0">
                <a:solidFill>
                  <a:srgbClr val="4B5A58"/>
                </a:solidFill>
                <a:latin typeface="Segoe UI" pitchFamily="34" charset="0"/>
                <a:ea typeface="Segoe UI" pitchFamily="34" charset="-122"/>
                <a:cs typeface="Segoe UI" pitchFamily="34" charset="-120"/>
              </a:rPr>
              <a:t>permission</a:t>
            </a:r>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a:t>
            </a:r>
            <a:endParaRPr lang="en-US" sz="1350" dirty="0"/>
          </a:p>
        </p:txBody>
      </p:sp>
      <p:sp>
        <p:nvSpPr>
          <p:cNvPr id="14" name="Shape 12"/>
          <p:cNvSpPr/>
          <p:nvPr/>
        </p:nvSpPr>
        <p:spPr>
          <a:xfrm>
            <a:off x="7978445" y="2500846"/>
            <a:ext cx="3436010" cy="1811909"/>
          </a:xfrm>
          <a:prstGeom prst="roundRect">
            <a:avLst>
              <a:gd name="adj" fmla="val 5047"/>
            </a:avLst>
          </a:prstGeom>
          <a:solidFill>
            <a:srgbClr val="F5A524"/>
          </a:solidFill>
          <a:ln/>
        </p:spPr>
      </p:sp>
      <p:sp>
        <p:nvSpPr>
          <p:cNvPr id="15" name="Shape 13"/>
          <p:cNvSpPr/>
          <p:nvPr/>
        </p:nvSpPr>
        <p:spPr>
          <a:xfrm>
            <a:off x="8042453" y="2500846"/>
            <a:ext cx="3372002" cy="1811909"/>
          </a:xfrm>
          <a:prstGeom prst="roundRect">
            <a:avLst>
              <a:gd name="adj" fmla="val 5047"/>
            </a:avLst>
          </a:prstGeom>
          <a:solidFill>
            <a:srgbClr val="FFFFFF"/>
          </a:solidFill>
          <a:ln w="9525">
            <a:solidFill>
              <a:srgbClr val="DDE4E2"/>
            </a:solidFill>
            <a:prstDash val="solid"/>
          </a:ln>
        </p:spPr>
      </p:sp>
      <p:sp>
        <p:nvSpPr>
          <p:cNvPr id="16" name="Text 14"/>
          <p:cNvSpPr/>
          <p:nvPr/>
        </p:nvSpPr>
        <p:spPr>
          <a:xfrm>
            <a:off x="8234477" y="2638006"/>
            <a:ext cx="2978810" cy="1537589"/>
          </a:xfrm>
          <a:prstGeom prst="rect">
            <a:avLst/>
          </a:prstGeom>
          <a:noFill/>
          <a:ln/>
        </p:spPr>
        <p:txBody>
          <a:bodyPr wrap="square" rtlCol="0" anchor="t"/>
          <a:lstStyle/>
          <a:p>
            <a:pPr indent="0" marL="0">
              <a:lnSpc>
                <a:spcPts val="1610"/>
              </a:lnSpc>
              <a:spcBef>
                <a:spcPts val="400"/>
              </a:spcBef>
              <a:buNone/>
            </a:pPr>
            <a:r>
              <a:rPr lang="en-US" sz="1350" b="1" dirty="0">
                <a:solidFill>
                  <a:srgbClr val="111817"/>
                </a:solidFill>
                <a:latin typeface="Segoe UI" pitchFamily="34" charset="0"/>
                <a:ea typeface="Segoe UI" pitchFamily="34" charset="-122"/>
                <a:cs typeface="Segoe UI" pitchFamily="34" charset="-120"/>
              </a:rPr>
              <a:t>Our Numbers Show the Risk</a:t>
            </a:r>
            <a:endParaRPr lang="en-US" sz="1350" dirty="0"/>
          </a:p>
          <a:p>
            <a:pPr indent="0" marL="0">
              <a:lnSpc>
                <a:spcPts val="1610"/>
              </a:lnSpc>
              <a:spcBef>
                <a:spcPts val="400"/>
              </a:spcBef>
              <a:buNone/>
            </a:pPr>
            <a:r>
              <a:rPr lang="en-US" sz="1150" b="1" dirty="0">
                <a:solidFill>
                  <a:srgbClr val="4B5A58"/>
                </a:solidFill>
                <a:latin typeface="Segoe UI" pitchFamily="34" charset="0"/>
                <a:ea typeface="Segoe UI" pitchFamily="34" charset="-122"/>
                <a:cs typeface="Segoe UI" pitchFamily="34" charset="-120"/>
              </a:rPr>
              <a:t>98.5%</a:t>
            </a:r>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 of frames are very similar, and accuracy </a:t>
            </a:r>
            <a:pPr indent="0" marL="0">
              <a:lnSpc>
                <a:spcPts val="1610"/>
              </a:lnSpc>
              <a:spcBef>
                <a:spcPts val="400"/>
              </a:spcBef>
              <a:buNone/>
            </a:pPr>
            <a:r>
              <a:rPr lang="en-US" sz="1150" b="1" dirty="0">
                <a:solidFill>
                  <a:srgbClr val="4B5A58"/>
                </a:solidFill>
                <a:latin typeface="Segoe UI" pitchFamily="34" charset="0"/>
                <a:ea typeface="Segoe UI" pitchFamily="34" charset="-122"/>
                <a:cs typeface="Segoe UI" pitchFamily="34" charset="-120"/>
              </a:rPr>
              <a:t>dropped</a:t>
            </a:r>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 when we increased the data from </a:t>
            </a:r>
            <a:pPr indent="0" marL="0">
              <a:lnSpc>
                <a:spcPts val="1610"/>
              </a:lnSpc>
              <a:spcBef>
                <a:spcPts val="400"/>
              </a:spcBef>
              <a:buNone/>
            </a:pPr>
            <a:r>
              <a:rPr lang="en-US" sz="1150" b="1" dirty="0">
                <a:solidFill>
                  <a:srgbClr val="4B5A58"/>
                </a:solidFill>
                <a:latin typeface="Segoe UI" pitchFamily="34" charset="0"/>
                <a:ea typeface="Segoe UI" pitchFamily="34" charset="-122"/>
                <a:cs typeface="Segoe UI" pitchFamily="34" charset="-120"/>
              </a:rPr>
              <a:t>300 to 671 samples</a:t>
            </a:r>
            <a:pPr indent="0" marL="0">
              <a:lnSpc>
                <a:spcPts val="1610"/>
              </a:lnSpc>
              <a:spcBef>
                <a:spcPts val="400"/>
              </a:spcBef>
              <a:buNone/>
            </a:pPr>
            <a:r>
              <a:rPr lang="en-US" sz="1150" dirty="0">
                <a:solidFill>
                  <a:srgbClr val="4B5A58"/>
                </a:solidFill>
                <a:latin typeface="Segoe UI" pitchFamily="34" charset="0"/>
                <a:ea typeface="Segoe UI" pitchFamily="34" charset="-122"/>
                <a:cs typeface="Segoe UI" pitchFamily="34" charset="-120"/>
              </a:rPr>
              <a:t>.</a:t>
            </a:r>
            <a:endParaRPr lang="en-US" sz="1350" dirty="0"/>
          </a:p>
        </p:txBody>
      </p:sp>
      <p:sp>
        <p:nvSpPr>
          <p:cNvPr id="17" name="Text 15"/>
          <p:cNvSpPr/>
          <p:nvPr/>
        </p:nvSpPr>
        <p:spPr>
          <a:xfrm>
            <a:off x="502920" y="4788243"/>
            <a:ext cx="11185855" cy="457200"/>
          </a:xfrm>
          <a:prstGeom prst="rect">
            <a:avLst/>
          </a:prstGeom>
          <a:noFill/>
          <a:ln/>
        </p:spPr>
        <p:txBody>
          <a:bodyPr wrap="square" rtlCol="0" anchor="t"/>
          <a:lstStyle/>
          <a:p>
            <a:pPr indent="0" marL="0">
              <a:lnSpc>
                <a:spcPts val="1540"/>
              </a:lnSpc>
              <a:buNone/>
            </a:pPr>
            <a:r>
              <a:rPr lang="en-US" sz="1100" dirty="0">
                <a:solidFill>
                  <a:srgbClr val="7A8886"/>
                </a:solidFill>
                <a:latin typeface="Segoe UI" pitchFamily="34" charset="0"/>
                <a:ea typeface="Segoe UI" pitchFamily="34" charset="-122"/>
                <a:cs typeface="Segoe UI" pitchFamily="34" charset="-120"/>
              </a:rPr>
              <a:t>Freezing is a </a:t>
            </a:r>
            <a:pPr indent="0" marL="0">
              <a:lnSpc>
                <a:spcPts val="1540"/>
              </a:lnSpc>
              <a:buNone/>
            </a:pPr>
            <a:r>
              <a:rPr lang="en-US" sz="1100" b="1" dirty="0">
                <a:solidFill>
                  <a:srgbClr val="7A8886"/>
                </a:solidFill>
                <a:latin typeface="Segoe UI" pitchFamily="34" charset="0"/>
                <a:ea typeface="Segoe UI" pitchFamily="34" charset="-122"/>
                <a:cs typeface="Segoe UI" pitchFamily="34" charset="-120"/>
              </a:rPr>
              <a:t>defence against overfitting</a:t>
            </a:r>
            <a:pPr indent="0" marL="0">
              <a:lnSpc>
                <a:spcPts val="1540"/>
              </a:lnSpc>
              <a:buNone/>
            </a:pPr>
            <a:r>
              <a:rPr lang="en-US" sz="1100" dirty="0">
                <a:solidFill>
                  <a:srgbClr val="7A8886"/>
                </a:solidFill>
                <a:latin typeface="Segoe UI" pitchFamily="34" charset="0"/>
                <a:ea typeface="Segoe UI" pitchFamily="34" charset="-122"/>
                <a:cs typeface="Segoe UI" pitchFamily="34" charset="-120"/>
              </a:rPr>
              <a:t> first, and an efficiency win second.</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20" fill="hold"/>
                                        <p:tgtEl>
                                          <p:spTgt spid="8"/>
                                        </p:tgtEl>
                                        <p:attrNameLst>
                                          <p:attrName>ppt_y</p:attrName>
                                        </p:attrNameLst>
                                      </p:cBhvr>
                                      <p:tavLst>
                                        <p:tav tm="0">
                                          <p:val>
                                            <p:strVal val="#ppt_y+0.035"/>
                                          </p:val>
                                        </p:tav>
                                        <p:tav tm="100000">
                                          <p:val>
                                            <p:strVal val="#ppt_y"/>
                                          </p:val>
                                        </p:tav>
                                      </p:tavLst>
                                    </p:anim>
                                    <p:animEffect transition="in" filter="fade">
                                      <p:cBhvr>
                                        <p:cTn id="8" dur="520"/>
                                        <p:tgtEl>
                                          <p:spTgt spid="8"/>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20" fill="hold"/>
                                        <p:tgtEl>
                                          <p:spTgt spid="9"/>
                                        </p:tgtEl>
                                        <p:attrNameLst>
                                          <p:attrName>ppt_y</p:attrName>
                                        </p:attrNameLst>
                                      </p:cBhvr>
                                      <p:tavLst>
                                        <p:tav tm="0">
                                          <p:val>
                                            <p:strVal val="#ppt_y+0.035"/>
                                          </p:val>
                                        </p:tav>
                                        <p:tav tm="100000">
                                          <p:val>
                                            <p:strVal val="#ppt_y"/>
                                          </p:val>
                                        </p:tav>
                                      </p:tavLst>
                                    </p:anim>
                                    <p:animEffect transition="in" filter="fade">
                                      <p:cBhvr>
                                        <p:cTn id="12" dur="520"/>
                                        <p:tgtEl>
                                          <p:spTgt spid="9"/>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20" fill="hold"/>
                                        <p:tgtEl>
                                          <p:spTgt spid="10"/>
                                        </p:tgtEl>
                                        <p:attrNameLst>
                                          <p:attrName>ppt_y</p:attrName>
                                        </p:attrNameLst>
                                      </p:cBhvr>
                                      <p:tavLst>
                                        <p:tav tm="0">
                                          <p:val>
                                            <p:strVal val="#ppt_y+0.035"/>
                                          </p:val>
                                        </p:tav>
                                        <p:tav tm="100000">
                                          <p:val>
                                            <p:strVal val="#ppt_y"/>
                                          </p:val>
                                        </p:tav>
                                      </p:tavLst>
                                    </p:anim>
                                    <p:animEffect transition="in" filter="fade">
                                      <p:cBhvr>
                                        <p:cTn id="16" dur="5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34" presetClass="entr" presetSubtype="0" fill="hold" grpId="0" nodeType="afterEffect">
                                  <p:stCondLst>
                                    <p:cond delay="275"/>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20" fill="hold"/>
                                        <p:tgtEl>
                                          <p:spTgt spid="11"/>
                                        </p:tgtEl>
                                        <p:attrNameLst>
                                          <p:attrName>ppt_y</p:attrName>
                                        </p:attrNameLst>
                                      </p:cBhvr>
                                      <p:tavLst>
                                        <p:tav tm="0">
                                          <p:val>
                                            <p:strVal val="#ppt_y+0.035"/>
                                          </p:val>
                                        </p:tav>
                                        <p:tav tm="100000">
                                          <p:val>
                                            <p:strVal val="#ppt_y"/>
                                          </p:val>
                                        </p:tav>
                                      </p:tavLst>
                                    </p:anim>
                                    <p:animEffect transition="in" filter="fade">
                                      <p:cBhvr>
                                        <p:cTn id="22" dur="520"/>
                                        <p:tgtEl>
                                          <p:spTgt spid="11"/>
                                        </p:tgtEl>
                                      </p:cBhvr>
                                    </p:animEffect>
                                  </p:childTnLst>
                                </p:cTn>
                              </p:par>
                              <p:par>
                                <p:cTn id="23" presetID="34"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20" fill="hold"/>
                                        <p:tgtEl>
                                          <p:spTgt spid="12"/>
                                        </p:tgtEl>
                                        <p:attrNameLst>
                                          <p:attrName>ppt_y</p:attrName>
                                        </p:attrNameLst>
                                      </p:cBhvr>
                                      <p:tavLst>
                                        <p:tav tm="0">
                                          <p:val>
                                            <p:strVal val="#ppt_y+0.035"/>
                                          </p:val>
                                        </p:tav>
                                        <p:tav tm="100000">
                                          <p:val>
                                            <p:strVal val="#ppt_y"/>
                                          </p:val>
                                        </p:tav>
                                      </p:tavLst>
                                    </p:anim>
                                    <p:animEffect transition="in" filter="fade">
                                      <p:cBhvr>
                                        <p:cTn id="26" dur="520"/>
                                        <p:tgtEl>
                                          <p:spTgt spid="12"/>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20" fill="hold"/>
                                        <p:tgtEl>
                                          <p:spTgt spid="13"/>
                                        </p:tgtEl>
                                        <p:attrNameLst>
                                          <p:attrName>ppt_y</p:attrName>
                                        </p:attrNameLst>
                                      </p:cBhvr>
                                      <p:tavLst>
                                        <p:tav tm="0">
                                          <p:val>
                                            <p:strVal val="#ppt_y+0.035"/>
                                          </p:val>
                                        </p:tav>
                                        <p:tav tm="100000">
                                          <p:val>
                                            <p:strVal val="#ppt_y"/>
                                          </p:val>
                                        </p:tav>
                                      </p:tavLst>
                                    </p:anim>
                                    <p:animEffect transition="in" filter="fade">
                                      <p:cBhvr>
                                        <p:cTn id="30" dur="52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34" presetClass="entr" presetSubtype="0" fill="hold" grpId="0" nodeType="afterEffect">
                                  <p:stCondLst>
                                    <p:cond delay="275"/>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20" fill="hold"/>
                                        <p:tgtEl>
                                          <p:spTgt spid="14"/>
                                        </p:tgtEl>
                                        <p:attrNameLst>
                                          <p:attrName>ppt_y</p:attrName>
                                        </p:attrNameLst>
                                      </p:cBhvr>
                                      <p:tavLst>
                                        <p:tav tm="0">
                                          <p:val>
                                            <p:strVal val="#ppt_y+0.035"/>
                                          </p:val>
                                        </p:tav>
                                        <p:tav tm="100000">
                                          <p:val>
                                            <p:strVal val="#ppt_y"/>
                                          </p:val>
                                        </p:tav>
                                      </p:tavLst>
                                    </p:anim>
                                    <p:animEffect transition="in" filter="fade">
                                      <p:cBhvr>
                                        <p:cTn id="36" dur="520"/>
                                        <p:tgtEl>
                                          <p:spTgt spid="14"/>
                                        </p:tgtEl>
                                      </p:cBhvr>
                                    </p:animEffect>
                                  </p:childTnLst>
                                </p:cTn>
                              </p:par>
                              <p:par>
                                <p:cTn id="37" presetID="34"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20" fill="hold"/>
                                        <p:tgtEl>
                                          <p:spTgt spid="15"/>
                                        </p:tgtEl>
                                        <p:attrNameLst>
                                          <p:attrName>ppt_y</p:attrName>
                                        </p:attrNameLst>
                                      </p:cBhvr>
                                      <p:tavLst>
                                        <p:tav tm="0">
                                          <p:val>
                                            <p:strVal val="#ppt_y+0.035"/>
                                          </p:val>
                                        </p:tav>
                                        <p:tav tm="100000">
                                          <p:val>
                                            <p:strVal val="#ppt_y"/>
                                          </p:val>
                                        </p:tav>
                                      </p:tavLst>
                                    </p:anim>
                                    <p:animEffect transition="in" filter="fade">
                                      <p:cBhvr>
                                        <p:cTn id="40" dur="520"/>
                                        <p:tgtEl>
                                          <p:spTgt spid="15"/>
                                        </p:tgtEl>
                                      </p:cBhvr>
                                    </p:animEffect>
                                  </p:childTnLst>
                                </p:cTn>
                              </p:par>
                              <p:par>
                                <p:cTn id="41" presetID="34"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20" fill="hold"/>
                                        <p:tgtEl>
                                          <p:spTgt spid="16"/>
                                        </p:tgtEl>
                                        <p:attrNameLst>
                                          <p:attrName>ppt_y</p:attrName>
                                        </p:attrNameLst>
                                      </p:cBhvr>
                                      <p:tavLst>
                                        <p:tav tm="0">
                                          <p:val>
                                            <p:strVal val="#ppt_y+0.035"/>
                                          </p:val>
                                        </p:tav>
                                        <p:tav tm="100000">
                                          <p:val>
                                            <p:strVal val="#ppt_y"/>
                                          </p:val>
                                        </p:tav>
                                      </p:tavLst>
                                    </p:anim>
                                    <p:animEffect transition="in" filter="fade">
                                      <p:cBhvr>
                                        <p:cTn id="44" dur="52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34" presetClass="entr" presetSubtype="0" fill="hold" grpId="0" nodeType="afterEffect">
                                  <p:stCondLst>
                                    <p:cond delay="275"/>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20" fill="hold"/>
                                        <p:tgtEl>
                                          <p:spTgt spid="17"/>
                                        </p:tgtEl>
                                        <p:attrNameLst>
                                          <p:attrName>ppt_y</p:attrName>
                                        </p:attrNameLst>
                                      </p:cBhvr>
                                      <p:tavLst>
                                        <p:tav tm="0">
                                          <p:val>
                                            <p:strVal val="#ppt_y+0.035"/>
                                          </p:val>
                                        </p:tav>
                                        <p:tav tm="100000">
                                          <p:val>
                                            <p:strVal val="#ppt_y"/>
                                          </p:val>
                                        </p:tav>
                                      </p:tavLst>
                                    </p:anim>
                                    <p:animEffect transition="in" filter="fade">
                                      <p:cBhvr>
                                        <p:cTn id="50" dur="5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6.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2 — DEEP LEARNING METHODS</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DINOv2 — what actually runs</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0D6D78"/>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11</a:t>
            </a:r>
            <a:endParaRPr lang="en-US" sz="1000" dirty="0"/>
          </a:p>
        </p:txBody>
      </p:sp>
      <p:sp>
        <p:nvSpPr>
          <p:cNvPr id="7" name="Shape 5"/>
          <p:cNvSpPr/>
          <p:nvPr/>
        </p:nvSpPr>
        <p:spPr>
          <a:xfrm>
            <a:off x="2324513" y="2139696"/>
            <a:ext cx="7020836" cy="1993392"/>
          </a:xfrm>
          <a:prstGeom prst="roundRect">
            <a:avLst>
              <a:gd name="adj" fmla="val 2752"/>
            </a:avLst>
          </a:prstGeom>
          <a:ln w="12700">
            <a:solidFill>
              <a:srgbClr val="7A8886"/>
            </a:solidFill>
            <a:prstDash val="dash"/>
          </a:ln>
        </p:spPr>
      </p:sp>
      <p:sp>
        <p:nvSpPr>
          <p:cNvPr id="8" name="Text 6"/>
          <p:cNvSpPr/>
          <p:nvPr/>
        </p:nvSpPr>
        <p:spPr>
          <a:xfrm>
            <a:off x="2434241" y="1883664"/>
            <a:ext cx="6801380" cy="237744"/>
          </a:xfrm>
          <a:prstGeom prst="rect">
            <a:avLst/>
          </a:prstGeom>
          <a:noFill/>
          <a:ln/>
        </p:spPr>
        <p:txBody>
          <a:bodyPr wrap="square" rtlCol="0" anchor="ctr"/>
          <a:lstStyle/>
          <a:p>
            <a:pPr indent="0" marL="0">
              <a:buNone/>
            </a:pPr>
            <a:r>
              <a:rPr lang="en-US" sz="950" dirty="0">
                <a:solidFill>
                  <a:srgbClr val="7A8886"/>
                </a:solidFill>
                <a:latin typeface="Segoe UI" pitchFamily="34" charset="0"/>
                <a:ea typeface="Segoe UI" pitchFamily="34" charset="-122"/>
                <a:cs typeface="Segoe UI" pitchFamily="34" charset="-120"/>
              </a:rPr>
              <a:t>frozen · 86,580,480 parameters · 0 gradients received</a:t>
            </a:r>
            <a:endParaRPr lang="en-US" sz="950" dirty="0"/>
          </a:p>
        </p:txBody>
      </p:sp>
      <p:sp>
        <p:nvSpPr>
          <p:cNvPr id="9" name="Shape 7"/>
          <p:cNvSpPr/>
          <p:nvPr/>
        </p:nvSpPr>
        <p:spPr>
          <a:xfrm>
            <a:off x="9436790" y="2139696"/>
            <a:ext cx="2361713" cy="1993392"/>
          </a:xfrm>
          <a:prstGeom prst="roundRect">
            <a:avLst>
              <a:gd name="adj" fmla="val 2752"/>
            </a:avLst>
          </a:prstGeom>
          <a:ln w="19050">
            <a:solidFill>
              <a:srgbClr val="0D6D78"/>
            </a:solidFill>
            <a:prstDash val="solid"/>
          </a:ln>
        </p:spPr>
      </p:sp>
      <p:sp>
        <p:nvSpPr>
          <p:cNvPr id="10" name="Text 8"/>
          <p:cNvSpPr/>
          <p:nvPr/>
        </p:nvSpPr>
        <p:spPr>
          <a:xfrm>
            <a:off x="9546518" y="1883664"/>
            <a:ext cx="2142257" cy="237744"/>
          </a:xfrm>
          <a:prstGeom prst="rect">
            <a:avLst/>
          </a:prstGeom>
          <a:noFill/>
          <a:ln/>
        </p:spPr>
        <p:txBody>
          <a:bodyPr wrap="square" rtlCol="0" anchor="ctr"/>
          <a:lstStyle/>
          <a:p>
            <a:pPr indent="0" marL="0">
              <a:buNone/>
            </a:pPr>
            <a:r>
              <a:rPr lang="en-US" sz="950" dirty="0">
                <a:solidFill>
                  <a:srgbClr val="0D6D78"/>
                </a:solidFill>
                <a:latin typeface="Segoe UI" pitchFamily="34" charset="0"/>
                <a:ea typeface="Segoe UI" pitchFamily="34" charset="-122"/>
                <a:cs typeface="Segoe UI" pitchFamily="34" charset="-120"/>
              </a:rPr>
              <a:t>trained · 2,307</a:t>
            </a:r>
            <a:endParaRPr lang="en-US" sz="950" dirty="0"/>
          </a:p>
        </p:txBody>
      </p:sp>
      <p:sp>
        <p:nvSpPr>
          <p:cNvPr id="11" name="Shape 9"/>
          <p:cNvSpPr/>
          <p:nvPr/>
        </p:nvSpPr>
        <p:spPr>
          <a:xfrm>
            <a:off x="502920" y="2487168"/>
            <a:ext cx="1620425" cy="1298448"/>
          </a:xfrm>
          <a:prstGeom prst="roundRect">
            <a:avLst>
              <a:gd name="adj" fmla="val 5634"/>
            </a:avLst>
          </a:prstGeom>
          <a:solidFill>
            <a:srgbClr val="FFFFFF"/>
          </a:solidFill>
          <a:ln w="9525">
            <a:solidFill>
              <a:srgbClr val="DDE4E2"/>
            </a:solidFill>
            <a:prstDash val="solid"/>
          </a:ln>
        </p:spPr>
      </p:sp>
      <p:sp>
        <p:nvSpPr>
          <p:cNvPr id="12" name="Text 10"/>
          <p:cNvSpPr/>
          <p:nvPr/>
        </p:nvSpPr>
        <p:spPr>
          <a:xfrm>
            <a:off x="557784" y="2542032"/>
            <a:ext cx="1510697" cy="1188720"/>
          </a:xfrm>
          <a:prstGeom prst="rect">
            <a:avLst/>
          </a:prstGeom>
          <a:noFill/>
          <a:ln/>
        </p:spPr>
        <p:txBody>
          <a:bodyPr wrap="square" rtlCol="0" anchor="ctr"/>
          <a:lstStyle/>
          <a:p>
            <a:pPr algn="ctr" indent="0" marL="0">
              <a:lnSpc>
                <a:spcPts val="1300"/>
              </a:lnSpc>
              <a:buNone/>
            </a:pPr>
            <a:r>
              <a:rPr lang="en-US" sz="1100" b="1" dirty="0">
                <a:solidFill>
                  <a:srgbClr val="111817"/>
                </a:solidFill>
                <a:latin typeface="Segoe UI" pitchFamily="34" charset="0"/>
                <a:ea typeface="Segoe UI" pitchFamily="34" charset="-122"/>
                <a:cs typeface="Segoe UI" pitchFamily="34" charset="-120"/>
              </a:rPr>
              <a:t>the frame</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224×224, inside</a:t>
            </a:r>
            <a:endParaRPr lang="en-US" sz="1100" dirty="0"/>
          </a:p>
          <a:p>
            <a:pPr algn="ctr" indent="0" marL="0">
              <a:lnSpc>
                <a:spcPts val="1300"/>
              </a:lnSpc>
              <a:buNone/>
            </a:pPr>
            <a:r>
              <a:rPr lang="en-US" sz="850" dirty="0">
                <a:solidFill>
                  <a:srgbClr val="7A8886"/>
                </a:solidFill>
                <a:latin typeface="Segoe UI" pitchFamily="34" charset="0"/>
                <a:ea typeface="Segoe UI" pitchFamily="34" charset="-122"/>
                <a:cs typeface="Segoe UI" pitchFamily="34" charset="-120"/>
              </a:rPr>
              <a:t>the pitch boundary</a:t>
            </a:r>
            <a:endParaRPr lang="en-US" sz="1100" dirty="0"/>
          </a:p>
        </p:txBody>
      </p:sp>
      <p:sp>
        <p:nvSpPr>
          <p:cNvPr id="13" name="Shape 11"/>
          <p:cNvSpPr/>
          <p:nvPr/>
        </p:nvSpPr>
        <p:spPr>
          <a:xfrm>
            <a:off x="2169065" y="3136392"/>
            <a:ext cx="219456" cy="0"/>
          </a:xfrm>
          <a:prstGeom prst="line">
            <a:avLst/>
          </a:prstGeom>
          <a:noFill/>
          <a:ln w="15875">
            <a:solidFill>
              <a:srgbClr val="7A8886"/>
            </a:solidFill>
            <a:prstDash val="solid"/>
            <a:tailEnd type="triangle"/>
          </a:ln>
        </p:spPr>
      </p:sp>
      <p:sp>
        <p:nvSpPr>
          <p:cNvPr id="14" name="Shape 12"/>
          <p:cNvSpPr/>
          <p:nvPr/>
        </p:nvSpPr>
        <p:spPr>
          <a:xfrm>
            <a:off x="2434241" y="2487168"/>
            <a:ext cx="2059863" cy="1298448"/>
          </a:xfrm>
          <a:prstGeom prst="roundRect">
            <a:avLst>
              <a:gd name="adj" fmla="val 5634"/>
            </a:avLst>
          </a:prstGeom>
          <a:solidFill>
            <a:srgbClr val="FFFFFF"/>
          </a:solidFill>
          <a:ln w="9525">
            <a:solidFill>
              <a:srgbClr val="DDE4E2"/>
            </a:solidFill>
            <a:prstDash val="solid"/>
          </a:ln>
        </p:spPr>
      </p:sp>
      <p:sp>
        <p:nvSpPr>
          <p:cNvPr id="15" name="Text 13"/>
          <p:cNvSpPr/>
          <p:nvPr/>
        </p:nvSpPr>
        <p:spPr>
          <a:xfrm>
            <a:off x="2489105" y="2542032"/>
            <a:ext cx="1950135" cy="1188720"/>
          </a:xfrm>
          <a:prstGeom prst="rect">
            <a:avLst/>
          </a:prstGeom>
          <a:noFill/>
          <a:ln/>
        </p:spPr>
        <p:txBody>
          <a:bodyPr wrap="square" rtlCol="0" anchor="ctr"/>
          <a:lstStyle/>
          <a:p>
            <a:pPr algn="ctr" indent="0" marL="0">
              <a:lnSpc>
                <a:spcPts val="1300"/>
              </a:lnSpc>
              <a:buNone/>
            </a:pPr>
            <a:r>
              <a:rPr lang="en-US" sz="1100" b="1" dirty="0">
                <a:solidFill>
                  <a:srgbClr val="111817"/>
                </a:solidFill>
                <a:latin typeface="Segoe UI" pitchFamily="34" charset="0"/>
                <a:ea typeface="Segoe UI" pitchFamily="34" charset="-122"/>
                <a:cs typeface="Segoe UI" pitchFamily="34" charset="-120"/>
              </a:rPr>
              <a:t>patch embedding</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14×14 patches</a:t>
            </a:r>
            <a:endParaRPr lang="en-US" sz="1100" dirty="0"/>
          </a:p>
          <a:p>
            <a:pPr algn="ctr" indent="0" marL="0">
              <a:lnSpc>
                <a:spcPts val="1300"/>
              </a:lnSpc>
              <a:buNone/>
            </a:pPr>
            <a:r>
              <a:rPr lang="en-US" sz="850" dirty="0">
                <a:solidFill>
                  <a:srgbClr val="7A8886"/>
                </a:solidFill>
                <a:latin typeface="Segoe UI" pitchFamily="34" charset="0"/>
                <a:ea typeface="Segoe UI" pitchFamily="34" charset="-122"/>
                <a:cs typeface="Segoe UI" pitchFamily="34" charset="-120"/>
              </a:rPr>
              <a:t>256 tokens + CLS</a:t>
            </a:r>
            <a:endParaRPr lang="en-US" sz="1100" dirty="0"/>
          </a:p>
        </p:txBody>
      </p:sp>
      <p:sp>
        <p:nvSpPr>
          <p:cNvPr id="16" name="Shape 14"/>
          <p:cNvSpPr/>
          <p:nvPr/>
        </p:nvSpPr>
        <p:spPr>
          <a:xfrm>
            <a:off x="4539824" y="3136392"/>
            <a:ext cx="219456" cy="0"/>
          </a:xfrm>
          <a:prstGeom prst="line">
            <a:avLst/>
          </a:prstGeom>
          <a:noFill/>
          <a:ln w="15875">
            <a:solidFill>
              <a:srgbClr val="7A8886"/>
            </a:solidFill>
            <a:prstDash val="solid"/>
            <a:tailEnd type="triangle"/>
          </a:ln>
        </p:spPr>
      </p:sp>
      <p:sp>
        <p:nvSpPr>
          <p:cNvPr id="17" name="Shape 15"/>
          <p:cNvSpPr/>
          <p:nvPr/>
        </p:nvSpPr>
        <p:spPr>
          <a:xfrm>
            <a:off x="4805000" y="2487168"/>
            <a:ext cx="2416906" cy="1298448"/>
          </a:xfrm>
          <a:prstGeom prst="roundRect">
            <a:avLst>
              <a:gd name="adj" fmla="val 5634"/>
            </a:avLst>
          </a:prstGeom>
          <a:solidFill>
            <a:srgbClr val="FFFFFF"/>
          </a:solidFill>
          <a:ln w="9525">
            <a:solidFill>
              <a:srgbClr val="DDE4E2"/>
            </a:solidFill>
            <a:prstDash val="solid"/>
          </a:ln>
        </p:spPr>
      </p:sp>
      <p:sp>
        <p:nvSpPr>
          <p:cNvPr id="18" name="Text 16"/>
          <p:cNvSpPr/>
          <p:nvPr/>
        </p:nvSpPr>
        <p:spPr>
          <a:xfrm>
            <a:off x="4859864" y="2542032"/>
            <a:ext cx="2307178" cy="1188720"/>
          </a:xfrm>
          <a:prstGeom prst="rect">
            <a:avLst/>
          </a:prstGeom>
          <a:noFill/>
          <a:ln/>
        </p:spPr>
        <p:txBody>
          <a:bodyPr wrap="square" rtlCol="0" anchor="ctr"/>
          <a:lstStyle/>
          <a:p>
            <a:pPr algn="ctr" indent="0" marL="0">
              <a:lnSpc>
                <a:spcPts val="1300"/>
              </a:lnSpc>
              <a:buNone/>
            </a:pPr>
            <a:r>
              <a:rPr lang="en-US" sz="1100" b="1" dirty="0">
                <a:solidFill>
                  <a:srgbClr val="111817"/>
                </a:solidFill>
                <a:latin typeface="Segoe UI" pitchFamily="34" charset="0"/>
                <a:ea typeface="Segoe UI" pitchFamily="34" charset="-122"/>
                <a:cs typeface="Segoe UI" pitchFamily="34" charset="-120"/>
              </a:rPr>
              <a:t>transformer × 12</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12 heads, width 768</a:t>
            </a:r>
            <a:endParaRPr lang="en-US" sz="1100" dirty="0"/>
          </a:p>
          <a:p>
            <a:pPr algn="ctr" indent="0" marL="0">
              <a:lnSpc>
                <a:spcPts val="1300"/>
              </a:lnSpc>
              <a:buNone/>
            </a:pPr>
            <a:r>
              <a:rPr lang="en-US" sz="850" dirty="0">
                <a:solidFill>
                  <a:srgbClr val="7A8886"/>
                </a:solidFill>
                <a:latin typeface="Segoe UI" pitchFamily="34" charset="0"/>
                <a:ea typeface="Segoe UI" pitchFamily="34" charset="-122"/>
                <a:cs typeface="Segoe UI" pitchFamily="34" charset="-120"/>
              </a:rPr>
              <a:t>every patch sees every other</a:t>
            </a:r>
            <a:endParaRPr lang="en-US" sz="1100" dirty="0"/>
          </a:p>
        </p:txBody>
      </p:sp>
      <p:sp>
        <p:nvSpPr>
          <p:cNvPr id="19" name="Shape 17"/>
          <p:cNvSpPr/>
          <p:nvPr/>
        </p:nvSpPr>
        <p:spPr>
          <a:xfrm>
            <a:off x="7267626" y="3136392"/>
            <a:ext cx="219456" cy="0"/>
          </a:xfrm>
          <a:prstGeom prst="line">
            <a:avLst/>
          </a:prstGeom>
          <a:noFill/>
          <a:ln w="15875">
            <a:solidFill>
              <a:srgbClr val="7A8886"/>
            </a:solidFill>
            <a:prstDash val="solid"/>
            <a:tailEnd type="triangle"/>
          </a:ln>
        </p:spPr>
      </p:sp>
      <p:sp>
        <p:nvSpPr>
          <p:cNvPr id="20" name="Shape 18"/>
          <p:cNvSpPr/>
          <p:nvPr/>
        </p:nvSpPr>
        <p:spPr>
          <a:xfrm>
            <a:off x="7532802" y="2487168"/>
            <a:ext cx="1702820" cy="1298448"/>
          </a:xfrm>
          <a:prstGeom prst="roundRect">
            <a:avLst>
              <a:gd name="adj" fmla="val 5634"/>
            </a:avLst>
          </a:prstGeom>
          <a:solidFill>
            <a:srgbClr val="FFFFFF"/>
          </a:solidFill>
          <a:ln w="9525">
            <a:solidFill>
              <a:srgbClr val="DDE4E2"/>
            </a:solidFill>
            <a:prstDash val="solid"/>
          </a:ln>
        </p:spPr>
      </p:sp>
      <p:sp>
        <p:nvSpPr>
          <p:cNvPr id="21" name="Text 19"/>
          <p:cNvSpPr/>
          <p:nvPr/>
        </p:nvSpPr>
        <p:spPr>
          <a:xfrm>
            <a:off x="7587666" y="2542032"/>
            <a:ext cx="1593092" cy="1188720"/>
          </a:xfrm>
          <a:prstGeom prst="rect">
            <a:avLst/>
          </a:prstGeom>
          <a:noFill/>
          <a:ln/>
        </p:spPr>
        <p:txBody>
          <a:bodyPr wrap="square" rtlCol="0" anchor="ctr"/>
          <a:lstStyle/>
          <a:p>
            <a:pPr algn="ctr" indent="0" marL="0">
              <a:lnSpc>
                <a:spcPts val="1300"/>
              </a:lnSpc>
              <a:buNone/>
            </a:pPr>
            <a:r>
              <a:rPr lang="en-US" sz="1100" b="1" dirty="0">
                <a:solidFill>
                  <a:srgbClr val="111817"/>
                </a:solidFill>
                <a:latin typeface="Segoe UI" pitchFamily="34" charset="0"/>
                <a:ea typeface="Segoe UI" pitchFamily="34" charset="-122"/>
                <a:cs typeface="Segoe UI" pitchFamily="34" charset="-120"/>
              </a:rPr>
              <a:t>mean over tokens</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one 768-number</a:t>
            </a:r>
            <a:endParaRPr lang="en-US" sz="1100" dirty="0"/>
          </a:p>
          <a:p>
            <a:pPr algn="ctr" indent="0" marL="0">
              <a:lnSpc>
                <a:spcPts val="1300"/>
              </a:lnSpc>
              <a:buNone/>
            </a:pPr>
            <a:r>
              <a:rPr lang="en-US" sz="850" dirty="0">
                <a:solidFill>
                  <a:srgbClr val="7A8886"/>
                </a:solidFill>
                <a:latin typeface="Segoe UI" pitchFamily="34" charset="0"/>
                <a:ea typeface="Segoe UI" pitchFamily="34" charset="-122"/>
                <a:cs typeface="Segoe UI" pitchFamily="34" charset="-120"/>
              </a:rPr>
              <a:t>description</a:t>
            </a:r>
            <a:endParaRPr lang="en-US" sz="1100" dirty="0"/>
          </a:p>
        </p:txBody>
      </p:sp>
      <p:sp>
        <p:nvSpPr>
          <p:cNvPr id="22" name="Shape 20"/>
          <p:cNvSpPr/>
          <p:nvPr/>
        </p:nvSpPr>
        <p:spPr>
          <a:xfrm>
            <a:off x="9281342" y="3136392"/>
            <a:ext cx="219456" cy="0"/>
          </a:xfrm>
          <a:prstGeom prst="line">
            <a:avLst/>
          </a:prstGeom>
          <a:noFill/>
          <a:ln w="15875">
            <a:solidFill>
              <a:srgbClr val="7A8886"/>
            </a:solidFill>
            <a:prstDash val="solid"/>
            <a:tailEnd type="triangle"/>
          </a:ln>
        </p:spPr>
      </p:sp>
      <p:sp>
        <p:nvSpPr>
          <p:cNvPr id="23" name="Shape 21"/>
          <p:cNvSpPr/>
          <p:nvPr/>
        </p:nvSpPr>
        <p:spPr>
          <a:xfrm>
            <a:off x="9546518" y="2487168"/>
            <a:ext cx="2142257" cy="1298448"/>
          </a:xfrm>
          <a:prstGeom prst="roundRect">
            <a:avLst>
              <a:gd name="adj" fmla="val 5634"/>
            </a:avLst>
          </a:prstGeom>
          <a:solidFill>
            <a:srgbClr val="FFFFFF"/>
          </a:solidFill>
          <a:ln w="9525">
            <a:solidFill>
              <a:srgbClr val="DDE4E2"/>
            </a:solidFill>
            <a:prstDash val="solid"/>
          </a:ln>
        </p:spPr>
      </p:sp>
      <p:sp>
        <p:nvSpPr>
          <p:cNvPr id="24" name="Text 22"/>
          <p:cNvSpPr/>
          <p:nvPr/>
        </p:nvSpPr>
        <p:spPr>
          <a:xfrm>
            <a:off x="9601382" y="2542032"/>
            <a:ext cx="2032529" cy="1188720"/>
          </a:xfrm>
          <a:prstGeom prst="rect">
            <a:avLst/>
          </a:prstGeom>
          <a:noFill/>
          <a:ln/>
        </p:spPr>
        <p:txBody>
          <a:bodyPr wrap="square" rtlCol="0" anchor="ctr"/>
          <a:lstStyle/>
          <a:p>
            <a:pPr algn="ctr" indent="0" marL="0">
              <a:lnSpc>
                <a:spcPts val="1300"/>
              </a:lnSpc>
              <a:buNone/>
            </a:pPr>
            <a:r>
              <a:rPr lang="en-US" sz="1100" b="1" dirty="0">
                <a:solidFill>
                  <a:srgbClr val="111817"/>
                </a:solidFill>
                <a:latin typeface="Segoe UI" pitchFamily="34" charset="0"/>
                <a:ea typeface="Segoe UI" pitchFamily="34" charset="-122"/>
                <a:cs typeface="Segoe UI" pitchFamily="34" charset="-120"/>
              </a:rPr>
              <a:t>linear probe</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768 × 3 + 3 biases</a:t>
            </a:r>
            <a:endParaRPr lang="en-US" sz="1100" dirty="0"/>
          </a:p>
          <a:p>
            <a:pPr algn="ctr" indent="0" marL="0">
              <a:lnSpc>
                <a:spcPts val="1300"/>
              </a:lnSpc>
              <a:buNone/>
            </a:pPr>
            <a:r>
              <a:rPr lang="en-US" sz="850" dirty="0">
                <a:solidFill>
                  <a:srgbClr val="7A8886"/>
                </a:solidFill>
                <a:latin typeface="Segoe UI" pitchFamily="34" charset="0"/>
                <a:ea typeface="Segoe UI" pitchFamily="34" charset="-122"/>
                <a:cs typeface="Segoe UI" pitchFamily="34" charset="-120"/>
              </a:rPr>
              <a:t>the only thing trained</a:t>
            </a:r>
            <a:endParaRPr lang="en-US" sz="1100" dirty="0"/>
          </a:p>
        </p:txBody>
      </p:sp>
      <p:sp>
        <p:nvSpPr>
          <p:cNvPr id="25" name="Shape 23"/>
          <p:cNvSpPr/>
          <p:nvPr/>
        </p:nvSpPr>
        <p:spPr>
          <a:xfrm>
            <a:off x="10617647" y="3840480"/>
            <a:ext cx="0" cy="402336"/>
          </a:xfrm>
          <a:prstGeom prst="line">
            <a:avLst/>
          </a:prstGeom>
          <a:noFill/>
          <a:ln w="15875">
            <a:solidFill>
              <a:srgbClr val="0D6D78"/>
            </a:solidFill>
            <a:prstDash val="solid"/>
            <a:tailEnd type="triangle"/>
          </a:ln>
        </p:spPr>
      </p:sp>
      <p:sp>
        <p:nvSpPr>
          <p:cNvPr id="26" name="Shape 24"/>
          <p:cNvSpPr/>
          <p:nvPr/>
        </p:nvSpPr>
        <p:spPr>
          <a:xfrm>
            <a:off x="6714439" y="4297680"/>
            <a:ext cx="1572768" cy="329184"/>
          </a:xfrm>
          <a:prstGeom prst="roundRect">
            <a:avLst>
              <a:gd name="adj" fmla="val 50000"/>
            </a:avLst>
          </a:prstGeom>
          <a:solidFill>
            <a:srgbClr val="FFFFFF"/>
          </a:solidFill>
          <a:ln w="9525">
            <a:solidFill>
              <a:srgbClr val="DDE4E2"/>
            </a:solidFill>
            <a:prstDash val="solid"/>
          </a:ln>
        </p:spPr>
      </p:sp>
      <p:sp>
        <p:nvSpPr>
          <p:cNvPr id="27" name="Text 25"/>
          <p:cNvSpPr/>
          <p:nvPr/>
        </p:nvSpPr>
        <p:spPr>
          <a:xfrm>
            <a:off x="6714439" y="4297680"/>
            <a:ext cx="1572768" cy="329184"/>
          </a:xfrm>
          <a:prstGeom prst="rect">
            <a:avLst/>
          </a:prstGeom>
          <a:noFill/>
          <a:ln/>
        </p:spPr>
        <p:txBody>
          <a:bodyPr wrap="square" rtlCol="0" anchor="ctr"/>
          <a:lstStyle/>
          <a:p>
            <a:pPr algn="ctr" indent="0" marL="0">
              <a:buNone/>
            </a:pPr>
            <a:r>
              <a:rPr lang="en-US" sz="950" dirty="0">
                <a:solidFill>
                  <a:srgbClr val="4B5A58"/>
                </a:solidFill>
                <a:latin typeface="Consolas" pitchFamily="34" charset="0"/>
                <a:ea typeface="Consolas" pitchFamily="34" charset="-122"/>
                <a:cs typeface="Consolas" pitchFamily="34" charset="-120"/>
              </a:rPr>
              <a:t>EMPTY</a:t>
            </a:r>
            <a:endParaRPr lang="en-US" sz="950" dirty="0"/>
          </a:p>
        </p:txBody>
      </p:sp>
      <p:sp>
        <p:nvSpPr>
          <p:cNvPr id="28" name="Shape 26"/>
          <p:cNvSpPr/>
          <p:nvPr/>
        </p:nvSpPr>
        <p:spPr>
          <a:xfrm>
            <a:off x="8415223" y="4297680"/>
            <a:ext cx="1572768" cy="329184"/>
          </a:xfrm>
          <a:prstGeom prst="roundRect">
            <a:avLst>
              <a:gd name="adj" fmla="val 50000"/>
            </a:avLst>
          </a:prstGeom>
          <a:solidFill>
            <a:srgbClr val="FFFFFF"/>
          </a:solidFill>
          <a:ln w="9525">
            <a:solidFill>
              <a:srgbClr val="DDE4E2"/>
            </a:solidFill>
            <a:prstDash val="solid"/>
          </a:ln>
        </p:spPr>
      </p:sp>
      <p:sp>
        <p:nvSpPr>
          <p:cNvPr id="29" name="Text 27"/>
          <p:cNvSpPr/>
          <p:nvPr/>
        </p:nvSpPr>
        <p:spPr>
          <a:xfrm>
            <a:off x="8415223" y="4297680"/>
            <a:ext cx="1572768" cy="329184"/>
          </a:xfrm>
          <a:prstGeom prst="rect">
            <a:avLst/>
          </a:prstGeom>
          <a:noFill/>
          <a:ln/>
        </p:spPr>
        <p:txBody>
          <a:bodyPr wrap="square" rtlCol="0" anchor="ctr"/>
          <a:lstStyle/>
          <a:p>
            <a:pPr algn="ctr" indent="0" marL="0">
              <a:buNone/>
            </a:pPr>
            <a:r>
              <a:rPr lang="en-US" sz="950" dirty="0">
                <a:solidFill>
                  <a:srgbClr val="4B5A58"/>
                </a:solidFill>
                <a:latin typeface="Consolas" pitchFamily="34" charset="0"/>
                <a:ea typeface="Consolas" pitchFamily="34" charset="-122"/>
                <a:cs typeface="Consolas" pitchFamily="34" charset="-120"/>
              </a:rPr>
              <a:t>ACTIVE PLAY</a:t>
            </a:r>
            <a:endParaRPr lang="en-US" sz="950" dirty="0"/>
          </a:p>
        </p:txBody>
      </p:sp>
      <p:sp>
        <p:nvSpPr>
          <p:cNvPr id="30" name="Shape 28"/>
          <p:cNvSpPr/>
          <p:nvPr/>
        </p:nvSpPr>
        <p:spPr>
          <a:xfrm>
            <a:off x="10116007" y="4297680"/>
            <a:ext cx="1572768" cy="329184"/>
          </a:xfrm>
          <a:prstGeom prst="roundRect">
            <a:avLst>
              <a:gd name="adj" fmla="val 50000"/>
            </a:avLst>
          </a:prstGeom>
          <a:solidFill>
            <a:srgbClr val="FFFFFF"/>
          </a:solidFill>
          <a:ln w="9525">
            <a:solidFill>
              <a:srgbClr val="DDE4E2"/>
            </a:solidFill>
            <a:prstDash val="solid"/>
          </a:ln>
        </p:spPr>
      </p:sp>
      <p:sp>
        <p:nvSpPr>
          <p:cNvPr id="31" name="Text 29"/>
          <p:cNvSpPr/>
          <p:nvPr/>
        </p:nvSpPr>
        <p:spPr>
          <a:xfrm>
            <a:off x="10116007" y="4297680"/>
            <a:ext cx="1572768" cy="329184"/>
          </a:xfrm>
          <a:prstGeom prst="rect">
            <a:avLst/>
          </a:prstGeom>
          <a:noFill/>
          <a:ln/>
        </p:spPr>
        <p:txBody>
          <a:bodyPr wrap="square" rtlCol="0" anchor="ctr"/>
          <a:lstStyle/>
          <a:p>
            <a:pPr algn="ctr" indent="0" marL="0">
              <a:buNone/>
            </a:pPr>
            <a:r>
              <a:rPr lang="en-US" sz="950" dirty="0">
                <a:solidFill>
                  <a:srgbClr val="4B5A58"/>
                </a:solidFill>
                <a:latin typeface="Consolas" pitchFamily="34" charset="0"/>
                <a:ea typeface="Consolas" pitchFamily="34" charset="-122"/>
                <a:cs typeface="Consolas" pitchFamily="34" charset="-120"/>
              </a:rPr>
              <a:t>MAINTENANCE</a:t>
            </a:r>
            <a:endParaRPr lang="en-US" sz="950" dirty="0"/>
          </a:p>
        </p:txBody>
      </p:sp>
      <p:sp>
        <p:nvSpPr>
          <p:cNvPr id="32" name="Text 30"/>
          <p:cNvSpPr/>
          <p:nvPr/>
        </p:nvSpPr>
        <p:spPr>
          <a:xfrm>
            <a:off x="502920" y="4297680"/>
            <a:ext cx="4206240" cy="329184"/>
          </a:xfrm>
          <a:prstGeom prst="rect">
            <a:avLst/>
          </a:prstGeom>
          <a:noFill/>
          <a:ln/>
        </p:spPr>
        <p:txBody>
          <a:bodyPr wrap="square" rtlCol="0" anchor="ctr"/>
          <a:lstStyle/>
          <a:p>
            <a:pPr indent="0" marL="0">
              <a:buNone/>
            </a:pPr>
            <a:r>
              <a:rPr lang="en-US" sz="1150" dirty="0">
                <a:solidFill>
                  <a:srgbClr val="4B5A58"/>
                </a:solidFill>
                <a:latin typeface="Segoe UI" pitchFamily="34" charset="0"/>
                <a:ea typeface="Segoe UI" pitchFamily="34" charset="-122"/>
                <a:cs typeface="Segoe UI" pitchFamily="34" charset="-120"/>
              </a:rPr>
              <a:t>37,529 frozen parameters per trained one</a:t>
            </a:r>
            <a:endParaRPr lang="en-US" sz="1150" dirty="0"/>
          </a:p>
        </p:txBody>
      </p:sp>
      <p:sp>
        <p:nvSpPr>
          <p:cNvPr id="33" name="Text 31"/>
          <p:cNvSpPr/>
          <p:nvPr/>
        </p:nvSpPr>
        <p:spPr>
          <a:xfrm>
            <a:off x="502920" y="4864608"/>
            <a:ext cx="11185855" cy="1188720"/>
          </a:xfrm>
          <a:prstGeom prst="rect">
            <a:avLst/>
          </a:prstGeom>
          <a:noFill/>
          <a:ln/>
        </p:spPr>
        <p:txBody>
          <a:bodyPr wrap="square" rtlCol="0" anchor="t"/>
          <a:lstStyle/>
          <a:p>
            <a:pPr indent="0" marL="0">
              <a:lnSpc>
                <a:spcPts val="1610"/>
              </a:lnSpc>
              <a:buNone/>
            </a:pPr>
            <a:r>
              <a:rPr lang="en-US" sz="1150" dirty="0">
                <a:solidFill>
                  <a:srgbClr val="7A8886"/>
                </a:solidFill>
                <a:latin typeface="Segoe UI" pitchFamily="34" charset="0"/>
                <a:ea typeface="Segoe UI" pitchFamily="34" charset="-122"/>
                <a:cs typeface="Segoe UI" pitchFamily="34" charset="-120"/>
              </a:rPr>
              <a:t>DINOv2 is pretrained on LVD-142M with no labels at all, so it has no notion of the three classes and no classifier: what comes out is a description of the image. Everything inside the dashed region is used exactly as downloaded and receives no gradient at any point in this project. The whole of what is fitted is the box on the right.</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4" presetClass="entr" presetSubtype="0" fill="hold" grpId="0" nodeType="afterEffect">
                                  <p:stCondLst>
                                    <p:cond delay="73"/>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20" fill="hold"/>
                                        <p:tgtEl>
                                          <p:spTgt spid="9"/>
                                        </p:tgtEl>
                                        <p:attrNameLst>
                                          <p:attrName>ppt_y</p:attrName>
                                        </p:attrNameLst>
                                      </p:cBhvr>
                                      <p:tavLst>
                                        <p:tav tm="0">
                                          <p:val>
                                            <p:strVal val="#ppt_y+0.035"/>
                                          </p:val>
                                        </p:tav>
                                        <p:tav tm="100000">
                                          <p:val>
                                            <p:strVal val="#ppt_y"/>
                                          </p:val>
                                        </p:tav>
                                      </p:tavLst>
                                    </p:anim>
                                    <p:animEffect transition="in" filter="fade">
                                      <p:cBhvr>
                                        <p:cTn id="18" dur="520"/>
                                        <p:tgtEl>
                                          <p:spTgt spid="9"/>
                                        </p:tgtEl>
                                      </p:cBhvr>
                                    </p:animEffect>
                                  </p:childTnLst>
                                </p:cTn>
                              </p:par>
                              <p:par>
                                <p:cTn id="19" presetID="34"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20" fill="hold"/>
                                        <p:tgtEl>
                                          <p:spTgt spid="10"/>
                                        </p:tgtEl>
                                        <p:attrNameLst>
                                          <p:attrName>ppt_y</p:attrName>
                                        </p:attrNameLst>
                                      </p:cBhvr>
                                      <p:tavLst>
                                        <p:tav tm="0">
                                          <p:val>
                                            <p:strVal val="#ppt_y+0.035"/>
                                          </p:val>
                                        </p:tav>
                                        <p:tav tm="100000">
                                          <p:val>
                                            <p:strVal val="#ppt_y"/>
                                          </p:val>
                                        </p:tav>
                                      </p:tavLst>
                                    </p:anim>
                                    <p:animEffect transition="in" filter="fade">
                                      <p:cBhvr>
                                        <p:cTn id="22" dur="52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4" presetClass="entr" presetSubtype="0" fill="hold" grpId="0" nodeType="afterEffect">
                                  <p:stCondLst>
                                    <p:cond delay="73"/>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20" fill="hold"/>
                                        <p:tgtEl>
                                          <p:spTgt spid="11"/>
                                        </p:tgtEl>
                                        <p:attrNameLst>
                                          <p:attrName>ppt_y</p:attrName>
                                        </p:attrNameLst>
                                      </p:cBhvr>
                                      <p:tavLst>
                                        <p:tav tm="0">
                                          <p:val>
                                            <p:strVal val="#ppt_y+0.035"/>
                                          </p:val>
                                        </p:tav>
                                        <p:tav tm="100000">
                                          <p:val>
                                            <p:strVal val="#ppt_y"/>
                                          </p:val>
                                        </p:tav>
                                      </p:tavLst>
                                    </p:anim>
                                    <p:animEffect transition="in" filter="fade">
                                      <p:cBhvr>
                                        <p:cTn id="28" dur="520"/>
                                        <p:tgtEl>
                                          <p:spTgt spid="11"/>
                                        </p:tgtEl>
                                      </p:cBhvr>
                                    </p:animEffect>
                                  </p:childTnLst>
                                </p:cTn>
                              </p:par>
                              <p:par>
                                <p:cTn id="29" presetID="34"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20" fill="hold"/>
                                        <p:tgtEl>
                                          <p:spTgt spid="12"/>
                                        </p:tgtEl>
                                        <p:attrNameLst>
                                          <p:attrName>ppt_y</p:attrName>
                                        </p:attrNameLst>
                                      </p:cBhvr>
                                      <p:tavLst>
                                        <p:tav tm="0">
                                          <p:val>
                                            <p:strVal val="#ppt_y+0.035"/>
                                          </p:val>
                                        </p:tav>
                                        <p:tav tm="100000">
                                          <p:val>
                                            <p:strVal val="#ppt_y"/>
                                          </p:val>
                                        </p:tav>
                                      </p:tavLst>
                                    </p:anim>
                                    <p:animEffect transition="in" filter="fade">
                                      <p:cBhvr>
                                        <p:cTn id="32" dur="52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34" presetClass="entr" presetSubtype="0" fill="hold" grpId="0" nodeType="afterEffect">
                                  <p:stCondLst>
                                    <p:cond delay="73"/>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20" fill="hold"/>
                                        <p:tgtEl>
                                          <p:spTgt spid="13"/>
                                        </p:tgtEl>
                                        <p:attrNameLst>
                                          <p:attrName>ppt_y</p:attrName>
                                        </p:attrNameLst>
                                      </p:cBhvr>
                                      <p:tavLst>
                                        <p:tav tm="0">
                                          <p:val>
                                            <p:strVal val="#ppt_y+0.035"/>
                                          </p:val>
                                        </p:tav>
                                        <p:tav tm="100000">
                                          <p:val>
                                            <p:strVal val="#ppt_y"/>
                                          </p:val>
                                        </p:tav>
                                      </p:tavLst>
                                    </p:anim>
                                    <p:animEffect transition="in" filter="fade">
                                      <p:cBhvr>
                                        <p:cTn id="38" dur="52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34" presetClass="entr" presetSubtype="0" fill="hold" grpId="0" nodeType="afterEffect">
                                  <p:stCondLst>
                                    <p:cond delay="73"/>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20" fill="hold"/>
                                        <p:tgtEl>
                                          <p:spTgt spid="14"/>
                                        </p:tgtEl>
                                        <p:attrNameLst>
                                          <p:attrName>ppt_y</p:attrName>
                                        </p:attrNameLst>
                                      </p:cBhvr>
                                      <p:tavLst>
                                        <p:tav tm="0">
                                          <p:val>
                                            <p:strVal val="#ppt_y+0.035"/>
                                          </p:val>
                                        </p:tav>
                                        <p:tav tm="100000">
                                          <p:val>
                                            <p:strVal val="#ppt_y"/>
                                          </p:val>
                                        </p:tav>
                                      </p:tavLst>
                                    </p:anim>
                                    <p:animEffect transition="in" filter="fade">
                                      <p:cBhvr>
                                        <p:cTn id="44" dur="520"/>
                                        <p:tgtEl>
                                          <p:spTgt spid="14"/>
                                        </p:tgtEl>
                                      </p:cBhvr>
                                    </p:animEffect>
                                  </p:childTnLst>
                                </p:cTn>
                              </p:par>
                              <p:par>
                                <p:cTn id="45" presetID="34"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20" fill="hold"/>
                                        <p:tgtEl>
                                          <p:spTgt spid="15"/>
                                        </p:tgtEl>
                                        <p:attrNameLst>
                                          <p:attrName>ppt_y</p:attrName>
                                        </p:attrNameLst>
                                      </p:cBhvr>
                                      <p:tavLst>
                                        <p:tav tm="0">
                                          <p:val>
                                            <p:strVal val="#ppt_y+0.035"/>
                                          </p:val>
                                        </p:tav>
                                        <p:tav tm="100000">
                                          <p:val>
                                            <p:strVal val="#ppt_y"/>
                                          </p:val>
                                        </p:tav>
                                      </p:tavLst>
                                    </p:anim>
                                    <p:animEffect transition="in" filter="fade">
                                      <p:cBhvr>
                                        <p:cTn id="48" dur="52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34" presetClass="entr" presetSubtype="0" fill="hold" grpId="0" nodeType="afterEffect">
                                  <p:stCondLst>
                                    <p:cond delay="73"/>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20" fill="hold"/>
                                        <p:tgtEl>
                                          <p:spTgt spid="16"/>
                                        </p:tgtEl>
                                        <p:attrNameLst>
                                          <p:attrName>ppt_y</p:attrName>
                                        </p:attrNameLst>
                                      </p:cBhvr>
                                      <p:tavLst>
                                        <p:tav tm="0">
                                          <p:val>
                                            <p:strVal val="#ppt_y+0.035"/>
                                          </p:val>
                                        </p:tav>
                                        <p:tav tm="100000">
                                          <p:val>
                                            <p:strVal val="#ppt_y"/>
                                          </p:val>
                                        </p:tav>
                                      </p:tavLst>
                                    </p:anim>
                                    <p:animEffect transition="in" filter="fade">
                                      <p:cBhvr>
                                        <p:cTn id="54" dur="52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34" presetClass="entr" presetSubtype="0" fill="hold" grpId="0" nodeType="afterEffect">
                                  <p:stCondLst>
                                    <p:cond delay="73"/>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20" fill="hold"/>
                                        <p:tgtEl>
                                          <p:spTgt spid="17"/>
                                        </p:tgtEl>
                                        <p:attrNameLst>
                                          <p:attrName>ppt_y</p:attrName>
                                        </p:attrNameLst>
                                      </p:cBhvr>
                                      <p:tavLst>
                                        <p:tav tm="0">
                                          <p:val>
                                            <p:strVal val="#ppt_y+0.035"/>
                                          </p:val>
                                        </p:tav>
                                        <p:tav tm="100000">
                                          <p:val>
                                            <p:strVal val="#ppt_y"/>
                                          </p:val>
                                        </p:tav>
                                      </p:tavLst>
                                    </p:anim>
                                    <p:animEffect transition="in" filter="fade">
                                      <p:cBhvr>
                                        <p:cTn id="60" dur="520"/>
                                        <p:tgtEl>
                                          <p:spTgt spid="17"/>
                                        </p:tgtEl>
                                      </p:cBhvr>
                                    </p:animEffect>
                                  </p:childTnLst>
                                </p:cTn>
                              </p:par>
                              <p:par>
                                <p:cTn id="61" presetID="34"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20" fill="hold"/>
                                        <p:tgtEl>
                                          <p:spTgt spid="18"/>
                                        </p:tgtEl>
                                        <p:attrNameLst>
                                          <p:attrName>ppt_y</p:attrName>
                                        </p:attrNameLst>
                                      </p:cBhvr>
                                      <p:tavLst>
                                        <p:tav tm="0">
                                          <p:val>
                                            <p:strVal val="#ppt_y+0.035"/>
                                          </p:val>
                                        </p:tav>
                                        <p:tav tm="100000">
                                          <p:val>
                                            <p:strVal val="#ppt_y"/>
                                          </p:val>
                                        </p:tav>
                                      </p:tavLst>
                                    </p:anim>
                                    <p:animEffect transition="in" filter="fade">
                                      <p:cBhvr>
                                        <p:cTn id="64" dur="52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34" presetClass="entr" presetSubtype="0" fill="hold" grpId="0" nodeType="afterEffect">
                                  <p:stCondLst>
                                    <p:cond delay="73"/>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20" fill="hold"/>
                                        <p:tgtEl>
                                          <p:spTgt spid="19"/>
                                        </p:tgtEl>
                                        <p:attrNameLst>
                                          <p:attrName>ppt_y</p:attrName>
                                        </p:attrNameLst>
                                      </p:cBhvr>
                                      <p:tavLst>
                                        <p:tav tm="0">
                                          <p:val>
                                            <p:strVal val="#ppt_y+0.035"/>
                                          </p:val>
                                        </p:tav>
                                        <p:tav tm="100000">
                                          <p:val>
                                            <p:strVal val="#ppt_y"/>
                                          </p:val>
                                        </p:tav>
                                      </p:tavLst>
                                    </p:anim>
                                    <p:animEffect transition="in" filter="fade">
                                      <p:cBhvr>
                                        <p:cTn id="70" dur="520"/>
                                        <p:tgtEl>
                                          <p:spTgt spid="19"/>
                                        </p:tgtEl>
                                      </p:cBhvr>
                                    </p:animEffect>
                                  </p:childTnLst>
                                </p:cTn>
                              </p:par>
                            </p:childTnLst>
                          </p:cTn>
                        </p:par>
                      </p:childTnLst>
                    </p:cTn>
                  </p:par>
                  <p:par>
                    <p:cTn id="71" fill="hold">
                      <p:stCondLst>
                        <p:cond delay="indefinite"/>
                      </p:stCondLst>
                      <p:childTnLst>
                        <p:par>
                          <p:cTn id="72" fill="hold">
                            <p:stCondLst>
                              <p:cond delay="0"/>
                            </p:stCondLst>
                            <p:childTnLst>
                              <p:par>
                                <p:cTn id="73" presetID="34" presetClass="entr" presetSubtype="0" fill="hold" grpId="0" nodeType="afterEffect">
                                  <p:stCondLst>
                                    <p:cond delay="73"/>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20" fill="hold"/>
                                        <p:tgtEl>
                                          <p:spTgt spid="20"/>
                                        </p:tgtEl>
                                        <p:attrNameLst>
                                          <p:attrName>ppt_y</p:attrName>
                                        </p:attrNameLst>
                                      </p:cBhvr>
                                      <p:tavLst>
                                        <p:tav tm="0">
                                          <p:val>
                                            <p:strVal val="#ppt_y+0.035"/>
                                          </p:val>
                                        </p:tav>
                                        <p:tav tm="100000">
                                          <p:val>
                                            <p:strVal val="#ppt_y"/>
                                          </p:val>
                                        </p:tav>
                                      </p:tavLst>
                                    </p:anim>
                                    <p:animEffect transition="in" filter="fade">
                                      <p:cBhvr>
                                        <p:cTn id="76" dur="520"/>
                                        <p:tgtEl>
                                          <p:spTgt spid="20"/>
                                        </p:tgtEl>
                                      </p:cBhvr>
                                    </p:animEffect>
                                  </p:childTnLst>
                                </p:cTn>
                              </p:par>
                              <p:par>
                                <p:cTn id="77" presetID="34"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20" fill="hold"/>
                                        <p:tgtEl>
                                          <p:spTgt spid="21"/>
                                        </p:tgtEl>
                                        <p:attrNameLst>
                                          <p:attrName>ppt_y</p:attrName>
                                        </p:attrNameLst>
                                      </p:cBhvr>
                                      <p:tavLst>
                                        <p:tav tm="0">
                                          <p:val>
                                            <p:strVal val="#ppt_y+0.035"/>
                                          </p:val>
                                        </p:tav>
                                        <p:tav tm="100000">
                                          <p:val>
                                            <p:strVal val="#ppt_y"/>
                                          </p:val>
                                        </p:tav>
                                      </p:tavLst>
                                    </p:anim>
                                    <p:animEffect transition="in" filter="fade">
                                      <p:cBhvr>
                                        <p:cTn id="80" dur="520"/>
                                        <p:tgtEl>
                                          <p:spTgt spid="21"/>
                                        </p:tgtEl>
                                      </p:cBhvr>
                                    </p:animEffect>
                                  </p:childTnLst>
                                </p:cTn>
                              </p:par>
                            </p:childTnLst>
                          </p:cTn>
                        </p:par>
                      </p:childTnLst>
                    </p:cTn>
                  </p:par>
                  <p:par>
                    <p:cTn id="81" fill="hold">
                      <p:stCondLst>
                        <p:cond delay="indefinite"/>
                      </p:stCondLst>
                      <p:childTnLst>
                        <p:par>
                          <p:cTn id="82" fill="hold">
                            <p:stCondLst>
                              <p:cond delay="0"/>
                            </p:stCondLst>
                            <p:childTnLst>
                              <p:par>
                                <p:cTn id="83" presetID="34" presetClass="entr" presetSubtype="0" fill="hold" grpId="0" nodeType="afterEffect">
                                  <p:stCondLst>
                                    <p:cond delay="73"/>
                                  </p:stCondLst>
                                  <p:childTnLst>
                                    <p:set>
                                      <p:cBhvr>
                                        <p:cTn id="84" dur="1" fill="hold">
                                          <p:stCondLst>
                                            <p:cond delay="0"/>
                                          </p:stCondLst>
                                        </p:cTn>
                                        <p:tgtEl>
                                          <p:spTgt spid="22"/>
                                        </p:tgtEl>
                                        <p:attrNameLst>
                                          <p:attrName>style.visibility</p:attrName>
                                        </p:attrNameLst>
                                      </p:cBhvr>
                                      <p:to>
                                        <p:strVal val="visible"/>
                                      </p:to>
                                    </p:set>
                                    <p:anim calcmode="lin" valueType="num">
                                      <p:cBhvr additive="base">
                                        <p:cTn id="85" dur="520" fill="hold"/>
                                        <p:tgtEl>
                                          <p:spTgt spid="22"/>
                                        </p:tgtEl>
                                        <p:attrNameLst>
                                          <p:attrName>ppt_y</p:attrName>
                                        </p:attrNameLst>
                                      </p:cBhvr>
                                      <p:tavLst>
                                        <p:tav tm="0">
                                          <p:val>
                                            <p:strVal val="#ppt_y+0.035"/>
                                          </p:val>
                                        </p:tav>
                                        <p:tav tm="100000">
                                          <p:val>
                                            <p:strVal val="#ppt_y"/>
                                          </p:val>
                                        </p:tav>
                                      </p:tavLst>
                                    </p:anim>
                                    <p:animEffect transition="in" filter="fade">
                                      <p:cBhvr>
                                        <p:cTn id="86" dur="520"/>
                                        <p:tgtEl>
                                          <p:spTgt spid="22"/>
                                        </p:tgtEl>
                                      </p:cBhvr>
                                    </p:animEffect>
                                  </p:childTnLst>
                                </p:cTn>
                              </p:par>
                            </p:childTnLst>
                          </p:cTn>
                        </p:par>
                      </p:childTnLst>
                    </p:cTn>
                  </p:par>
                  <p:par>
                    <p:cTn id="87" fill="hold">
                      <p:stCondLst>
                        <p:cond delay="indefinite"/>
                      </p:stCondLst>
                      <p:childTnLst>
                        <p:par>
                          <p:cTn id="88" fill="hold">
                            <p:stCondLst>
                              <p:cond delay="0"/>
                            </p:stCondLst>
                            <p:childTnLst>
                              <p:par>
                                <p:cTn id="89" presetID="34" presetClass="entr" presetSubtype="0" fill="hold" grpId="0" nodeType="afterEffect">
                                  <p:stCondLst>
                                    <p:cond delay="73"/>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520" fill="hold"/>
                                        <p:tgtEl>
                                          <p:spTgt spid="23"/>
                                        </p:tgtEl>
                                        <p:attrNameLst>
                                          <p:attrName>ppt_y</p:attrName>
                                        </p:attrNameLst>
                                      </p:cBhvr>
                                      <p:tavLst>
                                        <p:tav tm="0">
                                          <p:val>
                                            <p:strVal val="#ppt_y+0.035"/>
                                          </p:val>
                                        </p:tav>
                                        <p:tav tm="100000">
                                          <p:val>
                                            <p:strVal val="#ppt_y"/>
                                          </p:val>
                                        </p:tav>
                                      </p:tavLst>
                                    </p:anim>
                                    <p:animEffect transition="in" filter="fade">
                                      <p:cBhvr>
                                        <p:cTn id="92" dur="520"/>
                                        <p:tgtEl>
                                          <p:spTgt spid="23"/>
                                        </p:tgtEl>
                                      </p:cBhvr>
                                    </p:animEffect>
                                  </p:childTnLst>
                                </p:cTn>
                              </p:par>
                              <p:par>
                                <p:cTn id="93" presetID="34" presetClass="entr" presetSubtype="0"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anim calcmode="lin" valueType="num">
                                      <p:cBhvr additive="base">
                                        <p:cTn id="95" dur="520" fill="hold"/>
                                        <p:tgtEl>
                                          <p:spTgt spid="24"/>
                                        </p:tgtEl>
                                        <p:attrNameLst>
                                          <p:attrName>ppt_y</p:attrName>
                                        </p:attrNameLst>
                                      </p:cBhvr>
                                      <p:tavLst>
                                        <p:tav tm="0">
                                          <p:val>
                                            <p:strVal val="#ppt_y+0.035"/>
                                          </p:val>
                                        </p:tav>
                                        <p:tav tm="100000">
                                          <p:val>
                                            <p:strVal val="#ppt_y"/>
                                          </p:val>
                                        </p:tav>
                                      </p:tavLst>
                                    </p:anim>
                                    <p:animEffect transition="in" filter="fade">
                                      <p:cBhvr>
                                        <p:cTn id="96" dur="520"/>
                                        <p:tgtEl>
                                          <p:spTgt spid="24"/>
                                        </p:tgtEl>
                                      </p:cBhvr>
                                    </p:animEffect>
                                  </p:childTnLst>
                                </p:cTn>
                              </p:par>
                            </p:childTnLst>
                          </p:cTn>
                        </p:par>
                      </p:childTnLst>
                    </p:cTn>
                  </p:par>
                  <p:par>
                    <p:cTn id="97" fill="hold">
                      <p:stCondLst>
                        <p:cond delay="indefinite"/>
                      </p:stCondLst>
                      <p:childTnLst>
                        <p:par>
                          <p:cTn id="98" fill="hold">
                            <p:stCondLst>
                              <p:cond delay="0"/>
                            </p:stCondLst>
                            <p:childTnLst>
                              <p:par>
                                <p:cTn id="99" presetID="34" presetClass="entr" presetSubtype="0" fill="hold" grpId="0" nodeType="afterEffect">
                                  <p:stCondLst>
                                    <p:cond delay="73"/>
                                  </p:stCondLst>
                                  <p:childTnLst>
                                    <p:set>
                                      <p:cBhvr>
                                        <p:cTn id="100" dur="1" fill="hold">
                                          <p:stCondLst>
                                            <p:cond delay="0"/>
                                          </p:stCondLst>
                                        </p:cTn>
                                        <p:tgtEl>
                                          <p:spTgt spid="25"/>
                                        </p:tgtEl>
                                        <p:attrNameLst>
                                          <p:attrName>style.visibility</p:attrName>
                                        </p:attrNameLst>
                                      </p:cBhvr>
                                      <p:to>
                                        <p:strVal val="visible"/>
                                      </p:to>
                                    </p:set>
                                    <p:anim calcmode="lin" valueType="num">
                                      <p:cBhvr additive="base">
                                        <p:cTn id="101" dur="520" fill="hold"/>
                                        <p:tgtEl>
                                          <p:spTgt spid="25"/>
                                        </p:tgtEl>
                                        <p:attrNameLst>
                                          <p:attrName>ppt_y</p:attrName>
                                        </p:attrNameLst>
                                      </p:cBhvr>
                                      <p:tavLst>
                                        <p:tav tm="0">
                                          <p:val>
                                            <p:strVal val="#ppt_y+0.035"/>
                                          </p:val>
                                        </p:tav>
                                        <p:tav tm="100000">
                                          <p:val>
                                            <p:strVal val="#ppt_y"/>
                                          </p:val>
                                        </p:tav>
                                      </p:tavLst>
                                    </p:anim>
                                    <p:animEffect transition="in" filter="fade">
                                      <p:cBhvr>
                                        <p:cTn id="102" dur="520"/>
                                        <p:tgtEl>
                                          <p:spTgt spid="25"/>
                                        </p:tgtEl>
                                      </p:cBhvr>
                                    </p:animEffect>
                                  </p:childTnLst>
                                </p:cTn>
                              </p:par>
                            </p:childTnLst>
                          </p:cTn>
                        </p:par>
                      </p:childTnLst>
                    </p:cTn>
                  </p:par>
                  <p:par>
                    <p:cTn id="103" fill="hold">
                      <p:stCondLst>
                        <p:cond delay="indefinite"/>
                      </p:stCondLst>
                      <p:childTnLst>
                        <p:par>
                          <p:cTn id="104" fill="hold">
                            <p:stCondLst>
                              <p:cond delay="0"/>
                            </p:stCondLst>
                            <p:childTnLst>
                              <p:par>
                                <p:cTn id="105" presetID="34" presetClass="entr" presetSubtype="0" fill="hold" grpId="0" nodeType="afterEffect">
                                  <p:stCondLst>
                                    <p:cond delay="73"/>
                                  </p:stCondLst>
                                  <p:childTnLst>
                                    <p:set>
                                      <p:cBhvr>
                                        <p:cTn id="106" dur="1" fill="hold">
                                          <p:stCondLst>
                                            <p:cond delay="0"/>
                                          </p:stCondLst>
                                        </p:cTn>
                                        <p:tgtEl>
                                          <p:spTgt spid="26"/>
                                        </p:tgtEl>
                                        <p:attrNameLst>
                                          <p:attrName>style.visibility</p:attrName>
                                        </p:attrNameLst>
                                      </p:cBhvr>
                                      <p:to>
                                        <p:strVal val="visible"/>
                                      </p:to>
                                    </p:set>
                                    <p:anim calcmode="lin" valueType="num">
                                      <p:cBhvr additive="base">
                                        <p:cTn id="107" dur="520" fill="hold"/>
                                        <p:tgtEl>
                                          <p:spTgt spid="26"/>
                                        </p:tgtEl>
                                        <p:attrNameLst>
                                          <p:attrName>ppt_y</p:attrName>
                                        </p:attrNameLst>
                                      </p:cBhvr>
                                      <p:tavLst>
                                        <p:tav tm="0">
                                          <p:val>
                                            <p:strVal val="#ppt_y+0.035"/>
                                          </p:val>
                                        </p:tav>
                                        <p:tav tm="100000">
                                          <p:val>
                                            <p:strVal val="#ppt_y"/>
                                          </p:val>
                                        </p:tav>
                                      </p:tavLst>
                                    </p:anim>
                                    <p:animEffect transition="in" filter="fade">
                                      <p:cBhvr>
                                        <p:cTn id="108" dur="520"/>
                                        <p:tgtEl>
                                          <p:spTgt spid="26"/>
                                        </p:tgtEl>
                                      </p:cBhvr>
                                    </p:animEffect>
                                  </p:childTnLst>
                                </p:cTn>
                              </p:par>
                              <p:par>
                                <p:cTn id="109" presetID="34" presetClass="entr" presetSubtype="0" fill="hold" grpId="0" nodeType="withEffect">
                                  <p:stCondLst>
                                    <p:cond delay="0"/>
                                  </p:stCondLst>
                                  <p:childTnLst>
                                    <p:set>
                                      <p:cBhvr>
                                        <p:cTn id="110" dur="1" fill="hold">
                                          <p:stCondLst>
                                            <p:cond delay="0"/>
                                          </p:stCondLst>
                                        </p:cTn>
                                        <p:tgtEl>
                                          <p:spTgt spid="27"/>
                                        </p:tgtEl>
                                        <p:attrNameLst>
                                          <p:attrName>style.visibility</p:attrName>
                                        </p:attrNameLst>
                                      </p:cBhvr>
                                      <p:to>
                                        <p:strVal val="visible"/>
                                      </p:to>
                                    </p:set>
                                    <p:anim calcmode="lin" valueType="num">
                                      <p:cBhvr additive="base">
                                        <p:cTn id="111" dur="520" fill="hold"/>
                                        <p:tgtEl>
                                          <p:spTgt spid="27"/>
                                        </p:tgtEl>
                                        <p:attrNameLst>
                                          <p:attrName>ppt_y</p:attrName>
                                        </p:attrNameLst>
                                      </p:cBhvr>
                                      <p:tavLst>
                                        <p:tav tm="0">
                                          <p:val>
                                            <p:strVal val="#ppt_y+0.035"/>
                                          </p:val>
                                        </p:tav>
                                        <p:tav tm="100000">
                                          <p:val>
                                            <p:strVal val="#ppt_y"/>
                                          </p:val>
                                        </p:tav>
                                      </p:tavLst>
                                    </p:anim>
                                    <p:animEffect transition="in" filter="fade">
                                      <p:cBhvr>
                                        <p:cTn id="112" dur="520"/>
                                        <p:tgtEl>
                                          <p:spTgt spid="27"/>
                                        </p:tgtEl>
                                      </p:cBhvr>
                                    </p:animEffect>
                                  </p:childTnLst>
                                </p:cTn>
                              </p:par>
                              <p:par>
                                <p:cTn id="113" presetID="34" presetClass="entr" presetSubtype="0" fill="hold" grpId="0" nodeType="withEffect">
                                  <p:stCondLst>
                                    <p:cond delay="0"/>
                                  </p:stCondLst>
                                  <p:childTnLst>
                                    <p:set>
                                      <p:cBhvr>
                                        <p:cTn id="114" dur="1" fill="hold">
                                          <p:stCondLst>
                                            <p:cond delay="0"/>
                                          </p:stCondLst>
                                        </p:cTn>
                                        <p:tgtEl>
                                          <p:spTgt spid="28"/>
                                        </p:tgtEl>
                                        <p:attrNameLst>
                                          <p:attrName>style.visibility</p:attrName>
                                        </p:attrNameLst>
                                      </p:cBhvr>
                                      <p:to>
                                        <p:strVal val="visible"/>
                                      </p:to>
                                    </p:set>
                                    <p:anim calcmode="lin" valueType="num">
                                      <p:cBhvr additive="base">
                                        <p:cTn id="115" dur="520" fill="hold"/>
                                        <p:tgtEl>
                                          <p:spTgt spid="28"/>
                                        </p:tgtEl>
                                        <p:attrNameLst>
                                          <p:attrName>ppt_y</p:attrName>
                                        </p:attrNameLst>
                                      </p:cBhvr>
                                      <p:tavLst>
                                        <p:tav tm="0">
                                          <p:val>
                                            <p:strVal val="#ppt_y+0.035"/>
                                          </p:val>
                                        </p:tav>
                                        <p:tav tm="100000">
                                          <p:val>
                                            <p:strVal val="#ppt_y"/>
                                          </p:val>
                                        </p:tav>
                                      </p:tavLst>
                                    </p:anim>
                                    <p:animEffect transition="in" filter="fade">
                                      <p:cBhvr>
                                        <p:cTn id="116" dur="520"/>
                                        <p:tgtEl>
                                          <p:spTgt spid="28"/>
                                        </p:tgtEl>
                                      </p:cBhvr>
                                    </p:animEffect>
                                  </p:childTnLst>
                                </p:cTn>
                              </p:par>
                              <p:par>
                                <p:cTn id="117" presetID="34" presetClass="entr" presetSubtype="0" fill="hold" grpId="0" nodeType="withEffect">
                                  <p:stCondLst>
                                    <p:cond delay="0"/>
                                  </p:stCondLst>
                                  <p:childTnLst>
                                    <p:set>
                                      <p:cBhvr>
                                        <p:cTn id="118" dur="1" fill="hold">
                                          <p:stCondLst>
                                            <p:cond delay="0"/>
                                          </p:stCondLst>
                                        </p:cTn>
                                        <p:tgtEl>
                                          <p:spTgt spid="29"/>
                                        </p:tgtEl>
                                        <p:attrNameLst>
                                          <p:attrName>style.visibility</p:attrName>
                                        </p:attrNameLst>
                                      </p:cBhvr>
                                      <p:to>
                                        <p:strVal val="visible"/>
                                      </p:to>
                                    </p:set>
                                    <p:anim calcmode="lin" valueType="num">
                                      <p:cBhvr additive="base">
                                        <p:cTn id="119" dur="520" fill="hold"/>
                                        <p:tgtEl>
                                          <p:spTgt spid="29"/>
                                        </p:tgtEl>
                                        <p:attrNameLst>
                                          <p:attrName>ppt_y</p:attrName>
                                        </p:attrNameLst>
                                      </p:cBhvr>
                                      <p:tavLst>
                                        <p:tav tm="0">
                                          <p:val>
                                            <p:strVal val="#ppt_y+0.035"/>
                                          </p:val>
                                        </p:tav>
                                        <p:tav tm="100000">
                                          <p:val>
                                            <p:strVal val="#ppt_y"/>
                                          </p:val>
                                        </p:tav>
                                      </p:tavLst>
                                    </p:anim>
                                    <p:animEffect transition="in" filter="fade">
                                      <p:cBhvr>
                                        <p:cTn id="120" dur="520"/>
                                        <p:tgtEl>
                                          <p:spTgt spid="29"/>
                                        </p:tgtEl>
                                      </p:cBhvr>
                                    </p:animEffect>
                                  </p:childTnLst>
                                </p:cTn>
                              </p:par>
                              <p:par>
                                <p:cTn id="121" presetID="34" presetClass="entr" presetSubtype="0" fill="hold" grpId="0" nodeType="withEffect">
                                  <p:stCondLst>
                                    <p:cond delay="0"/>
                                  </p:stCondLst>
                                  <p:childTnLst>
                                    <p:set>
                                      <p:cBhvr>
                                        <p:cTn id="122" dur="1" fill="hold">
                                          <p:stCondLst>
                                            <p:cond delay="0"/>
                                          </p:stCondLst>
                                        </p:cTn>
                                        <p:tgtEl>
                                          <p:spTgt spid="30"/>
                                        </p:tgtEl>
                                        <p:attrNameLst>
                                          <p:attrName>style.visibility</p:attrName>
                                        </p:attrNameLst>
                                      </p:cBhvr>
                                      <p:to>
                                        <p:strVal val="visible"/>
                                      </p:to>
                                    </p:set>
                                    <p:anim calcmode="lin" valueType="num">
                                      <p:cBhvr additive="base">
                                        <p:cTn id="123" dur="520" fill="hold"/>
                                        <p:tgtEl>
                                          <p:spTgt spid="30"/>
                                        </p:tgtEl>
                                        <p:attrNameLst>
                                          <p:attrName>ppt_y</p:attrName>
                                        </p:attrNameLst>
                                      </p:cBhvr>
                                      <p:tavLst>
                                        <p:tav tm="0">
                                          <p:val>
                                            <p:strVal val="#ppt_y+0.035"/>
                                          </p:val>
                                        </p:tav>
                                        <p:tav tm="100000">
                                          <p:val>
                                            <p:strVal val="#ppt_y"/>
                                          </p:val>
                                        </p:tav>
                                      </p:tavLst>
                                    </p:anim>
                                    <p:animEffect transition="in" filter="fade">
                                      <p:cBhvr>
                                        <p:cTn id="124" dur="520"/>
                                        <p:tgtEl>
                                          <p:spTgt spid="30"/>
                                        </p:tgtEl>
                                      </p:cBhvr>
                                    </p:animEffect>
                                  </p:childTnLst>
                                </p:cTn>
                              </p:par>
                              <p:par>
                                <p:cTn id="125" presetID="34" presetClass="entr" presetSubtype="0" fill="hold" grpId="0" nodeType="withEffect">
                                  <p:stCondLst>
                                    <p:cond delay="0"/>
                                  </p:stCondLst>
                                  <p:childTnLst>
                                    <p:set>
                                      <p:cBhvr>
                                        <p:cTn id="126" dur="1" fill="hold">
                                          <p:stCondLst>
                                            <p:cond delay="0"/>
                                          </p:stCondLst>
                                        </p:cTn>
                                        <p:tgtEl>
                                          <p:spTgt spid="31"/>
                                        </p:tgtEl>
                                        <p:attrNameLst>
                                          <p:attrName>style.visibility</p:attrName>
                                        </p:attrNameLst>
                                      </p:cBhvr>
                                      <p:to>
                                        <p:strVal val="visible"/>
                                      </p:to>
                                    </p:set>
                                    <p:anim calcmode="lin" valueType="num">
                                      <p:cBhvr additive="base">
                                        <p:cTn id="127" dur="520" fill="hold"/>
                                        <p:tgtEl>
                                          <p:spTgt spid="31"/>
                                        </p:tgtEl>
                                        <p:attrNameLst>
                                          <p:attrName>ppt_y</p:attrName>
                                        </p:attrNameLst>
                                      </p:cBhvr>
                                      <p:tavLst>
                                        <p:tav tm="0">
                                          <p:val>
                                            <p:strVal val="#ppt_y+0.035"/>
                                          </p:val>
                                        </p:tav>
                                        <p:tav tm="100000">
                                          <p:val>
                                            <p:strVal val="#ppt_y"/>
                                          </p:val>
                                        </p:tav>
                                      </p:tavLst>
                                    </p:anim>
                                    <p:animEffect transition="in" filter="fade">
                                      <p:cBhvr>
                                        <p:cTn id="128" dur="520"/>
                                        <p:tgtEl>
                                          <p:spTgt spid="31"/>
                                        </p:tgtEl>
                                      </p:cBhvr>
                                    </p:animEffect>
                                  </p:childTnLst>
                                </p:cTn>
                              </p:par>
                            </p:childTnLst>
                          </p:cTn>
                        </p:par>
                      </p:childTnLst>
                    </p:cTn>
                  </p:par>
                  <p:par>
                    <p:cTn id="129" fill="hold">
                      <p:stCondLst>
                        <p:cond delay="indefinite"/>
                      </p:stCondLst>
                      <p:childTnLst>
                        <p:par>
                          <p:cTn id="130" fill="hold">
                            <p:stCondLst>
                              <p:cond delay="0"/>
                            </p:stCondLst>
                            <p:childTnLst>
                              <p:par>
                                <p:cTn id="131" presetID="34" presetClass="entr" presetSubtype="0" fill="hold" grpId="0" nodeType="afterEffect">
                                  <p:stCondLst>
                                    <p:cond delay="73"/>
                                  </p:stCondLst>
                                  <p:childTnLst>
                                    <p:set>
                                      <p:cBhvr>
                                        <p:cTn id="132" dur="1" fill="hold">
                                          <p:stCondLst>
                                            <p:cond delay="0"/>
                                          </p:stCondLst>
                                        </p:cTn>
                                        <p:tgtEl>
                                          <p:spTgt spid="32"/>
                                        </p:tgtEl>
                                        <p:attrNameLst>
                                          <p:attrName>style.visibility</p:attrName>
                                        </p:attrNameLst>
                                      </p:cBhvr>
                                      <p:to>
                                        <p:strVal val="visible"/>
                                      </p:to>
                                    </p:set>
                                    <p:anim calcmode="lin" valueType="num">
                                      <p:cBhvr additive="base">
                                        <p:cTn id="133" dur="520" fill="hold"/>
                                        <p:tgtEl>
                                          <p:spTgt spid="32"/>
                                        </p:tgtEl>
                                        <p:attrNameLst>
                                          <p:attrName>ppt_y</p:attrName>
                                        </p:attrNameLst>
                                      </p:cBhvr>
                                      <p:tavLst>
                                        <p:tav tm="0">
                                          <p:val>
                                            <p:strVal val="#ppt_y+0.035"/>
                                          </p:val>
                                        </p:tav>
                                        <p:tav tm="100000">
                                          <p:val>
                                            <p:strVal val="#ppt_y"/>
                                          </p:val>
                                        </p:tav>
                                      </p:tavLst>
                                    </p:anim>
                                    <p:animEffect transition="in" filter="fade">
                                      <p:cBhvr>
                                        <p:cTn id="134" dur="520"/>
                                        <p:tgtEl>
                                          <p:spTgt spid="32"/>
                                        </p:tgtEl>
                                      </p:cBhvr>
                                    </p:animEffect>
                                  </p:childTnLst>
                                </p:cTn>
                              </p:par>
                            </p:childTnLst>
                          </p:cTn>
                        </p:par>
                      </p:childTnLst>
                    </p:cTn>
                  </p:par>
                  <p:par>
                    <p:cTn id="135" fill="hold">
                      <p:stCondLst>
                        <p:cond delay="indefinite"/>
                      </p:stCondLst>
                      <p:childTnLst>
                        <p:par>
                          <p:cTn id="136" fill="hold">
                            <p:stCondLst>
                              <p:cond delay="0"/>
                            </p:stCondLst>
                            <p:childTnLst>
                              <p:par>
                                <p:cTn id="137" presetID="34" presetClass="entr" presetSubtype="0" fill="hold" grpId="0" nodeType="afterEffect">
                                  <p:stCondLst>
                                    <p:cond delay="73"/>
                                  </p:stCondLst>
                                  <p:childTnLst>
                                    <p:set>
                                      <p:cBhvr>
                                        <p:cTn id="138" dur="1" fill="hold">
                                          <p:stCondLst>
                                            <p:cond delay="0"/>
                                          </p:stCondLst>
                                        </p:cTn>
                                        <p:tgtEl>
                                          <p:spTgt spid="33"/>
                                        </p:tgtEl>
                                        <p:attrNameLst>
                                          <p:attrName>style.visibility</p:attrName>
                                        </p:attrNameLst>
                                      </p:cBhvr>
                                      <p:to>
                                        <p:strVal val="visible"/>
                                      </p:to>
                                    </p:set>
                                    <p:anim calcmode="lin" valueType="num">
                                      <p:cBhvr additive="base">
                                        <p:cTn id="139" dur="520" fill="hold"/>
                                        <p:tgtEl>
                                          <p:spTgt spid="33"/>
                                        </p:tgtEl>
                                        <p:attrNameLst>
                                          <p:attrName>ppt_y</p:attrName>
                                        </p:attrNameLst>
                                      </p:cBhvr>
                                      <p:tavLst>
                                        <p:tav tm="0">
                                          <p:val>
                                            <p:strVal val="#ppt_y+0.035"/>
                                          </p:val>
                                        </p:tav>
                                        <p:tav tm="100000">
                                          <p:val>
                                            <p:strVal val="#ppt_y"/>
                                          </p:val>
                                        </p:tav>
                                      </p:tavLst>
                                    </p:anim>
                                    <p:animEffect transition="in" filter="fade">
                                      <p:cBhvr>
                                        <p:cTn id="140" dur="5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7.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2 — DEEP LEARNING METHODS</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The full model comparison</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0D6D78"/>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12</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812341"/>
          <a:ext cx="11185855" cy="914400"/>
        </p:xfrm>
        <a:graphic>
          <a:graphicData uri="http://schemas.openxmlformats.org/drawingml/2006/table">
            <a:tbl>
              <a:tblPr/>
              <a:tblGrid>
                <a:gridCol w="2331720"/>
                <a:gridCol w="1264876"/>
                <a:gridCol w="1264876"/>
                <a:gridCol w="1264876"/>
                <a:gridCol w="1264876"/>
                <a:gridCol w="1264876"/>
                <a:gridCol w="1264876"/>
                <a:gridCol w="1264876"/>
              </a:tblGrid>
              <a:tr h="896112">
                <a:tc>
                  <a:txBody>
                    <a:bodyPr/>
                    <a:lstStyle/>
                    <a:p>
                      <a:pPr indent="0" marL="0">
                        <a:buNone/>
                      </a:pPr>
                      <a:r>
                        <a:rPr lang="en-US" sz="900" b="1" spc="120" kern="0" dirty="0">
                          <a:solidFill>
                            <a:srgbClr val="7A8886"/>
                          </a:solidFill>
                          <a:latin typeface="Consolas" pitchFamily="34" charset="0"/>
                          <a:ea typeface="Consolas" pitchFamily="34" charset="-122"/>
                          <a:cs typeface="Consolas" pitchFamily="34" charset="-120"/>
                        </a:rPr>
                        <a:t>MODEL</a:t>
                      </a:r>
                      <a:endParaRPr lang="en-US" sz="900" dirty="0">
                        <a:latin typeface="Consolas" charset="0"/>
                        <a:ea typeface="Consolas" charset="0"/>
                        <a:cs typeface="Consolas" charset="0"/>
                      </a:endParaRPr>
                    </a:p>
                  </a:txBody>
                  <a:tcPr marL="114300" marR="114300" marT="50800" marB="50800" anchor="b">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algn="r" indent="0" marL="0">
                        <a:buNone/>
                      </a:pPr>
                      <a:r>
                        <a:rPr lang="en-US" sz="950" b="1" dirty="0">
                          <a:solidFill>
                            <a:srgbClr val="111817"/>
                          </a:solidFill>
                          <a:latin typeface="Segoe UI" pitchFamily="34" charset="0"/>
                          <a:ea typeface="Segoe UI" pitchFamily="34" charset="-122"/>
                          <a:cs typeface="Segoe UI" pitchFamily="34" charset="-120"/>
                        </a:rPr>
                        <a:t>Random split</a:t>
                      </a:r>
                      <a:endParaRPr lang="en-US" sz="1200" dirty="0"/>
                    </a:p>
                    <a:p>
                      <a:pPr algn="r" indent="0" marL="0">
                        <a:buNone/>
                      </a:pPr>
                      <a:r>
                        <a:rPr lang="en-US" sz="750" dirty="0">
                          <a:solidFill>
                            <a:srgbClr val="7A8886"/>
                          </a:solidFill>
                          <a:latin typeface="Segoe UI" pitchFamily="34" charset="0"/>
                          <a:ea typeface="Segoe UI" pitchFamily="34" charset="-122"/>
                          <a:cs typeface="Segoe UI" pitchFamily="34" charset="-120"/>
                        </a:rPr>
                        <a:t>macro-F1, frames shuffled — the leaky protocol</a:t>
                      </a:r>
                      <a:endParaRPr lang="en-US" sz="1200" dirty="0"/>
                    </a:p>
                    <a:p>
                      <a:pPr algn="r" indent="0" marL="0">
                        <a:buNone/>
                      </a:pPr>
                      <a:r>
                        <a:rPr lang="en-US" sz="700" b="1" dirty="0">
                          <a:solidFill>
                            <a:srgbClr val="0E8F5C"/>
                          </a:solidFill>
                          <a:latin typeface="Consolas" pitchFamily="34" charset="0"/>
                          <a:ea typeface="Consolas" pitchFamily="34" charset="-122"/>
                          <a:cs typeface="Consolas" pitchFamily="34" charset="-120"/>
                        </a:rPr>
                        <a:t>↑ higher is better</a:t>
                      </a:r>
                      <a:endParaRPr lang="en-US" sz="1200" dirty="0"/>
                    </a:p>
                  </a:txBody>
                  <a:tcPr marL="114300" marR="114300" marT="50800" marB="50800" anchor="b">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algn="r" indent="0" marL="0">
                        <a:buNone/>
                      </a:pPr>
                      <a:r>
                        <a:rPr lang="en-US" sz="950" b="1" dirty="0">
                          <a:solidFill>
                            <a:srgbClr val="111817"/>
                          </a:solidFill>
                          <a:latin typeface="Segoe UI" pitchFamily="34" charset="0"/>
                          <a:ea typeface="Segoe UI" pitchFamily="34" charset="-122"/>
                          <a:cs typeface="Segoe UI" pitchFamily="34" charset="-120"/>
                        </a:rPr>
                        <a:t>Grouped split</a:t>
                      </a:r>
                      <a:endParaRPr lang="en-US" sz="1200" dirty="0"/>
                    </a:p>
                    <a:p>
                      <a:pPr algn="r" indent="0" marL="0">
                        <a:buNone/>
                      </a:pPr>
                      <a:r>
                        <a:rPr lang="en-US" sz="750" dirty="0">
                          <a:solidFill>
                            <a:srgbClr val="7A8886"/>
                          </a:solidFill>
                          <a:latin typeface="Segoe UI" pitchFamily="34" charset="0"/>
                          <a:ea typeface="Segoe UI" pitchFamily="34" charset="-122"/>
                          <a:cs typeface="Segoe UI" pitchFamily="34" charset="-120"/>
                        </a:rPr>
                        <a:t>macro-F1, no venue in both train and test</a:t>
                      </a:r>
                      <a:endParaRPr lang="en-US" sz="1200" dirty="0"/>
                    </a:p>
                    <a:p>
                      <a:pPr algn="r" indent="0" marL="0">
                        <a:buNone/>
                      </a:pPr>
                      <a:r>
                        <a:rPr lang="en-US" sz="700" b="1" dirty="0">
                          <a:solidFill>
                            <a:srgbClr val="0E8F5C"/>
                          </a:solidFill>
                          <a:latin typeface="Consolas" pitchFamily="34" charset="0"/>
                          <a:ea typeface="Consolas" pitchFamily="34" charset="-122"/>
                          <a:cs typeface="Consolas" pitchFamily="34" charset="-120"/>
                        </a:rPr>
                        <a:t>↑ higher is better</a:t>
                      </a:r>
                      <a:endParaRPr lang="en-US" sz="1200" dirty="0"/>
                    </a:p>
                  </a:txBody>
                  <a:tcPr marL="114300" marR="114300" marT="50800" marB="50800" anchor="b">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algn="r" indent="0" marL="0">
                        <a:buNone/>
                      </a:pPr>
                      <a:r>
                        <a:rPr lang="en-US" sz="950" b="1" dirty="0">
                          <a:solidFill>
                            <a:srgbClr val="111817"/>
                          </a:solidFill>
                          <a:latin typeface="Segoe UI" pitchFamily="34" charset="0"/>
                          <a:ea typeface="Segoe UI" pitchFamily="34" charset="-122"/>
                          <a:cs typeface="Segoe UI" pitchFamily="34" charset="-120"/>
                        </a:rPr>
                        <a:t>Cross-venue recall</a:t>
                      </a:r>
                      <a:endParaRPr lang="en-US" sz="1200" dirty="0"/>
                    </a:p>
                    <a:p>
                      <a:pPr algn="r" indent="0" marL="0">
                        <a:buNone/>
                      </a:pPr>
                      <a:r>
                        <a:rPr lang="en-US" sz="750" dirty="0">
                          <a:solidFill>
                            <a:srgbClr val="7A8886"/>
                          </a:solidFill>
                          <a:latin typeface="Segoe UI" pitchFamily="34" charset="0"/>
                          <a:ea typeface="Segoe UI" pitchFamily="34" charset="-122"/>
                          <a:cs typeface="Segoe UI" pitchFamily="34" charset="-120"/>
                        </a:rPr>
                        <a:t>playing frames found at an unseen venue</a:t>
                      </a:r>
                      <a:endParaRPr lang="en-US" sz="1200" dirty="0"/>
                    </a:p>
                    <a:p>
                      <a:pPr algn="r" indent="0" marL="0">
                        <a:buNone/>
                      </a:pPr>
                      <a:r>
                        <a:rPr lang="en-US" sz="700" b="1" dirty="0">
                          <a:solidFill>
                            <a:srgbClr val="0E8F5C"/>
                          </a:solidFill>
                          <a:latin typeface="Consolas" pitchFamily="34" charset="0"/>
                          <a:ea typeface="Consolas" pitchFamily="34" charset="-122"/>
                          <a:cs typeface="Consolas" pitchFamily="34" charset="-120"/>
                        </a:rPr>
                        <a:t>↑ higher is better</a:t>
                      </a:r>
                      <a:endParaRPr lang="en-US" sz="1200" dirty="0"/>
                    </a:p>
                  </a:txBody>
                  <a:tcPr marL="114300" marR="114300" marT="50800" marB="50800" anchor="b">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algn="r" indent="0" marL="0">
                        <a:buNone/>
                      </a:pPr>
                      <a:r>
                        <a:rPr lang="en-US" sz="950" b="1" dirty="0">
                          <a:solidFill>
                            <a:srgbClr val="111817"/>
                          </a:solidFill>
                          <a:latin typeface="Segoe UI" pitchFamily="34" charset="0"/>
                          <a:ea typeface="Segoe UI" pitchFamily="34" charset="-122"/>
                          <a:cs typeface="Segoe UI" pitchFamily="34" charset="-120"/>
                        </a:rPr>
                        <a:t>Worst fold</a:t>
                      </a:r>
                      <a:endParaRPr lang="en-US" sz="1200" dirty="0"/>
                    </a:p>
                    <a:p>
                      <a:pPr algn="r" indent="0" marL="0">
                        <a:buNone/>
                      </a:pPr>
                      <a:r>
                        <a:rPr lang="en-US" sz="750" dirty="0">
                          <a:solidFill>
                            <a:srgbClr val="7A8886"/>
                          </a:solidFill>
                          <a:latin typeface="Segoe UI" pitchFamily="34" charset="0"/>
                          <a:ea typeface="Segoe UI" pitchFamily="34" charset="-122"/>
                          <a:cs typeface="Segoe UI" pitchFamily="34" charset="-120"/>
                        </a:rPr>
                        <a:t>the lowest single fold behind that recall</a:t>
                      </a:r>
                      <a:endParaRPr lang="en-US" sz="1200" dirty="0"/>
                    </a:p>
                    <a:p>
                      <a:pPr algn="r" indent="0" marL="0">
                        <a:buNone/>
                      </a:pPr>
                      <a:r>
                        <a:rPr lang="en-US" sz="700" b="1" dirty="0">
                          <a:solidFill>
                            <a:srgbClr val="0E8F5C"/>
                          </a:solidFill>
                          <a:latin typeface="Consolas" pitchFamily="34" charset="0"/>
                          <a:ea typeface="Consolas" pitchFamily="34" charset="-122"/>
                          <a:cs typeface="Consolas" pitchFamily="34" charset="-120"/>
                        </a:rPr>
                        <a:t>↑ higher is better</a:t>
                      </a:r>
                      <a:endParaRPr lang="en-US" sz="1200" dirty="0"/>
                    </a:p>
                  </a:txBody>
                  <a:tcPr marL="114300" marR="114300" marT="50800" marB="50800" anchor="b">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algn="r" indent="0" marL="0">
                        <a:buNone/>
                      </a:pPr>
                      <a:r>
                        <a:rPr lang="en-US" sz="950" b="1" dirty="0">
                          <a:solidFill>
                            <a:srgbClr val="111817"/>
                          </a:solidFill>
                          <a:latin typeface="Segoe UI" pitchFamily="34" charset="0"/>
                          <a:ea typeface="Segoe UI" pitchFamily="34" charset="-122"/>
                          <a:cs typeface="Segoe UI" pitchFamily="34" charset="-120"/>
                        </a:rPr>
                        <a:t>False-play</a:t>
                      </a:r>
                      <a:endParaRPr lang="en-US" sz="1200" dirty="0"/>
                    </a:p>
                    <a:p>
                      <a:pPr algn="r" indent="0" marL="0">
                        <a:buNone/>
                      </a:pPr>
                      <a:r>
                        <a:rPr lang="en-US" sz="750" dirty="0">
                          <a:solidFill>
                            <a:srgbClr val="7A8886"/>
                          </a:solidFill>
                          <a:latin typeface="Segoe UI" pitchFamily="34" charset="0"/>
                          <a:ea typeface="Segoe UI" pitchFamily="34" charset="-122"/>
                          <a:cs typeface="Segoe UI" pitchFamily="34" charset="-120"/>
                        </a:rPr>
                        <a:t>held-out empty pitches called a match</a:t>
                      </a:r>
                      <a:endParaRPr lang="en-US" sz="1200" dirty="0"/>
                    </a:p>
                    <a:p>
                      <a:pPr algn="r" indent="0" marL="0">
                        <a:buNone/>
                      </a:pPr>
                      <a:r>
                        <a:rPr lang="en-US" sz="700" b="1" dirty="0">
                          <a:solidFill>
                            <a:srgbClr val="D22D4C"/>
                          </a:solidFill>
                          <a:latin typeface="Consolas" pitchFamily="34" charset="0"/>
                          <a:ea typeface="Consolas" pitchFamily="34" charset="-122"/>
                          <a:cs typeface="Consolas" pitchFamily="34" charset="-120"/>
                        </a:rPr>
                        <a:t>↓ lower is better</a:t>
                      </a:r>
                      <a:endParaRPr lang="en-US" sz="1200" dirty="0"/>
                    </a:p>
                  </a:txBody>
                  <a:tcPr marL="114300" marR="114300" marT="50800" marB="50800" anchor="b">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algn="r" indent="0" marL="0">
                        <a:buNone/>
                      </a:pPr>
                      <a:r>
                        <a:rPr lang="en-US" sz="950" b="1" dirty="0">
                          <a:solidFill>
                            <a:srgbClr val="111817"/>
                          </a:solidFill>
                          <a:latin typeface="Segoe UI" pitchFamily="34" charset="0"/>
                          <a:ea typeface="Segoe UI" pitchFamily="34" charset="-122"/>
                          <a:cs typeface="Segoe UI" pitchFamily="34" charset="-120"/>
                        </a:rPr>
                        <a:t>Balanced</a:t>
                      </a:r>
                      <a:endParaRPr lang="en-US" sz="1200" dirty="0"/>
                    </a:p>
                    <a:p>
                      <a:pPr algn="r" indent="0" marL="0">
                        <a:buNone/>
                      </a:pPr>
                      <a:r>
                        <a:rPr lang="en-US" sz="750" dirty="0">
                          <a:solidFill>
                            <a:srgbClr val="7A8886"/>
                          </a:solidFill>
                          <a:latin typeface="Segoe UI" pitchFamily="34" charset="0"/>
                          <a:ea typeface="Segoe UI" pitchFamily="34" charset="-122"/>
                          <a:cs typeface="Segoe UI" pitchFamily="34" charset="-120"/>
                        </a:rPr>
                        <a:t>recall minus false-play</a:t>
                      </a:r>
                      <a:endParaRPr lang="en-US" sz="1200" dirty="0"/>
                    </a:p>
                    <a:p>
                      <a:pPr algn="r" indent="0" marL="0">
                        <a:buNone/>
                      </a:pPr>
                      <a:r>
                        <a:rPr lang="en-US" sz="700" b="1" dirty="0">
                          <a:solidFill>
                            <a:srgbClr val="0E8F5C"/>
                          </a:solidFill>
                          <a:latin typeface="Consolas" pitchFamily="34" charset="0"/>
                          <a:ea typeface="Consolas" pitchFamily="34" charset="-122"/>
                          <a:cs typeface="Consolas" pitchFamily="34" charset="-120"/>
                        </a:rPr>
                        <a:t>↑ higher is better</a:t>
                      </a:r>
                      <a:endParaRPr lang="en-US" sz="1200" dirty="0"/>
                    </a:p>
                  </a:txBody>
                  <a:tcPr marL="114300" marR="114300" marT="50800" marB="50800" anchor="b">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algn="r" indent="0" marL="0">
                        <a:buNone/>
                      </a:pPr>
                      <a:r>
                        <a:rPr lang="en-US" sz="950" b="1" dirty="0">
                          <a:solidFill>
                            <a:srgbClr val="111817"/>
                          </a:solidFill>
                          <a:latin typeface="Segoe UI" pitchFamily="34" charset="0"/>
                          <a:ea typeface="Segoe UI" pitchFamily="34" charset="-122"/>
                          <a:cs typeface="Segoe UI" pitchFamily="34" charset="-120"/>
                        </a:rPr>
                        <a:t>ms/frame</a:t>
                      </a:r>
                      <a:endParaRPr lang="en-US" sz="1200" dirty="0"/>
                    </a:p>
                    <a:p>
                      <a:pPr algn="r" indent="0" marL="0">
                        <a:buNone/>
                      </a:pPr>
                      <a:r>
                        <a:rPr lang="en-US" sz="750" dirty="0">
                          <a:solidFill>
                            <a:srgbClr val="7A8886"/>
                          </a:solidFill>
                          <a:latin typeface="Segoe UI" pitchFamily="34" charset="0"/>
                          <a:ea typeface="Segoe UI" pitchFamily="34" charset="-122"/>
                          <a:cs typeface="Segoe UI" pitchFamily="34" charset="-120"/>
                        </a:rPr>
                        <a:t>time to score one frame</a:t>
                      </a:r>
                      <a:endParaRPr lang="en-US" sz="1200" dirty="0"/>
                    </a:p>
                    <a:p>
                      <a:pPr algn="r" indent="0" marL="0">
                        <a:buNone/>
                      </a:pPr>
                      <a:r>
                        <a:rPr lang="en-US" sz="700" b="1" dirty="0">
                          <a:solidFill>
                            <a:srgbClr val="D22D4C"/>
                          </a:solidFill>
                          <a:latin typeface="Consolas" pitchFamily="34" charset="0"/>
                          <a:ea typeface="Consolas" pitchFamily="34" charset="-122"/>
                          <a:cs typeface="Consolas" pitchFamily="34" charset="-120"/>
                        </a:rPr>
                        <a:t>↓ lower is better</a:t>
                      </a:r>
                      <a:endParaRPr lang="en-US" sz="1200" dirty="0"/>
                    </a:p>
                  </a:txBody>
                  <a:tcPr marL="114300" marR="114300" marT="50800" marB="50800" anchor="b">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r>
              <a:tr h="566928">
                <a:tc>
                  <a:txBody>
                    <a:bodyPr/>
                    <a:lstStyle/>
                    <a:p>
                      <a:pPr indent="0" marL="0">
                        <a:buNone/>
                      </a:pPr>
                      <a:r>
                        <a:rPr lang="en-US" sz="1250" b="1" dirty="0">
                          <a:solidFill>
                            <a:srgbClr val="111817"/>
                          </a:solidFill>
                          <a:latin typeface="Segoe UI" pitchFamily="34" charset="0"/>
                          <a:ea typeface="Segoe UI" pitchFamily="34" charset="-122"/>
                          <a:cs typeface="Segoe UI" pitchFamily="34" charset="-120"/>
                        </a:rPr>
                        <a:t>DINOv2</a:t>
                      </a:r>
                      <a:endParaRPr lang="en-US" sz="1200" dirty="0"/>
                    </a:p>
                    <a:p>
                      <a:pPr indent="0" marL="0">
                        <a:buNone/>
                      </a:pPr>
                      <a:r>
                        <a:rPr lang="en-US" sz="900" dirty="0">
                          <a:solidFill>
                            <a:srgbClr val="7A8886"/>
                          </a:solidFill>
                          <a:latin typeface="Segoe UI" pitchFamily="34" charset="0"/>
                          <a:ea typeface="Segoe UI" pitchFamily="34" charset="-122"/>
                          <a:cs typeface="Segoe UI" pitchFamily="34" charset="-120"/>
                        </a:rPr>
                        <a:t>self-supervised, no labels in pretraining</a:t>
                      </a:r>
                      <a:endParaRPr lang="en-US" sz="1200" dirty="0"/>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0.988</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0.579</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0.956</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0.806</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0.309</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0.647</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219</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11817"/>
                          </a:solidFill>
                          <a:latin typeface="Segoe UI" pitchFamily="34" charset="0"/>
                          <a:ea typeface="Segoe UI" pitchFamily="34" charset="-122"/>
                          <a:cs typeface="Segoe UI" pitchFamily="34" charset="-120"/>
                        </a:rPr>
                        <a:t>ConvNeXtV2</a:t>
                      </a:r>
                      <a:endParaRPr lang="en-US" sz="1200" dirty="0"/>
                    </a:p>
                    <a:p>
                      <a:pPr indent="0" marL="0">
                        <a:buNone/>
                      </a:pPr>
                      <a:r>
                        <a:rPr lang="en-US" sz="900" dirty="0">
                          <a:solidFill>
                            <a:srgbClr val="7A8886"/>
                          </a:solidFill>
                          <a:latin typeface="Segoe UI" pitchFamily="34" charset="0"/>
                          <a:ea typeface="Segoe UI" pitchFamily="34" charset="-122"/>
                          <a:cs typeface="Segoe UI" pitchFamily="34" charset="-120"/>
                        </a:rPr>
                        <a:t>self-supervised convnet, smallest and fastest</a:t>
                      </a:r>
                      <a:endParaRPr lang="en-US" sz="1200" dirty="0"/>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0.988</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0.497</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B26A00"/>
                          </a:solidFill>
                          <a:latin typeface="Consolas" pitchFamily="34" charset="0"/>
                          <a:ea typeface="Consolas" pitchFamily="34" charset="-122"/>
                          <a:cs typeface="Consolas" pitchFamily="34" charset="-120"/>
                        </a:rPr>
                        <a:t>0.992</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101</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11817"/>
                          </a:solidFill>
                          <a:latin typeface="Segoe UI" pitchFamily="34" charset="0"/>
                          <a:ea typeface="Segoe UI" pitchFamily="34" charset="-122"/>
                          <a:cs typeface="Segoe UI" pitchFamily="34" charset="-120"/>
                        </a:rPr>
                        <a:t>ViT</a:t>
                      </a:r>
                      <a:endParaRPr lang="en-US" sz="1200" dirty="0"/>
                    </a:p>
                    <a:p>
                      <a:pPr indent="0" marL="0">
                        <a:buNone/>
                      </a:pPr>
                      <a:r>
                        <a:rPr lang="en-US" sz="900" dirty="0">
                          <a:solidFill>
                            <a:srgbClr val="7A8886"/>
                          </a:solidFill>
                          <a:latin typeface="Segoe UI" pitchFamily="34" charset="0"/>
                          <a:ea typeface="Segoe UI" pitchFamily="34" charset="-122"/>
                          <a:cs typeface="Segoe UI" pitchFamily="34" charset="-120"/>
                        </a:rPr>
                        <a:t>supervised on ImageNet labels</a:t>
                      </a:r>
                      <a:endParaRPr lang="en-US" sz="1200" dirty="0"/>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0.994</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0.497</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B26A00"/>
                          </a:solidFill>
                          <a:latin typeface="Consolas" pitchFamily="34" charset="0"/>
                          <a:ea typeface="Consolas" pitchFamily="34" charset="-122"/>
                          <a:cs typeface="Consolas" pitchFamily="34" charset="-120"/>
                        </a:rPr>
                        <a:t>0.835</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169</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11817"/>
                          </a:solidFill>
                          <a:latin typeface="Segoe UI" pitchFamily="34" charset="0"/>
                          <a:ea typeface="Segoe UI" pitchFamily="34" charset="-122"/>
                          <a:cs typeface="Segoe UI" pitchFamily="34" charset="-120"/>
                        </a:rPr>
                        <a:t>Clock rule</a:t>
                      </a:r>
                      <a:endParaRPr lang="en-US" sz="1200" dirty="0"/>
                    </a:p>
                    <a:p>
                      <a:pPr indent="0" marL="0">
                        <a:buNone/>
                      </a:pPr>
                      <a:r>
                        <a:rPr lang="en-US" sz="900" dirty="0">
                          <a:solidFill>
                            <a:srgbClr val="7A8886"/>
                          </a:solidFill>
                          <a:latin typeface="Segoe UI" pitchFamily="34" charset="0"/>
                          <a:ea typeface="Segoe UI" pitchFamily="34" charset="-122"/>
                          <a:cs typeface="Segoe UI" pitchFamily="34" charset="-120"/>
                        </a:rPr>
                        <a:t>reads the clock, never the pixels</a:t>
                      </a:r>
                      <a:endParaRPr lang="en-US" sz="1200" dirty="0"/>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0.991</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0.497</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0.984</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0.923</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0.021</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0.964</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B5A58"/>
                          </a:solidFill>
                          <a:latin typeface="Consolas" pitchFamily="34" charset="0"/>
                          <a:ea typeface="Consolas" pitchFamily="34" charset="-122"/>
                          <a:cs typeface="Consolas" pitchFamily="34" charset="-120"/>
                        </a:rPr>
                        <a:t>—</a:t>
                      </a:r>
                      <a:endParaRPr lang="en-US" sz="1150" dirty="0">
                        <a:latin typeface="Consolas" charset="0"/>
                        <a:ea typeface="Consolas" charset="0"/>
                        <a:cs typeface="Consolas" charset="0"/>
                      </a:endParaRPr>
                    </a:p>
                  </a:txBody>
                  <a:tcPr marL="114300" marR="1143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bl>
          </a:graphicData>
        </a:graphic>
      </p:graphicFrame>
      <p:sp>
        <p:nvSpPr>
          <p:cNvPr id="8" name="Text 5"/>
          <p:cNvSpPr/>
          <p:nvPr/>
        </p:nvSpPr>
        <p:spPr>
          <a:xfrm>
            <a:off x="502920" y="5250485"/>
            <a:ext cx="11185855" cy="640080"/>
          </a:xfrm>
          <a:prstGeom prst="rect">
            <a:avLst/>
          </a:prstGeom>
          <a:noFill/>
          <a:ln/>
        </p:spPr>
        <p:txBody>
          <a:bodyPr wrap="square" rtlCol="0" anchor="t"/>
          <a:lstStyle/>
          <a:p>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A dash is a result that has not been measured, not a zero. Cross-venue recall is measured on folds that are 100% ACTIVE_PLAY, so it can be earned by answering “playing” to everything — which is what the false-play column is there to catch, and why the ranking it gives is not the ranking the grouped split gives.</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55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20" fill="hold"/>
                                        <p:tgtEl>
                                          <p:spTgt spid="8"/>
                                        </p:tgtEl>
                                        <p:attrNameLst>
                                          <p:attrName>ppt_y</p:attrName>
                                        </p:attrNameLst>
                                      </p:cBhvr>
                                      <p:tavLst>
                                        <p:tav tm="0">
                                          <p:val>
                                            <p:strVal val="#ppt_y+0.035"/>
                                          </p:val>
                                        </p:tav>
                                        <p:tav tm="100000">
                                          <p:val>
                                            <p:strVal val="#ppt_y"/>
                                          </p:val>
                                        </p:tav>
                                      </p:tavLst>
                                    </p:anim>
                                    <p:animEffect transition="in" filter="fade">
                                      <p:cBhvr>
                                        <p:cTn id="14" dur="52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8.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gradFill rotWithShape="1">
            <a:gsLst>
              <a:gs pos="0">
                <a:srgbClr val="9A5B00"/>
              </a:gs>
              <a:gs pos="100000">
                <a:srgbClr val="F5A524"/>
              </a:gs>
            </a:gsLst>
            <a:lin ang="2700000" scaled="0"/>
          </a:gradFill>
          <a:ln/>
        </p:spPr>
      </p:sp>
      <p:sp>
        <p:nvSpPr>
          <p:cNvPr id="3" name="Text 1"/>
          <p:cNvSpPr/>
          <p:nvPr/>
        </p:nvSpPr>
        <p:spPr>
          <a:xfrm>
            <a:off x="822960" y="1927921"/>
            <a:ext cx="10545775" cy="292608"/>
          </a:xfrm>
          <a:prstGeom prst="rect">
            <a:avLst/>
          </a:prstGeom>
          <a:noFill/>
          <a:ln/>
        </p:spPr>
        <p:txBody>
          <a:bodyPr wrap="square" rtlCol="0" anchor="b"/>
          <a:lstStyle/>
          <a:p>
            <a:pPr indent="0" marL="0">
              <a:buNone/>
            </a:pPr>
            <a:r>
              <a:rPr lang="en-US" sz="1200" b="1" spc="300" kern="0" dirty="0">
                <a:solidFill>
                  <a:srgbClr val="BBC9D6"/>
                </a:solidFill>
                <a:latin typeface="Consolas" pitchFamily="34" charset="0"/>
                <a:ea typeface="Consolas" pitchFamily="34" charset="-122"/>
                <a:cs typeface="Consolas" pitchFamily="34" charset="-120"/>
              </a:rPr>
              <a:t>CHAPTER 3 — YOLOV8</a:t>
            </a:r>
            <a:endParaRPr lang="en-US" sz="1200" dirty="0"/>
          </a:p>
        </p:txBody>
      </p:sp>
      <p:sp>
        <p:nvSpPr>
          <p:cNvPr id="4" name="Text 2"/>
          <p:cNvSpPr/>
          <p:nvPr/>
        </p:nvSpPr>
        <p:spPr>
          <a:xfrm>
            <a:off x="822960" y="2311969"/>
            <a:ext cx="9692640" cy="640080"/>
          </a:xfrm>
          <a:prstGeom prst="rect">
            <a:avLst/>
          </a:prstGeom>
          <a:noFill/>
          <a:ln/>
        </p:spPr>
        <p:txBody>
          <a:bodyPr wrap="square" rtlCol="0" anchor="t"/>
          <a:lstStyle/>
          <a:p>
            <a:pPr indent="0" marL="0">
              <a:lnSpc>
                <a:spcPts val="4176"/>
              </a:lnSpc>
              <a:buNone/>
            </a:pPr>
            <a:r>
              <a:rPr lang="en-US" sz="3600" b="1" dirty="0">
                <a:solidFill>
                  <a:srgbClr val="FFFFFF"/>
                </a:solidFill>
                <a:latin typeface="Segoe UI" pitchFamily="34" charset="0"/>
                <a:ea typeface="Segoe UI" pitchFamily="34" charset="-122"/>
                <a:cs typeface="Segoe UI" pitchFamily="34" charset="-120"/>
              </a:rPr>
              <a:t>Counting what stands on the pitch</a:t>
            </a:r>
            <a:endParaRPr lang="en-US" sz="3600" dirty="0"/>
          </a:p>
        </p:txBody>
      </p:sp>
      <p:sp>
        <p:nvSpPr>
          <p:cNvPr id="5" name="Text 3"/>
          <p:cNvSpPr/>
          <p:nvPr/>
        </p:nvSpPr>
        <p:spPr>
          <a:xfrm>
            <a:off x="822960" y="3189793"/>
            <a:ext cx="8961120" cy="1005840"/>
          </a:xfrm>
          <a:prstGeom prst="rect">
            <a:avLst/>
          </a:prstGeom>
          <a:noFill/>
          <a:ln/>
        </p:spPr>
        <p:txBody>
          <a:bodyPr wrap="square" rtlCol="0" anchor="t"/>
          <a:lstStyle/>
          <a:p>
            <a:pPr indent="0" marL="0">
              <a:lnSpc>
                <a:spcPts val="2400"/>
              </a:lnSpc>
              <a:buNone/>
            </a:pPr>
            <a:r>
              <a:rPr lang="en-US" sz="1600" dirty="0">
                <a:solidFill>
                  <a:srgbClr val="DCE6EE"/>
                </a:solidFill>
                <a:latin typeface="Segoe UI" pitchFamily="34" charset="0"/>
                <a:ea typeface="Segoe UI" pitchFamily="34" charset="-122"/>
                <a:cs typeface="Segoe UI" pitchFamily="34" charset="-120"/>
              </a:rPr>
              <a:t>The classifier says what a scene looks like. The detector says how many people are on it, whether there is a ball, and whether anything moved — and those counts can overrule the classifier.</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7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20" fill="hold"/>
                                        <p:tgtEl>
                                          <p:spTgt spid="3"/>
                                        </p:tgtEl>
                                        <p:attrNameLst>
                                          <p:attrName>ppt_y</p:attrName>
                                        </p:attrNameLst>
                                      </p:cBhvr>
                                      <p:tavLst>
                                        <p:tav tm="0">
                                          <p:val>
                                            <p:strVal val="#ppt_y+0.035"/>
                                          </p:val>
                                        </p:tav>
                                        <p:tav tm="100000">
                                          <p:val>
                                            <p:strVal val="#ppt_y"/>
                                          </p:val>
                                        </p:tav>
                                      </p:tavLst>
                                    </p:anim>
                                    <p:animEffect transition="in" filter="fade">
                                      <p:cBhvr>
                                        <p:cTn id="8" dur="52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367"/>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20" fill="hold"/>
                                        <p:tgtEl>
                                          <p:spTgt spid="4"/>
                                        </p:tgtEl>
                                        <p:attrNameLst>
                                          <p:attrName>ppt_y</p:attrName>
                                        </p:attrNameLst>
                                      </p:cBhvr>
                                      <p:tavLst>
                                        <p:tav tm="0">
                                          <p:val>
                                            <p:strVal val="#ppt_y+0.035"/>
                                          </p:val>
                                        </p:tav>
                                        <p:tav tm="100000">
                                          <p:val>
                                            <p:strVal val="#ppt_y"/>
                                          </p:val>
                                        </p:tav>
                                      </p:tavLst>
                                    </p:anim>
                                    <p:animEffect transition="in" filter="fade">
                                      <p:cBhvr>
                                        <p:cTn id="14" dur="52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grpId="0" nodeType="afterEffect">
                                  <p:stCondLst>
                                    <p:cond delay="367"/>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20" fill="hold"/>
                                        <p:tgtEl>
                                          <p:spTgt spid="5"/>
                                        </p:tgtEl>
                                        <p:attrNameLst>
                                          <p:attrName>ppt_y</p:attrName>
                                        </p:attrNameLst>
                                      </p:cBhvr>
                                      <p:tavLst>
                                        <p:tav tm="0">
                                          <p:val>
                                            <p:strVal val="#ppt_y+0.035"/>
                                          </p:val>
                                        </p:tav>
                                        <p:tav tm="100000">
                                          <p:val>
                                            <p:strVal val="#ppt_y"/>
                                          </p:val>
                                        </p:tav>
                                      </p:tavLst>
                                    </p:anim>
                                    <p:animEffect transition="in" filter="fade">
                                      <p:cBhvr>
                                        <p:cTn id="20" dur="5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9.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19">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3 — YOLOV8</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The architecture — one forward pass</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F5A524"/>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13</a:t>
            </a:r>
            <a:endParaRPr lang="en-US" sz="1000" dirty="0"/>
          </a:p>
        </p:txBody>
      </p:sp>
      <p:sp>
        <p:nvSpPr>
          <p:cNvPr id="7" name="Shape 5"/>
          <p:cNvSpPr/>
          <p:nvPr/>
        </p:nvSpPr>
        <p:spPr>
          <a:xfrm>
            <a:off x="2344830" y="1883664"/>
            <a:ext cx="7650034" cy="2176272"/>
          </a:xfrm>
          <a:prstGeom prst="roundRect">
            <a:avLst>
              <a:gd name="adj" fmla="val 2521"/>
            </a:avLst>
          </a:prstGeom>
          <a:ln w="12700">
            <a:solidFill>
              <a:srgbClr val="7A8886"/>
            </a:solidFill>
            <a:prstDash val="dash"/>
          </a:ln>
        </p:spPr>
      </p:sp>
      <p:sp>
        <p:nvSpPr>
          <p:cNvPr id="8" name="Text 6"/>
          <p:cNvSpPr/>
          <p:nvPr/>
        </p:nvSpPr>
        <p:spPr>
          <a:xfrm>
            <a:off x="2454558" y="1627632"/>
            <a:ext cx="7430578" cy="237744"/>
          </a:xfrm>
          <a:prstGeom prst="rect">
            <a:avLst/>
          </a:prstGeom>
          <a:noFill/>
          <a:ln/>
        </p:spPr>
        <p:txBody>
          <a:bodyPr wrap="square" rtlCol="0" anchor="ctr"/>
          <a:lstStyle/>
          <a:p>
            <a:pPr indent="0" marL="0">
              <a:buNone/>
            </a:pPr>
            <a:r>
              <a:rPr lang="en-US" sz="950" dirty="0">
                <a:solidFill>
                  <a:srgbClr val="7A8886"/>
                </a:solidFill>
                <a:latin typeface="Segoe UI" pitchFamily="34" charset="0"/>
                <a:ea typeface="Segoe UI" pitchFamily="34" charset="-122"/>
                <a:cs typeface="Segoe UI" pitchFamily="34" charset="-120"/>
              </a:rPr>
              <a:t>one forward pass · COCO weights, nothing trained here · yolov8n</a:t>
            </a:r>
            <a:endParaRPr lang="en-US" sz="950" dirty="0"/>
          </a:p>
        </p:txBody>
      </p:sp>
      <p:sp>
        <p:nvSpPr>
          <p:cNvPr id="9" name="Shape 7"/>
          <p:cNvSpPr/>
          <p:nvPr/>
        </p:nvSpPr>
        <p:spPr>
          <a:xfrm>
            <a:off x="10049728" y="1883664"/>
            <a:ext cx="1748775" cy="2176272"/>
          </a:xfrm>
          <a:prstGeom prst="roundRect">
            <a:avLst>
              <a:gd name="adj" fmla="val 3137"/>
            </a:avLst>
          </a:prstGeom>
          <a:ln w="19050">
            <a:solidFill>
              <a:srgbClr val="0D6D78"/>
            </a:solidFill>
            <a:prstDash val="solid"/>
          </a:ln>
        </p:spPr>
      </p:sp>
      <p:sp>
        <p:nvSpPr>
          <p:cNvPr id="10" name="Text 8"/>
          <p:cNvSpPr/>
          <p:nvPr/>
        </p:nvSpPr>
        <p:spPr>
          <a:xfrm>
            <a:off x="10159456" y="1627632"/>
            <a:ext cx="1529319" cy="237744"/>
          </a:xfrm>
          <a:prstGeom prst="rect">
            <a:avLst/>
          </a:prstGeom>
          <a:noFill/>
          <a:ln/>
        </p:spPr>
        <p:txBody>
          <a:bodyPr wrap="square" rtlCol="0" anchor="ctr"/>
          <a:lstStyle/>
          <a:p>
            <a:pPr indent="0" marL="0">
              <a:buNone/>
            </a:pPr>
            <a:r>
              <a:rPr lang="en-US" sz="950" dirty="0">
                <a:solidFill>
                  <a:srgbClr val="0D6D78"/>
                </a:solidFill>
                <a:latin typeface="Segoe UI" pitchFamily="34" charset="0"/>
                <a:ea typeface="Segoe UI" pitchFamily="34" charset="-122"/>
                <a:cs typeface="Segoe UI" pitchFamily="34" charset="-120"/>
              </a:rPr>
              <a:t>boxes out</a:t>
            </a:r>
            <a:endParaRPr lang="en-US" sz="950" dirty="0"/>
          </a:p>
        </p:txBody>
      </p:sp>
      <p:sp>
        <p:nvSpPr>
          <p:cNvPr id="11" name="Shape 9"/>
          <p:cNvSpPr/>
          <p:nvPr/>
        </p:nvSpPr>
        <p:spPr>
          <a:xfrm>
            <a:off x="502920" y="2231136"/>
            <a:ext cx="1677318" cy="1481328"/>
          </a:xfrm>
          <a:prstGeom prst="roundRect">
            <a:avLst>
              <a:gd name="adj" fmla="val 4938"/>
            </a:avLst>
          </a:prstGeom>
          <a:solidFill>
            <a:srgbClr val="FFFFFF"/>
          </a:solidFill>
          <a:ln w="9525">
            <a:solidFill>
              <a:srgbClr val="DDE4E2"/>
            </a:solidFill>
            <a:prstDash val="solid"/>
          </a:ln>
        </p:spPr>
      </p:sp>
      <p:sp>
        <p:nvSpPr>
          <p:cNvPr id="12" name="Text 10"/>
          <p:cNvSpPr/>
          <p:nvPr/>
        </p:nvSpPr>
        <p:spPr>
          <a:xfrm>
            <a:off x="557784" y="2286000"/>
            <a:ext cx="1567590" cy="1371600"/>
          </a:xfrm>
          <a:prstGeom prst="rect">
            <a:avLst/>
          </a:prstGeom>
          <a:noFill/>
          <a:ln/>
        </p:spPr>
        <p:txBody>
          <a:bodyPr wrap="square" rtlCol="0" anchor="ctr"/>
          <a:lstStyle/>
          <a:p>
            <a:pPr algn="ctr" indent="0" marL="0">
              <a:lnSpc>
                <a:spcPts val="1300"/>
              </a:lnSpc>
              <a:buNone/>
            </a:pPr>
            <a:r>
              <a:rPr lang="en-US" sz="1100" b="1" dirty="0">
                <a:solidFill>
                  <a:srgbClr val="111817"/>
                </a:solidFill>
                <a:latin typeface="Segoe UI" pitchFamily="34" charset="0"/>
                <a:ea typeface="Segoe UI" pitchFamily="34" charset="-122"/>
                <a:cs typeface="Segoe UI" pitchFamily="34" charset="-120"/>
              </a:rPr>
              <a:t>the frame</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long edge 1280</a:t>
            </a:r>
            <a:endParaRPr lang="en-US" sz="1100" dirty="0"/>
          </a:p>
          <a:p>
            <a:pPr algn="ctr" indent="0" marL="0">
              <a:lnSpc>
                <a:spcPts val="1300"/>
              </a:lnSpc>
              <a:buNone/>
            </a:pPr>
            <a:r>
              <a:rPr lang="en-US" sz="850" dirty="0">
                <a:solidFill>
                  <a:srgbClr val="7A8886"/>
                </a:solidFill>
                <a:latin typeface="Segoe UI" pitchFamily="34" charset="0"/>
                <a:ea typeface="Segoe UI" pitchFamily="34" charset="-122"/>
                <a:cs typeface="Segoe UI" pitchFamily="34" charset="-120"/>
              </a:rPr>
              <a:t>one per camera-minute</a:t>
            </a:r>
            <a:endParaRPr lang="en-US" sz="1100" dirty="0"/>
          </a:p>
        </p:txBody>
      </p:sp>
      <p:sp>
        <p:nvSpPr>
          <p:cNvPr id="13" name="Shape 11"/>
          <p:cNvSpPr/>
          <p:nvPr/>
        </p:nvSpPr>
        <p:spPr>
          <a:xfrm>
            <a:off x="2225958" y="2971800"/>
            <a:ext cx="182880" cy="0"/>
          </a:xfrm>
          <a:prstGeom prst="line">
            <a:avLst/>
          </a:prstGeom>
          <a:noFill/>
          <a:ln w="15875">
            <a:solidFill>
              <a:srgbClr val="7A8886"/>
            </a:solidFill>
            <a:prstDash val="solid"/>
            <a:tailEnd type="triangle"/>
          </a:ln>
        </p:spPr>
      </p:sp>
      <p:sp>
        <p:nvSpPr>
          <p:cNvPr id="14" name="Shape 12"/>
          <p:cNvSpPr/>
          <p:nvPr/>
        </p:nvSpPr>
        <p:spPr>
          <a:xfrm>
            <a:off x="2454558" y="2231136"/>
            <a:ext cx="2515977" cy="1481328"/>
          </a:xfrm>
          <a:prstGeom prst="roundRect">
            <a:avLst>
              <a:gd name="adj" fmla="val 4938"/>
            </a:avLst>
          </a:prstGeom>
          <a:solidFill>
            <a:srgbClr val="FFFFFF"/>
          </a:solidFill>
          <a:ln w="9525">
            <a:solidFill>
              <a:srgbClr val="DDE4E2"/>
            </a:solidFill>
            <a:prstDash val="solid"/>
          </a:ln>
        </p:spPr>
      </p:sp>
      <p:sp>
        <p:nvSpPr>
          <p:cNvPr id="15" name="Text 13"/>
          <p:cNvSpPr/>
          <p:nvPr/>
        </p:nvSpPr>
        <p:spPr>
          <a:xfrm>
            <a:off x="2509422" y="2286000"/>
            <a:ext cx="2406249" cy="1371600"/>
          </a:xfrm>
          <a:prstGeom prst="rect">
            <a:avLst/>
          </a:prstGeom>
          <a:noFill/>
          <a:ln/>
        </p:spPr>
        <p:txBody>
          <a:bodyPr wrap="square" rtlCol="0" anchor="ctr"/>
          <a:lstStyle/>
          <a:p>
            <a:pPr algn="ctr" indent="0" marL="0">
              <a:lnSpc>
                <a:spcPts val="1300"/>
              </a:lnSpc>
              <a:buNone/>
            </a:pPr>
            <a:r>
              <a:rPr lang="en-US" sz="1100" b="1" dirty="0">
                <a:solidFill>
                  <a:srgbClr val="111817"/>
                </a:solidFill>
                <a:latin typeface="Segoe UI" pitchFamily="34" charset="0"/>
                <a:ea typeface="Segoe UI" pitchFamily="34" charset="-122"/>
                <a:cs typeface="Segoe UI" pitchFamily="34" charset="-120"/>
              </a:rPr>
              <a:t>backbone (Features &amp; layers)</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CSPDarknet (architecture),</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C2f blocks</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(features representation)</a:t>
            </a:r>
            <a:endParaRPr lang="en-US" sz="1100" dirty="0"/>
          </a:p>
          <a:p>
            <a:pPr algn="ctr" indent="0" marL="0">
              <a:lnSpc>
                <a:spcPts val="1300"/>
              </a:lnSpc>
              <a:buNone/>
            </a:pPr>
            <a:r>
              <a:rPr lang="en-US" sz="850" dirty="0">
                <a:solidFill>
                  <a:srgbClr val="7A8886"/>
                </a:solidFill>
                <a:latin typeface="Segoe UI" pitchFamily="34" charset="0"/>
                <a:ea typeface="Segoe UI" pitchFamily="34" charset="-122"/>
                <a:cs typeface="Segoe UI" pitchFamily="34" charset="-120"/>
              </a:rPr>
              <a:t>features at 3 scales (s,m,l)</a:t>
            </a:r>
            <a:endParaRPr lang="en-US" sz="1100" dirty="0"/>
          </a:p>
        </p:txBody>
      </p:sp>
      <p:sp>
        <p:nvSpPr>
          <p:cNvPr id="16" name="Shape 14"/>
          <p:cNvSpPr/>
          <p:nvPr/>
        </p:nvSpPr>
        <p:spPr>
          <a:xfrm>
            <a:off x="5016255" y="2971800"/>
            <a:ext cx="182880" cy="0"/>
          </a:xfrm>
          <a:prstGeom prst="line">
            <a:avLst/>
          </a:prstGeom>
          <a:noFill/>
          <a:ln w="15875">
            <a:solidFill>
              <a:srgbClr val="7A8886"/>
            </a:solidFill>
            <a:prstDash val="solid"/>
            <a:tailEnd type="triangle"/>
          </a:ln>
        </p:spPr>
      </p:sp>
      <p:sp>
        <p:nvSpPr>
          <p:cNvPr id="17" name="Shape 15"/>
          <p:cNvSpPr/>
          <p:nvPr/>
        </p:nvSpPr>
        <p:spPr>
          <a:xfrm>
            <a:off x="5244855" y="2231136"/>
            <a:ext cx="2022648" cy="1481328"/>
          </a:xfrm>
          <a:prstGeom prst="roundRect">
            <a:avLst>
              <a:gd name="adj" fmla="val 4938"/>
            </a:avLst>
          </a:prstGeom>
          <a:solidFill>
            <a:srgbClr val="FFFFFF"/>
          </a:solidFill>
          <a:ln w="9525">
            <a:solidFill>
              <a:srgbClr val="DDE4E2"/>
            </a:solidFill>
            <a:prstDash val="solid"/>
          </a:ln>
        </p:spPr>
      </p:sp>
      <p:sp>
        <p:nvSpPr>
          <p:cNvPr id="18" name="Text 16"/>
          <p:cNvSpPr/>
          <p:nvPr/>
        </p:nvSpPr>
        <p:spPr>
          <a:xfrm>
            <a:off x="5299719" y="2286000"/>
            <a:ext cx="1912920" cy="1371600"/>
          </a:xfrm>
          <a:prstGeom prst="rect">
            <a:avLst/>
          </a:prstGeom>
          <a:noFill/>
          <a:ln/>
        </p:spPr>
        <p:txBody>
          <a:bodyPr wrap="square" rtlCol="0" anchor="ctr"/>
          <a:lstStyle/>
          <a:p>
            <a:pPr algn="ctr" indent="0" marL="0">
              <a:lnSpc>
                <a:spcPts val="1300"/>
              </a:lnSpc>
              <a:buNone/>
            </a:pPr>
            <a:r>
              <a:rPr lang="en-US" sz="1100" b="1" dirty="0">
                <a:solidFill>
                  <a:srgbClr val="111817"/>
                </a:solidFill>
                <a:latin typeface="Segoe UI" pitchFamily="34" charset="0"/>
                <a:ea typeface="Segoe UI" pitchFamily="34" charset="-122"/>
                <a:cs typeface="Segoe UI" pitchFamily="34" charset="-120"/>
              </a:rPr>
              <a:t>neck</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PAN-FPN</a:t>
            </a:r>
            <a:endParaRPr lang="en-US" sz="1100" dirty="0"/>
          </a:p>
          <a:p>
            <a:pPr algn="ctr" indent="0" marL="0">
              <a:lnSpc>
                <a:spcPts val="1300"/>
              </a:lnSpc>
              <a:buNone/>
            </a:pPr>
            <a:r>
              <a:rPr lang="en-US" sz="850" dirty="0">
                <a:solidFill>
                  <a:srgbClr val="7A8886"/>
                </a:solidFill>
                <a:latin typeface="Segoe UI" pitchFamily="34" charset="0"/>
                <a:ea typeface="Segoe UI" pitchFamily="34" charset="-122"/>
                <a:cs typeface="Segoe UI" pitchFamily="34" charset="-120"/>
              </a:rPr>
              <a:t>small objects keep detail</a:t>
            </a:r>
            <a:endParaRPr lang="en-US" sz="1100" dirty="0"/>
          </a:p>
        </p:txBody>
      </p:sp>
      <p:sp>
        <p:nvSpPr>
          <p:cNvPr id="19" name="Shape 17"/>
          <p:cNvSpPr/>
          <p:nvPr/>
        </p:nvSpPr>
        <p:spPr>
          <a:xfrm>
            <a:off x="7313224" y="2971800"/>
            <a:ext cx="182880" cy="0"/>
          </a:xfrm>
          <a:prstGeom prst="line">
            <a:avLst/>
          </a:prstGeom>
          <a:noFill/>
          <a:ln w="15875">
            <a:solidFill>
              <a:srgbClr val="7A8886"/>
            </a:solidFill>
            <a:prstDash val="solid"/>
            <a:tailEnd type="triangle"/>
          </a:ln>
        </p:spPr>
      </p:sp>
      <p:sp>
        <p:nvSpPr>
          <p:cNvPr id="20" name="Shape 18"/>
          <p:cNvSpPr/>
          <p:nvPr/>
        </p:nvSpPr>
        <p:spPr>
          <a:xfrm>
            <a:off x="7541824" y="2231136"/>
            <a:ext cx="2343312" cy="1481328"/>
          </a:xfrm>
          <a:prstGeom prst="roundRect">
            <a:avLst>
              <a:gd name="adj" fmla="val 4938"/>
            </a:avLst>
          </a:prstGeom>
          <a:solidFill>
            <a:srgbClr val="FFFFFF"/>
          </a:solidFill>
          <a:ln w="9525">
            <a:solidFill>
              <a:srgbClr val="DDE4E2"/>
            </a:solidFill>
            <a:prstDash val="solid"/>
          </a:ln>
        </p:spPr>
      </p:sp>
      <p:sp>
        <p:nvSpPr>
          <p:cNvPr id="21" name="Text 19"/>
          <p:cNvSpPr/>
          <p:nvPr/>
        </p:nvSpPr>
        <p:spPr>
          <a:xfrm>
            <a:off x="7596688" y="2286000"/>
            <a:ext cx="2233584" cy="1371600"/>
          </a:xfrm>
          <a:prstGeom prst="rect">
            <a:avLst/>
          </a:prstGeom>
          <a:noFill/>
          <a:ln/>
        </p:spPr>
        <p:txBody>
          <a:bodyPr wrap="square" rtlCol="0" anchor="ctr"/>
          <a:lstStyle/>
          <a:p>
            <a:pPr algn="ctr" indent="0" marL="0">
              <a:lnSpc>
                <a:spcPts val="1300"/>
              </a:lnSpc>
              <a:buNone/>
            </a:pPr>
            <a:r>
              <a:rPr lang="en-US" sz="1100" b="1" dirty="0">
                <a:solidFill>
                  <a:srgbClr val="111817"/>
                </a:solidFill>
                <a:latin typeface="Segoe UI" pitchFamily="34" charset="0"/>
                <a:ea typeface="Segoe UI" pitchFamily="34" charset="-122"/>
                <a:cs typeface="Segoe UI" pitchFamily="34" charset="-120"/>
              </a:rPr>
              <a:t>head</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anchor-free (location),</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decoupled</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(where is it?, what is it?)</a:t>
            </a:r>
            <a:endParaRPr lang="en-US" sz="1100" dirty="0"/>
          </a:p>
          <a:p>
            <a:pPr algn="ctr" indent="0" marL="0">
              <a:lnSpc>
                <a:spcPts val="1300"/>
              </a:lnSpc>
              <a:buNone/>
            </a:pPr>
            <a:r>
              <a:rPr lang="en-US" sz="850" dirty="0">
                <a:solidFill>
                  <a:srgbClr val="7A8886"/>
                </a:solidFill>
                <a:latin typeface="Segoe UI" pitchFamily="34" charset="0"/>
                <a:ea typeface="Segoe UI" pitchFamily="34" charset="-122"/>
                <a:cs typeface="Segoe UI" pitchFamily="34" charset="-120"/>
              </a:rPr>
              <a:t>box + class, no anchors</a:t>
            </a:r>
            <a:endParaRPr lang="en-US" sz="1100" dirty="0"/>
          </a:p>
        </p:txBody>
      </p:sp>
      <p:sp>
        <p:nvSpPr>
          <p:cNvPr id="22" name="Shape 20"/>
          <p:cNvSpPr/>
          <p:nvPr/>
        </p:nvSpPr>
        <p:spPr>
          <a:xfrm>
            <a:off x="9930856" y="2971800"/>
            <a:ext cx="182880" cy="0"/>
          </a:xfrm>
          <a:prstGeom prst="line">
            <a:avLst/>
          </a:prstGeom>
          <a:noFill/>
          <a:ln w="15875">
            <a:solidFill>
              <a:srgbClr val="7A8886"/>
            </a:solidFill>
            <a:prstDash val="solid"/>
            <a:tailEnd type="triangle"/>
          </a:ln>
        </p:spPr>
      </p:sp>
      <p:sp>
        <p:nvSpPr>
          <p:cNvPr id="23" name="Shape 21"/>
          <p:cNvSpPr/>
          <p:nvPr/>
        </p:nvSpPr>
        <p:spPr>
          <a:xfrm>
            <a:off x="10159456" y="2231136"/>
            <a:ext cx="1529319" cy="1481328"/>
          </a:xfrm>
          <a:prstGeom prst="roundRect">
            <a:avLst>
              <a:gd name="adj" fmla="val 4938"/>
            </a:avLst>
          </a:prstGeom>
          <a:solidFill>
            <a:srgbClr val="FFFFFF"/>
          </a:solidFill>
          <a:ln w="9525">
            <a:solidFill>
              <a:srgbClr val="DDE4E2"/>
            </a:solidFill>
            <a:prstDash val="solid"/>
          </a:ln>
        </p:spPr>
      </p:sp>
      <p:sp>
        <p:nvSpPr>
          <p:cNvPr id="24" name="Text 22"/>
          <p:cNvSpPr/>
          <p:nvPr/>
        </p:nvSpPr>
        <p:spPr>
          <a:xfrm>
            <a:off x="10214320" y="2286000"/>
            <a:ext cx="1419591" cy="1371600"/>
          </a:xfrm>
          <a:prstGeom prst="rect">
            <a:avLst/>
          </a:prstGeom>
          <a:noFill/>
          <a:ln/>
        </p:spPr>
        <p:txBody>
          <a:bodyPr wrap="square" rtlCol="0" anchor="ctr"/>
          <a:lstStyle/>
          <a:p>
            <a:pPr algn="ctr" indent="0" marL="0">
              <a:lnSpc>
                <a:spcPts val="1300"/>
              </a:lnSpc>
              <a:buNone/>
            </a:pPr>
            <a:r>
              <a:rPr lang="en-US" sz="1100" b="1" dirty="0">
                <a:solidFill>
                  <a:srgbClr val="111817"/>
                </a:solidFill>
                <a:latin typeface="Segoe UI" pitchFamily="34" charset="0"/>
                <a:ea typeface="Segoe UI" pitchFamily="34" charset="-122"/>
                <a:cs typeface="Segoe UI" pitchFamily="34" charset="-120"/>
              </a:rPr>
              <a:t>NMS</a:t>
            </a:r>
            <a:endParaRPr lang="en-US" sz="1100" dirty="0"/>
          </a:p>
          <a:p>
            <a:pPr algn="ctr" indent="0" marL="0">
              <a:lnSpc>
                <a:spcPts val="1300"/>
              </a:lnSpc>
              <a:buNone/>
            </a:pPr>
            <a:r>
              <a:rPr lang="en-US" sz="950" dirty="0">
                <a:solidFill>
                  <a:srgbClr val="4B5A58"/>
                </a:solidFill>
                <a:latin typeface="Segoe UI" pitchFamily="34" charset="0"/>
                <a:ea typeface="Segoe UI" pitchFamily="34" charset="-122"/>
                <a:cs typeface="Segoe UI" pitchFamily="34" charset="-120"/>
              </a:rPr>
              <a:t>person ≥ 0.25</a:t>
            </a:r>
            <a:endParaRPr lang="en-US" sz="1100" dirty="0"/>
          </a:p>
          <a:p>
            <a:pPr algn="ctr" indent="0" marL="0">
              <a:lnSpc>
                <a:spcPts val="1300"/>
              </a:lnSpc>
              <a:buNone/>
            </a:pPr>
            <a:r>
              <a:rPr lang="en-US" sz="850" dirty="0">
                <a:solidFill>
                  <a:srgbClr val="7A8886"/>
                </a:solidFill>
                <a:latin typeface="Segoe UI" pitchFamily="34" charset="0"/>
                <a:ea typeface="Segoe UI" pitchFamily="34" charset="-122"/>
                <a:cs typeface="Segoe UI" pitchFamily="34" charset="-120"/>
              </a:rPr>
              <a:t>ball ≥ 0.1</a:t>
            </a:r>
            <a:endParaRPr lang="en-US" sz="1100" dirty="0"/>
          </a:p>
        </p:txBody>
      </p:sp>
      <p:sp>
        <p:nvSpPr>
          <p:cNvPr id="25" name="Shape 23"/>
          <p:cNvSpPr/>
          <p:nvPr/>
        </p:nvSpPr>
        <p:spPr>
          <a:xfrm>
            <a:off x="10924115" y="3767328"/>
            <a:ext cx="0" cy="420624"/>
          </a:xfrm>
          <a:prstGeom prst="line">
            <a:avLst/>
          </a:prstGeom>
          <a:noFill/>
          <a:ln w="15875">
            <a:solidFill>
              <a:srgbClr val="0D6D78"/>
            </a:solidFill>
            <a:prstDash val="solid"/>
            <a:tailEnd type="triangle"/>
          </a:ln>
        </p:spPr>
      </p:sp>
      <p:sp>
        <p:nvSpPr>
          <p:cNvPr id="26" name="Text 24"/>
          <p:cNvSpPr/>
          <p:nvPr/>
        </p:nvSpPr>
        <p:spPr>
          <a:xfrm>
            <a:off x="502920" y="4096512"/>
            <a:ext cx="10238315" cy="457200"/>
          </a:xfrm>
          <a:prstGeom prst="rect">
            <a:avLst/>
          </a:prstGeom>
          <a:noFill/>
          <a:ln/>
        </p:spPr>
        <p:txBody>
          <a:bodyPr wrap="square" rtlCol="0" anchor="ctr"/>
          <a:lstStyle/>
          <a:p>
            <a:pPr algn="r" indent="0" marL="0">
              <a:buNone/>
            </a:pPr>
            <a:r>
              <a:rPr lang="en-US" sz="1150" dirty="0">
                <a:solidFill>
                  <a:srgbClr val="0D6D78"/>
                </a:solidFill>
                <a:latin typeface="Segoe UI" pitchFamily="34" charset="0"/>
                <a:ea typeface="Segoe UI" pitchFamily="34" charset="-122"/>
                <a:cs typeface="Segoe UI" pitchFamily="34" charset="-120"/>
              </a:rPr>
              <a:t>then the rules: foot inside the boundary, 4 or fewer is not a game, 5+ with a moving ball is</a:t>
            </a:r>
            <a:endParaRPr lang="en-US" sz="1150" dirty="0"/>
          </a:p>
        </p:txBody>
      </p:sp>
      <p:sp>
        <p:nvSpPr>
          <p:cNvPr id="27" name="Text 25"/>
          <p:cNvSpPr/>
          <p:nvPr/>
        </p:nvSpPr>
        <p:spPr>
          <a:xfrm>
            <a:off x="502920" y="4864608"/>
            <a:ext cx="11185855" cy="1188720"/>
          </a:xfrm>
          <a:prstGeom prst="rect">
            <a:avLst/>
          </a:prstGeom>
          <a:noFill/>
          <a:ln/>
        </p:spPr>
        <p:txBody>
          <a:bodyPr wrap="square" rtlCol="0" anchor="t"/>
          <a:lstStyle/>
          <a:p>
            <a:pPr indent="0" marL="0">
              <a:lnSpc>
                <a:spcPts val="1610"/>
              </a:lnSpc>
              <a:buNone/>
            </a:pPr>
            <a:r>
              <a:rPr lang="en-US" sz="1150" dirty="0">
                <a:solidFill>
                  <a:srgbClr val="7A8886"/>
                </a:solidFill>
                <a:latin typeface="Segoe UI" pitchFamily="34" charset="0"/>
                <a:ea typeface="Segoe UI" pitchFamily="34" charset="-122"/>
                <a:cs typeface="Segoe UI" pitchFamily="34" charset="-120"/>
              </a:rPr>
              <a:t>The detector ends at boxes. It is asked for two COCO classes only — person and sports ball — and it is never asked whether a match is happening: that is decided afterwards by counting, which is why a verdict can be shown to a manager as the objects it was made from.</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4" presetClass="entr" presetSubtype="0" fill="hold" grpId="0" nodeType="afterEffect">
                                  <p:stCondLst>
                                    <p:cond delay="79"/>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20" fill="hold"/>
                                        <p:tgtEl>
                                          <p:spTgt spid="9"/>
                                        </p:tgtEl>
                                        <p:attrNameLst>
                                          <p:attrName>ppt_y</p:attrName>
                                        </p:attrNameLst>
                                      </p:cBhvr>
                                      <p:tavLst>
                                        <p:tav tm="0">
                                          <p:val>
                                            <p:strVal val="#ppt_y+0.035"/>
                                          </p:val>
                                        </p:tav>
                                        <p:tav tm="100000">
                                          <p:val>
                                            <p:strVal val="#ppt_y"/>
                                          </p:val>
                                        </p:tav>
                                      </p:tavLst>
                                    </p:anim>
                                    <p:animEffect transition="in" filter="fade">
                                      <p:cBhvr>
                                        <p:cTn id="18" dur="520"/>
                                        <p:tgtEl>
                                          <p:spTgt spid="9"/>
                                        </p:tgtEl>
                                      </p:cBhvr>
                                    </p:animEffect>
                                  </p:childTnLst>
                                </p:cTn>
                              </p:par>
                              <p:par>
                                <p:cTn id="19" presetID="34"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20" fill="hold"/>
                                        <p:tgtEl>
                                          <p:spTgt spid="10"/>
                                        </p:tgtEl>
                                        <p:attrNameLst>
                                          <p:attrName>ppt_y</p:attrName>
                                        </p:attrNameLst>
                                      </p:cBhvr>
                                      <p:tavLst>
                                        <p:tav tm="0">
                                          <p:val>
                                            <p:strVal val="#ppt_y+0.035"/>
                                          </p:val>
                                        </p:tav>
                                        <p:tav tm="100000">
                                          <p:val>
                                            <p:strVal val="#ppt_y"/>
                                          </p:val>
                                        </p:tav>
                                      </p:tavLst>
                                    </p:anim>
                                    <p:animEffect transition="in" filter="fade">
                                      <p:cBhvr>
                                        <p:cTn id="22" dur="52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4" presetClass="entr" presetSubtype="0" fill="hold" grpId="0" nodeType="afterEffect">
                                  <p:stCondLst>
                                    <p:cond delay="79"/>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20" fill="hold"/>
                                        <p:tgtEl>
                                          <p:spTgt spid="11"/>
                                        </p:tgtEl>
                                        <p:attrNameLst>
                                          <p:attrName>ppt_y</p:attrName>
                                        </p:attrNameLst>
                                      </p:cBhvr>
                                      <p:tavLst>
                                        <p:tav tm="0">
                                          <p:val>
                                            <p:strVal val="#ppt_y+0.035"/>
                                          </p:val>
                                        </p:tav>
                                        <p:tav tm="100000">
                                          <p:val>
                                            <p:strVal val="#ppt_y"/>
                                          </p:val>
                                        </p:tav>
                                      </p:tavLst>
                                    </p:anim>
                                    <p:animEffect transition="in" filter="fade">
                                      <p:cBhvr>
                                        <p:cTn id="28" dur="520"/>
                                        <p:tgtEl>
                                          <p:spTgt spid="11"/>
                                        </p:tgtEl>
                                      </p:cBhvr>
                                    </p:animEffect>
                                  </p:childTnLst>
                                </p:cTn>
                              </p:par>
                              <p:par>
                                <p:cTn id="29" presetID="34"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20" fill="hold"/>
                                        <p:tgtEl>
                                          <p:spTgt spid="12"/>
                                        </p:tgtEl>
                                        <p:attrNameLst>
                                          <p:attrName>ppt_y</p:attrName>
                                        </p:attrNameLst>
                                      </p:cBhvr>
                                      <p:tavLst>
                                        <p:tav tm="0">
                                          <p:val>
                                            <p:strVal val="#ppt_y+0.035"/>
                                          </p:val>
                                        </p:tav>
                                        <p:tav tm="100000">
                                          <p:val>
                                            <p:strVal val="#ppt_y"/>
                                          </p:val>
                                        </p:tav>
                                      </p:tavLst>
                                    </p:anim>
                                    <p:animEffect transition="in" filter="fade">
                                      <p:cBhvr>
                                        <p:cTn id="32" dur="52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34" presetClass="entr" presetSubtype="0" fill="hold" grpId="0" nodeType="afterEffect">
                                  <p:stCondLst>
                                    <p:cond delay="79"/>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20" fill="hold"/>
                                        <p:tgtEl>
                                          <p:spTgt spid="13"/>
                                        </p:tgtEl>
                                        <p:attrNameLst>
                                          <p:attrName>ppt_y</p:attrName>
                                        </p:attrNameLst>
                                      </p:cBhvr>
                                      <p:tavLst>
                                        <p:tav tm="0">
                                          <p:val>
                                            <p:strVal val="#ppt_y+0.035"/>
                                          </p:val>
                                        </p:tav>
                                        <p:tav tm="100000">
                                          <p:val>
                                            <p:strVal val="#ppt_y"/>
                                          </p:val>
                                        </p:tav>
                                      </p:tavLst>
                                    </p:anim>
                                    <p:animEffect transition="in" filter="fade">
                                      <p:cBhvr>
                                        <p:cTn id="38" dur="52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34" presetClass="entr" presetSubtype="0" fill="hold" grpId="0" nodeType="afterEffect">
                                  <p:stCondLst>
                                    <p:cond delay="79"/>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20" fill="hold"/>
                                        <p:tgtEl>
                                          <p:spTgt spid="14"/>
                                        </p:tgtEl>
                                        <p:attrNameLst>
                                          <p:attrName>ppt_y</p:attrName>
                                        </p:attrNameLst>
                                      </p:cBhvr>
                                      <p:tavLst>
                                        <p:tav tm="0">
                                          <p:val>
                                            <p:strVal val="#ppt_y+0.035"/>
                                          </p:val>
                                        </p:tav>
                                        <p:tav tm="100000">
                                          <p:val>
                                            <p:strVal val="#ppt_y"/>
                                          </p:val>
                                        </p:tav>
                                      </p:tavLst>
                                    </p:anim>
                                    <p:animEffect transition="in" filter="fade">
                                      <p:cBhvr>
                                        <p:cTn id="44" dur="520"/>
                                        <p:tgtEl>
                                          <p:spTgt spid="14"/>
                                        </p:tgtEl>
                                      </p:cBhvr>
                                    </p:animEffect>
                                  </p:childTnLst>
                                </p:cTn>
                              </p:par>
                              <p:par>
                                <p:cTn id="45" presetID="34"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20" fill="hold"/>
                                        <p:tgtEl>
                                          <p:spTgt spid="15"/>
                                        </p:tgtEl>
                                        <p:attrNameLst>
                                          <p:attrName>ppt_y</p:attrName>
                                        </p:attrNameLst>
                                      </p:cBhvr>
                                      <p:tavLst>
                                        <p:tav tm="0">
                                          <p:val>
                                            <p:strVal val="#ppt_y+0.035"/>
                                          </p:val>
                                        </p:tav>
                                        <p:tav tm="100000">
                                          <p:val>
                                            <p:strVal val="#ppt_y"/>
                                          </p:val>
                                        </p:tav>
                                      </p:tavLst>
                                    </p:anim>
                                    <p:animEffect transition="in" filter="fade">
                                      <p:cBhvr>
                                        <p:cTn id="48" dur="52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34" presetClass="entr" presetSubtype="0" fill="hold" grpId="0" nodeType="afterEffect">
                                  <p:stCondLst>
                                    <p:cond delay="79"/>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20" fill="hold"/>
                                        <p:tgtEl>
                                          <p:spTgt spid="16"/>
                                        </p:tgtEl>
                                        <p:attrNameLst>
                                          <p:attrName>ppt_y</p:attrName>
                                        </p:attrNameLst>
                                      </p:cBhvr>
                                      <p:tavLst>
                                        <p:tav tm="0">
                                          <p:val>
                                            <p:strVal val="#ppt_y+0.035"/>
                                          </p:val>
                                        </p:tav>
                                        <p:tav tm="100000">
                                          <p:val>
                                            <p:strVal val="#ppt_y"/>
                                          </p:val>
                                        </p:tav>
                                      </p:tavLst>
                                    </p:anim>
                                    <p:animEffect transition="in" filter="fade">
                                      <p:cBhvr>
                                        <p:cTn id="54" dur="52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34" presetClass="entr" presetSubtype="0" fill="hold" grpId="0" nodeType="afterEffect">
                                  <p:stCondLst>
                                    <p:cond delay="79"/>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20" fill="hold"/>
                                        <p:tgtEl>
                                          <p:spTgt spid="17"/>
                                        </p:tgtEl>
                                        <p:attrNameLst>
                                          <p:attrName>ppt_y</p:attrName>
                                        </p:attrNameLst>
                                      </p:cBhvr>
                                      <p:tavLst>
                                        <p:tav tm="0">
                                          <p:val>
                                            <p:strVal val="#ppt_y+0.035"/>
                                          </p:val>
                                        </p:tav>
                                        <p:tav tm="100000">
                                          <p:val>
                                            <p:strVal val="#ppt_y"/>
                                          </p:val>
                                        </p:tav>
                                      </p:tavLst>
                                    </p:anim>
                                    <p:animEffect transition="in" filter="fade">
                                      <p:cBhvr>
                                        <p:cTn id="60" dur="520"/>
                                        <p:tgtEl>
                                          <p:spTgt spid="17"/>
                                        </p:tgtEl>
                                      </p:cBhvr>
                                    </p:animEffect>
                                  </p:childTnLst>
                                </p:cTn>
                              </p:par>
                              <p:par>
                                <p:cTn id="61" presetID="34"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20" fill="hold"/>
                                        <p:tgtEl>
                                          <p:spTgt spid="18"/>
                                        </p:tgtEl>
                                        <p:attrNameLst>
                                          <p:attrName>ppt_y</p:attrName>
                                        </p:attrNameLst>
                                      </p:cBhvr>
                                      <p:tavLst>
                                        <p:tav tm="0">
                                          <p:val>
                                            <p:strVal val="#ppt_y+0.035"/>
                                          </p:val>
                                        </p:tav>
                                        <p:tav tm="100000">
                                          <p:val>
                                            <p:strVal val="#ppt_y"/>
                                          </p:val>
                                        </p:tav>
                                      </p:tavLst>
                                    </p:anim>
                                    <p:animEffect transition="in" filter="fade">
                                      <p:cBhvr>
                                        <p:cTn id="64" dur="52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34" presetClass="entr" presetSubtype="0" fill="hold" grpId="0" nodeType="afterEffect">
                                  <p:stCondLst>
                                    <p:cond delay="79"/>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20" fill="hold"/>
                                        <p:tgtEl>
                                          <p:spTgt spid="19"/>
                                        </p:tgtEl>
                                        <p:attrNameLst>
                                          <p:attrName>ppt_y</p:attrName>
                                        </p:attrNameLst>
                                      </p:cBhvr>
                                      <p:tavLst>
                                        <p:tav tm="0">
                                          <p:val>
                                            <p:strVal val="#ppt_y+0.035"/>
                                          </p:val>
                                        </p:tav>
                                        <p:tav tm="100000">
                                          <p:val>
                                            <p:strVal val="#ppt_y"/>
                                          </p:val>
                                        </p:tav>
                                      </p:tavLst>
                                    </p:anim>
                                    <p:animEffect transition="in" filter="fade">
                                      <p:cBhvr>
                                        <p:cTn id="70" dur="520"/>
                                        <p:tgtEl>
                                          <p:spTgt spid="19"/>
                                        </p:tgtEl>
                                      </p:cBhvr>
                                    </p:animEffect>
                                  </p:childTnLst>
                                </p:cTn>
                              </p:par>
                            </p:childTnLst>
                          </p:cTn>
                        </p:par>
                      </p:childTnLst>
                    </p:cTn>
                  </p:par>
                  <p:par>
                    <p:cTn id="71" fill="hold">
                      <p:stCondLst>
                        <p:cond delay="indefinite"/>
                      </p:stCondLst>
                      <p:childTnLst>
                        <p:par>
                          <p:cTn id="72" fill="hold">
                            <p:stCondLst>
                              <p:cond delay="0"/>
                            </p:stCondLst>
                            <p:childTnLst>
                              <p:par>
                                <p:cTn id="73" presetID="34" presetClass="entr" presetSubtype="0" fill="hold" grpId="0" nodeType="afterEffect">
                                  <p:stCondLst>
                                    <p:cond delay="79"/>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20" fill="hold"/>
                                        <p:tgtEl>
                                          <p:spTgt spid="20"/>
                                        </p:tgtEl>
                                        <p:attrNameLst>
                                          <p:attrName>ppt_y</p:attrName>
                                        </p:attrNameLst>
                                      </p:cBhvr>
                                      <p:tavLst>
                                        <p:tav tm="0">
                                          <p:val>
                                            <p:strVal val="#ppt_y+0.035"/>
                                          </p:val>
                                        </p:tav>
                                        <p:tav tm="100000">
                                          <p:val>
                                            <p:strVal val="#ppt_y"/>
                                          </p:val>
                                        </p:tav>
                                      </p:tavLst>
                                    </p:anim>
                                    <p:animEffect transition="in" filter="fade">
                                      <p:cBhvr>
                                        <p:cTn id="76" dur="520"/>
                                        <p:tgtEl>
                                          <p:spTgt spid="20"/>
                                        </p:tgtEl>
                                      </p:cBhvr>
                                    </p:animEffect>
                                  </p:childTnLst>
                                </p:cTn>
                              </p:par>
                              <p:par>
                                <p:cTn id="77" presetID="34"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20" fill="hold"/>
                                        <p:tgtEl>
                                          <p:spTgt spid="21"/>
                                        </p:tgtEl>
                                        <p:attrNameLst>
                                          <p:attrName>ppt_y</p:attrName>
                                        </p:attrNameLst>
                                      </p:cBhvr>
                                      <p:tavLst>
                                        <p:tav tm="0">
                                          <p:val>
                                            <p:strVal val="#ppt_y+0.035"/>
                                          </p:val>
                                        </p:tav>
                                        <p:tav tm="100000">
                                          <p:val>
                                            <p:strVal val="#ppt_y"/>
                                          </p:val>
                                        </p:tav>
                                      </p:tavLst>
                                    </p:anim>
                                    <p:animEffect transition="in" filter="fade">
                                      <p:cBhvr>
                                        <p:cTn id="80" dur="520"/>
                                        <p:tgtEl>
                                          <p:spTgt spid="21"/>
                                        </p:tgtEl>
                                      </p:cBhvr>
                                    </p:animEffect>
                                  </p:childTnLst>
                                </p:cTn>
                              </p:par>
                            </p:childTnLst>
                          </p:cTn>
                        </p:par>
                      </p:childTnLst>
                    </p:cTn>
                  </p:par>
                  <p:par>
                    <p:cTn id="81" fill="hold">
                      <p:stCondLst>
                        <p:cond delay="indefinite"/>
                      </p:stCondLst>
                      <p:childTnLst>
                        <p:par>
                          <p:cTn id="82" fill="hold">
                            <p:stCondLst>
                              <p:cond delay="0"/>
                            </p:stCondLst>
                            <p:childTnLst>
                              <p:par>
                                <p:cTn id="83" presetID="34" presetClass="entr" presetSubtype="0" fill="hold" grpId="0" nodeType="afterEffect">
                                  <p:stCondLst>
                                    <p:cond delay="79"/>
                                  </p:stCondLst>
                                  <p:childTnLst>
                                    <p:set>
                                      <p:cBhvr>
                                        <p:cTn id="84" dur="1" fill="hold">
                                          <p:stCondLst>
                                            <p:cond delay="0"/>
                                          </p:stCondLst>
                                        </p:cTn>
                                        <p:tgtEl>
                                          <p:spTgt spid="22"/>
                                        </p:tgtEl>
                                        <p:attrNameLst>
                                          <p:attrName>style.visibility</p:attrName>
                                        </p:attrNameLst>
                                      </p:cBhvr>
                                      <p:to>
                                        <p:strVal val="visible"/>
                                      </p:to>
                                    </p:set>
                                    <p:anim calcmode="lin" valueType="num">
                                      <p:cBhvr additive="base">
                                        <p:cTn id="85" dur="520" fill="hold"/>
                                        <p:tgtEl>
                                          <p:spTgt spid="22"/>
                                        </p:tgtEl>
                                        <p:attrNameLst>
                                          <p:attrName>ppt_y</p:attrName>
                                        </p:attrNameLst>
                                      </p:cBhvr>
                                      <p:tavLst>
                                        <p:tav tm="0">
                                          <p:val>
                                            <p:strVal val="#ppt_y+0.035"/>
                                          </p:val>
                                        </p:tav>
                                        <p:tav tm="100000">
                                          <p:val>
                                            <p:strVal val="#ppt_y"/>
                                          </p:val>
                                        </p:tav>
                                      </p:tavLst>
                                    </p:anim>
                                    <p:animEffect transition="in" filter="fade">
                                      <p:cBhvr>
                                        <p:cTn id="86" dur="520"/>
                                        <p:tgtEl>
                                          <p:spTgt spid="22"/>
                                        </p:tgtEl>
                                      </p:cBhvr>
                                    </p:animEffect>
                                  </p:childTnLst>
                                </p:cTn>
                              </p:par>
                            </p:childTnLst>
                          </p:cTn>
                        </p:par>
                      </p:childTnLst>
                    </p:cTn>
                  </p:par>
                  <p:par>
                    <p:cTn id="87" fill="hold">
                      <p:stCondLst>
                        <p:cond delay="indefinite"/>
                      </p:stCondLst>
                      <p:childTnLst>
                        <p:par>
                          <p:cTn id="88" fill="hold">
                            <p:stCondLst>
                              <p:cond delay="0"/>
                            </p:stCondLst>
                            <p:childTnLst>
                              <p:par>
                                <p:cTn id="89" presetID="34" presetClass="entr" presetSubtype="0" fill="hold" grpId="0" nodeType="afterEffect">
                                  <p:stCondLst>
                                    <p:cond delay="79"/>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520" fill="hold"/>
                                        <p:tgtEl>
                                          <p:spTgt spid="23"/>
                                        </p:tgtEl>
                                        <p:attrNameLst>
                                          <p:attrName>ppt_y</p:attrName>
                                        </p:attrNameLst>
                                      </p:cBhvr>
                                      <p:tavLst>
                                        <p:tav tm="0">
                                          <p:val>
                                            <p:strVal val="#ppt_y+0.035"/>
                                          </p:val>
                                        </p:tav>
                                        <p:tav tm="100000">
                                          <p:val>
                                            <p:strVal val="#ppt_y"/>
                                          </p:val>
                                        </p:tav>
                                      </p:tavLst>
                                    </p:anim>
                                    <p:animEffect transition="in" filter="fade">
                                      <p:cBhvr>
                                        <p:cTn id="92" dur="520"/>
                                        <p:tgtEl>
                                          <p:spTgt spid="23"/>
                                        </p:tgtEl>
                                      </p:cBhvr>
                                    </p:animEffect>
                                  </p:childTnLst>
                                </p:cTn>
                              </p:par>
                              <p:par>
                                <p:cTn id="93" presetID="34" presetClass="entr" presetSubtype="0"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anim calcmode="lin" valueType="num">
                                      <p:cBhvr additive="base">
                                        <p:cTn id="95" dur="520" fill="hold"/>
                                        <p:tgtEl>
                                          <p:spTgt spid="24"/>
                                        </p:tgtEl>
                                        <p:attrNameLst>
                                          <p:attrName>ppt_y</p:attrName>
                                        </p:attrNameLst>
                                      </p:cBhvr>
                                      <p:tavLst>
                                        <p:tav tm="0">
                                          <p:val>
                                            <p:strVal val="#ppt_y+0.035"/>
                                          </p:val>
                                        </p:tav>
                                        <p:tav tm="100000">
                                          <p:val>
                                            <p:strVal val="#ppt_y"/>
                                          </p:val>
                                        </p:tav>
                                      </p:tavLst>
                                    </p:anim>
                                    <p:animEffect transition="in" filter="fade">
                                      <p:cBhvr>
                                        <p:cTn id="96" dur="520"/>
                                        <p:tgtEl>
                                          <p:spTgt spid="24"/>
                                        </p:tgtEl>
                                      </p:cBhvr>
                                    </p:animEffect>
                                  </p:childTnLst>
                                </p:cTn>
                              </p:par>
                            </p:childTnLst>
                          </p:cTn>
                        </p:par>
                      </p:childTnLst>
                    </p:cTn>
                  </p:par>
                  <p:par>
                    <p:cTn id="97" fill="hold">
                      <p:stCondLst>
                        <p:cond delay="indefinite"/>
                      </p:stCondLst>
                      <p:childTnLst>
                        <p:par>
                          <p:cTn id="98" fill="hold">
                            <p:stCondLst>
                              <p:cond delay="0"/>
                            </p:stCondLst>
                            <p:childTnLst>
                              <p:par>
                                <p:cTn id="99" presetID="34" presetClass="entr" presetSubtype="0" fill="hold" grpId="0" nodeType="afterEffect">
                                  <p:stCondLst>
                                    <p:cond delay="79"/>
                                  </p:stCondLst>
                                  <p:childTnLst>
                                    <p:set>
                                      <p:cBhvr>
                                        <p:cTn id="100" dur="1" fill="hold">
                                          <p:stCondLst>
                                            <p:cond delay="0"/>
                                          </p:stCondLst>
                                        </p:cTn>
                                        <p:tgtEl>
                                          <p:spTgt spid="25"/>
                                        </p:tgtEl>
                                        <p:attrNameLst>
                                          <p:attrName>style.visibility</p:attrName>
                                        </p:attrNameLst>
                                      </p:cBhvr>
                                      <p:to>
                                        <p:strVal val="visible"/>
                                      </p:to>
                                    </p:set>
                                    <p:anim calcmode="lin" valueType="num">
                                      <p:cBhvr additive="base">
                                        <p:cTn id="101" dur="520" fill="hold"/>
                                        <p:tgtEl>
                                          <p:spTgt spid="25"/>
                                        </p:tgtEl>
                                        <p:attrNameLst>
                                          <p:attrName>ppt_y</p:attrName>
                                        </p:attrNameLst>
                                      </p:cBhvr>
                                      <p:tavLst>
                                        <p:tav tm="0">
                                          <p:val>
                                            <p:strVal val="#ppt_y+0.035"/>
                                          </p:val>
                                        </p:tav>
                                        <p:tav tm="100000">
                                          <p:val>
                                            <p:strVal val="#ppt_y"/>
                                          </p:val>
                                        </p:tav>
                                      </p:tavLst>
                                    </p:anim>
                                    <p:animEffect transition="in" filter="fade">
                                      <p:cBhvr>
                                        <p:cTn id="102" dur="520"/>
                                        <p:tgtEl>
                                          <p:spTgt spid="25"/>
                                        </p:tgtEl>
                                      </p:cBhvr>
                                    </p:animEffect>
                                  </p:childTnLst>
                                </p:cTn>
                              </p:par>
                            </p:childTnLst>
                          </p:cTn>
                        </p:par>
                      </p:childTnLst>
                    </p:cTn>
                  </p:par>
                  <p:par>
                    <p:cTn id="103" fill="hold">
                      <p:stCondLst>
                        <p:cond delay="indefinite"/>
                      </p:stCondLst>
                      <p:childTnLst>
                        <p:par>
                          <p:cTn id="104" fill="hold">
                            <p:stCondLst>
                              <p:cond delay="0"/>
                            </p:stCondLst>
                            <p:childTnLst>
                              <p:par>
                                <p:cTn id="105" presetID="34" presetClass="entr" presetSubtype="0" fill="hold" grpId="0" nodeType="afterEffect">
                                  <p:stCondLst>
                                    <p:cond delay="79"/>
                                  </p:stCondLst>
                                  <p:childTnLst>
                                    <p:set>
                                      <p:cBhvr>
                                        <p:cTn id="106" dur="1" fill="hold">
                                          <p:stCondLst>
                                            <p:cond delay="0"/>
                                          </p:stCondLst>
                                        </p:cTn>
                                        <p:tgtEl>
                                          <p:spTgt spid="26"/>
                                        </p:tgtEl>
                                        <p:attrNameLst>
                                          <p:attrName>style.visibility</p:attrName>
                                        </p:attrNameLst>
                                      </p:cBhvr>
                                      <p:to>
                                        <p:strVal val="visible"/>
                                      </p:to>
                                    </p:set>
                                    <p:anim calcmode="lin" valueType="num">
                                      <p:cBhvr additive="base">
                                        <p:cTn id="107" dur="520" fill="hold"/>
                                        <p:tgtEl>
                                          <p:spTgt spid="26"/>
                                        </p:tgtEl>
                                        <p:attrNameLst>
                                          <p:attrName>ppt_y</p:attrName>
                                        </p:attrNameLst>
                                      </p:cBhvr>
                                      <p:tavLst>
                                        <p:tav tm="0">
                                          <p:val>
                                            <p:strVal val="#ppt_y+0.035"/>
                                          </p:val>
                                        </p:tav>
                                        <p:tav tm="100000">
                                          <p:val>
                                            <p:strVal val="#ppt_y"/>
                                          </p:val>
                                        </p:tav>
                                      </p:tavLst>
                                    </p:anim>
                                    <p:animEffect transition="in" filter="fade">
                                      <p:cBhvr>
                                        <p:cTn id="108" dur="520"/>
                                        <p:tgtEl>
                                          <p:spTgt spid="26"/>
                                        </p:tgtEl>
                                      </p:cBhvr>
                                    </p:animEffect>
                                  </p:childTnLst>
                                </p:cTn>
                              </p:par>
                            </p:childTnLst>
                          </p:cTn>
                        </p:par>
                      </p:childTnLst>
                    </p:cTn>
                  </p:par>
                  <p:par>
                    <p:cTn id="109" fill="hold">
                      <p:stCondLst>
                        <p:cond delay="indefinite"/>
                      </p:stCondLst>
                      <p:childTnLst>
                        <p:par>
                          <p:cTn id="110" fill="hold">
                            <p:stCondLst>
                              <p:cond delay="0"/>
                            </p:stCondLst>
                            <p:childTnLst>
                              <p:par>
                                <p:cTn id="111" presetID="34" presetClass="entr" presetSubtype="0" fill="hold" grpId="0" nodeType="afterEffect">
                                  <p:stCondLst>
                                    <p:cond delay="79"/>
                                  </p:stCondLst>
                                  <p:childTnLst>
                                    <p:set>
                                      <p:cBhvr>
                                        <p:cTn id="112" dur="1" fill="hold">
                                          <p:stCondLst>
                                            <p:cond delay="0"/>
                                          </p:stCondLst>
                                        </p:cTn>
                                        <p:tgtEl>
                                          <p:spTgt spid="27"/>
                                        </p:tgtEl>
                                        <p:attrNameLst>
                                          <p:attrName>style.visibility</p:attrName>
                                        </p:attrNameLst>
                                      </p:cBhvr>
                                      <p:to>
                                        <p:strVal val="visible"/>
                                      </p:to>
                                    </p:set>
                                    <p:anim calcmode="lin" valueType="num">
                                      <p:cBhvr additive="base">
                                        <p:cTn id="113" dur="520" fill="hold"/>
                                        <p:tgtEl>
                                          <p:spTgt spid="27"/>
                                        </p:tgtEl>
                                        <p:attrNameLst>
                                          <p:attrName>ppt_y</p:attrName>
                                        </p:attrNameLst>
                                      </p:cBhvr>
                                      <p:tavLst>
                                        <p:tav tm="0">
                                          <p:val>
                                            <p:strVal val="#ppt_y+0.035"/>
                                          </p:val>
                                        </p:tav>
                                        <p:tav tm="100000">
                                          <p:val>
                                            <p:strVal val="#ppt_y"/>
                                          </p:val>
                                        </p:tav>
                                      </p:tavLst>
                                    </p:anim>
                                    <p:animEffect transition="in" filter="fade">
                                      <p:cBhvr>
                                        <p:cTn id="114" dur="5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0.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0">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3 — YOLOV8</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The three cases</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F5A524"/>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14</a:t>
            </a:r>
            <a:endParaRPr lang="en-US" sz="1000" dirty="0"/>
          </a:p>
        </p:txBody>
      </p:sp>
      <p:sp>
        <p:nvSpPr>
          <p:cNvPr id="7" name="Shape 5"/>
          <p:cNvSpPr/>
          <p:nvPr/>
        </p:nvSpPr>
        <p:spPr>
          <a:xfrm>
            <a:off x="502920" y="1799661"/>
            <a:ext cx="11185855" cy="1287780"/>
          </a:xfrm>
          <a:prstGeom prst="roundRect">
            <a:avLst>
              <a:gd name="adj" fmla="val 6391"/>
            </a:avLst>
          </a:prstGeom>
          <a:solidFill>
            <a:srgbClr val="FFFFFF"/>
          </a:solidFill>
          <a:ln w="9525">
            <a:solidFill>
              <a:srgbClr val="DDE4E2"/>
            </a:solidFill>
            <a:prstDash val="solid"/>
          </a:ln>
        </p:spPr>
      </p:sp>
      <p:sp>
        <p:nvSpPr>
          <p:cNvPr id="8" name="Shape 6"/>
          <p:cNvSpPr/>
          <p:nvPr/>
        </p:nvSpPr>
        <p:spPr>
          <a:xfrm>
            <a:off x="704088" y="2251527"/>
            <a:ext cx="384048" cy="384048"/>
          </a:xfrm>
          <a:prstGeom prst="ellipse">
            <a:avLst/>
          </a:prstGeom>
          <a:solidFill>
            <a:srgbClr val="17B978"/>
          </a:solidFill>
          <a:ln/>
        </p:spPr>
      </p:sp>
      <p:sp>
        <p:nvSpPr>
          <p:cNvPr id="9" name="Text 7"/>
          <p:cNvSpPr/>
          <p:nvPr/>
        </p:nvSpPr>
        <p:spPr>
          <a:xfrm>
            <a:off x="704088" y="2251527"/>
            <a:ext cx="384048" cy="384048"/>
          </a:xfrm>
          <a:prstGeom prst="rect">
            <a:avLst/>
          </a:prstGeom>
          <a:noFill/>
          <a:ln/>
        </p:spPr>
        <p:txBody>
          <a:bodyPr wrap="square" rtlCol="0" anchor="ctr"/>
          <a:lstStyle/>
          <a:p>
            <a:pPr algn="ctr" indent="0" marL="0">
              <a:buNone/>
            </a:pPr>
            <a:r>
              <a:rPr lang="en-US" sz="1300" b="1" dirty="0">
                <a:solidFill>
                  <a:srgbClr val="04301F"/>
                </a:solidFill>
                <a:latin typeface="Consolas" pitchFamily="34" charset="0"/>
                <a:ea typeface="Consolas" pitchFamily="34" charset="-122"/>
                <a:cs typeface="Consolas" pitchFamily="34" charset="-120"/>
              </a:rPr>
              <a:t>1</a:t>
            </a:r>
            <a:endParaRPr lang="en-US" sz="1300" dirty="0"/>
          </a:p>
        </p:txBody>
      </p:sp>
      <p:sp>
        <p:nvSpPr>
          <p:cNvPr id="10" name="Text 8"/>
          <p:cNvSpPr/>
          <p:nvPr/>
        </p:nvSpPr>
        <p:spPr>
          <a:xfrm>
            <a:off x="1252728" y="1909389"/>
            <a:ext cx="10225735" cy="1068324"/>
          </a:xfrm>
          <a:prstGeom prst="rect">
            <a:avLst/>
          </a:prstGeom>
          <a:noFill/>
          <a:ln/>
        </p:spPr>
        <p:txBody>
          <a:bodyPr wrap="square" rtlCol="0" anchor="t"/>
          <a:lstStyle/>
          <a:p>
            <a:pPr indent="0" marL="0">
              <a:lnSpc>
                <a:spcPts val="1518"/>
              </a:lnSpc>
              <a:spcBef>
                <a:spcPts val="400"/>
              </a:spcBef>
              <a:buNone/>
            </a:pPr>
            <a:r>
              <a:rPr lang="en-US" sz="1400" b="1" dirty="0">
                <a:solidFill>
                  <a:srgbClr val="111817"/>
                </a:solidFill>
                <a:latin typeface="Segoe UI" pitchFamily="34" charset="0"/>
                <a:ea typeface="Segoe UI" pitchFamily="34" charset="-122"/>
                <a:cs typeface="Segoe UI" pitchFamily="34" charset="-120"/>
              </a:rPr>
              <a:t>People — How many people are on the pitch</a:t>
            </a:r>
            <a:endParaRPr lang="en-US" sz="140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We count the people inside the pitch.</a:t>
            </a:r>
            <a:endParaRPr lang="en-US" sz="1400" dirty="0"/>
          </a:p>
          <a:p>
            <a:pPr indent="0" marL="0">
              <a:lnSpc>
                <a:spcPts val="1518"/>
              </a:lnSpc>
              <a:spcBef>
                <a:spcPts val="400"/>
              </a:spcBef>
              <a:buNone/>
            </a:pPr>
            <a:r>
              <a:rPr lang="en-US" sz="1100" b="1" dirty="0">
                <a:solidFill>
                  <a:srgbClr val="4B5A58"/>
                </a:solidFill>
                <a:latin typeface="Segoe UI" pitchFamily="34" charset="0"/>
                <a:ea typeface="Segoe UI" pitchFamily="34" charset="-122"/>
                <a:cs typeface="Segoe UI" pitchFamily="34" charset="-120"/>
              </a:rPr>
              <a:t>0</a:t>
            </a:r>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 people = empty</a:t>
            </a:r>
            <a:endParaRPr lang="en-US" sz="140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A few people may be staff or non-playing people.</a:t>
            </a:r>
            <a:endParaRPr lang="en-US" sz="140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Many people usually means a game is happening.</a:t>
            </a:r>
            <a:endParaRPr lang="en-US" sz="1400" dirty="0"/>
          </a:p>
        </p:txBody>
      </p:sp>
      <p:sp>
        <p:nvSpPr>
          <p:cNvPr id="11" name="Shape 9"/>
          <p:cNvSpPr/>
          <p:nvPr/>
        </p:nvSpPr>
        <p:spPr>
          <a:xfrm>
            <a:off x="502920" y="3215457"/>
            <a:ext cx="11185855" cy="1092200"/>
          </a:xfrm>
          <a:prstGeom prst="roundRect">
            <a:avLst>
              <a:gd name="adj" fmla="val 7535"/>
            </a:avLst>
          </a:prstGeom>
          <a:solidFill>
            <a:srgbClr val="FFFFFF"/>
          </a:solidFill>
          <a:ln w="9525">
            <a:solidFill>
              <a:srgbClr val="DDE4E2"/>
            </a:solidFill>
            <a:prstDash val="solid"/>
          </a:ln>
        </p:spPr>
      </p:sp>
      <p:sp>
        <p:nvSpPr>
          <p:cNvPr id="12" name="Shape 10"/>
          <p:cNvSpPr/>
          <p:nvPr/>
        </p:nvSpPr>
        <p:spPr>
          <a:xfrm>
            <a:off x="704088" y="3569533"/>
            <a:ext cx="384048" cy="384048"/>
          </a:xfrm>
          <a:prstGeom prst="ellipse">
            <a:avLst/>
          </a:prstGeom>
          <a:solidFill>
            <a:srgbClr val="3FA7E0"/>
          </a:solidFill>
          <a:ln/>
        </p:spPr>
      </p:sp>
      <p:sp>
        <p:nvSpPr>
          <p:cNvPr id="13" name="Text 11"/>
          <p:cNvSpPr/>
          <p:nvPr/>
        </p:nvSpPr>
        <p:spPr>
          <a:xfrm>
            <a:off x="704088" y="3569533"/>
            <a:ext cx="384048" cy="384048"/>
          </a:xfrm>
          <a:prstGeom prst="rect">
            <a:avLst/>
          </a:prstGeom>
          <a:noFill/>
          <a:ln/>
        </p:spPr>
        <p:txBody>
          <a:bodyPr wrap="square" rtlCol="0" anchor="ctr"/>
          <a:lstStyle/>
          <a:p>
            <a:pPr algn="ctr" indent="0" marL="0">
              <a:buNone/>
            </a:pPr>
            <a:r>
              <a:rPr lang="en-US" sz="1300" b="1" dirty="0">
                <a:solidFill>
                  <a:srgbClr val="04283D"/>
                </a:solidFill>
                <a:latin typeface="Consolas" pitchFamily="34" charset="0"/>
                <a:ea typeface="Consolas" pitchFamily="34" charset="-122"/>
                <a:cs typeface="Consolas" pitchFamily="34" charset="-120"/>
              </a:rPr>
              <a:t>2</a:t>
            </a:r>
            <a:endParaRPr lang="en-US" sz="1300" dirty="0"/>
          </a:p>
        </p:txBody>
      </p:sp>
      <p:sp>
        <p:nvSpPr>
          <p:cNvPr id="14" name="Text 12"/>
          <p:cNvSpPr/>
          <p:nvPr/>
        </p:nvSpPr>
        <p:spPr>
          <a:xfrm>
            <a:off x="1252728" y="3325185"/>
            <a:ext cx="10225735" cy="872744"/>
          </a:xfrm>
          <a:prstGeom prst="rect">
            <a:avLst/>
          </a:prstGeom>
          <a:noFill/>
          <a:ln/>
        </p:spPr>
        <p:txBody>
          <a:bodyPr wrap="square" rtlCol="0" anchor="t"/>
          <a:lstStyle/>
          <a:p>
            <a:pPr indent="0" marL="0">
              <a:lnSpc>
                <a:spcPts val="1518"/>
              </a:lnSpc>
              <a:spcBef>
                <a:spcPts val="400"/>
              </a:spcBef>
              <a:buNone/>
            </a:pPr>
            <a:r>
              <a:rPr lang="en-US" sz="1400" b="1" dirty="0">
                <a:solidFill>
                  <a:srgbClr val="111817"/>
                </a:solidFill>
                <a:latin typeface="Segoe UI" pitchFamily="34" charset="0"/>
                <a:ea typeface="Segoe UI" pitchFamily="34" charset="-122"/>
                <a:cs typeface="Segoe UI" pitchFamily="34" charset="-120"/>
              </a:rPr>
              <a:t>Motion — Is something moving?</a:t>
            </a:r>
            <a:endParaRPr lang="en-US" sz="140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We compare the current frame with the previous frame.</a:t>
            </a:r>
            <a:endParaRPr lang="en-US" sz="140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It tells us if something is moving.</a:t>
            </a:r>
            <a:endParaRPr lang="en-US" sz="140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It does not tell us who is moving.</a:t>
            </a:r>
            <a:endParaRPr lang="en-US" sz="1400" dirty="0"/>
          </a:p>
        </p:txBody>
      </p:sp>
      <p:sp>
        <p:nvSpPr>
          <p:cNvPr id="15" name="Shape 13"/>
          <p:cNvSpPr/>
          <p:nvPr/>
        </p:nvSpPr>
        <p:spPr>
          <a:xfrm>
            <a:off x="502920" y="4435673"/>
            <a:ext cx="11185855" cy="1287780"/>
          </a:xfrm>
          <a:prstGeom prst="roundRect">
            <a:avLst>
              <a:gd name="adj" fmla="val 6391"/>
            </a:avLst>
          </a:prstGeom>
          <a:solidFill>
            <a:srgbClr val="FFFFFF"/>
          </a:solidFill>
          <a:ln w="9525">
            <a:solidFill>
              <a:srgbClr val="DDE4E2"/>
            </a:solidFill>
            <a:prstDash val="solid"/>
          </a:ln>
        </p:spPr>
      </p:sp>
      <p:sp>
        <p:nvSpPr>
          <p:cNvPr id="16" name="Shape 14"/>
          <p:cNvSpPr/>
          <p:nvPr/>
        </p:nvSpPr>
        <p:spPr>
          <a:xfrm>
            <a:off x="704088" y="4887539"/>
            <a:ext cx="384048" cy="384048"/>
          </a:xfrm>
          <a:prstGeom prst="ellipse">
            <a:avLst/>
          </a:prstGeom>
          <a:solidFill>
            <a:srgbClr val="6A57D6"/>
          </a:solidFill>
          <a:ln/>
        </p:spPr>
      </p:sp>
      <p:sp>
        <p:nvSpPr>
          <p:cNvPr id="17" name="Text 15"/>
          <p:cNvSpPr/>
          <p:nvPr/>
        </p:nvSpPr>
        <p:spPr>
          <a:xfrm>
            <a:off x="704088" y="4887539"/>
            <a:ext cx="384048" cy="384048"/>
          </a:xfrm>
          <a:prstGeom prst="rect">
            <a:avLst/>
          </a:prstGeom>
          <a:noFill/>
          <a:ln/>
        </p:spPr>
        <p:txBody>
          <a:bodyPr wrap="square"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3</a:t>
            </a:r>
            <a:endParaRPr lang="en-US" sz="1300" dirty="0"/>
          </a:p>
        </p:txBody>
      </p:sp>
      <p:sp>
        <p:nvSpPr>
          <p:cNvPr id="18" name="Text 16"/>
          <p:cNvSpPr/>
          <p:nvPr/>
        </p:nvSpPr>
        <p:spPr>
          <a:xfrm>
            <a:off x="1252728" y="4545401"/>
            <a:ext cx="10225735" cy="1068324"/>
          </a:xfrm>
          <a:prstGeom prst="rect">
            <a:avLst/>
          </a:prstGeom>
          <a:noFill/>
          <a:ln/>
        </p:spPr>
        <p:txBody>
          <a:bodyPr wrap="square" rtlCol="0" anchor="t"/>
          <a:lstStyle/>
          <a:p>
            <a:pPr indent="0" marL="0">
              <a:lnSpc>
                <a:spcPts val="1518"/>
              </a:lnSpc>
              <a:spcBef>
                <a:spcPts val="400"/>
              </a:spcBef>
              <a:buNone/>
            </a:pPr>
            <a:r>
              <a:rPr lang="en-US" sz="1400" b="1" dirty="0">
                <a:solidFill>
                  <a:srgbClr val="111817"/>
                </a:solidFill>
                <a:latin typeface="Segoe UI" pitchFamily="34" charset="0"/>
                <a:ea typeface="Segoe UI" pitchFamily="34" charset="-122"/>
                <a:cs typeface="Segoe UI" pitchFamily="34" charset="-120"/>
              </a:rPr>
              <a:t>Ball — Is there a ball being played?</a:t>
            </a:r>
            <a:endParaRPr lang="en-US" sz="140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The ball must appear in at least </a:t>
            </a:r>
            <a:pPr indent="0" marL="0">
              <a:lnSpc>
                <a:spcPts val="1518"/>
              </a:lnSpc>
              <a:spcBef>
                <a:spcPts val="400"/>
              </a:spcBef>
              <a:buNone/>
            </a:pPr>
            <a:r>
              <a:rPr lang="en-US" sz="1100" b="1" dirty="0">
                <a:solidFill>
                  <a:srgbClr val="4B5A58"/>
                </a:solidFill>
                <a:latin typeface="Segoe UI" pitchFamily="34" charset="0"/>
                <a:ea typeface="Segoe UI" pitchFamily="34" charset="-122"/>
                <a:cs typeface="Segoe UI" pitchFamily="34" charset="-120"/>
              </a:rPr>
              <a:t>2 of 3</a:t>
            </a:r>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 frames.</a:t>
            </a:r>
            <a:endParaRPr lang="en-US" sz="140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This helps avoid false detections.</a:t>
            </a:r>
            <a:endParaRPr lang="en-US" sz="140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The ball must also be moving.</a:t>
            </a:r>
            <a:endParaRPr lang="en-US" sz="1400" dirty="0"/>
          </a:p>
          <a:p>
            <a:pPr indent="0" marL="0">
              <a:lnSpc>
                <a:spcPts val="1518"/>
              </a:lnSpc>
              <a:spcBef>
                <a:spcPts val="400"/>
              </a:spcBef>
              <a:buNone/>
            </a:pPr>
            <a:r>
              <a:rPr lang="en-US" sz="1100" dirty="0">
                <a:solidFill>
                  <a:srgbClr val="4B5A58"/>
                </a:solidFill>
                <a:latin typeface="Segoe UI" pitchFamily="34" charset="0"/>
                <a:ea typeface="Segoe UI" pitchFamily="34" charset="-122"/>
                <a:cs typeface="Segoe UI" pitchFamily="34" charset="-120"/>
              </a:rPr>
              <a:t>A ball that is just lying on the pitch does not mean a game is happening.</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20" fill="hold"/>
                                        <p:tgtEl>
                                          <p:spTgt spid="9"/>
                                        </p:tgtEl>
                                        <p:attrNameLst>
                                          <p:attrName>ppt_y</p:attrName>
                                        </p:attrNameLst>
                                      </p:cBhvr>
                                      <p:tavLst>
                                        <p:tav tm="0">
                                          <p:val>
                                            <p:strVal val="#ppt_y+0.035"/>
                                          </p:val>
                                        </p:tav>
                                        <p:tav tm="100000">
                                          <p:val>
                                            <p:strVal val="#ppt_y"/>
                                          </p:val>
                                        </p:tav>
                                      </p:tavLst>
                                    </p:anim>
                                    <p:animEffect transition="in" filter="fade">
                                      <p:cBhvr>
                                        <p:cTn id="16" dur="520"/>
                                        <p:tgtEl>
                                          <p:spTgt spid="9"/>
                                        </p:tgtEl>
                                      </p:cBhvr>
                                    </p:animEffect>
                                  </p:childTnLst>
                                </p:cTn>
                              </p:par>
                              <p:par>
                                <p:cTn id="17" presetID="34"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20" fill="hold"/>
                                        <p:tgtEl>
                                          <p:spTgt spid="10"/>
                                        </p:tgtEl>
                                        <p:attrNameLst>
                                          <p:attrName>ppt_y</p:attrName>
                                        </p:attrNameLst>
                                      </p:cBhvr>
                                      <p:tavLst>
                                        <p:tav tm="0">
                                          <p:val>
                                            <p:strVal val="#ppt_y+0.035"/>
                                          </p:val>
                                        </p:tav>
                                        <p:tav tm="100000">
                                          <p:val>
                                            <p:strVal val="#ppt_y"/>
                                          </p:val>
                                        </p:tav>
                                      </p:tavLst>
                                    </p:anim>
                                    <p:animEffect transition="in" filter="fade">
                                      <p:cBhvr>
                                        <p:cTn id="20" dur="52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4" presetClass="entr" presetSubtype="0" fill="hold" grpId="0" nodeType="afterEffect">
                                  <p:stCondLst>
                                    <p:cond delay="367"/>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20" fill="hold"/>
                                        <p:tgtEl>
                                          <p:spTgt spid="11"/>
                                        </p:tgtEl>
                                        <p:attrNameLst>
                                          <p:attrName>ppt_y</p:attrName>
                                        </p:attrNameLst>
                                      </p:cBhvr>
                                      <p:tavLst>
                                        <p:tav tm="0">
                                          <p:val>
                                            <p:strVal val="#ppt_y+0.035"/>
                                          </p:val>
                                        </p:tav>
                                        <p:tav tm="100000">
                                          <p:val>
                                            <p:strVal val="#ppt_y"/>
                                          </p:val>
                                        </p:tav>
                                      </p:tavLst>
                                    </p:anim>
                                    <p:animEffect transition="in" filter="fade">
                                      <p:cBhvr>
                                        <p:cTn id="26" dur="520"/>
                                        <p:tgtEl>
                                          <p:spTgt spid="11"/>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20" fill="hold"/>
                                        <p:tgtEl>
                                          <p:spTgt spid="12"/>
                                        </p:tgtEl>
                                        <p:attrNameLst>
                                          <p:attrName>ppt_y</p:attrName>
                                        </p:attrNameLst>
                                      </p:cBhvr>
                                      <p:tavLst>
                                        <p:tav tm="0">
                                          <p:val>
                                            <p:strVal val="#ppt_y+0.035"/>
                                          </p:val>
                                        </p:tav>
                                        <p:tav tm="100000">
                                          <p:val>
                                            <p:strVal val="#ppt_y"/>
                                          </p:val>
                                        </p:tav>
                                      </p:tavLst>
                                    </p:anim>
                                    <p:animEffect transition="in" filter="fade">
                                      <p:cBhvr>
                                        <p:cTn id="30" dur="520"/>
                                        <p:tgtEl>
                                          <p:spTgt spid="12"/>
                                        </p:tgtEl>
                                      </p:cBhvr>
                                    </p:animEffect>
                                  </p:childTnLst>
                                </p:cTn>
                              </p:par>
                              <p:par>
                                <p:cTn id="31" presetID="34"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20" fill="hold"/>
                                        <p:tgtEl>
                                          <p:spTgt spid="13"/>
                                        </p:tgtEl>
                                        <p:attrNameLst>
                                          <p:attrName>ppt_y</p:attrName>
                                        </p:attrNameLst>
                                      </p:cBhvr>
                                      <p:tavLst>
                                        <p:tav tm="0">
                                          <p:val>
                                            <p:strVal val="#ppt_y+0.035"/>
                                          </p:val>
                                        </p:tav>
                                        <p:tav tm="100000">
                                          <p:val>
                                            <p:strVal val="#ppt_y"/>
                                          </p:val>
                                        </p:tav>
                                      </p:tavLst>
                                    </p:anim>
                                    <p:animEffect transition="in" filter="fade">
                                      <p:cBhvr>
                                        <p:cTn id="34" dur="520"/>
                                        <p:tgtEl>
                                          <p:spTgt spid="13"/>
                                        </p:tgtEl>
                                      </p:cBhvr>
                                    </p:animEffect>
                                  </p:childTnLst>
                                </p:cTn>
                              </p:par>
                              <p:par>
                                <p:cTn id="35" presetID="34"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20" fill="hold"/>
                                        <p:tgtEl>
                                          <p:spTgt spid="14"/>
                                        </p:tgtEl>
                                        <p:attrNameLst>
                                          <p:attrName>ppt_y</p:attrName>
                                        </p:attrNameLst>
                                      </p:cBhvr>
                                      <p:tavLst>
                                        <p:tav tm="0">
                                          <p:val>
                                            <p:strVal val="#ppt_y+0.035"/>
                                          </p:val>
                                        </p:tav>
                                        <p:tav tm="100000">
                                          <p:val>
                                            <p:strVal val="#ppt_y"/>
                                          </p:val>
                                        </p:tav>
                                      </p:tavLst>
                                    </p:anim>
                                    <p:animEffect transition="in" filter="fade">
                                      <p:cBhvr>
                                        <p:cTn id="38" dur="52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34" presetClass="entr" presetSubtype="0" fill="hold" grpId="0" nodeType="afterEffect">
                                  <p:stCondLst>
                                    <p:cond delay="367"/>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20" fill="hold"/>
                                        <p:tgtEl>
                                          <p:spTgt spid="15"/>
                                        </p:tgtEl>
                                        <p:attrNameLst>
                                          <p:attrName>ppt_y</p:attrName>
                                        </p:attrNameLst>
                                      </p:cBhvr>
                                      <p:tavLst>
                                        <p:tav tm="0">
                                          <p:val>
                                            <p:strVal val="#ppt_y+0.035"/>
                                          </p:val>
                                        </p:tav>
                                        <p:tav tm="100000">
                                          <p:val>
                                            <p:strVal val="#ppt_y"/>
                                          </p:val>
                                        </p:tav>
                                      </p:tavLst>
                                    </p:anim>
                                    <p:animEffect transition="in" filter="fade">
                                      <p:cBhvr>
                                        <p:cTn id="44" dur="520"/>
                                        <p:tgtEl>
                                          <p:spTgt spid="15"/>
                                        </p:tgtEl>
                                      </p:cBhvr>
                                    </p:animEffect>
                                  </p:childTnLst>
                                </p:cTn>
                              </p:par>
                              <p:par>
                                <p:cTn id="45" presetID="34"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20" fill="hold"/>
                                        <p:tgtEl>
                                          <p:spTgt spid="16"/>
                                        </p:tgtEl>
                                        <p:attrNameLst>
                                          <p:attrName>ppt_y</p:attrName>
                                        </p:attrNameLst>
                                      </p:cBhvr>
                                      <p:tavLst>
                                        <p:tav tm="0">
                                          <p:val>
                                            <p:strVal val="#ppt_y+0.035"/>
                                          </p:val>
                                        </p:tav>
                                        <p:tav tm="100000">
                                          <p:val>
                                            <p:strVal val="#ppt_y"/>
                                          </p:val>
                                        </p:tav>
                                      </p:tavLst>
                                    </p:anim>
                                    <p:animEffect transition="in" filter="fade">
                                      <p:cBhvr>
                                        <p:cTn id="48" dur="520"/>
                                        <p:tgtEl>
                                          <p:spTgt spid="16"/>
                                        </p:tgtEl>
                                      </p:cBhvr>
                                    </p:animEffect>
                                  </p:childTnLst>
                                </p:cTn>
                              </p:par>
                              <p:par>
                                <p:cTn id="49" presetID="34"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20" fill="hold"/>
                                        <p:tgtEl>
                                          <p:spTgt spid="17"/>
                                        </p:tgtEl>
                                        <p:attrNameLst>
                                          <p:attrName>ppt_y</p:attrName>
                                        </p:attrNameLst>
                                      </p:cBhvr>
                                      <p:tavLst>
                                        <p:tav tm="0">
                                          <p:val>
                                            <p:strVal val="#ppt_y+0.035"/>
                                          </p:val>
                                        </p:tav>
                                        <p:tav tm="100000">
                                          <p:val>
                                            <p:strVal val="#ppt_y"/>
                                          </p:val>
                                        </p:tav>
                                      </p:tavLst>
                                    </p:anim>
                                    <p:animEffect transition="in" filter="fade">
                                      <p:cBhvr>
                                        <p:cTn id="52" dur="520"/>
                                        <p:tgtEl>
                                          <p:spTgt spid="17"/>
                                        </p:tgtEl>
                                      </p:cBhvr>
                                    </p:animEffect>
                                  </p:childTnLst>
                                </p:cTn>
                              </p:par>
                              <p:par>
                                <p:cTn id="53" presetID="34"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20" fill="hold"/>
                                        <p:tgtEl>
                                          <p:spTgt spid="18"/>
                                        </p:tgtEl>
                                        <p:attrNameLst>
                                          <p:attrName>ppt_y</p:attrName>
                                        </p:attrNameLst>
                                      </p:cBhvr>
                                      <p:tavLst>
                                        <p:tav tm="0">
                                          <p:val>
                                            <p:strVal val="#ppt_y+0.035"/>
                                          </p:val>
                                        </p:tav>
                                        <p:tav tm="100000">
                                          <p:val>
                                            <p:strVal val="#ppt_y"/>
                                          </p:val>
                                        </p:tav>
                                      </p:tavLst>
                                    </p:anim>
                                    <p:animEffect transition="in" filter="fade">
                                      <p:cBhvr>
                                        <p:cTn id="56" dur="5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1.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1">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3 — YOLOV8</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From boxes to a verdict — the rule table</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F5A524"/>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15</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5855" cy="914400"/>
        </p:xfrm>
        <a:graphic>
          <a:graphicData uri="http://schemas.openxmlformats.org/drawingml/2006/table">
            <a:tbl>
              <a:tblPr/>
              <a:tblGrid>
                <a:gridCol w="548640"/>
                <a:gridCol w="4572000"/>
                <a:gridCol w="6065215"/>
              </a:tblGrid>
              <a:tr h="365760">
                <a:tc>
                  <a:txBody>
                    <a:bodyPr/>
                    <a:lstStyle/>
                    <a:p>
                      <a:pPr indent="0" marL="0">
                        <a:buNone/>
                      </a:pPr>
                      <a:r>
                        <a:rPr lang="en-US" sz="900" b="1" spc="120" kern="0" dirty="0">
                          <a:solidFill>
                            <a:srgbClr val="7A8886"/>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indent="0" marL="0">
                        <a:buNone/>
                      </a:pPr>
                      <a:r>
                        <a:rPr lang="en-US" sz="900" b="1" spc="120" kern="0" dirty="0">
                          <a:solidFill>
                            <a:srgbClr val="7A8886"/>
                          </a:solidFill>
                          <a:latin typeface="Consolas" pitchFamily="34" charset="0"/>
                          <a:ea typeface="Consolas" pitchFamily="34" charset="-122"/>
                          <a:cs typeface="Consolas" pitchFamily="34" charset="-120"/>
                        </a:rPr>
                        <a:t>CONDITION</a:t>
                      </a:r>
                      <a:endParaRPr lang="en-US" sz="900" dirty="0">
                        <a:latin typeface="Consolas" charset="0"/>
                        <a:ea typeface="Consolas" charset="0"/>
                        <a:cs typeface="Consolas"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c>
                  <a:txBody>
                    <a:bodyPr/>
                    <a:lstStyle/>
                    <a:p>
                      <a:pPr indent="0" marL="0">
                        <a:buNone/>
                      </a:pPr>
                      <a:r>
                        <a:rPr lang="en-US" sz="900" b="1" spc="120" kern="0" dirty="0">
                          <a:solidFill>
                            <a:srgbClr val="7A8886"/>
                          </a:solidFill>
                          <a:latin typeface="Consolas" pitchFamily="34" charset="0"/>
                          <a:ea typeface="Consolas" pitchFamily="34" charset="-122"/>
                          <a:cs typeface="Consolas" pitchFamily="34" charset="-120"/>
                        </a:rPr>
                        <a:t>VERDICT</a:t>
                      </a:r>
                      <a:endParaRPr lang="en-US" sz="900" dirty="0">
                        <a:latin typeface="Consolas" charset="0"/>
                        <a:ea typeface="Consolas" charset="0"/>
                        <a:cs typeface="Consolas"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EF2F1"/>
                    </a:solidFill>
                  </a:tcPr>
                </a:tc>
              </a:tr>
              <a:tr h="496389">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1</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Detector unavailable</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Uncertain — a missing detector is not an empty pitch</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496389">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2</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No pitch boundary</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Uncertain — mandatory on the deployed path</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496389">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3</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Nobody, nothing moving</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b="1" dirty="0">
                          <a:solidFill>
                            <a:srgbClr val="4B5A58"/>
                          </a:solidFill>
                          <a:latin typeface="Segoe UI" pitchFamily="34" charset="0"/>
                          <a:ea typeface="Segoe UI" pitchFamily="34" charset="-122"/>
                          <a:cs typeface="Segoe UI" pitchFamily="34" charset="-120"/>
                        </a:rPr>
                        <a:t>EMPTY</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496389">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4</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Nobody, but something moved</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Uncertain</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496389">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5</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1–4 people</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Not a game — too few, ball or no ball</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r h="496389">
                <a:tc>
                  <a:txBody>
                    <a:bodyPr/>
                    <a:lstStyle/>
                    <a:p>
                      <a:pPr indent="0" marL="0">
                        <a:buNone/>
                      </a:pPr>
                      <a:r>
                        <a:rPr lang="en-US" sz="1150" dirty="0">
                          <a:solidFill>
                            <a:srgbClr val="111817"/>
                          </a:solidFill>
                          <a:latin typeface="Segoe UI" pitchFamily="34" charset="0"/>
                          <a:ea typeface="Segoe UI" pitchFamily="34" charset="-122"/>
                          <a:cs typeface="Segoe UI" pitchFamily="34" charset="-120"/>
                        </a:rPr>
                        <a:t>6</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6F7EF"/>
                    </a:solidFill>
                  </a:tcPr>
                </a:tc>
                <a:tc>
                  <a:txBody>
                    <a:bodyPr/>
                    <a:lstStyle/>
                    <a:p>
                      <a:pPr indent="0" marL="0">
                        <a:buNone/>
                      </a:pPr>
                      <a:r>
                        <a:rPr lang="en-US" sz="1150" dirty="0">
                          <a:solidFill>
                            <a:srgbClr val="111817"/>
                          </a:solidFill>
                          <a:latin typeface="Segoe UI" pitchFamily="34" charset="0"/>
                          <a:ea typeface="Segoe UI" pitchFamily="34" charset="-122"/>
                          <a:cs typeface="Segoe UI" pitchFamily="34" charset="-120"/>
                        </a:rPr>
                        <a:t>5+ people, </a:t>
                      </a:r>
                      <a:pPr indent="0" marL="0">
                        <a:buNone/>
                      </a:pPr>
                      <a:r>
                        <a:rPr lang="en-US" sz="1150" b="1" dirty="0">
                          <a:solidFill>
                            <a:srgbClr val="111817"/>
                          </a:solidFill>
                          <a:latin typeface="Segoe UI" pitchFamily="34" charset="0"/>
                          <a:ea typeface="Segoe UI" pitchFamily="34" charset="-122"/>
                          <a:cs typeface="Segoe UI" pitchFamily="34" charset="-120"/>
                        </a:rPr>
                        <a:t>and</a:t>
                      </a:r>
                      <a:pPr indent="0" marL="0">
                        <a:buNone/>
                      </a:pPr>
                      <a:r>
                        <a:rPr lang="en-US" sz="1150" dirty="0">
                          <a:solidFill>
                            <a:srgbClr val="111817"/>
                          </a:solidFill>
                          <a:latin typeface="Segoe UI" pitchFamily="34" charset="0"/>
                          <a:ea typeface="Segoe UI" pitchFamily="34" charset="-122"/>
                          <a:cs typeface="Segoe UI" pitchFamily="34" charset="-120"/>
                        </a:rPr>
                        <a:t> a ball in play, </a:t>
                      </a:r>
                      <a:pPr indent="0" marL="0">
                        <a:buNone/>
                      </a:pPr>
                      <a:r>
                        <a:rPr lang="en-US" sz="1150" b="1" dirty="0">
                          <a:solidFill>
                            <a:srgbClr val="111817"/>
                          </a:solidFill>
                          <a:latin typeface="Segoe UI" pitchFamily="34" charset="0"/>
                          <a:ea typeface="Segoe UI" pitchFamily="34" charset="-122"/>
                          <a:cs typeface="Segoe UI" pitchFamily="34" charset="-120"/>
                        </a:rPr>
                        <a:t>and</a:t>
                      </a:r>
                      <a:pPr indent="0" marL="0">
                        <a:buNone/>
                      </a:pPr>
                      <a:r>
                        <a:rPr lang="en-US" sz="1150" dirty="0">
                          <a:solidFill>
                            <a:srgbClr val="111817"/>
                          </a:solidFill>
                          <a:latin typeface="Segoe UI" pitchFamily="34" charset="0"/>
                          <a:ea typeface="Segoe UI" pitchFamily="34" charset="-122"/>
                          <a:cs typeface="Segoe UI" pitchFamily="34" charset="-120"/>
                        </a:rPr>
                        <a:t> motion</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6F7EF"/>
                    </a:solidFill>
                  </a:tcPr>
                </a:tc>
                <a:tc>
                  <a:txBody>
                    <a:bodyPr/>
                    <a:lstStyle/>
                    <a:p>
                      <a:pPr indent="0" marL="0">
                        <a:buNone/>
                      </a:pPr>
                      <a:r>
                        <a:rPr lang="en-US" sz="1150" b="1" dirty="0">
                          <a:solidFill>
                            <a:srgbClr val="111817"/>
                          </a:solidFill>
                          <a:latin typeface="Segoe UI" pitchFamily="34" charset="0"/>
                          <a:ea typeface="Segoe UI" pitchFamily="34" charset="-122"/>
                          <a:cs typeface="Segoe UI" pitchFamily="34" charset="-120"/>
                        </a:rPr>
                        <a:t>ACTIVE PLAY</a:t>
                      </a:r>
                      <a:pPr indent="0" marL="0">
                        <a:buNone/>
                      </a:pPr>
                      <a:r>
                        <a:rPr lang="en-US" sz="1150" dirty="0">
                          <a:solidFill>
                            <a:srgbClr val="111817"/>
                          </a:solidFill>
                          <a:latin typeface="Segoe UI" pitchFamily="34" charset="0"/>
                          <a:ea typeface="Segoe UI" pitchFamily="34" charset="-122"/>
                          <a:cs typeface="Segoe UI" pitchFamily="34" charset="-120"/>
                        </a:rPr>
                        <a:t> — the only way in</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E6F7EF"/>
                    </a:solidFill>
                  </a:tcPr>
                </a:tc>
              </a:tr>
              <a:tr h="496389">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7</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5+ people, otherwise</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c>
                  <a:txBody>
                    <a:bodyPr/>
                    <a:lstStyle/>
                    <a:p>
                      <a:pPr indent="0" marL="0">
                        <a:buNone/>
                      </a:pPr>
                      <a:r>
                        <a:rPr lang="en-US" sz="1150" dirty="0">
                          <a:solidFill>
                            <a:srgbClr val="4B5A58"/>
                          </a:solidFill>
                          <a:latin typeface="Segoe UI" pitchFamily="34" charset="0"/>
                          <a:ea typeface="Segoe UI" pitchFamily="34" charset="-122"/>
                          <a:cs typeface="Segoe UI" pitchFamily="34" charset="-120"/>
                        </a:rPr>
                        <a:t>Not a game — a crowd that is not playing</a:t>
                      </a:r>
                      <a:endParaRPr lang="en-US" sz="1200" dirty="0"/>
                    </a:p>
                  </a:txBody>
                  <a:tcPr marL="127000" marR="127000" marT="50800" marB="50800" anchor="ctr">
                    <a:lnL w="0" cap="flat" cmpd="sng" algn="ctr">
                      <a:noFill/>
                    </a:lnL>
                    <a:lnR w="0" cap="flat" cmpd="sng" algn="ctr">
                      <a:noFill/>
                    </a:lnR>
                    <a:lnT w="0" cap="flat" cmpd="sng" algn="ctr">
                      <a:noFill/>
                    </a:lnT>
                    <a:lnB w="9525" cap="flat" cmpd="sng" algn="ctr">
                      <a:solidFill>
                        <a:srgbClr val="DDE4E2"/>
                      </a:solidFill>
                      <a:prstDash val="solid"/>
                      <a:round/>
                      <a:headEnd type="none" w="med" len="med"/>
                      <a:tailEnd type="none" w="med" len="med"/>
                    </a:lnB>
                    <a:solidFill>
                      <a:srgbClr val="FFFFFF"/>
                    </a:solidFill>
                  </a:tcPr>
                </a:tc>
              </a:tr>
            </a:tbl>
          </a:graphicData>
        </a:graphic>
      </p:graphicFrame>
      <p:sp>
        <p:nvSpPr>
          <p:cNvPr id="8" name="Text 5"/>
          <p:cNvSpPr/>
          <p:nvPr/>
        </p:nvSpPr>
        <p:spPr>
          <a:xfrm>
            <a:off x="502920" y="5468112"/>
            <a:ext cx="11185855" cy="822960"/>
          </a:xfrm>
          <a:prstGeom prst="rect">
            <a:avLst/>
          </a:prstGeom>
          <a:noFill/>
          <a:ln/>
        </p:spPr>
        <p:txBody>
          <a:bodyPr wrap="square" rtlCol="0" anchor="t"/>
          <a:lstStyle/>
          <a:p>
            <a:pPr indent="0" marL="0">
              <a:lnSpc>
                <a:spcPts val="1470"/>
              </a:lnSpc>
              <a:buNone/>
            </a:pPr>
            <a:r>
              <a:rPr lang="en-US" sz="1050" b="1" dirty="0">
                <a:solidFill>
                  <a:srgbClr val="7A8886"/>
                </a:solidFill>
                <a:latin typeface="Segoe UI" pitchFamily="34" charset="0"/>
                <a:ea typeface="Segoe UI" pitchFamily="34" charset="-122"/>
                <a:cs typeface="Segoe UI" pitchFamily="34" charset="-120"/>
              </a:rPr>
              <a:t>5</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and </a:t>
            </a:r>
            <a:pPr indent="0" marL="0">
              <a:lnSpc>
                <a:spcPts val="1470"/>
              </a:lnSpc>
              <a:buNone/>
            </a:pPr>
            <a:r>
              <a:rPr lang="en-US" sz="1050" b="1" dirty="0">
                <a:solidFill>
                  <a:srgbClr val="7A8886"/>
                </a:solidFill>
                <a:latin typeface="Segoe UI" pitchFamily="34" charset="0"/>
                <a:ea typeface="Segoe UI" pitchFamily="34" charset="-122"/>
                <a:cs typeface="Segoe UI" pitchFamily="34" charset="-120"/>
              </a:rPr>
              <a:t>4</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are the </a:t>
            </a:r>
            <a:pPr indent="0" marL="0">
              <a:lnSpc>
                <a:spcPts val="1470"/>
              </a:lnSpc>
              <a:buNone/>
            </a:pPr>
            <a:r>
              <a:rPr lang="en-US" sz="1050" b="1" dirty="0">
                <a:solidFill>
                  <a:srgbClr val="7A8886"/>
                </a:solidFill>
                <a:latin typeface="Segoe UI" pitchFamily="34" charset="0"/>
                <a:ea typeface="Segoe UI" pitchFamily="34" charset="-122"/>
                <a:cs typeface="Segoe UI" pitchFamily="34" charset="-120"/>
              </a:rPr>
              <a:t>facility’s</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numbers, not fitted ones: five make a game, four or fewer do not. Every threshold that </a:t>
            </a:r>
            <a:pPr indent="0" marL="0">
              <a:lnSpc>
                <a:spcPts val="1470"/>
              </a:lnSpc>
              <a:buNone/>
            </a:pPr>
            <a:r>
              <a:rPr lang="en-US" sz="1050" i="1" dirty="0">
                <a:solidFill>
                  <a:srgbClr val="7A8886"/>
                </a:solidFill>
                <a:latin typeface="Segoe UI" pitchFamily="34" charset="0"/>
                <a:ea typeface="Segoe UI" pitchFamily="34" charset="-122"/>
                <a:cs typeface="Segoe UI" pitchFamily="34" charset="-120"/>
              </a:rPr>
              <a:t>was</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fitted is recorded in </a:t>
            </a:r>
            <a:pPr indent="0" marL="0">
              <a:lnSpc>
                <a:spcPts val="1470"/>
              </a:lnSpc>
              <a:buNone/>
            </a:pPr>
            <a:r>
              <a:rPr lang="en-US" sz="1000" dirty="0">
                <a:solidFill>
                  <a:srgbClr val="7A8886"/>
                </a:solidFill>
                <a:latin typeface="Consolas" pitchFamily="34" charset="0"/>
                <a:ea typeface="Consolas" pitchFamily="34" charset="-122"/>
                <a:cs typeface="Consolas" pitchFamily="34" charset="-120"/>
              </a:rPr>
              <a:t>configs/rules.json</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with the camera it was fitted on, and a cue that cannot be measured is reported as unmeasured, never assumed.</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55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20" fill="hold"/>
                                        <p:tgtEl>
                                          <p:spTgt spid="8"/>
                                        </p:tgtEl>
                                        <p:attrNameLst>
                                          <p:attrName>ppt_y</p:attrName>
                                        </p:attrNameLst>
                                      </p:cBhvr>
                                      <p:tavLst>
                                        <p:tav tm="0">
                                          <p:val>
                                            <p:strVal val="#ppt_y+0.035"/>
                                          </p:val>
                                        </p:tav>
                                        <p:tav tm="100000">
                                          <p:val>
                                            <p:strVal val="#ppt_y"/>
                                          </p:val>
                                        </p:tav>
                                      </p:tavLst>
                                    </p:anim>
                                    <p:animEffect transition="in" filter="fade">
                                      <p:cBhvr>
                                        <p:cTn id="14" dur="52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2.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gradFill rotWithShape="1">
            <a:gsLst>
              <a:gs pos="0">
                <a:srgbClr val="14567F"/>
              </a:gs>
              <a:gs pos="100000">
                <a:srgbClr val="2C89C4"/>
              </a:gs>
            </a:gsLst>
            <a:lin ang="2700000" scaled="0"/>
          </a:gradFill>
          <a:ln/>
        </p:spPr>
      </p:sp>
      <p:sp>
        <p:nvSpPr>
          <p:cNvPr id="3" name="Text 1"/>
          <p:cNvSpPr/>
          <p:nvPr/>
        </p:nvSpPr>
        <p:spPr>
          <a:xfrm>
            <a:off x="822960" y="1961205"/>
            <a:ext cx="10545775" cy="292608"/>
          </a:xfrm>
          <a:prstGeom prst="rect">
            <a:avLst/>
          </a:prstGeom>
          <a:noFill/>
          <a:ln/>
        </p:spPr>
        <p:txBody>
          <a:bodyPr wrap="square" rtlCol="0" anchor="b"/>
          <a:lstStyle/>
          <a:p>
            <a:pPr indent="0" marL="0">
              <a:buNone/>
            </a:pPr>
            <a:r>
              <a:rPr lang="en-US" sz="1200" b="1" spc="300" kern="0" dirty="0">
                <a:solidFill>
                  <a:srgbClr val="BBC9D6"/>
                </a:solidFill>
                <a:latin typeface="Consolas" pitchFamily="34" charset="0"/>
                <a:ea typeface="Consolas" pitchFamily="34" charset="-122"/>
                <a:cs typeface="Consolas" pitchFamily="34" charset="-120"/>
              </a:rPr>
              <a:t>CHAPTER 4 — APPLICATIONS AND DATA AUGMENTATION</a:t>
            </a:r>
            <a:endParaRPr lang="en-US" sz="1200" dirty="0"/>
          </a:p>
        </p:txBody>
      </p:sp>
      <p:sp>
        <p:nvSpPr>
          <p:cNvPr id="4" name="Text 2"/>
          <p:cNvSpPr/>
          <p:nvPr/>
        </p:nvSpPr>
        <p:spPr>
          <a:xfrm>
            <a:off x="822960" y="2345253"/>
            <a:ext cx="9692640" cy="1170432"/>
          </a:xfrm>
          <a:prstGeom prst="rect">
            <a:avLst/>
          </a:prstGeom>
          <a:noFill/>
          <a:ln/>
        </p:spPr>
        <p:txBody>
          <a:bodyPr wrap="square" rtlCol="0" anchor="t"/>
          <a:lstStyle/>
          <a:p>
            <a:pPr indent="0" marL="0">
              <a:lnSpc>
                <a:spcPts val="4176"/>
              </a:lnSpc>
              <a:buNone/>
            </a:pPr>
            <a:r>
              <a:rPr lang="en-US" sz="3600" b="1" dirty="0">
                <a:solidFill>
                  <a:srgbClr val="FFFFFF"/>
                </a:solidFill>
                <a:latin typeface="Segoe UI" pitchFamily="34" charset="0"/>
                <a:ea typeface="Segoe UI" pitchFamily="34" charset="-122"/>
                <a:cs typeface="Segoe UI" pitchFamily="34" charset="-120"/>
              </a:rPr>
              <a:t>What it does in practice, and what we did about the data</a:t>
            </a:r>
            <a:endParaRPr lang="en-US" sz="3600" dirty="0"/>
          </a:p>
        </p:txBody>
      </p:sp>
      <p:sp>
        <p:nvSpPr>
          <p:cNvPr id="5" name="Text 3"/>
          <p:cNvSpPr/>
          <p:nvPr/>
        </p:nvSpPr>
        <p:spPr>
          <a:xfrm>
            <a:off x="822960" y="3753429"/>
            <a:ext cx="8961120" cy="396240"/>
          </a:xfrm>
          <a:prstGeom prst="rect">
            <a:avLst/>
          </a:prstGeom>
          <a:noFill/>
          <a:ln/>
        </p:spPr>
        <p:txBody>
          <a:bodyPr wrap="square" rtlCol="0" anchor="t"/>
          <a:lstStyle/>
          <a:p>
            <a:pPr indent="0" marL="0">
              <a:lnSpc>
                <a:spcPts val="2400"/>
              </a:lnSpc>
              <a:buNone/>
            </a:pPr>
            <a:r>
              <a:rPr lang="en-US" sz="1600" dirty="0">
                <a:solidFill>
                  <a:srgbClr val="DCE6EE"/>
                </a:solidFill>
                <a:latin typeface="Segoe UI" pitchFamily="34" charset="0"/>
                <a:ea typeface="Segoe UI" pitchFamily="34" charset="-122"/>
                <a:cs typeface="Segoe UI" pitchFamily="34" charset="-120"/>
              </a:rPr>
              <a:t>The preprocessing path and the augmentation argument, in pictures.</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7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20" fill="hold"/>
                                        <p:tgtEl>
                                          <p:spTgt spid="3"/>
                                        </p:tgtEl>
                                        <p:attrNameLst>
                                          <p:attrName>ppt_y</p:attrName>
                                        </p:attrNameLst>
                                      </p:cBhvr>
                                      <p:tavLst>
                                        <p:tav tm="0">
                                          <p:val>
                                            <p:strVal val="#ppt_y+0.035"/>
                                          </p:val>
                                        </p:tav>
                                        <p:tav tm="100000">
                                          <p:val>
                                            <p:strVal val="#ppt_y"/>
                                          </p:val>
                                        </p:tav>
                                      </p:tavLst>
                                    </p:anim>
                                    <p:animEffect transition="in" filter="fade">
                                      <p:cBhvr>
                                        <p:cTn id="8" dur="52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367"/>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20" fill="hold"/>
                                        <p:tgtEl>
                                          <p:spTgt spid="4"/>
                                        </p:tgtEl>
                                        <p:attrNameLst>
                                          <p:attrName>ppt_y</p:attrName>
                                        </p:attrNameLst>
                                      </p:cBhvr>
                                      <p:tavLst>
                                        <p:tav tm="0">
                                          <p:val>
                                            <p:strVal val="#ppt_y+0.035"/>
                                          </p:val>
                                        </p:tav>
                                        <p:tav tm="100000">
                                          <p:val>
                                            <p:strVal val="#ppt_y"/>
                                          </p:val>
                                        </p:tav>
                                      </p:tavLst>
                                    </p:anim>
                                    <p:animEffect transition="in" filter="fade">
                                      <p:cBhvr>
                                        <p:cTn id="14" dur="52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grpId="0" nodeType="afterEffect">
                                  <p:stCondLst>
                                    <p:cond delay="367"/>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20" fill="hold"/>
                                        <p:tgtEl>
                                          <p:spTgt spid="5"/>
                                        </p:tgtEl>
                                        <p:attrNameLst>
                                          <p:attrName>ppt_y</p:attrName>
                                        </p:attrNameLst>
                                      </p:cBhvr>
                                      <p:tavLst>
                                        <p:tav tm="0">
                                          <p:val>
                                            <p:strVal val="#ppt_y+0.035"/>
                                          </p:val>
                                        </p:tav>
                                        <p:tav tm="100000">
                                          <p:val>
                                            <p:strVal val="#ppt_y"/>
                                          </p:val>
                                        </p:tav>
                                      </p:tavLst>
                                    </p:anim>
                                    <p:animEffect transition="in" filter="fade">
                                      <p:cBhvr>
                                        <p:cTn id="20" dur="5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3.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4 — APPLICATIONS AND DATA AUGMENTATION</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Preprocessing — six switches, before and after</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3FA7E0"/>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16</a:t>
            </a:r>
            <a:endParaRPr lang="en-US" sz="1000" dirty="0"/>
          </a:p>
        </p:txBody>
      </p:sp>
      <p:sp>
        <p:nvSpPr>
          <p:cNvPr id="7" name="Shape 5"/>
          <p:cNvSpPr/>
          <p:nvPr/>
        </p:nvSpPr>
        <p:spPr>
          <a:xfrm>
            <a:off x="502920" y="1335024"/>
            <a:ext cx="3618890" cy="2478024"/>
          </a:xfrm>
          <a:prstGeom prst="roundRect">
            <a:avLst>
              <a:gd name="adj" fmla="val 3321"/>
            </a:avLst>
          </a:prstGeom>
          <a:solidFill>
            <a:srgbClr val="DDE4E2"/>
          </a:solidFill>
          <a:ln/>
        </p:spPr>
      </p:sp>
      <p:sp>
        <p:nvSpPr>
          <p:cNvPr id="8" name="Shape 6"/>
          <p:cNvSpPr/>
          <p:nvPr/>
        </p:nvSpPr>
        <p:spPr>
          <a:xfrm>
            <a:off x="510235" y="1335024"/>
            <a:ext cx="3611575" cy="2478024"/>
          </a:xfrm>
          <a:prstGeom prst="roundRect">
            <a:avLst>
              <a:gd name="adj" fmla="val 3321"/>
            </a:avLst>
          </a:prstGeom>
          <a:solidFill>
            <a:srgbClr val="FFFFFF"/>
          </a:solidFill>
          <a:ln/>
        </p:spPr>
      </p:sp>
      <p:pic>
        <p:nvPicPr>
          <p:cNvPr id="9" name="Image 0" descr="C:\Users\maria\Desktop\football\results\figs\preproc\letterbox_False.jpg">    </p:cNvPr>
          <p:cNvPicPr>
            <a:picLocks noChangeAspect="1"/>
          </p:cNvPicPr>
          <p:nvPr/>
        </p:nvPicPr>
        <p:blipFill>
          <a:blip r:embed="rId1"/>
          <a:stretch>
            <a:fillRect/>
          </a:stretch>
        </p:blipFill>
        <p:spPr>
          <a:xfrm>
            <a:off x="800987" y="1444752"/>
            <a:ext cx="3022756" cy="1636776"/>
          </a:xfrm>
          <a:prstGeom prst="rect">
            <a:avLst/>
          </a:prstGeom>
        </p:spPr>
      </p:pic>
      <p:sp>
        <p:nvSpPr>
          <p:cNvPr id="10" name="Text 7"/>
          <p:cNvSpPr/>
          <p:nvPr/>
        </p:nvSpPr>
        <p:spPr>
          <a:xfrm>
            <a:off x="704088" y="3136392"/>
            <a:ext cx="3216554" cy="566928"/>
          </a:xfrm>
          <a:prstGeom prst="rect">
            <a:avLst/>
          </a:prstGeom>
          <a:noFill/>
          <a:ln/>
        </p:spPr>
        <p:txBody>
          <a:bodyPr wrap="square" rtlCol="0" anchor="t"/>
          <a:lstStyle/>
          <a:p>
            <a:pPr indent="0" marL="0">
              <a:lnSpc>
                <a:spcPts val="1300"/>
              </a:lnSpc>
              <a:spcBef>
                <a:spcPts val="200"/>
              </a:spcBef>
              <a:buNone/>
            </a:pPr>
            <a:r>
              <a:rPr lang="en-US" sz="1050" b="1" dirty="0">
                <a:solidFill>
                  <a:srgbClr val="111817"/>
                </a:solidFill>
                <a:latin typeface="Consolas" pitchFamily="34" charset="0"/>
                <a:ea typeface="Consolas" pitchFamily="34" charset="-122"/>
                <a:cs typeface="Consolas" pitchFamily="34" charset="-120"/>
              </a:rPr>
              <a:t>letterbox=False</a:t>
            </a:r>
            <a:endParaRPr lang="en-US" sz="1050" dirty="0"/>
          </a:p>
          <a:p>
            <a:pPr indent="0" marL="0">
              <a:lnSpc>
                <a:spcPts val="1300"/>
              </a:lnSpc>
              <a:spcBef>
                <a:spcPts val="200"/>
              </a:spcBef>
              <a:buNone/>
            </a:pPr>
            <a:r>
              <a:rPr lang="en-US" sz="950" dirty="0">
                <a:solidFill>
                  <a:srgbClr val="7A8886"/>
                </a:solidFill>
                <a:latin typeface="Segoe UI" pitchFamily="34" charset="0"/>
                <a:ea typeface="Segoe UI" pitchFamily="34" charset="-122"/>
                <a:cs typeface="Segoe UI" pitchFamily="34" charset="-120"/>
              </a:rPr>
              <a:t>Pad to a square instead of squashing.</a:t>
            </a:r>
            <a:endParaRPr lang="en-US" sz="1050" dirty="0"/>
          </a:p>
          <a:p>
            <a:pPr indent="0" marL="0">
              <a:lnSpc>
                <a:spcPts val="1300"/>
              </a:lnSpc>
              <a:spcBef>
                <a:spcPts val="200"/>
              </a:spcBef>
              <a:buNone/>
            </a:pPr>
            <a:r>
              <a:rPr lang="en-US" sz="850" dirty="0">
                <a:solidFill>
                  <a:srgbClr val="7A8886"/>
                </a:solidFill>
                <a:latin typeface="Consolas" pitchFamily="34" charset="0"/>
                <a:ea typeface="Consolas" pitchFamily="34" charset="-122"/>
                <a:cs typeface="Consolas" pitchFamily="34" charset="-120"/>
              </a:rPr>
              <a:t>39.1/255 moved · 98% of pixels</a:t>
            </a:r>
            <a:endParaRPr lang="en-US" sz="1050" dirty="0"/>
          </a:p>
        </p:txBody>
      </p:sp>
      <p:sp>
        <p:nvSpPr>
          <p:cNvPr id="11" name="Shape 8"/>
          <p:cNvSpPr/>
          <p:nvPr/>
        </p:nvSpPr>
        <p:spPr>
          <a:xfrm>
            <a:off x="4286402" y="1335024"/>
            <a:ext cx="3618890" cy="2478024"/>
          </a:xfrm>
          <a:prstGeom prst="roundRect">
            <a:avLst>
              <a:gd name="adj" fmla="val 3321"/>
            </a:avLst>
          </a:prstGeom>
          <a:solidFill>
            <a:srgbClr val="EF4F6B"/>
          </a:solidFill>
          <a:ln/>
        </p:spPr>
      </p:sp>
      <p:sp>
        <p:nvSpPr>
          <p:cNvPr id="12" name="Shape 9"/>
          <p:cNvSpPr/>
          <p:nvPr/>
        </p:nvSpPr>
        <p:spPr>
          <a:xfrm>
            <a:off x="4341266" y="1335024"/>
            <a:ext cx="3564026" cy="2478024"/>
          </a:xfrm>
          <a:prstGeom prst="roundRect">
            <a:avLst>
              <a:gd name="adj" fmla="val 3321"/>
            </a:avLst>
          </a:prstGeom>
          <a:solidFill>
            <a:srgbClr val="FFFFFF"/>
          </a:solidFill>
          <a:ln/>
        </p:spPr>
      </p:sp>
      <p:pic>
        <p:nvPicPr>
          <p:cNvPr id="13" name="Image 1" descr="C:\Users\maria\Desktop\football\results\figs\preproc\top_crop_0p35.jpg">    </p:cNvPr>
          <p:cNvPicPr>
            <a:picLocks noChangeAspect="1"/>
          </p:cNvPicPr>
          <p:nvPr/>
        </p:nvPicPr>
        <p:blipFill>
          <a:blip r:embed="rId2"/>
          <a:stretch>
            <a:fillRect/>
          </a:stretch>
        </p:blipFill>
        <p:spPr>
          <a:xfrm>
            <a:off x="4584470" y="1444752"/>
            <a:ext cx="3022756" cy="1636776"/>
          </a:xfrm>
          <a:prstGeom prst="rect">
            <a:avLst/>
          </a:prstGeom>
        </p:spPr>
      </p:pic>
      <p:sp>
        <p:nvSpPr>
          <p:cNvPr id="14" name="Text 10"/>
          <p:cNvSpPr/>
          <p:nvPr/>
        </p:nvSpPr>
        <p:spPr>
          <a:xfrm>
            <a:off x="4487570" y="3136392"/>
            <a:ext cx="3216554" cy="566928"/>
          </a:xfrm>
          <a:prstGeom prst="rect">
            <a:avLst/>
          </a:prstGeom>
          <a:noFill/>
          <a:ln/>
        </p:spPr>
        <p:txBody>
          <a:bodyPr wrap="square" rtlCol="0" anchor="t"/>
          <a:lstStyle/>
          <a:p>
            <a:pPr indent="0" marL="0">
              <a:lnSpc>
                <a:spcPts val="1300"/>
              </a:lnSpc>
              <a:spcBef>
                <a:spcPts val="200"/>
              </a:spcBef>
              <a:buNone/>
            </a:pPr>
            <a:r>
              <a:rPr lang="en-US" sz="1050" b="1" dirty="0">
                <a:solidFill>
                  <a:srgbClr val="111817"/>
                </a:solidFill>
                <a:latin typeface="Consolas" pitchFamily="34" charset="0"/>
                <a:ea typeface="Consolas" pitchFamily="34" charset="-122"/>
                <a:cs typeface="Consolas" pitchFamily="34" charset="-120"/>
              </a:rPr>
              <a:t>top_crop=0.35</a:t>
            </a:r>
            <a:endParaRPr lang="en-US" sz="1050" dirty="0"/>
          </a:p>
          <a:p>
            <a:pPr indent="0" marL="0">
              <a:lnSpc>
                <a:spcPts val="1300"/>
              </a:lnSpc>
              <a:spcBef>
                <a:spcPts val="200"/>
              </a:spcBef>
              <a:buNone/>
            </a:pPr>
            <a:r>
              <a:rPr lang="en-US" sz="950" dirty="0">
                <a:solidFill>
                  <a:srgbClr val="7A8886"/>
                </a:solidFill>
                <a:latin typeface="Segoe UI" pitchFamily="34" charset="0"/>
                <a:ea typeface="Segoe UI" pitchFamily="34" charset="-122"/>
                <a:cs typeface="Segoe UI" pitchFamily="34" charset="-120"/>
              </a:rPr>
              <a:t>Cut the sky and stands off the top.</a:t>
            </a:r>
            <a:endParaRPr lang="en-US" sz="1050" dirty="0"/>
          </a:p>
          <a:p>
            <a:pPr indent="0" marL="0">
              <a:lnSpc>
                <a:spcPts val="1300"/>
              </a:lnSpc>
              <a:spcBef>
                <a:spcPts val="200"/>
              </a:spcBef>
              <a:buNone/>
            </a:pPr>
            <a:r>
              <a:rPr lang="en-US" sz="850" dirty="0">
                <a:solidFill>
                  <a:srgbClr val="7A8886"/>
                </a:solidFill>
                <a:latin typeface="Consolas" pitchFamily="34" charset="0"/>
                <a:ea typeface="Consolas" pitchFamily="34" charset="-122"/>
                <a:cs typeface="Consolas" pitchFamily="34" charset="-120"/>
              </a:rPr>
              <a:t>21.4/255 moved · 56% of pixels · 65% kept</a:t>
            </a:r>
            <a:endParaRPr lang="en-US" sz="1050" dirty="0"/>
          </a:p>
        </p:txBody>
      </p:sp>
      <p:sp>
        <p:nvSpPr>
          <p:cNvPr id="15" name="Shape 11"/>
          <p:cNvSpPr/>
          <p:nvPr/>
        </p:nvSpPr>
        <p:spPr>
          <a:xfrm>
            <a:off x="8069885" y="1335024"/>
            <a:ext cx="3618890" cy="2478024"/>
          </a:xfrm>
          <a:prstGeom prst="roundRect">
            <a:avLst>
              <a:gd name="adj" fmla="val 3321"/>
            </a:avLst>
          </a:prstGeom>
          <a:solidFill>
            <a:srgbClr val="EF4F6B"/>
          </a:solidFill>
          <a:ln/>
        </p:spPr>
      </p:sp>
      <p:sp>
        <p:nvSpPr>
          <p:cNvPr id="16" name="Shape 12"/>
          <p:cNvSpPr/>
          <p:nvPr/>
        </p:nvSpPr>
        <p:spPr>
          <a:xfrm>
            <a:off x="8124749" y="1335024"/>
            <a:ext cx="3564026" cy="2478024"/>
          </a:xfrm>
          <a:prstGeom prst="roundRect">
            <a:avLst>
              <a:gd name="adj" fmla="val 3321"/>
            </a:avLst>
          </a:prstGeom>
          <a:solidFill>
            <a:srgbClr val="FFFFFF"/>
          </a:solidFill>
          <a:ln/>
        </p:spPr>
      </p:sp>
      <p:pic>
        <p:nvPicPr>
          <p:cNvPr id="17" name="Image 2" descr="C:\Users\maria\Desktop\football\results\figs\preproc\centre_crop_0p5.jpg">    </p:cNvPr>
          <p:cNvPicPr>
            <a:picLocks noChangeAspect="1"/>
          </p:cNvPicPr>
          <p:nvPr/>
        </p:nvPicPr>
        <p:blipFill>
          <a:blip r:embed="rId3"/>
          <a:stretch>
            <a:fillRect/>
          </a:stretch>
        </p:blipFill>
        <p:spPr>
          <a:xfrm>
            <a:off x="8367952" y="1444752"/>
            <a:ext cx="3022756" cy="1636776"/>
          </a:xfrm>
          <a:prstGeom prst="rect">
            <a:avLst/>
          </a:prstGeom>
        </p:spPr>
      </p:pic>
      <p:sp>
        <p:nvSpPr>
          <p:cNvPr id="18" name="Text 13"/>
          <p:cNvSpPr/>
          <p:nvPr/>
        </p:nvSpPr>
        <p:spPr>
          <a:xfrm>
            <a:off x="8271053" y="3136392"/>
            <a:ext cx="3216554" cy="566928"/>
          </a:xfrm>
          <a:prstGeom prst="rect">
            <a:avLst/>
          </a:prstGeom>
          <a:noFill/>
          <a:ln/>
        </p:spPr>
        <p:txBody>
          <a:bodyPr wrap="square" rtlCol="0" anchor="t"/>
          <a:lstStyle/>
          <a:p>
            <a:pPr indent="0" marL="0">
              <a:lnSpc>
                <a:spcPts val="1300"/>
              </a:lnSpc>
              <a:spcBef>
                <a:spcPts val="200"/>
              </a:spcBef>
              <a:buNone/>
            </a:pPr>
            <a:r>
              <a:rPr lang="en-US" sz="1050" b="1" dirty="0">
                <a:solidFill>
                  <a:srgbClr val="111817"/>
                </a:solidFill>
                <a:latin typeface="Consolas" pitchFamily="34" charset="0"/>
                <a:ea typeface="Consolas" pitchFamily="34" charset="-122"/>
                <a:cs typeface="Consolas" pitchFamily="34" charset="-120"/>
              </a:rPr>
              <a:t>centre_crop=0.5</a:t>
            </a:r>
            <a:endParaRPr lang="en-US" sz="1050" dirty="0"/>
          </a:p>
          <a:p>
            <a:pPr indent="0" marL="0">
              <a:lnSpc>
                <a:spcPts val="1300"/>
              </a:lnSpc>
              <a:spcBef>
                <a:spcPts val="200"/>
              </a:spcBef>
              <a:buNone/>
            </a:pPr>
            <a:r>
              <a:rPr lang="en-US" sz="950" dirty="0">
                <a:solidFill>
                  <a:srgbClr val="7A8886"/>
                </a:solidFill>
                <a:latin typeface="Segoe UI" pitchFamily="34" charset="0"/>
                <a:ea typeface="Segoe UI" pitchFamily="34" charset="-122"/>
                <a:cs typeface="Segoe UI" pitchFamily="34" charset="-120"/>
              </a:rPr>
              <a:t>Keep the middle, discard the border.</a:t>
            </a:r>
            <a:endParaRPr lang="en-US" sz="1050" dirty="0"/>
          </a:p>
          <a:p>
            <a:pPr indent="0" marL="0">
              <a:lnSpc>
                <a:spcPts val="1300"/>
              </a:lnSpc>
              <a:spcBef>
                <a:spcPts val="200"/>
              </a:spcBef>
              <a:buNone/>
            </a:pPr>
            <a:r>
              <a:rPr lang="en-US" sz="850" dirty="0">
                <a:solidFill>
                  <a:srgbClr val="7A8886"/>
                </a:solidFill>
                <a:latin typeface="Consolas" pitchFamily="34" charset="0"/>
                <a:ea typeface="Consolas" pitchFamily="34" charset="-122"/>
                <a:cs typeface="Consolas" pitchFamily="34" charset="-120"/>
              </a:rPr>
              <a:t>16.1/255 moved · 56% of pixels · 25% kept</a:t>
            </a:r>
            <a:endParaRPr lang="en-US" sz="1050" dirty="0"/>
          </a:p>
        </p:txBody>
      </p:sp>
      <p:sp>
        <p:nvSpPr>
          <p:cNvPr id="19" name="Shape 14"/>
          <p:cNvSpPr/>
          <p:nvPr/>
        </p:nvSpPr>
        <p:spPr>
          <a:xfrm>
            <a:off x="502920" y="3941064"/>
            <a:ext cx="3618890" cy="2478024"/>
          </a:xfrm>
          <a:prstGeom prst="roundRect">
            <a:avLst>
              <a:gd name="adj" fmla="val 3321"/>
            </a:avLst>
          </a:prstGeom>
          <a:solidFill>
            <a:srgbClr val="DDE4E2"/>
          </a:solidFill>
          <a:ln/>
        </p:spPr>
      </p:sp>
      <p:sp>
        <p:nvSpPr>
          <p:cNvPr id="20" name="Shape 15"/>
          <p:cNvSpPr/>
          <p:nvPr/>
        </p:nvSpPr>
        <p:spPr>
          <a:xfrm>
            <a:off x="510235" y="3941064"/>
            <a:ext cx="3611575" cy="2478024"/>
          </a:xfrm>
          <a:prstGeom prst="roundRect">
            <a:avLst>
              <a:gd name="adj" fmla="val 3321"/>
            </a:avLst>
          </a:prstGeom>
          <a:solidFill>
            <a:srgbClr val="FFFFFF"/>
          </a:solidFill>
          <a:ln/>
        </p:spPr>
      </p:sp>
      <p:pic>
        <p:nvPicPr>
          <p:cNvPr id="21" name="Image 3" descr="C:\Users\maria\Desktop\football\results\figs\preproc\gamma_0p7.jpg">    </p:cNvPr>
          <p:cNvPicPr>
            <a:picLocks noChangeAspect="1"/>
          </p:cNvPicPr>
          <p:nvPr/>
        </p:nvPicPr>
        <p:blipFill>
          <a:blip r:embed="rId4"/>
          <a:stretch>
            <a:fillRect/>
          </a:stretch>
        </p:blipFill>
        <p:spPr>
          <a:xfrm>
            <a:off x="800987" y="4050792"/>
            <a:ext cx="3022756" cy="1636776"/>
          </a:xfrm>
          <a:prstGeom prst="rect">
            <a:avLst/>
          </a:prstGeom>
        </p:spPr>
      </p:pic>
      <p:sp>
        <p:nvSpPr>
          <p:cNvPr id="22" name="Text 16"/>
          <p:cNvSpPr/>
          <p:nvPr/>
        </p:nvSpPr>
        <p:spPr>
          <a:xfrm>
            <a:off x="704088" y="5742432"/>
            <a:ext cx="3216554" cy="566928"/>
          </a:xfrm>
          <a:prstGeom prst="rect">
            <a:avLst/>
          </a:prstGeom>
          <a:noFill/>
          <a:ln/>
        </p:spPr>
        <p:txBody>
          <a:bodyPr wrap="square" rtlCol="0" anchor="t"/>
          <a:lstStyle/>
          <a:p>
            <a:pPr indent="0" marL="0">
              <a:lnSpc>
                <a:spcPts val="1300"/>
              </a:lnSpc>
              <a:spcBef>
                <a:spcPts val="200"/>
              </a:spcBef>
              <a:buNone/>
            </a:pPr>
            <a:r>
              <a:rPr lang="en-US" sz="1050" b="1" dirty="0">
                <a:solidFill>
                  <a:srgbClr val="111817"/>
                </a:solidFill>
                <a:latin typeface="Consolas" pitchFamily="34" charset="0"/>
                <a:ea typeface="Consolas" pitchFamily="34" charset="-122"/>
                <a:cs typeface="Consolas" pitchFamily="34" charset="-120"/>
              </a:rPr>
              <a:t>gamma=0.7</a:t>
            </a:r>
            <a:endParaRPr lang="en-US" sz="1050" dirty="0"/>
          </a:p>
          <a:p>
            <a:pPr indent="0" marL="0">
              <a:lnSpc>
                <a:spcPts val="1300"/>
              </a:lnSpc>
              <a:spcBef>
                <a:spcPts val="200"/>
              </a:spcBef>
              <a:buNone/>
            </a:pPr>
            <a:r>
              <a:rPr lang="en-US" sz="950" dirty="0">
                <a:solidFill>
                  <a:srgbClr val="7A8886"/>
                </a:solidFill>
                <a:latin typeface="Segoe UI" pitchFamily="34" charset="0"/>
                <a:ea typeface="Segoe UI" pitchFamily="34" charset="-122"/>
                <a:cs typeface="Segoe UI" pitchFamily="34" charset="-120"/>
              </a:rPr>
              <a:t>Brightness curve.</a:t>
            </a:r>
            <a:endParaRPr lang="en-US" sz="1050" dirty="0"/>
          </a:p>
          <a:p>
            <a:pPr indent="0" marL="0">
              <a:lnSpc>
                <a:spcPts val="1300"/>
              </a:lnSpc>
              <a:spcBef>
                <a:spcPts val="200"/>
              </a:spcBef>
              <a:buNone/>
            </a:pPr>
            <a:r>
              <a:rPr lang="en-US" sz="850" dirty="0">
                <a:solidFill>
                  <a:srgbClr val="7A8886"/>
                </a:solidFill>
                <a:latin typeface="Consolas" pitchFamily="34" charset="0"/>
                <a:ea typeface="Consolas" pitchFamily="34" charset="-122"/>
                <a:cs typeface="Consolas" pitchFamily="34" charset="-120"/>
              </a:rPr>
              <a:t>14.6/255 moved · 56% of pixels</a:t>
            </a:r>
            <a:endParaRPr lang="en-US" sz="1050" dirty="0"/>
          </a:p>
        </p:txBody>
      </p:sp>
      <p:sp>
        <p:nvSpPr>
          <p:cNvPr id="23" name="Shape 17"/>
          <p:cNvSpPr/>
          <p:nvPr/>
        </p:nvSpPr>
        <p:spPr>
          <a:xfrm>
            <a:off x="4286402" y="3941064"/>
            <a:ext cx="3618890" cy="2478024"/>
          </a:xfrm>
          <a:prstGeom prst="roundRect">
            <a:avLst>
              <a:gd name="adj" fmla="val 3321"/>
            </a:avLst>
          </a:prstGeom>
          <a:solidFill>
            <a:srgbClr val="DDE4E2"/>
          </a:solidFill>
          <a:ln/>
        </p:spPr>
      </p:sp>
      <p:sp>
        <p:nvSpPr>
          <p:cNvPr id="24" name="Shape 18"/>
          <p:cNvSpPr/>
          <p:nvPr/>
        </p:nvSpPr>
        <p:spPr>
          <a:xfrm>
            <a:off x="4293718" y="3941064"/>
            <a:ext cx="3611575" cy="2478024"/>
          </a:xfrm>
          <a:prstGeom prst="roundRect">
            <a:avLst>
              <a:gd name="adj" fmla="val 3321"/>
            </a:avLst>
          </a:prstGeom>
          <a:solidFill>
            <a:srgbClr val="FFFFFF"/>
          </a:solidFill>
          <a:ln/>
        </p:spPr>
      </p:sp>
      <p:pic>
        <p:nvPicPr>
          <p:cNvPr id="25" name="Image 4" descr="C:\Users\maria\Desktop\football\results\figs\preproc\saturation_0p0.jpg">    </p:cNvPr>
          <p:cNvPicPr>
            <a:picLocks noChangeAspect="1"/>
          </p:cNvPicPr>
          <p:nvPr/>
        </p:nvPicPr>
        <p:blipFill>
          <a:blip r:embed="rId5"/>
          <a:stretch>
            <a:fillRect/>
          </a:stretch>
        </p:blipFill>
        <p:spPr>
          <a:xfrm>
            <a:off x="4584470" y="4050792"/>
            <a:ext cx="3022756" cy="1636776"/>
          </a:xfrm>
          <a:prstGeom prst="rect">
            <a:avLst/>
          </a:prstGeom>
        </p:spPr>
      </p:pic>
      <p:sp>
        <p:nvSpPr>
          <p:cNvPr id="26" name="Text 19"/>
          <p:cNvSpPr/>
          <p:nvPr/>
        </p:nvSpPr>
        <p:spPr>
          <a:xfrm>
            <a:off x="4487570" y="5742432"/>
            <a:ext cx="3216554" cy="566928"/>
          </a:xfrm>
          <a:prstGeom prst="rect">
            <a:avLst/>
          </a:prstGeom>
          <a:noFill/>
          <a:ln/>
        </p:spPr>
        <p:txBody>
          <a:bodyPr wrap="square" rtlCol="0" anchor="t"/>
          <a:lstStyle/>
          <a:p>
            <a:pPr indent="0" marL="0">
              <a:lnSpc>
                <a:spcPts val="1300"/>
              </a:lnSpc>
              <a:spcBef>
                <a:spcPts val="200"/>
              </a:spcBef>
              <a:buNone/>
            </a:pPr>
            <a:r>
              <a:rPr lang="en-US" sz="1050" b="1" dirty="0">
                <a:solidFill>
                  <a:srgbClr val="111817"/>
                </a:solidFill>
                <a:latin typeface="Consolas" pitchFamily="34" charset="0"/>
                <a:ea typeface="Consolas" pitchFamily="34" charset="-122"/>
                <a:cs typeface="Consolas" pitchFamily="34" charset="-120"/>
              </a:rPr>
              <a:t>saturation=0.0</a:t>
            </a:r>
            <a:endParaRPr lang="en-US" sz="1050" dirty="0"/>
          </a:p>
          <a:p>
            <a:pPr indent="0" marL="0">
              <a:lnSpc>
                <a:spcPts val="1300"/>
              </a:lnSpc>
              <a:spcBef>
                <a:spcPts val="200"/>
              </a:spcBef>
              <a:buNone/>
            </a:pPr>
            <a:r>
              <a:rPr lang="en-US" sz="950" dirty="0">
                <a:solidFill>
                  <a:srgbClr val="7A8886"/>
                </a:solidFill>
                <a:latin typeface="Segoe UI" pitchFamily="34" charset="0"/>
                <a:ea typeface="Segoe UI" pitchFamily="34" charset="-122"/>
                <a:cs typeface="Segoe UI" pitchFamily="34" charset="-120"/>
              </a:rPr>
              <a:t>Colour strength — 0.0 is grayscale.</a:t>
            </a:r>
            <a:endParaRPr lang="en-US" sz="1050" dirty="0"/>
          </a:p>
          <a:p>
            <a:pPr indent="0" marL="0">
              <a:lnSpc>
                <a:spcPts val="1300"/>
              </a:lnSpc>
              <a:spcBef>
                <a:spcPts val="200"/>
              </a:spcBef>
              <a:buNone/>
            </a:pPr>
            <a:r>
              <a:rPr lang="en-US" sz="850" dirty="0">
                <a:solidFill>
                  <a:srgbClr val="7A8886"/>
                </a:solidFill>
                <a:latin typeface="Consolas" pitchFamily="34" charset="0"/>
                <a:ea typeface="Consolas" pitchFamily="34" charset="-122"/>
                <a:cs typeface="Consolas" pitchFamily="34" charset="-120"/>
              </a:rPr>
              <a:t>14.4/255 moved · 55% of pixels</a:t>
            </a:r>
            <a:endParaRPr lang="en-US" sz="1050" dirty="0"/>
          </a:p>
        </p:txBody>
      </p:sp>
      <p:sp>
        <p:nvSpPr>
          <p:cNvPr id="27" name="Shape 20"/>
          <p:cNvSpPr/>
          <p:nvPr/>
        </p:nvSpPr>
        <p:spPr>
          <a:xfrm>
            <a:off x="8069885" y="3941064"/>
            <a:ext cx="3618890" cy="2478024"/>
          </a:xfrm>
          <a:prstGeom prst="roundRect">
            <a:avLst>
              <a:gd name="adj" fmla="val 3321"/>
            </a:avLst>
          </a:prstGeom>
          <a:solidFill>
            <a:srgbClr val="DDE4E2"/>
          </a:solidFill>
          <a:ln/>
        </p:spPr>
      </p:sp>
      <p:sp>
        <p:nvSpPr>
          <p:cNvPr id="28" name="Shape 21"/>
          <p:cNvSpPr/>
          <p:nvPr/>
        </p:nvSpPr>
        <p:spPr>
          <a:xfrm>
            <a:off x="8077200" y="3941064"/>
            <a:ext cx="3611575" cy="2478024"/>
          </a:xfrm>
          <a:prstGeom prst="roundRect">
            <a:avLst>
              <a:gd name="adj" fmla="val 3321"/>
            </a:avLst>
          </a:prstGeom>
          <a:solidFill>
            <a:srgbClr val="FFFFFF"/>
          </a:solidFill>
          <a:ln/>
        </p:spPr>
      </p:sp>
      <p:pic>
        <p:nvPicPr>
          <p:cNvPr id="29" name="Image 5" descr="C:\Users\maria\Desktop\football\results\figs\preproc\blur_sigma_4p0.jpg">    </p:cNvPr>
          <p:cNvPicPr>
            <a:picLocks noChangeAspect="1"/>
          </p:cNvPicPr>
          <p:nvPr/>
        </p:nvPicPr>
        <p:blipFill>
          <a:blip r:embed="rId6"/>
          <a:stretch>
            <a:fillRect/>
          </a:stretch>
        </p:blipFill>
        <p:spPr>
          <a:xfrm>
            <a:off x="8367952" y="4050792"/>
            <a:ext cx="3022756" cy="1636776"/>
          </a:xfrm>
          <a:prstGeom prst="rect">
            <a:avLst/>
          </a:prstGeom>
        </p:spPr>
      </p:pic>
      <p:sp>
        <p:nvSpPr>
          <p:cNvPr id="30" name="Text 22"/>
          <p:cNvSpPr/>
          <p:nvPr/>
        </p:nvSpPr>
        <p:spPr>
          <a:xfrm>
            <a:off x="8271053" y="5742432"/>
            <a:ext cx="3216554" cy="566928"/>
          </a:xfrm>
          <a:prstGeom prst="rect">
            <a:avLst/>
          </a:prstGeom>
          <a:noFill/>
          <a:ln/>
        </p:spPr>
        <p:txBody>
          <a:bodyPr wrap="square" rtlCol="0" anchor="t"/>
          <a:lstStyle/>
          <a:p>
            <a:pPr indent="0" marL="0">
              <a:lnSpc>
                <a:spcPts val="1300"/>
              </a:lnSpc>
              <a:spcBef>
                <a:spcPts val="200"/>
              </a:spcBef>
              <a:buNone/>
            </a:pPr>
            <a:r>
              <a:rPr lang="en-US" sz="1050" b="1" dirty="0">
                <a:solidFill>
                  <a:srgbClr val="111817"/>
                </a:solidFill>
                <a:latin typeface="Consolas" pitchFamily="34" charset="0"/>
                <a:ea typeface="Consolas" pitchFamily="34" charset="-122"/>
                <a:cs typeface="Consolas" pitchFamily="34" charset="-120"/>
              </a:rPr>
              <a:t>blur_sigma=4.0</a:t>
            </a:r>
            <a:endParaRPr lang="en-US" sz="1050" dirty="0"/>
          </a:p>
          <a:p>
            <a:pPr indent="0" marL="0">
              <a:lnSpc>
                <a:spcPts val="1300"/>
              </a:lnSpc>
              <a:spcBef>
                <a:spcPts val="200"/>
              </a:spcBef>
              <a:buNone/>
            </a:pPr>
            <a:r>
              <a:rPr lang="en-US" sz="950" dirty="0">
                <a:solidFill>
                  <a:srgbClr val="7A8886"/>
                </a:solidFill>
                <a:latin typeface="Segoe UI" pitchFamily="34" charset="0"/>
                <a:ea typeface="Segoe UI" pitchFamily="34" charset="-122"/>
                <a:cs typeface="Segoe UI" pitchFamily="34" charset="-120"/>
              </a:rPr>
              <a:t>Blur — destroys fine detail, including people.</a:t>
            </a:r>
            <a:endParaRPr lang="en-US" sz="1050" dirty="0"/>
          </a:p>
          <a:p>
            <a:pPr indent="0" marL="0">
              <a:lnSpc>
                <a:spcPts val="1300"/>
              </a:lnSpc>
              <a:spcBef>
                <a:spcPts val="200"/>
              </a:spcBef>
              <a:buNone/>
            </a:pPr>
            <a:r>
              <a:rPr lang="en-US" sz="850" dirty="0">
                <a:solidFill>
                  <a:srgbClr val="7A8886"/>
                </a:solidFill>
                <a:latin typeface="Consolas" pitchFamily="34" charset="0"/>
                <a:ea typeface="Consolas" pitchFamily="34" charset="-122"/>
                <a:cs typeface="Consolas" pitchFamily="34" charset="-120"/>
              </a:rPr>
              <a:t>7.5/255 moved · 60% of pixels</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20" fill="hold"/>
                                        <p:tgtEl>
                                          <p:spTgt spid="9"/>
                                        </p:tgtEl>
                                        <p:attrNameLst>
                                          <p:attrName>ppt_y</p:attrName>
                                        </p:attrNameLst>
                                      </p:cBhvr>
                                      <p:tavLst>
                                        <p:tav tm="0">
                                          <p:val>
                                            <p:strVal val="#ppt_y+0.035"/>
                                          </p:val>
                                        </p:tav>
                                        <p:tav tm="100000">
                                          <p:val>
                                            <p:strVal val="#ppt_y"/>
                                          </p:val>
                                        </p:tav>
                                      </p:tavLst>
                                    </p:anim>
                                    <p:animEffect transition="in" filter="fade">
                                      <p:cBhvr>
                                        <p:cTn id="16" dur="520"/>
                                        <p:tgtEl>
                                          <p:spTgt spid="9"/>
                                        </p:tgtEl>
                                      </p:cBhvr>
                                    </p:animEffect>
                                  </p:childTnLst>
                                </p:cTn>
                              </p:par>
                              <p:par>
                                <p:cTn id="17" presetID="34"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20" fill="hold"/>
                                        <p:tgtEl>
                                          <p:spTgt spid="10"/>
                                        </p:tgtEl>
                                        <p:attrNameLst>
                                          <p:attrName>ppt_y</p:attrName>
                                        </p:attrNameLst>
                                      </p:cBhvr>
                                      <p:tavLst>
                                        <p:tav tm="0">
                                          <p:val>
                                            <p:strVal val="#ppt_y+0.035"/>
                                          </p:val>
                                        </p:tav>
                                        <p:tav tm="100000">
                                          <p:val>
                                            <p:strVal val="#ppt_y"/>
                                          </p:val>
                                        </p:tav>
                                      </p:tavLst>
                                    </p:anim>
                                    <p:animEffect transition="in" filter="fade">
                                      <p:cBhvr>
                                        <p:cTn id="20" dur="52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4" presetClass="entr" presetSubtype="0" fill="hold" grpId="0" nodeType="afterEffect">
                                  <p:stCondLst>
                                    <p:cond delay="183"/>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20" fill="hold"/>
                                        <p:tgtEl>
                                          <p:spTgt spid="11"/>
                                        </p:tgtEl>
                                        <p:attrNameLst>
                                          <p:attrName>ppt_y</p:attrName>
                                        </p:attrNameLst>
                                      </p:cBhvr>
                                      <p:tavLst>
                                        <p:tav tm="0">
                                          <p:val>
                                            <p:strVal val="#ppt_y+0.035"/>
                                          </p:val>
                                        </p:tav>
                                        <p:tav tm="100000">
                                          <p:val>
                                            <p:strVal val="#ppt_y"/>
                                          </p:val>
                                        </p:tav>
                                      </p:tavLst>
                                    </p:anim>
                                    <p:animEffect transition="in" filter="fade">
                                      <p:cBhvr>
                                        <p:cTn id="26" dur="520"/>
                                        <p:tgtEl>
                                          <p:spTgt spid="11"/>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20" fill="hold"/>
                                        <p:tgtEl>
                                          <p:spTgt spid="12"/>
                                        </p:tgtEl>
                                        <p:attrNameLst>
                                          <p:attrName>ppt_y</p:attrName>
                                        </p:attrNameLst>
                                      </p:cBhvr>
                                      <p:tavLst>
                                        <p:tav tm="0">
                                          <p:val>
                                            <p:strVal val="#ppt_y+0.035"/>
                                          </p:val>
                                        </p:tav>
                                        <p:tav tm="100000">
                                          <p:val>
                                            <p:strVal val="#ppt_y"/>
                                          </p:val>
                                        </p:tav>
                                      </p:tavLst>
                                    </p:anim>
                                    <p:animEffect transition="in" filter="fade">
                                      <p:cBhvr>
                                        <p:cTn id="30" dur="520"/>
                                        <p:tgtEl>
                                          <p:spTgt spid="12"/>
                                        </p:tgtEl>
                                      </p:cBhvr>
                                    </p:animEffect>
                                  </p:childTnLst>
                                </p:cTn>
                              </p:par>
                              <p:par>
                                <p:cTn id="31" presetID="34"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20" fill="hold"/>
                                        <p:tgtEl>
                                          <p:spTgt spid="13"/>
                                        </p:tgtEl>
                                        <p:attrNameLst>
                                          <p:attrName>ppt_y</p:attrName>
                                        </p:attrNameLst>
                                      </p:cBhvr>
                                      <p:tavLst>
                                        <p:tav tm="0">
                                          <p:val>
                                            <p:strVal val="#ppt_y+0.035"/>
                                          </p:val>
                                        </p:tav>
                                        <p:tav tm="100000">
                                          <p:val>
                                            <p:strVal val="#ppt_y"/>
                                          </p:val>
                                        </p:tav>
                                      </p:tavLst>
                                    </p:anim>
                                    <p:animEffect transition="in" filter="fade">
                                      <p:cBhvr>
                                        <p:cTn id="34" dur="520"/>
                                        <p:tgtEl>
                                          <p:spTgt spid="13"/>
                                        </p:tgtEl>
                                      </p:cBhvr>
                                    </p:animEffect>
                                  </p:childTnLst>
                                </p:cTn>
                              </p:par>
                              <p:par>
                                <p:cTn id="35" presetID="34"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20" fill="hold"/>
                                        <p:tgtEl>
                                          <p:spTgt spid="14"/>
                                        </p:tgtEl>
                                        <p:attrNameLst>
                                          <p:attrName>ppt_y</p:attrName>
                                        </p:attrNameLst>
                                      </p:cBhvr>
                                      <p:tavLst>
                                        <p:tav tm="0">
                                          <p:val>
                                            <p:strVal val="#ppt_y+0.035"/>
                                          </p:val>
                                        </p:tav>
                                        <p:tav tm="100000">
                                          <p:val>
                                            <p:strVal val="#ppt_y"/>
                                          </p:val>
                                        </p:tav>
                                      </p:tavLst>
                                    </p:anim>
                                    <p:animEffect transition="in" filter="fade">
                                      <p:cBhvr>
                                        <p:cTn id="38" dur="52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34" presetClass="entr" presetSubtype="0" fill="hold" grpId="0" nodeType="afterEffect">
                                  <p:stCondLst>
                                    <p:cond delay="183"/>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20" fill="hold"/>
                                        <p:tgtEl>
                                          <p:spTgt spid="15"/>
                                        </p:tgtEl>
                                        <p:attrNameLst>
                                          <p:attrName>ppt_y</p:attrName>
                                        </p:attrNameLst>
                                      </p:cBhvr>
                                      <p:tavLst>
                                        <p:tav tm="0">
                                          <p:val>
                                            <p:strVal val="#ppt_y+0.035"/>
                                          </p:val>
                                        </p:tav>
                                        <p:tav tm="100000">
                                          <p:val>
                                            <p:strVal val="#ppt_y"/>
                                          </p:val>
                                        </p:tav>
                                      </p:tavLst>
                                    </p:anim>
                                    <p:animEffect transition="in" filter="fade">
                                      <p:cBhvr>
                                        <p:cTn id="44" dur="520"/>
                                        <p:tgtEl>
                                          <p:spTgt spid="15"/>
                                        </p:tgtEl>
                                      </p:cBhvr>
                                    </p:animEffect>
                                  </p:childTnLst>
                                </p:cTn>
                              </p:par>
                              <p:par>
                                <p:cTn id="45" presetID="34"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20" fill="hold"/>
                                        <p:tgtEl>
                                          <p:spTgt spid="16"/>
                                        </p:tgtEl>
                                        <p:attrNameLst>
                                          <p:attrName>ppt_y</p:attrName>
                                        </p:attrNameLst>
                                      </p:cBhvr>
                                      <p:tavLst>
                                        <p:tav tm="0">
                                          <p:val>
                                            <p:strVal val="#ppt_y+0.035"/>
                                          </p:val>
                                        </p:tav>
                                        <p:tav tm="100000">
                                          <p:val>
                                            <p:strVal val="#ppt_y"/>
                                          </p:val>
                                        </p:tav>
                                      </p:tavLst>
                                    </p:anim>
                                    <p:animEffect transition="in" filter="fade">
                                      <p:cBhvr>
                                        <p:cTn id="48" dur="520"/>
                                        <p:tgtEl>
                                          <p:spTgt spid="16"/>
                                        </p:tgtEl>
                                      </p:cBhvr>
                                    </p:animEffect>
                                  </p:childTnLst>
                                </p:cTn>
                              </p:par>
                              <p:par>
                                <p:cTn id="49" presetID="34"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20" fill="hold"/>
                                        <p:tgtEl>
                                          <p:spTgt spid="17"/>
                                        </p:tgtEl>
                                        <p:attrNameLst>
                                          <p:attrName>ppt_y</p:attrName>
                                        </p:attrNameLst>
                                      </p:cBhvr>
                                      <p:tavLst>
                                        <p:tav tm="0">
                                          <p:val>
                                            <p:strVal val="#ppt_y+0.035"/>
                                          </p:val>
                                        </p:tav>
                                        <p:tav tm="100000">
                                          <p:val>
                                            <p:strVal val="#ppt_y"/>
                                          </p:val>
                                        </p:tav>
                                      </p:tavLst>
                                    </p:anim>
                                    <p:animEffect transition="in" filter="fade">
                                      <p:cBhvr>
                                        <p:cTn id="52" dur="520"/>
                                        <p:tgtEl>
                                          <p:spTgt spid="17"/>
                                        </p:tgtEl>
                                      </p:cBhvr>
                                    </p:animEffect>
                                  </p:childTnLst>
                                </p:cTn>
                              </p:par>
                              <p:par>
                                <p:cTn id="53" presetID="34"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20" fill="hold"/>
                                        <p:tgtEl>
                                          <p:spTgt spid="18"/>
                                        </p:tgtEl>
                                        <p:attrNameLst>
                                          <p:attrName>ppt_y</p:attrName>
                                        </p:attrNameLst>
                                      </p:cBhvr>
                                      <p:tavLst>
                                        <p:tav tm="0">
                                          <p:val>
                                            <p:strVal val="#ppt_y+0.035"/>
                                          </p:val>
                                        </p:tav>
                                        <p:tav tm="100000">
                                          <p:val>
                                            <p:strVal val="#ppt_y"/>
                                          </p:val>
                                        </p:tav>
                                      </p:tavLst>
                                    </p:anim>
                                    <p:animEffect transition="in" filter="fade">
                                      <p:cBhvr>
                                        <p:cTn id="56" dur="52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34" presetClass="entr" presetSubtype="0" fill="hold" grpId="0" nodeType="afterEffect">
                                  <p:stCondLst>
                                    <p:cond delay="183"/>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520" fill="hold"/>
                                        <p:tgtEl>
                                          <p:spTgt spid="19"/>
                                        </p:tgtEl>
                                        <p:attrNameLst>
                                          <p:attrName>ppt_y</p:attrName>
                                        </p:attrNameLst>
                                      </p:cBhvr>
                                      <p:tavLst>
                                        <p:tav tm="0">
                                          <p:val>
                                            <p:strVal val="#ppt_y+0.035"/>
                                          </p:val>
                                        </p:tav>
                                        <p:tav tm="100000">
                                          <p:val>
                                            <p:strVal val="#ppt_y"/>
                                          </p:val>
                                        </p:tav>
                                      </p:tavLst>
                                    </p:anim>
                                    <p:animEffect transition="in" filter="fade">
                                      <p:cBhvr>
                                        <p:cTn id="62" dur="520"/>
                                        <p:tgtEl>
                                          <p:spTgt spid="19"/>
                                        </p:tgtEl>
                                      </p:cBhvr>
                                    </p:animEffect>
                                  </p:childTnLst>
                                </p:cTn>
                              </p:par>
                              <p:par>
                                <p:cTn id="63" presetID="34"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 calcmode="lin" valueType="num">
                                      <p:cBhvr additive="base">
                                        <p:cTn id="65" dur="520" fill="hold"/>
                                        <p:tgtEl>
                                          <p:spTgt spid="20"/>
                                        </p:tgtEl>
                                        <p:attrNameLst>
                                          <p:attrName>ppt_y</p:attrName>
                                        </p:attrNameLst>
                                      </p:cBhvr>
                                      <p:tavLst>
                                        <p:tav tm="0">
                                          <p:val>
                                            <p:strVal val="#ppt_y+0.035"/>
                                          </p:val>
                                        </p:tav>
                                        <p:tav tm="100000">
                                          <p:val>
                                            <p:strVal val="#ppt_y"/>
                                          </p:val>
                                        </p:tav>
                                      </p:tavLst>
                                    </p:anim>
                                    <p:animEffect transition="in" filter="fade">
                                      <p:cBhvr>
                                        <p:cTn id="66" dur="520"/>
                                        <p:tgtEl>
                                          <p:spTgt spid="20"/>
                                        </p:tgtEl>
                                      </p:cBhvr>
                                    </p:animEffect>
                                  </p:childTnLst>
                                </p:cTn>
                              </p:par>
                              <p:par>
                                <p:cTn id="67" presetID="34"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20" fill="hold"/>
                                        <p:tgtEl>
                                          <p:spTgt spid="21"/>
                                        </p:tgtEl>
                                        <p:attrNameLst>
                                          <p:attrName>ppt_y</p:attrName>
                                        </p:attrNameLst>
                                      </p:cBhvr>
                                      <p:tavLst>
                                        <p:tav tm="0">
                                          <p:val>
                                            <p:strVal val="#ppt_y+0.035"/>
                                          </p:val>
                                        </p:tav>
                                        <p:tav tm="100000">
                                          <p:val>
                                            <p:strVal val="#ppt_y"/>
                                          </p:val>
                                        </p:tav>
                                      </p:tavLst>
                                    </p:anim>
                                    <p:animEffect transition="in" filter="fade">
                                      <p:cBhvr>
                                        <p:cTn id="70" dur="520"/>
                                        <p:tgtEl>
                                          <p:spTgt spid="21"/>
                                        </p:tgtEl>
                                      </p:cBhvr>
                                    </p:animEffect>
                                  </p:childTnLst>
                                </p:cTn>
                              </p:par>
                              <p:par>
                                <p:cTn id="71" presetID="34"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additive="base">
                                        <p:cTn id="73" dur="520" fill="hold"/>
                                        <p:tgtEl>
                                          <p:spTgt spid="22"/>
                                        </p:tgtEl>
                                        <p:attrNameLst>
                                          <p:attrName>ppt_y</p:attrName>
                                        </p:attrNameLst>
                                      </p:cBhvr>
                                      <p:tavLst>
                                        <p:tav tm="0">
                                          <p:val>
                                            <p:strVal val="#ppt_y+0.035"/>
                                          </p:val>
                                        </p:tav>
                                        <p:tav tm="100000">
                                          <p:val>
                                            <p:strVal val="#ppt_y"/>
                                          </p:val>
                                        </p:tav>
                                      </p:tavLst>
                                    </p:anim>
                                    <p:animEffect transition="in" filter="fade">
                                      <p:cBhvr>
                                        <p:cTn id="74" dur="520"/>
                                        <p:tgtEl>
                                          <p:spTgt spid="22"/>
                                        </p:tgtEl>
                                      </p:cBhvr>
                                    </p:animEffect>
                                  </p:childTnLst>
                                </p:cTn>
                              </p:par>
                            </p:childTnLst>
                          </p:cTn>
                        </p:par>
                      </p:childTnLst>
                    </p:cTn>
                  </p:par>
                  <p:par>
                    <p:cTn id="75" fill="hold">
                      <p:stCondLst>
                        <p:cond delay="indefinite"/>
                      </p:stCondLst>
                      <p:childTnLst>
                        <p:par>
                          <p:cTn id="76" fill="hold">
                            <p:stCondLst>
                              <p:cond delay="0"/>
                            </p:stCondLst>
                            <p:childTnLst>
                              <p:par>
                                <p:cTn id="77" presetID="34" presetClass="entr" presetSubtype="0" fill="hold" grpId="0" nodeType="afterEffect">
                                  <p:stCondLst>
                                    <p:cond delay="183"/>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20" fill="hold"/>
                                        <p:tgtEl>
                                          <p:spTgt spid="23"/>
                                        </p:tgtEl>
                                        <p:attrNameLst>
                                          <p:attrName>ppt_y</p:attrName>
                                        </p:attrNameLst>
                                      </p:cBhvr>
                                      <p:tavLst>
                                        <p:tav tm="0">
                                          <p:val>
                                            <p:strVal val="#ppt_y+0.035"/>
                                          </p:val>
                                        </p:tav>
                                        <p:tav tm="100000">
                                          <p:val>
                                            <p:strVal val="#ppt_y"/>
                                          </p:val>
                                        </p:tav>
                                      </p:tavLst>
                                    </p:anim>
                                    <p:animEffect transition="in" filter="fade">
                                      <p:cBhvr>
                                        <p:cTn id="80" dur="520"/>
                                        <p:tgtEl>
                                          <p:spTgt spid="23"/>
                                        </p:tgtEl>
                                      </p:cBhvr>
                                    </p:animEffect>
                                  </p:childTnLst>
                                </p:cTn>
                              </p:par>
                              <p:par>
                                <p:cTn id="81" presetID="34"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20" fill="hold"/>
                                        <p:tgtEl>
                                          <p:spTgt spid="24"/>
                                        </p:tgtEl>
                                        <p:attrNameLst>
                                          <p:attrName>ppt_y</p:attrName>
                                        </p:attrNameLst>
                                      </p:cBhvr>
                                      <p:tavLst>
                                        <p:tav tm="0">
                                          <p:val>
                                            <p:strVal val="#ppt_y+0.035"/>
                                          </p:val>
                                        </p:tav>
                                        <p:tav tm="100000">
                                          <p:val>
                                            <p:strVal val="#ppt_y"/>
                                          </p:val>
                                        </p:tav>
                                      </p:tavLst>
                                    </p:anim>
                                    <p:animEffect transition="in" filter="fade">
                                      <p:cBhvr>
                                        <p:cTn id="84" dur="520"/>
                                        <p:tgtEl>
                                          <p:spTgt spid="24"/>
                                        </p:tgtEl>
                                      </p:cBhvr>
                                    </p:animEffect>
                                  </p:childTnLst>
                                </p:cTn>
                              </p:par>
                              <p:par>
                                <p:cTn id="85" presetID="34"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20" fill="hold"/>
                                        <p:tgtEl>
                                          <p:spTgt spid="25"/>
                                        </p:tgtEl>
                                        <p:attrNameLst>
                                          <p:attrName>ppt_y</p:attrName>
                                        </p:attrNameLst>
                                      </p:cBhvr>
                                      <p:tavLst>
                                        <p:tav tm="0">
                                          <p:val>
                                            <p:strVal val="#ppt_y+0.035"/>
                                          </p:val>
                                        </p:tav>
                                        <p:tav tm="100000">
                                          <p:val>
                                            <p:strVal val="#ppt_y"/>
                                          </p:val>
                                        </p:tav>
                                      </p:tavLst>
                                    </p:anim>
                                    <p:animEffect transition="in" filter="fade">
                                      <p:cBhvr>
                                        <p:cTn id="88" dur="520"/>
                                        <p:tgtEl>
                                          <p:spTgt spid="25"/>
                                        </p:tgtEl>
                                      </p:cBhvr>
                                    </p:animEffect>
                                  </p:childTnLst>
                                </p:cTn>
                              </p:par>
                              <p:par>
                                <p:cTn id="89" presetID="34" presetClass="entr" presetSubtype="0"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520" fill="hold"/>
                                        <p:tgtEl>
                                          <p:spTgt spid="26"/>
                                        </p:tgtEl>
                                        <p:attrNameLst>
                                          <p:attrName>ppt_y</p:attrName>
                                        </p:attrNameLst>
                                      </p:cBhvr>
                                      <p:tavLst>
                                        <p:tav tm="0">
                                          <p:val>
                                            <p:strVal val="#ppt_y+0.035"/>
                                          </p:val>
                                        </p:tav>
                                        <p:tav tm="100000">
                                          <p:val>
                                            <p:strVal val="#ppt_y"/>
                                          </p:val>
                                        </p:tav>
                                      </p:tavLst>
                                    </p:anim>
                                    <p:animEffect transition="in" filter="fade">
                                      <p:cBhvr>
                                        <p:cTn id="92" dur="520"/>
                                        <p:tgtEl>
                                          <p:spTgt spid="26"/>
                                        </p:tgtEl>
                                      </p:cBhvr>
                                    </p:animEffect>
                                  </p:childTnLst>
                                </p:cTn>
                              </p:par>
                            </p:childTnLst>
                          </p:cTn>
                        </p:par>
                      </p:childTnLst>
                    </p:cTn>
                  </p:par>
                  <p:par>
                    <p:cTn id="93" fill="hold">
                      <p:stCondLst>
                        <p:cond delay="indefinite"/>
                      </p:stCondLst>
                      <p:childTnLst>
                        <p:par>
                          <p:cTn id="94" fill="hold">
                            <p:stCondLst>
                              <p:cond delay="0"/>
                            </p:stCondLst>
                            <p:childTnLst>
                              <p:par>
                                <p:cTn id="95" presetID="34" presetClass="entr" presetSubtype="0" fill="hold" grpId="0" nodeType="afterEffect">
                                  <p:stCondLst>
                                    <p:cond delay="183"/>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20" fill="hold"/>
                                        <p:tgtEl>
                                          <p:spTgt spid="27"/>
                                        </p:tgtEl>
                                        <p:attrNameLst>
                                          <p:attrName>ppt_y</p:attrName>
                                        </p:attrNameLst>
                                      </p:cBhvr>
                                      <p:tavLst>
                                        <p:tav tm="0">
                                          <p:val>
                                            <p:strVal val="#ppt_y+0.035"/>
                                          </p:val>
                                        </p:tav>
                                        <p:tav tm="100000">
                                          <p:val>
                                            <p:strVal val="#ppt_y"/>
                                          </p:val>
                                        </p:tav>
                                      </p:tavLst>
                                    </p:anim>
                                    <p:animEffect transition="in" filter="fade">
                                      <p:cBhvr>
                                        <p:cTn id="98" dur="520"/>
                                        <p:tgtEl>
                                          <p:spTgt spid="27"/>
                                        </p:tgtEl>
                                      </p:cBhvr>
                                    </p:animEffect>
                                  </p:childTnLst>
                                </p:cTn>
                              </p:par>
                              <p:par>
                                <p:cTn id="99" presetID="34" presetClass="entr" presetSubtype="0" fill="hold" grpId="0" nodeType="withEffect">
                                  <p:stCondLst>
                                    <p:cond delay="0"/>
                                  </p:stCondLst>
                                  <p:childTnLst>
                                    <p:set>
                                      <p:cBhvr>
                                        <p:cTn id="100" dur="1" fill="hold">
                                          <p:stCondLst>
                                            <p:cond delay="0"/>
                                          </p:stCondLst>
                                        </p:cTn>
                                        <p:tgtEl>
                                          <p:spTgt spid="28"/>
                                        </p:tgtEl>
                                        <p:attrNameLst>
                                          <p:attrName>style.visibility</p:attrName>
                                        </p:attrNameLst>
                                      </p:cBhvr>
                                      <p:to>
                                        <p:strVal val="visible"/>
                                      </p:to>
                                    </p:set>
                                    <p:anim calcmode="lin" valueType="num">
                                      <p:cBhvr additive="base">
                                        <p:cTn id="101" dur="520" fill="hold"/>
                                        <p:tgtEl>
                                          <p:spTgt spid="28"/>
                                        </p:tgtEl>
                                        <p:attrNameLst>
                                          <p:attrName>ppt_y</p:attrName>
                                        </p:attrNameLst>
                                      </p:cBhvr>
                                      <p:tavLst>
                                        <p:tav tm="0">
                                          <p:val>
                                            <p:strVal val="#ppt_y+0.035"/>
                                          </p:val>
                                        </p:tav>
                                        <p:tav tm="100000">
                                          <p:val>
                                            <p:strVal val="#ppt_y"/>
                                          </p:val>
                                        </p:tav>
                                      </p:tavLst>
                                    </p:anim>
                                    <p:animEffect transition="in" filter="fade">
                                      <p:cBhvr>
                                        <p:cTn id="102" dur="520"/>
                                        <p:tgtEl>
                                          <p:spTgt spid="28"/>
                                        </p:tgtEl>
                                      </p:cBhvr>
                                    </p:animEffect>
                                  </p:childTnLst>
                                </p:cTn>
                              </p:par>
                              <p:par>
                                <p:cTn id="103" presetID="34" presetClass="entr" presetSubtype="0"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 calcmode="lin" valueType="num">
                                      <p:cBhvr additive="base">
                                        <p:cTn id="105" dur="520" fill="hold"/>
                                        <p:tgtEl>
                                          <p:spTgt spid="29"/>
                                        </p:tgtEl>
                                        <p:attrNameLst>
                                          <p:attrName>ppt_y</p:attrName>
                                        </p:attrNameLst>
                                      </p:cBhvr>
                                      <p:tavLst>
                                        <p:tav tm="0">
                                          <p:val>
                                            <p:strVal val="#ppt_y+0.035"/>
                                          </p:val>
                                        </p:tav>
                                        <p:tav tm="100000">
                                          <p:val>
                                            <p:strVal val="#ppt_y"/>
                                          </p:val>
                                        </p:tav>
                                      </p:tavLst>
                                    </p:anim>
                                    <p:animEffect transition="in" filter="fade">
                                      <p:cBhvr>
                                        <p:cTn id="106" dur="520"/>
                                        <p:tgtEl>
                                          <p:spTgt spid="29"/>
                                        </p:tgtEl>
                                      </p:cBhvr>
                                    </p:animEffect>
                                  </p:childTnLst>
                                </p:cTn>
                              </p:par>
                              <p:par>
                                <p:cTn id="107" presetID="34" presetClass="entr" presetSubtype="0" fill="hold" grpId="0" nodeType="withEffect">
                                  <p:stCondLst>
                                    <p:cond delay="0"/>
                                  </p:stCondLst>
                                  <p:childTnLst>
                                    <p:set>
                                      <p:cBhvr>
                                        <p:cTn id="108" dur="1" fill="hold">
                                          <p:stCondLst>
                                            <p:cond delay="0"/>
                                          </p:stCondLst>
                                        </p:cTn>
                                        <p:tgtEl>
                                          <p:spTgt spid="30"/>
                                        </p:tgtEl>
                                        <p:attrNameLst>
                                          <p:attrName>style.visibility</p:attrName>
                                        </p:attrNameLst>
                                      </p:cBhvr>
                                      <p:to>
                                        <p:strVal val="visible"/>
                                      </p:to>
                                    </p:set>
                                    <p:anim calcmode="lin" valueType="num">
                                      <p:cBhvr additive="base">
                                        <p:cTn id="109" dur="520" fill="hold"/>
                                        <p:tgtEl>
                                          <p:spTgt spid="30"/>
                                        </p:tgtEl>
                                        <p:attrNameLst>
                                          <p:attrName>ppt_y</p:attrName>
                                        </p:attrNameLst>
                                      </p:cBhvr>
                                      <p:tavLst>
                                        <p:tav tm="0">
                                          <p:val>
                                            <p:strVal val="#ppt_y+0.035"/>
                                          </p:val>
                                        </p:tav>
                                        <p:tav tm="100000">
                                          <p:val>
                                            <p:strVal val="#ppt_y"/>
                                          </p:val>
                                        </p:tav>
                                      </p:tavLst>
                                    </p:anim>
                                    <p:animEffect transition="in" filter="fade">
                                      <p:cBhvr>
                                        <p:cTn id="110" dur="52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24.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4 — APPLICATIONS AND DATA AUGMENTATION</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What removal looks like</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3FA7E0"/>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17</a:t>
            </a:r>
            <a:endParaRPr lang="en-US" sz="1000" dirty="0"/>
          </a:p>
        </p:txBody>
      </p:sp>
      <p:sp>
        <p:nvSpPr>
          <p:cNvPr id="7" name="Shape 5"/>
          <p:cNvSpPr/>
          <p:nvPr/>
        </p:nvSpPr>
        <p:spPr>
          <a:xfrm>
            <a:off x="502920" y="1389888"/>
            <a:ext cx="11185855" cy="731520"/>
          </a:xfrm>
          <a:prstGeom prst="roundRect">
            <a:avLst>
              <a:gd name="adj" fmla="val 10000"/>
            </a:avLst>
          </a:prstGeom>
          <a:solidFill>
            <a:srgbClr val="3FA7E0"/>
          </a:solidFill>
          <a:ln/>
        </p:spPr>
      </p:sp>
      <p:sp>
        <p:nvSpPr>
          <p:cNvPr id="8" name="Shape 6"/>
          <p:cNvSpPr/>
          <p:nvPr/>
        </p:nvSpPr>
        <p:spPr>
          <a:xfrm>
            <a:off x="585216" y="1389888"/>
            <a:ext cx="11103559" cy="731520"/>
          </a:xfrm>
          <a:prstGeom prst="roundRect">
            <a:avLst>
              <a:gd name="adj" fmla="val 10000"/>
            </a:avLst>
          </a:prstGeom>
          <a:solidFill>
            <a:srgbClr val="FFFFFF"/>
          </a:solidFill>
          <a:ln/>
        </p:spPr>
      </p:sp>
      <p:sp>
        <p:nvSpPr>
          <p:cNvPr id="9" name="Text 7"/>
          <p:cNvSpPr/>
          <p:nvPr/>
        </p:nvSpPr>
        <p:spPr>
          <a:xfrm>
            <a:off x="832104" y="1554480"/>
            <a:ext cx="10527487" cy="402336"/>
          </a:xfrm>
          <a:prstGeom prst="rect">
            <a:avLst/>
          </a:prstGeom>
          <a:noFill/>
          <a:ln/>
        </p:spPr>
        <p:txBody>
          <a:bodyPr wrap="square" rtlCol="0" anchor="ctr"/>
          <a:lstStyle/>
          <a:p>
            <a:pPr indent="0" marL="0">
              <a:lnSpc>
                <a:spcPts val="1950"/>
              </a:lnSpc>
              <a:spcBef>
                <a:spcPts val="800"/>
              </a:spcBef>
              <a:buNone/>
            </a:pPr>
            <a:r>
              <a:rPr lang="en-US" sz="1300" b="1" dirty="0">
                <a:solidFill>
                  <a:srgbClr val="111817"/>
                </a:solidFill>
                <a:latin typeface="Segoe UI" pitchFamily="34" charset="0"/>
                <a:ea typeface="Segoe UI" pitchFamily="34" charset="-122"/>
                <a:cs typeface="Segoe UI" pitchFamily="34" charset="-120"/>
              </a:rPr>
              <a:t>Preprocessing removes information permanently; augmentation varies it and keeps every pixel at inference.</a:t>
            </a:r>
            <a:pPr indent="0" marL="0">
              <a:lnSpc>
                <a:spcPts val="1950"/>
              </a:lnSpc>
              <a:spcBef>
                <a:spcPts val="800"/>
              </a:spcBef>
              <a:buNone/>
            </a:pPr>
            <a:r>
              <a:rPr lang="en-US" sz="1300" dirty="0">
                <a:solidFill>
                  <a:srgbClr val="111817"/>
                </a:solidFill>
                <a:latin typeface="Segoe UI" pitchFamily="34" charset="0"/>
                <a:ea typeface="Segoe UI" pitchFamily="34" charset="-122"/>
                <a:cs typeface="Segoe UI" pitchFamily="34" charset="-120"/>
              </a:rPr>
              <a:t> That is why both exist, and why removal has a floor that variation cannot cross.</a:t>
            </a:r>
            <a:endParaRPr lang="en-US" sz="1300" dirty="0"/>
          </a:p>
        </p:txBody>
      </p:sp>
      <p:pic>
        <p:nvPicPr>
          <p:cNvPr id="10" name="Image 0" descr="one band of the sheet">    </p:cNvPr>
          <p:cNvPicPr>
            <a:picLocks noChangeAspect="1"/>
          </p:cNvPicPr>
          <p:nvPr/>
        </p:nvPicPr>
        <p:blipFill>
          <a:blip r:embed="rId1"/>
          <a:srcRect t="0" b="50000"/>
          <a:stretch>
            <a:fillRect/>
          </a:stretch>
        </p:blipFill>
        <p:spPr>
          <a:xfrm>
            <a:off x="502920" y="2279418"/>
            <a:ext cx="5474056" cy="3213564"/>
          </a:xfrm>
          <a:prstGeom prst="rect">
            <a:avLst/>
          </a:prstGeom>
        </p:spPr>
      </p:pic>
      <p:pic>
        <p:nvPicPr>
          <p:cNvPr id="11" name="Image 1" descr="one band of the sheet">    </p:cNvPr>
          <p:cNvPicPr>
            <a:picLocks noChangeAspect="1"/>
          </p:cNvPicPr>
          <p:nvPr/>
        </p:nvPicPr>
        <p:blipFill>
          <a:blip r:embed="rId2"/>
          <a:srcRect t="50000" b="0"/>
          <a:stretch>
            <a:fillRect/>
          </a:stretch>
        </p:blipFill>
        <p:spPr>
          <a:xfrm>
            <a:off x="6214720" y="2279418"/>
            <a:ext cx="5474056" cy="3213564"/>
          </a:xfrm>
          <a:prstGeom prst="rect">
            <a:avLst/>
          </a:prstGeom>
        </p:spPr>
      </p:pic>
      <p:sp>
        <p:nvSpPr>
          <p:cNvPr id="12" name="Text 8"/>
          <p:cNvSpPr/>
          <p:nvPr/>
        </p:nvSpPr>
        <p:spPr>
          <a:xfrm>
            <a:off x="502920" y="5712438"/>
            <a:ext cx="11185855" cy="658368"/>
          </a:xfrm>
          <a:prstGeom prst="rect">
            <a:avLst/>
          </a:prstGeom>
          <a:noFill/>
          <a:ln/>
        </p:spPr>
        <p:txBody>
          <a:bodyPr wrap="square" rtlCol="0" anchor="t"/>
          <a:lstStyle/>
          <a:p>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Every preprocessing switch the search tries, at the real 224×224 the backbone receives. Grey bands are letterbox padding. </a:t>
            </a:r>
            <a:pPr indent="0" marL="0">
              <a:lnSpc>
                <a:spcPts val="1470"/>
              </a:lnSpc>
              <a:buNone/>
            </a:pPr>
            <a:r>
              <a:rPr lang="en-US" sz="1000" dirty="0">
                <a:solidFill>
                  <a:srgbClr val="7A8886"/>
                </a:solidFill>
                <a:latin typeface="Consolas" pitchFamily="34" charset="0"/>
                <a:ea typeface="Consolas" pitchFamily="34" charset="-122"/>
                <a:cs typeface="Consolas" pitchFamily="34" charset="-120"/>
              </a:rPr>
              <a:t>blur_sigma=4.0</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has removed the people and </a:t>
            </a:r>
            <a:pPr indent="0" marL="0">
              <a:lnSpc>
                <a:spcPts val="1470"/>
              </a:lnSpc>
              <a:buNone/>
            </a:pPr>
            <a:r>
              <a:rPr lang="en-US" sz="1000" dirty="0">
                <a:solidFill>
                  <a:srgbClr val="7A8886"/>
                </a:solidFill>
                <a:latin typeface="Consolas" pitchFamily="34" charset="0"/>
                <a:ea typeface="Consolas" pitchFamily="34" charset="-122"/>
                <a:cs typeface="Consolas" pitchFamily="34" charset="-120"/>
              </a:rPr>
              <a:t>centre_crop=0.5</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the goalmouth. </a:t>
            </a:r>
            <a:pPr indent="0" marL="0">
              <a:lnSpc>
                <a:spcPts val="1470"/>
              </a:lnSpc>
              <a:buNone/>
            </a:pPr>
            <a:r>
              <a:rPr lang="en-US" sz="1000" dirty="0">
                <a:solidFill>
                  <a:srgbClr val="7A8886"/>
                </a:solidFill>
                <a:latin typeface="Consolas" pitchFamily="34" charset="0"/>
                <a:ea typeface="Consolas" pitchFamily="34" charset="-122"/>
                <a:cs typeface="Consolas" pitchFamily="34" charset="-120"/>
              </a:rPr>
              <a:t>roi</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is absent: no pitch polygon drawn yet. </a:t>
            </a:r>
            <a:pPr indent="0" marL="0">
              <a:lnSpc>
                <a:spcPts val="1470"/>
              </a:lnSpc>
              <a:buNone/>
            </a:pPr>
            <a:r>
              <a:rPr lang="en-US" sz="1050" i="1" dirty="0">
                <a:solidFill>
                  <a:srgbClr val="7A8886"/>
                </a:solidFill>
                <a:latin typeface="Segoe UI" pitchFamily="34" charset="0"/>
                <a:ea typeface="Segoe UI" pitchFamily="34" charset="-122"/>
                <a:cs typeface="Segoe UI" pitchFamily="34" charset="-120"/>
              </a:rPr>
              <a:t>Left: the night active-play frame. Right: the day empty frame.</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20" fill="hold"/>
                                        <p:tgtEl>
                                          <p:spTgt spid="8"/>
                                        </p:tgtEl>
                                        <p:attrNameLst>
                                          <p:attrName>ppt_y</p:attrName>
                                        </p:attrNameLst>
                                      </p:cBhvr>
                                      <p:tavLst>
                                        <p:tav tm="0">
                                          <p:val>
                                            <p:strVal val="#ppt_y+0.035"/>
                                          </p:val>
                                        </p:tav>
                                        <p:tav tm="100000">
                                          <p:val>
                                            <p:strVal val="#ppt_y"/>
                                          </p:val>
                                        </p:tav>
                                      </p:tavLst>
                                    </p:anim>
                                    <p:animEffect transition="in" filter="fade">
                                      <p:cBhvr>
                                        <p:cTn id="12" dur="520"/>
                                        <p:tgtEl>
                                          <p:spTgt spid="8"/>
                                        </p:tgtEl>
                                      </p:cBhvr>
                                    </p:animEffect>
                                  </p:childTnLst>
                                </p:cTn>
                              </p:par>
                              <p:par>
                                <p:cTn id="13" presetID="34"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20" fill="hold"/>
                                        <p:tgtEl>
                                          <p:spTgt spid="9"/>
                                        </p:tgtEl>
                                        <p:attrNameLst>
                                          <p:attrName>ppt_y</p:attrName>
                                        </p:attrNameLst>
                                      </p:cBhvr>
                                      <p:tavLst>
                                        <p:tav tm="0">
                                          <p:val>
                                            <p:strVal val="#ppt_y+0.035"/>
                                          </p:val>
                                        </p:tav>
                                        <p:tav tm="100000">
                                          <p:val>
                                            <p:strVal val="#ppt_y"/>
                                          </p:val>
                                        </p:tav>
                                      </p:tavLst>
                                    </p:anim>
                                    <p:animEffect transition="in" filter="fade">
                                      <p:cBhvr>
                                        <p:cTn id="16" dur="52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4" presetClass="entr" presetSubtype="0" fill="hold" grpId="0" nodeType="afterEffect">
                                  <p:stCondLst>
                                    <p:cond delay="275"/>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20" fill="hold"/>
                                        <p:tgtEl>
                                          <p:spTgt spid="10"/>
                                        </p:tgtEl>
                                        <p:attrNameLst>
                                          <p:attrName>ppt_y</p:attrName>
                                        </p:attrNameLst>
                                      </p:cBhvr>
                                      <p:tavLst>
                                        <p:tav tm="0">
                                          <p:val>
                                            <p:strVal val="#ppt_y+0.035"/>
                                          </p:val>
                                        </p:tav>
                                        <p:tav tm="100000">
                                          <p:val>
                                            <p:strVal val="#ppt_y"/>
                                          </p:val>
                                        </p:tav>
                                      </p:tavLst>
                                    </p:anim>
                                    <p:animEffect transition="in" filter="fade">
                                      <p:cBhvr>
                                        <p:cTn id="22" dur="52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4" presetClass="entr" presetSubtype="0" fill="hold" grpId="0" nodeType="afterEffect">
                                  <p:stCondLst>
                                    <p:cond delay="275"/>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20" fill="hold"/>
                                        <p:tgtEl>
                                          <p:spTgt spid="11"/>
                                        </p:tgtEl>
                                        <p:attrNameLst>
                                          <p:attrName>ppt_y</p:attrName>
                                        </p:attrNameLst>
                                      </p:cBhvr>
                                      <p:tavLst>
                                        <p:tav tm="0">
                                          <p:val>
                                            <p:strVal val="#ppt_y+0.035"/>
                                          </p:val>
                                        </p:tav>
                                        <p:tav tm="100000">
                                          <p:val>
                                            <p:strVal val="#ppt_y"/>
                                          </p:val>
                                        </p:tav>
                                      </p:tavLst>
                                    </p:anim>
                                    <p:animEffect transition="in" filter="fade">
                                      <p:cBhvr>
                                        <p:cTn id="28" dur="52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34" presetClass="entr" presetSubtype="0" fill="hold" grpId="0" nodeType="afterEffect">
                                  <p:stCondLst>
                                    <p:cond delay="275"/>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20" fill="hold"/>
                                        <p:tgtEl>
                                          <p:spTgt spid="12"/>
                                        </p:tgtEl>
                                        <p:attrNameLst>
                                          <p:attrName>ppt_y</p:attrName>
                                        </p:attrNameLst>
                                      </p:cBhvr>
                                      <p:tavLst>
                                        <p:tav tm="0">
                                          <p:val>
                                            <p:strVal val="#ppt_y+0.035"/>
                                          </p:val>
                                        </p:tav>
                                        <p:tav tm="100000">
                                          <p:val>
                                            <p:strVal val="#ppt_y"/>
                                          </p:val>
                                        </p:tav>
                                      </p:tavLst>
                                    </p:anim>
                                    <p:animEffect transition="in" filter="fade">
                                      <p:cBhvr>
                                        <p:cTn id="34" dur="5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5.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4 — APPLICATIONS AND DATA AUGMENTATION</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The augmentation argument</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3FA7E0"/>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18</a:t>
            </a:r>
            <a:endParaRPr lang="en-US" sz="1000" dirty="0"/>
          </a:p>
        </p:txBody>
      </p:sp>
      <p:sp>
        <p:nvSpPr>
          <p:cNvPr id="7" name="Text 5"/>
          <p:cNvSpPr/>
          <p:nvPr/>
        </p:nvSpPr>
        <p:spPr>
          <a:xfrm>
            <a:off x="1139342" y="1581272"/>
            <a:ext cx="5486400" cy="237744"/>
          </a:xfrm>
          <a:prstGeom prst="rect">
            <a:avLst/>
          </a:prstGeom>
          <a:noFill/>
          <a:ln/>
        </p:spPr>
        <p:txBody>
          <a:bodyPr wrap="square" rtlCol="0" anchor="ctr"/>
          <a:lstStyle/>
          <a:p>
            <a:pPr indent="0" marL="0">
              <a:buNone/>
            </a:pPr>
            <a:r>
              <a:rPr lang="en-US" sz="1100" b="1" dirty="0">
                <a:solidFill>
                  <a:srgbClr val="111817"/>
                </a:solidFill>
                <a:latin typeface="Segoe UI" pitchFamily="34" charset="0"/>
                <a:ea typeface="Segoe UI" pitchFamily="34" charset="-122"/>
                <a:cs typeface="Segoe UI" pitchFamily="34" charset="-120"/>
              </a:rPr>
              <a:t>preprocessing — one way, and it has a floor</a:t>
            </a:r>
            <a:endParaRPr lang="en-US" sz="1100" dirty="0"/>
          </a:p>
        </p:txBody>
      </p:sp>
      <p:sp>
        <p:nvSpPr>
          <p:cNvPr id="8" name="Shape 6"/>
          <p:cNvSpPr/>
          <p:nvPr/>
        </p:nvSpPr>
        <p:spPr>
          <a:xfrm>
            <a:off x="1139342" y="2036735"/>
            <a:ext cx="1661099" cy="535838"/>
          </a:xfrm>
          <a:prstGeom prst="roundRect">
            <a:avLst>
              <a:gd name="adj" fmla="val 8532"/>
            </a:avLst>
          </a:prstGeom>
          <a:solidFill>
            <a:srgbClr val="FFFFFF"/>
          </a:solidFill>
          <a:ln w="9525">
            <a:solidFill>
              <a:srgbClr val="DDE4E2"/>
            </a:solidFill>
            <a:prstDash val="solid"/>
          </a:ln>
        </p:spPr>
      </p:sp>
      <p:sp>
        <p:nvSpPr>
          <p:cNvPr id="9" name="Text 7"/>
          <p:cNvSpPr/>
          <p:nvPr/>
        </p:nvSpPr>
        <p:spPr>
          <a:xfrm>
            <a:off x="1139342" y="2036735"/>
            <a:ext cx="1661099" cy="535838"/>
          </a:xfrm>
          <a:prstGeom prst="rect">
            <a:avLst/>
          </a:prstGeom>
          <a:noFill/>
          <a:ln/>
        </p:spPr>
        <p:txBody>
          <a:bodyPr wrap="square" rtlCol="0" anchor="ctr"/>
          <a:lstStyle/>
          <a:p>
            <a:pPr algn="ctr" indent="0" marL="0">
              <a:lnSpc>
                <a:spcPts val="1200"/>
              </a:lnSpc>
              <a:buNone/>
            </a:pPr>
            <a:r>
              <a:rPr lang="en-US" sz="1000" b="1" dirty="0">
                <a:solidFill>
                  <a:srgbClr val="111817"/>
                </a:solidFill>
                <a:latin typeface="Segoe UI" pitchFamily="34" charset="0"/>
                <a:ea typeface="Segoe UI" pitchFamily="34" charset="-122"/>
                <a:cs typeface="Segoe UI" pitchFamily="34" charset="-120"/>
              </a:rPr>
              <a:t>source frame</a:t>
            </a:r>
            <a:endParaRPr lang="en-US" sz="1000" dirty="0"/>
          </a:p>
          <a:p>
            <a:pPr algn="ctr" indent="0" marL="0">
              <a:lnSpc>
                <a:spcPts val="1200"/>
              </a:lnSpc>
              <a:buNone/>
            </a:pPr>
            <a:r>
              <a:rPr lang="en-US" sz="850" dirty="0">
                <a:solidFill>
                  <a:srgbClr val="7A8886"/>
                </a:solidFill>
                <a:latin typeface="Segoe UI" pitchFamily="34" charset="0"/>
                <a:ea typeface="Segoe UI" pitchFamily="34" charset="-122"/>
                <a:cs typeface="Segoe UI" pitchFamily="34" charset="-120"/>
              </a:rPr>
              <a:t>everything</a:t>
            </a:r>
            <a:endParaRPr lang="en-US" sz="1000" dirty="0"/>
          </a:p>
        </p:txBody>
      </p:sp>
      <p:sp>
        <p:nvSpPr>
          <p:cNvPr id="10" name="Shape 8"/>
          <p:cNvSpPr/>
          <p:nvPr/>
        </p:nvSpPr>
        <p:spPr>
          <a:xfrm>
            <a:off x="2880817" y="2304654"/>
            <a:ext cx="401879" cy="0"/>
          </a:xfrm>
          <a:prstGeom prst="line">
            <a:avLst/>
          </a:prstGeom>
          <a:noFill/>
          <a:ln w="15875">
            <a:solidFill>
              <a:srgbClr val="7A8886"/>
            </a:solidFill>
            <a:prstDash val="solid"/>
            <a:tailEnd type="triangle"/>
          </a:ln>
        </p:spPr>
      </p:sp>
      <p:sp>
        <p:nvSpPr>
          <p:cNvPr id="11" name="Shape 9"/>
          <p:cNvSpPr/>
          <p:nvPr/>
        </p:nvSpPr>
        <p:spPr>
          <a:xfrm>
            <a:off x="3363072" y="2036735"/>
            <a:ext cx="1661099" cy="535838"/>
          </a:xfrm>
          <a:prstGeom prst="roundRect">
            <a:avLst>
              <a:gd name="adj" fmla="val 8532"/>
            </a:avLst>
          </a:prstGeom>
          <a:solidFill>
            <a:srgbClr val="FFFFFF"/>
          </a:solidFill>
          <a:ln w="9525">
            <a:solidFill>
              <a:srgbClr val="DDE4E2"/>
            </a:solidFill>
            <a:prstDash val="solid"/>
          </a:ln>
        </p:spPr>
      </p:sp>
      <p:sp>
        <p:nvSpPr>
          <p:cNvPr id="12" name="Text 10"/>
          <p:cNvSpPr/>
          <p:nvPr/>
        </p:nvSpPr>
        <p:spPr>
          <a:xfrm>
            <a:off x="3363072" y="2036735"/>
            <a:ext cx="1661099" cy="535838"/>
          </a:xfrm>
          <a:prstGeom prst="rect">
            <a:avLst/>
          </a:prstGeom>
          <a:noFill/>
          <a:ln/>
        </p:spPr>
        <p:txBody>
          <a:bodyPr wrap="square" rtlCol="0" anchor="ctr"/>
          <a:lstStyle/>
          <a:p>
            <a:pPr algn="ctr" indent="0" marL="0">
              <a:lnSpc>
                <a:spcPts val="1200"/>
              </a:lnSpc>
              <a:buNone/>
            </a:pPr>
            <a:r>
              <a:rPr lang="en-US" sz="1000" b="1" dirty="0">
                <a:solidFill>
                  <a:srgbClr val="111817"/>
                </a:solidFill>
                <a:latin typeface="Segoe UI" pitchFamily="34" charset="0"/>
                <a:ea typeface="Segoe UI" pitchFamily="34" charset="-122"/>
                <a:cs typeface="Segoe UI" pitchFamily="34" charset="-120"/>
              </a:rPr>
              <a:t>grayscale</a:t>
            </a:r>
            <a:endParaRPr lang="en-US" sz="1000" dirty="0"/>
          </a:p>
          <a:p>
            <a:pPr algn="ctr" indent="0" marL="0">
              <a:lnSpc>
                <a:spcPts val="1200"/>
              </a:lnSpc>
              <a:buNone/>
            </a:pPr>
            <a:r>
              <a:rPr lang="en-US" sz="850" dirty="0">
                <a:solidFill>
                  <a:srgbClr val="7A8886"/>
                </a:solidFill>
                <a:latin typeface="Segoe UI" pitchFamily="34" charset="0"/>
                <a:ea typeface="Segoe UI" pitchFamily="34" charset="-122"/>
                <a:cs typeface="Segoe UI" pitchFamily="34" charset="-120"/>
              </a:rPr>
              <a:t>+0.022 · fp 0.02</a:t>
            </a:r>
            <a:endParaRPr lang="en-US" sz="1000" dirty="0"/>
          </a:p>
        </p:txBody>
      </p:sp>
      <p:sp>
        <p:nvSpPr>
          <p:cNvPr id="13" name="Shape 11"/>
          <p:cNvSpPr/>
          <p:nvPr/>
        </p:nvSpPr>
        <p:spPr>
          <a:xfrm>
            <a:off x="5104547" y="2304654"/>
            <a:ext cx="401879" cy="0"/>
          </a:xfrm>
          <a:prstGeom prst="line">
            <a:avLst/>
          </a:prstGeom>
          <a:noFill/>
          <a:ln w="15875">
            <a:solidFill>
              <a:srgbClr val="7A8886"/>
            </a:solidFill>
            <a:prstDash val="solid"/>
            <a:tailEnd type="triangle"/>
          </a:ln>
        </p:spPr>
      </p:sp>
      <p:sp>
        <p:nvSpPr>
          <p:cNvPr id="14" name="Shape 12"/>
          <p:cNvSpPr/>
          <p:nvPr/>
        </p:nvSpPr>
        <p:spPr>
          <a:xfrm>
            <a:off x="5586801" y="2036735"/>
            <a:ext cx="2009394" cy="535838"/>
          </a:xfrm>
          <a:prstGeom prst="roundRect">
            <a:avLst>
              <a:gd name="adj" fmla="val 8532"/>
            </a:avLst>
          </a:prstGeom>
          <a:solidFill>
            <a:srgbClr val="FFFFFF"/>
          </a:solidFill>
          <a:ln w="9525">
            <a:solidFill>
              <a:srgbClr val="DDE4E2"/>
            </a:solidFill>
            <a:prstDash val="solid"/>
          </a:ln>
        </p:spPr>
      </p:sp>
      <p:sp>
        <p:nvSpPr>
          <p:cNvPr id="15" name="Text 13"/>
          <p:cNvSpPr/>
          <p:nvPr/>
        </p:nvSpPr>
        <p:spPr>
          <a:xfrm>
            <a:off x="5586801" y="2036735"/>
            <a:ext cx="2009394" cy="535838"/>
          </a:xfrm>
          <a:prstGeom prst="rect">
            <a:avLst/>
          </a:prstGeom>
          <a:noFill/>
          <a:ln/>
        </p:spPr>
        <p:txBody>
          <a:bodyPr wrap="square" rtlCol="0" anchor="ctr"/>
          <a:lstStyle/>
          <a:p>
            <a:pPr algn="ctr" indent="0" marL="0">
              <a:lnSpc>
                <a:spcPts val="1200"/>
              </a:lnSpc>
              <a:buNone/>
            </a:pPr>
            <a:r>
              <a:rPr lang="en-US" sz="1000" b="1" dirty="0">
                <a:solidFill>
                  <a:srgbClr val="111817"/>
                </a:solidFill>
                <a:latin typeface="Segoe UI" pitchFamily="34" charset="0"/>
                <a:ea typeface="Segoe UI" pitchFamily="34" charset="-122"/>
                <a:cs typeface="Segoe UI" pitchFamily="34" charset="-120"/>
              </a:rPr>
              <a:t>gray + crop50</a:t>
            </a:r>
            <a:endParaRPr lang="en-US" sz="1000" dirty="0"/>
          </a:p>
          <a:p>
            <a:pPr algn="ctr" indent="0" marL="0">
              <a:lnSpc>
                <a:spcPts val="1200"/>
              </a:lnSpc>
              <a:buNone/>
            </a:pPr>
            <a:r>
              <a:rPr lang="en-US" sz="850" dirty="0">
                <a:solidFill>
                  <a:srgbClr val="7A8886"/>
                </a:solidFill>
                <a:latin typeface="Segoe UI" pitchFamily="34" charset="0"/>
                <a:ea typeface="Segoe UI" pitchFamily="34" charset="-122"/>
                <a:cs typeface="Segoe UI" pitchFamily="34" charset="-120"/>
              </a:rPr>
              <a:t>−0.061 · fp 0.99</a:t>
            </a:r>
            <a:endParaRPr lang="en-US" sz="1000" dirty="0"/>
          </a:p>
        </p:txBody>
      </p:sp>
      <p:sp>
        <p:nvSpPr>
          <p:cNvPr id="16" name="Text 14"/>
          <p:cNvSpPr/>
          <p:nvPr/>
        </p:nvSpPr>
        <p:spPr>
          <a:xfrm>
            <a:off x="7730155" y="2009943"/>
            <a:ext cx="2743200" cy="475488"/>
          </a:xfrm>
          <a:prstGeom prst="rect">
            <a:avLst/>
          </a:prstGeom>
          <a:noFill/>
          <a:ln/>
        </p:spPr>
        <p:txBody>
          <a:bodyPr wrap="square" rtlCol="0" anchor="ctr"/>
          <a:lstStyle/>
          <a:p>
            <a:pPr indent="0" marL="0">
              <a:lnSpc>
                <a:spcPts val="1300"/>
              </a:lnSpc>
              <a:buNone/>
            </a:pPr>
            <a:r>
              <a:rPr lang="en-US" sz="950" dirty="0">
                <a:solidFill>
                  <a:srgbClr val="B26A00"/>
                </a:solidFill>
                <a:latin typeface="Segoe UI" pitchFamily="34" charset="0"/>
                <a:ea typeface="Segoe UI" pitchFamily="34" charset="-122"/>
                <a:cs typeface="Segoe UI" pitchFamily="34" charset="-120"/>
              </a:rPr>
              <a:t>below the untouched</a:t>
            </a:r>
            <a:endParaRPr lang="en-US" sz="950" dirty="0"/>
          </a:p>
          <a:p>
            <a:pPr indent="0" marL="0">
              <a:lnSpc>
                <a:spcPts val="1300"/>
              </a:lnSpc>
              <a:buNone/>
            </a:pPr>
            <a:r>
              <a:rPr lang="en-US" sz="950" dirty="0">
                <a:solidFill>
                  <a:srgbClr val="B26A00"/>
                </a:solidFill>
                <a:latin typeface="Segoe UI" pitchFamily="34" charset="0"/>
                <a:ea typeface="Segoe UI" pitchFamily="34" charset="-122"/>
                <a:cs typeface="Segoe UI" pitchFamily="34" charset="-120"/>
              </a:rPr>
              <a:t>baseline — the floor</a:t>
            </a:r>
            <a:endParaRPr lang="en-US" sz="950" dirty="0"/>
          </a:p>
        </p:txBody>
      </p:sp>
      <p:sp>
        <p:nvSpPr>
          <p:cNvPr id="17" name="Shape 15"/>
          <p:cNvSpPr/>
          <p:nvPr/>
        </p:nvSpPr>
        <p:spPr>
          <a:xfrm>
            <a:off x="1139342" y="2947660"/>
            <a:ext cx="9966594" cy="10973"/>
          </a:xfrm>
          <a:prstGeom prst="rect">
            <a:avLst/>
          </a:prstGeom>
          <a:solidFill>
            <a:srgbClr val="DDE4E2"/>
          </a:solidFill>
          <a:ln/>
        </p:spPr>
      </p:sp>
      <p:sp>
        <p:nvSpPr>
          <p:cNvPr id="18" name="Text 16"/>
          <p:cNvSpPr/>
          <p:nvPr/>
        </p:nvSpPr>
        <p:spPr>
          <a:xfrm>
            <a:off x="1139342" y="3135203"/>
            <a:ext cx="5852160" cy="237744"/>
          </a:xfrm>
          <a:prstGeom prst="rect">
            <a:avLst/>
          </a:prstGeom>
          <a:noFill/>
          <a:ln/>
        </p:spPr>
        <p:txBody>
          <a:bodyPr wrap="square" rtlCol="0" anchor="ctr"/>
          <a:lstStyle/>
          <a:p>
            <a:pPr indent="0" marL="0">
              <a:buNone/>
            </a:pPr>
            <a:r>
              <a:rPr lang="en-US" sz="1100" b="1" dirty="0">
                <a:solidFill>
                  <a:srgbClr val="111817"/>
                </a:solidFill>
                <a:latin typeface="Segoe UI" pitchFamily="34" charset="0"/>
                <a:ea typeface="Segoe UI" pitchFamily="34" charset="-122"/>
                <a:cs typeface="Segoe UI" pitchFamily="34" charset="-120"/>
              </a:rPr>
              <a:t>augmentation — varies the input, discards nothing</a:t>
            </a:r>
            <a:endParaRPr lang="en-US" sz="1100" dirty="0"/>
          </a:p>
        </p:txBody>
      </p:sp>
      <p:sp>
        <p:nvSpPr>
          <p:cNvPr id="19" name="Shape 17"/>
          <p:cNvSpPr/>
          <p:nvPr/>
        </p:nvSpPr>
        <p:spPr>
          <a:xfrm>
            <a:off x="1139342" y="3831793"/>
            <a:ext cx="1661099" cy="535838"/>
          </a:xfrm>
          <a:prstGeom prst="roundRect">
            <a:avLst>
              <a:gd name="adj" fmla="val 8532"/>
            </a:avLst>
          </a:prstGeom>
          <a:solidFill>
            <a:srgbClr val="FFFFFF"/>
          </a:solidFill>
          <a:ln w="9525">
            <a:solidFill>
              <a:srgbClr val="DDE4E2"/>
            </a:solidFill>
            <a:prstDash val="solid"/>
          </a:ln>
        </p:spPr>
      </p:sp>
      <p:sp>
        <p:nvSpPr>
          <p:cNvPr id="20" name="Text 18"/>
          <p:cNvSpPr/>
          <p:nvPr/>
        </p:nvSpPr>
        <p:spPr>
          <a:xfrm>
            <a:off x="1139342" y="3831793"/>
            <a:ext cx="1661099" cy="535838"/>
          </a:xfrm>
          <a:prstGeom prst="rect">
            <a:avLst/>
          </a:prstGeom>
          <a:noFill/>
          <a:ln/>
        </p:spPr>
        <p:txBody>
          <a:bodyPr wrap="square" rtlCol="0" anchor="ctr"/>
          <a:lstStyle/>
          <a:p>
            <a:pPr algn="ctr" indent="0" marL="0">
              <a:lnSpc>
                <a:spcPts val="1200"/>
              </a:lnSpc>
              <a:buNone/>
            </a:pPr>
            <a:r>
              <a:rPr lang="en-US" sz="1000" b="1" dirty="0">
                <a:solidFill>
                  <a:srgbClr val="111817"/>
                </a:solidFill>
                <a:latin typeface="Segoe UI" pitchFamily="34" charset="0"/>
                <a:ea typeface="Segoe UI" pitchFamily="34" charset="-122"/>
                <a:cs typeface="Segoe UI" pitchFamily="34" charset="-120"/>
              </a:rPr>
              <a:t>source frame</a:t>
            </a:r>
            <a:endParaRPr lang="en-US" sz="1000" dirty="0"/>
          </a:p>
          <a:p>
            <a:pPr algn="ctr" indent="0" marL="0">
              <a:lnSpc>
                <a:spcPts val="1200"/>
              </a:lnSpc>
              <a:buNone/>
            </a:pPr>
            <a:r>
              <a:rPr lang="en-US" sz="850" dirty="0">
                <a:solidFill>
                  <a:srgbClr val="7A8886"/>
                </a:solidFill>
                <a:latin typeface="Segoe UI" pitchFamily="34" charset="0"/>
                <a:ea typeface="Segoe UI" pitchFamily="34" charset="-122"/>
                <a:cs typeface="Segoe UI" pitchFamily="34" charset="-120"/>
              </a:rPr>
              <a:t>everything</a:t>
            </a:r>
            <a:endParaRPr lang="en-US" sz="1000" dirty="0"/>
          </a:p>
        </p:txBody>
      </p:sp>
      <p:sp>
        <p:nvSpPr>
          <p:cNvPr id="21" name="Shape 19"/>
          <p:cNvSpPr/>
          <p:nvPr/>
        </p:nvSpPr>
        <p:spPr>
          <a:xfrm flipV="1">
            <a:off x="2880817" y="3724626"/>
            <a:ext cx="401879" cy="321503"/>
          </a:xfrm>
          <a:prstGeom prst="line">
            <a:avLst/>
          </a:prstGeom>
          <a:noFill/>
          <a:ln w="15875">
            <a:solidFill>
              <a:srgbClr val="7A8886"/>
            </a:solidFill>
            <a:prstDash val="solid"/>
            <a:tailEnd type="triangle"/>
          </a:ln>
        </p:spPr>
      </p:sp>
      <p:sp>
        <p:nvSpPr>
          <p:cNvPr id="22" name="Shape 20"/>
          <p:cNvSpPr/>
          <p:nvPr/>
        </p:nvSpPr>
        <p:spPr>
          <a:xfrm>
            <a:off x="2880817" y="4099712"/>
            <a:ext cx="401879" cy="0"/>
          </a:xfrm>
          <a:prstGeom prst="line">
            <a:avLst/>
          </a:prstGeom>
          <a:noFill/>
          <a:ln w="15875">
            <a:solidFill>
              <a:srgbClr val="7A8886"/>
            </a:solidFill>
            <a:prstDash val="solid"/>
            <a:tailEnd type="triangle"/>
          </a:ln>
        </p:spPr>
      </p:sp>
      <p:sp>
        <p:nvSpPr>
          <p:cNvPr id="23" name="Shape 21"/>
          <p:cNvSpPr/>
          <p:nvPr/>
        </p:nvSpPr>
        <p:spPr>
          <a:xfrm>
            <a:off x="2880817" y="4153296"/>
            <a:ext cx="401879" cy="321503"/>
          </a:xfrm>
          <a:prstGeom prst="line">
            <a:avLst/>
          </a:prstGeom>
          <a:noFill/>
          <a:ln w="15875">
            <a:solidFill>
              <a:srgbClr val="7A8886"/>
            </a:solidFill>
            <a:prstDash val="solid"/>
            <a:tailEnd type="triangle"/>
          </a:ln>
        </p:spPr>
      </p:sp>
      <p:sp>
        <p:nvSpPr>
          <p:cNvPr id="24" name="Shape 22"/>
          <p:cNvSpPr/>
          <p:nvPr/>
        </p:nvSpPr>
        <p:spPr>
          <a:xfrm>
            <a:off x="3363072" y="3537082"/>
            <a:ext cx="1661099" cy="321503"/>
          </a:xfrm>
          <a:prstGeom prst="roundRect">
            <a:avLst>
              <a:gd name="adj" fmla="val 14221"/>
            </a:avLst>
          </a:prstGeom>
          <a:solidFill>
            <a:srgbClr val="FFFFFF"/>
          </a:solidFill>
          <a:ln w="9525">
            <a:solidFill>
              <a:srgbClr val="DDE4E2"/>
            </a:solidFill>
            <a:prstDash val="solid"/>
          </a:ln>
        </p:spPr>
      </p:sp>
      <p:sp>
        <p:nvSpPr>
          <p:cNvPr id="25" name="Text 23"/>
          <p:cNvSpPr/>
          <p:nvPr/>
        </p:nvSpPr>
        <p:spPr>
          <a:xfrm>
            <a:off x="3363072" y="3537082"/>
            <a:ext cx="1661099" cy="321503"/>
          </a:xfrm>
          <a:prstGeom prst="rect">
            <a:avLst/>
          </a:prstGeom>
          <a:noFill/>
          <a:ln/>
        </p:spPr>
        <p:txBody>
          <a:bodyPr wrap="square" rtlCol="0" anchor="ctr"/>
          <a:lstStyle/>
          <a:p>
            <a:pPr algn="ctr" indent="0" marL="0">
              <a:lnSpc>
                <a:spcPts val="1200"/>
              </a:lnSpc>
              <a:buNone/>
            </a:pPr>
            <a:r>
              <a:rPr lang="en-US" sz="1000" b="1" dirty="0">
                <a:solidFill>
                  <a:srgbClr val="111817"/>
                </a:solidFill>
                <a:latin typeface="Segoe UI" pitchFamily="34" charset="0"/>
                <a:ea typeface="Segoe UI" pitchFamily="34" charset="-122"/>
                <a:cs typeface="Segoe UI" pitchFamily="34" charset="-120"/>
              </a:rPr>
              <a:t>view 1</a:t>
            </a:r>
            <a:endParaRPr lang="en-US" sz="1000" dirty="0"/>
          </a:p>
        </p:txBody>
      </p:sp>
      <p:sp>
        <p:nvSpPr>
          <p:cNvPr id="26" name="Shape 24"/>
          <p:cNvSpPr/>
          <p:nvPr/>
        </p:nvSpPr>
        <p:spPr>
          <a:xfrm>
            <a:off x="3363072" y="3938961"/>
            <a:ext cx="1661099" cy="321503"/>
          </a:xfrm>
          <a:prstGeom prst="roundRect">
            <a:avLst>
              <a:gd name="adj" fmla="val 14221"/>
            </a:avLst>
          </a:prstGeom>
          <a:solidFill>
            <a:srgbClr val="FFFFFF"/>
          </a:solidFill>
          <a:ln w="9525">
            <a:solidFill>
              <a:srgbClr val="DDE4E2"/>
            </a:solidFill>
            <a:prstDash val="solid"/>
          </a:ln>
        </p:spPr>
      </p:sp>
      <p:sp>
        <p:nvSpPr>
          <p:cNvPr id="27" name="Text 25"/>
          <p:cNvSpPr/>
          <p:nvPr/>
        </p:nvSpPr>
        <p:spPr>
          <a:xfrm>
            <a:off x="3363072" y="3938961"/>
            <a:ext cx="1661099" cy="321503"/>
          </a:xfrm>
          <a:prstGeom prst="rect">
            <a:avLst/>
          </a:prstGeom>
          <a:noFill/>
          <a:ln/>
        </p:spPr>
        <p:txBody>
          <a:bodyPr wrap="square" rtlCol="0" anchor="ctr"/>
          <a:lstStyle/>
          <a:p>
            <a:pPr algn="ctr" indent="0" marL="0">
              <a:lnSpc>
                <a:spcPts val="1200"/>
              </a:lnSpc>
              <a:buNone/>
            </a:pPr>
            <a:r>
              <a:rPr lang="en-US" sz="1000" b="1" dirty="0">
                <a:solidFill>
                  <a:srgbClr val="111817"/>
                </a:solidFill>
                <a:latin typeface="Segoe UI" pitchFamily="34" charset="0"/>
                <a:ea typeface="Segoe UI" pitchFamily="34" charset="-122"/>
                <a:cs typeface="Segoe UI" pitchFamily="34" charset="-120"/>
              </a:rPr>
              <a:t>view 2</a:t>
            </a:r>
            <a:endParaRPr lang="en-US" sz="1000" dirty="0"/>
          </a:p>
        </p:txBody>
      </p:sp>
      <p:sp>
        <p:nvSpPr>
          <p:cNvPr id="28" name="Shape 26"/>
          <p:cNvSpPr/>
          <p:nvPr/>
        </p:nvSpPr>
        <p:spPr>
          <a:xfrm>
            <a:off x="3363072" y="4340840"/>
            <a:ext cx="1661099" cy="321503"/>
          </a:xfrm>
          <a:prstGeom prst="roundRect">
            <a:avLst>
              <a:gd name="adj" fmla="val 14221"/>
            </a:avLst>
          </a:prstGeom>
          <a:solidFill>
            <a:srgbClr val="FFFFFF"/>
          </a:solidFill>
          <a:ln w="9525">
            <a:solidFill>
              <a:srgbClr val="DDE4E2"/>
            </a:solidFill>
            <a:prstDash val="solid"/>
          </a:ln>
        </p:spPr>
      </p:sp>
      <p:sp>
        <p:nvSpPr>
          <p:cNvPr id="29" name="Text 27"/>
          <p:cNvSpPr/>
          <p:nvPr/>
        </p:nvSpPr>
        <p:spPr>
          <a:xfrm>
            <a:off x="3363072" y="4340840"/>
            <a:ext cx="1661099" cy="321503"/>
          </a:xfrm>
          <a:prstGeom prst="rect">
            <a:avLst/>
          </a:prstGeom>
          <a:noFill/>
          <a:ln/>
        </p:spPr>
        <p:txBody>
          <a:bodyPr wrap="square" rtlCol="0" anchor="ctr"/>
          <a:lstStyle/>
          <a:p>
            <a:pPr algn="ctr" indent="0" marL="0">
              <a:lnSpc>
                <a:spcPts val="1200"/>
              </a:lnSpc>
              <a:buNone/>
            </a:pPr>
            <a:r>
              <a:rPr lang="en-US" sz="1000" b="1" dirty="0">
                <a:solidFill>
                  <a:srgbClr val="111817"/>
                </a:solidFill>
                <a:latin typeface="Segoe UI" pitchFamily="34" charset="0"/>
                <a:ea typeface="Segoe UI" pitchFamily="34" charset="-122"/>
                <a:cs typeface="Segoe UI" pitchFamily="34" charset="-120"/>
              </a:rPr>
              <a:t>view 3</a:t>
            </a:r>
            <a:endParaRPr lang="en-US" sz="1000" dirty="0"/>
          </a:p>
        </p:txBody>
      </p:sp>
      <p:sp>
        <p:nvSpPr>
          <p:cNvPr id="30" name="Shape 28"/>
          <p:cNvSpPr/>
          <p:nvPr/>
        </p:nvSpPr>
        <p:spPr>
          <a:xfrm>
            <a:off x="5104547" y="3724626"/>
            <a:ext cx="401879" cy="321503"/>
          </a:xfrm>
          <a:prstGeom prst="line">
            <a:avLst/>
          </a:prstGeom>
          <a:noFill/>
          <a:ln w="15875">
            <a:solidFill>
              <a:srgbClr val="7A8886"/>
            </a:solidFill>
            <a:prstDash val="solid"/>
            <a:tailEnd type="triangle"/>
          </a:ln>
        </p:spPr>
      </p:sp>
      <p:sp>
        <p:nvSpPr>
          <p:cNvPr id="31" name="Shape 29"/>
          <p:cNvSpPr/>
          <p:nvPr/>
        </p:nvSpPr>
        <p:spPr>
          <a:xfrm>
            <a:off x="5104547" y="4099712"/>
            <a:ext cx="401879" cy="0"/>
          </a:xfrm>
          <a:prstGeom prst="line">
            <a:avLst/>
          </a:prstGeom>
          <a:noFill/>
          <a:ln w="15875">
            <a:solidFill>
              <a:srgbClr val="7A8886"/>
            </a:solidFill>
            <a:prstDash val="solid"/>
            <a:tailEnd type="triangle"/>
          </a:ln>
        </p:spPr>
      </p:sp>
      <p:sp>
        <p:nvSpPr>
          <p:cNvPr id="32" name="Shape 30"/>
          <p:cNvSpPr/>
          <p:nvPr/>
        </p:nvSpPr>
        <p:spPr>
          <a:xfrm flipV="1">
            <a:off x="5104547" y="4153296"/>
            <a:ext cx="401879" cy="321503"/>
          </a:xfrm>
          <a:prstGeom prst="line">
            <a:avLst/>
          </a:prstGeom>
          <a:noFill/>
          <a:ln w="15875">
            <a:solidFill>
              <a:srgbClr val="7A8886"/>
            </a:solidFill>
            <a:prstDash val="solid"/>
            <a:tailEnd type="triangle"/>
          </a:ln>
        </p:spPr>
      </p:sp>
      <p:sp>
        <p:nvSpPr>
          <p:cNvPr id="33" name="Shape 31"/>
          <p:cNvSpPr/>
          <p:nvPr/>
        </p:nvSpPr>
        <p:spPr>
          <a:xfrm>
            <a:off x="5586801" y="3831793"/>
            <a:ext cx="2009394" cy="535838"/>
          </a:xfrm>
          <a:prstGeom prst="roundRect">
            <a:avLst>
              <a:gd name="adj" fmla="val 8532"/>
            </a:avLst>
          </a:prstGeom>
          <a:solidFill>
            <a:srgbClr val="FFFFFF"/>
          </a:solidFill>
          <a:ln w="9525">
            <a:solidFill>
              <a:srgbClr val="DDE4E2"/>
            </a:solidFill>
            <a:prstDash val="solid"/>
          </a:ln>
        </p:spPr>
      </p:sp>
      <p:sp>
        <p:nvSpPr>
          <p:cNvPr id="34" name="Text 32"/>
          <p:cNvSpPr/>
          <p:nvPr/>
        </p:nvSpPr>
        <p:spPr>
          <a:xfrm>
            <a:off x="5586801" y="3831793"/>
            <a:ext cx="2009394" cy="535838"/>
          </a:xfrm>
          <a:prstGeom prst="rect">
            <a:avLst/>
          </a:prstGeom>
          <a:noFill/>
          <a:ln/>
        </p:spPr>
        <p:txBody>
          <a:bodyPr wrap="square" rtlCol="0" anchor="ctr"/>
          <a:lstStyle/>
          <a:p>
            <a:pPr algn="ctr" indent="0" marL="0">
              <a:lnSpc>
                <a:spcPts val="1200"/>
              </a:lnSpc>
              <a:buNone/>
            </a:pPr>
            <a:r>
              <a:rPr lang="en-US" sz="1000" b="1" dirty="0">
                <a:solidFill>
                  <a:srgbClr val="111817"/>
                </a:solidFill>
                <a:latin typeface="Segoe UI" pitchFamily="34" charset="0"/>
                <a:ea typeface="Segoe UI" pitchFamily="34" charset="-122"/>
                <a:cs typeface="Segoe UI" pitchFamily="34" charset="-120"/>
              </a:rPr>
              <a:t>probe training</a:t>
            </a:r>
            <a:endParaRPr lang="en-US" sz="1000" dirty="0"/>
          </a:p>
          <a:p>
            <a:pPr algn="ctr" indent="0" marL="0">
              <a:lnSpc>
                <a:spcPts val="1200"/>
              </a:lnSpc>
              <a:buNone/>
            </a:pPr>
            <a:r>
              <a:rPr lang="en-US" sz="850" dirty="0">
                <a:solidFill>
                  <a:srgbClr val="7A8886"/>
                </a:solidFill>
                <a:latin typeface="Segoe UI" pitchFamily="34" charset="0"/>
                <a:ea typeface="Segoe UI" pitchFamily="34" charset="-122"/>
                <a:cs typeface="Segoe UI" pitchFamily="34" charset="-120"/>
              </a:rPr>
              <a:t>sees all three</a:t>
            </a:r>
            <a:endParaRPr lang="en-US" sz="1000" dirty="0"/>
          </a:p>
        </p:txBody>
      </p:sp>
      <p:sp>
        <p:nvSpPr>
          <p:cNvPr id="35" name="Shape 33"/>
          <p:cNvSpPr/>
          <p:nvPr/>
        </p:nvSpPr>
        <p:spPr>
          <a:xfrm>
            <a:off x="8105242" y="3831793"/>
            <a:ext cx="3000695" cy="535838"/>
          </a:xfrm>
          <a:prstGeom prst="roundRect">
            <a:avLst>
              <a:gd name="adj" fmla="val 8532"/>
            </a:avLst>
          </a:prstGeom>
          <a:solidFill>
            <a:srgbClr val="FFFFFF"/>
          </a:solidFill>
          <a:ln w="17780">
            <a:solidFill>
              <a:srgbClr val="0D6D78"/>
            </a:solidFill>
            <a:prstDash val="solid"/>
          </a:ln>
        </p:spPr>
      </p:sp>
      <p:sp>
        <p:nvSpPr>
          <p:cNvPr id="36" name="Text 34"/>
          <p:cNvSpPr/>
          <p:nvPr/>
        </p:nvSpPr>
        <p:spPr>
          <a:xfrm>
            <a:off x="8105242" y="3831793"/>
            <a:ext cx="3000695" cy="535838"/>
          </a:xfrm>
          <a:prstGeom prst="rect">
            <a:avLst/>
          </a:prstGeom>
          <a:noFill/>
          <a:ln/>
        </p:spPr>
        <p:txBody>
          <a:bodyPr wrap="square" rtlCol="0" anchor="ctr"/>
          <a:lstStyle/>
          <a:p>
            <a:pPr algn="ctr" indent="0" marL="0">
              <a:lnSpc>
                <a:spcPts val="1200"/>
              </a:lnSpc>
              <a:buNone/>
            </a:pPr>
            <a:r>
              <a:rPr lang="en-US" sz="1000" b="1" dirty="0">
                <a:solidFill>
                  <a:srgbClr val="111817"/>
                </a:solidFill>
                <a:latin typeface="Segoe UI" pitchFamily="34" charset="0"/>
                <a:ea typeface="Segoe UI" pitchFamily="34" charset="-122"/>
                <a:cs typeface="Segoe UI" pitchFamily="34" charset="-120"/>
              </a:rPr>
              <a:t>inference</a:t>
            </a:r>
            <a:endParaRPr lang="en-US" sz="1000" dirty="0"/>
          </a:p>
          <a:p>
            <a:pPr algn="ctr" indent="0" marL="0">
              <a:lnSpc>
                <a:spcPts val="1200"/>
              </a:lnSpc>
              <a:buNone/>
            </a:pPr>
            <a:r>
              <a:rPr lang="en-US" sz="850" dirty="0">
                <a:solidFill>
                  <a:srgbClr val="7A8886"/>
                </a:solidFill>
                <a:latin typeface="Segoe UI" pitchFamily="34" charset="0"/>
                <a:ea typeface="Segoe UI" pitchFamily="34" charset="-122"/>
                <a:cs typeface="Segoe UI" pitchFamily="34" charset="-120"/>
              </a:rPr>
              <a:t>the source frame, unchanged</a:t>
            </a:r>
            <a:endParaRPr lang="en-US" sz="1000" dirty="0"/>
          </a:p>
        </p:txBody>
      </p:sp>
      <p:sp>
        <p:nvSpPr>
          <p:cNvPr id="37" name="Shape 35"/>
          <p:cNvSpPr/>
          <p:nvPr/>
        </p:nvSpPr>
        <p:spPr>
          <a:xfrm>
            <a:off x="1969892" y="4421215"/>
            <a:ext cx="0" cy="643006"/>
          </a:xfrm>
          <a:prstGeom prst="line">
            <a:avLst/>
          </a:prstGeom>
          <a:noFill/>
          <a:ln w="12700">
            <a:solidFill>
              <a:srgbClr val="7A8886"/>
            </a:solidFill>
            <a:prstDash val="dash"/>
          </a:ln>
        </p:spPr>
      </p:sp>
      <p:sp>
        <p:nvSpPr>
          <p:cNvPr id="38" name="Shape 36"/>
          <p:cNvSpPr/>
          <p:nvPr/>
        </p:nvSpPr>
        <p:spPr>
          <a:xfrm>
            <a:off x="1969892" y="5064222"/>
            <a:ext cx="7635697" cy="0"/>
          </a:xfrm>
          <a:prstGeom prst="line">
            <a:avLst/>
          </a:prstGeom>
          <a:noFill/>
          <a:ln w="12700">
            <a:solidFill>
              <a:srgbClr val="7A8886"/>
            </a:solidFill>
            <a:prstDash val="dash"/>
          </a:ln>
        </p:spPr>
      </p:sp>
      <p:sp>
        <p:nvSpPr>
          <p:cNvPr id="39" name="Shape 37"/>
          <p:cNvSpPr/>
          <p:nvPr/>
        </p:nvSpPr>
        <p:spPr>
          <a:xfrm flipV="1">
            <a:off x="9605589" y="4448007"/>
            <a:ext cx="0" cy="616214"/>
          </a:xfrm>
          <a:prstGeom prst="line">
            <a:avLst/>
          </a:prstGeom>
          <a:noFill/>
          <a:ln w="12700">
            <a:solidFill>
              <a:srgbClr val="7A8886"/>
            </a:solidFill>
            <a:prstDash val="dash"/>
            <a:tailEnd type="triangle"/>
          </a:ln>
        </p:spPr>
      </p:sp>
      <p:sp>
        <p:nvSpPr>
          <p:cNvPr id="40" name="Text 38"/>
          <p:cNvSpPr/>
          <p:nvPr/>
        </p:nvSpPr>
        <p:spPr>
          <a:xfrm>
            <a:off x="3014777" y="4689135"/>
            <a:ext cx="4206240" cy="219456"/>
          </a:xfrm>
          <a:prstGeom prst="rect">
            <a:avLst/>
          </a:prstGeom>
          <a:noFill/>
          <a:ln/>
        </p:spPr>
        <p:txBody>
          <a:bodyPr wrap="square" rtlCol="0" anchor="ctr"/>
          <a:lstStyle/>
          <a:p>
            <a:pPr algn="ctr" indent="0" marL="0">
              <a:buNone/>
            </a:pPr>
            <a:r>
              <a:rPr lang="en-US" sz="900" dirty="0">
                <a:solidFill>
                  <a:srgbClr val="7A8886"/>
                </a:solidFill>
                <a:latin typeface="Segoe UI" pitchFamily="34" charset="0"/>
                <a:ea typeface="Segoe UI" pitchFamily="34" charset="-122"/>
                <a:cs typeface="Segoe UI" pitchFamily="34" charset="-120"/>
              </a:rPr>
              <a:t>nothing was discarded, so nothing is missing here</a:t>
            </a:r>
            <a:endParaRPr lang="en-US" sz="900" dirty="0"/>
          </a:p>
        </p:txBody>
      </p:sp>
      <p:sp>
        <p:nvSpPr>
          <p:cNvPr id="41" name="Text 39"/>
          <p:cNvSpPr/>
          <p:nvPr/>
        </p:nvSpPr>
        <p:spPr>
          <a:xfrm>
            <a:off x="502920" y="5724144"/>
            <a:ext cx="11185855" cy="548640"/>
          </a:xfrm>
          <a:prstGeom prst="rect">
            <a:avLst/>
          </a:prstGeom>
          <a:noFill/>
          <a:ln/>
        </p:spPr>
        <p:txBody>
          <a:bodyPr wrap="square" rtlCol="0" anchor="t"/>
          <a:lstStyle/>
          <a:p>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Each box carries recall and the false-play rate (</a:t>
            </a:r>
            <a:pPr indent="0" marL="0">
              <a:lnSpc>
                <a:spcPts val="1470"/>
              </a:lnSpc>
              <a:buNone/>
            </a:pPr>
            <a:r>
              <a:rPr lang="en-US" sz="1000" dirty="0">
                <a:solidFill>
                  <a:srgbClr val="7A8886"/>
                </a:solidFill>
                <a:latin typeface="Consolas" pitchFamily="34" charset="0"/>
                <a:ea typeface="Consolas" pitchFamily="34" charset="-122"/>
                <a:cs typeface="Consolas" pitchFamily="34" charset="-120"/>
              </a:rPr>
              <a:t>fp</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grayscale gains on both axes, the crop’s larger apparent gain is a variant answering PLAY more often. Augmentation’s fan exists only in training, so there is no floor to cross.</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20" fill="hold"/>
                                        <p:tgtEl>
                                          <p:spTgt spid="8"/>
                                        </p:tgtEl>
                                        <p:attrNameLst>
                                          <p:attrName>ppt_y</p:attrName>
                                        </p:attrNameLst>
                                      </p:cBhvr>
                                      <p:tavLst>
                                        <p:tav tm="0">
                                          <p:val>
                                            <p:strVal val="#ppt_y+0.035"/>
                                          </p:val>
                                        </p:tav>
                                        <p:tav tm="100000">
                                          <p:val>
                                            <p:strVal val="#ppt_y"/>
                                          </p:val>
                                        </p:tav>
                                      </p:tavLst>
                                    </p:anim>
                                    <p:animEffect transition="in" filter="fade">
                                      <p:cBhvr>
                                        <p:cTn id="8" dur="52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5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20" fill="hold"/>
                                        <p:tgtEl>
                                          <p:spTgt spid="9"/>
                                        </p:tgtEl>
                                        <p:attrNameLst>
                                          <p:attrName>ppt_y</p:attrName>
                                        </p:attrNameLst>
                                      </p:cBhvr>
                                      <p:tavLst>
                                        <p:tav tm="0">
                                          <p:val>
                                            <p:strVal val="#ppt_y+0.035"/>
                                          </p:val>
                                        </p:tav>
                                        <p:tav tm="100000">
                                          <p:val>
                                            <p:strVal val="#ppt_y"/>
                                          </p:val>
                                        </p:tav>
                                      </p:tavLst>
                                    </p:anim>
                                    <p:animEffect transition="in" filter="fade">
                                      <p:cBhvr>
                                        <p:cTn id="14" dur="520"/>
                                        <p:tgtEl>
                                          <p:spTgt spid="9"/>
                                        </p:tgtEl>
                                      </p:cBhvr>
                                    </p:animEffect>
                                  </p:childTnLst>
                                </p:cTn>
                              </p:par>
                              <p:par>
                                <p:cTn id="15" presetID="34"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20" fill="hold"/>
                                        <p:tgtEl>
                                          <p:spTgt spid="10"/>
                                        </p:tgtEl>
                                        <p:attrNameLst>
                                          <p:attrName>ppt_y</p:attrName>
                                        </p:attrNameLst>
                                      </p:cBhvr>
                                      <p:tavLst>
                                        <p:tav tm="0">
                                          <p:val>
                                            <p:strVal val="#ppt_y+0.035"/>
                                          </p:val>
                                        </p:tav>
                                        <p:tav tm="100000">
                                          <p:val>
                                            <p:strVal val="#ppt_y"/>
                                          </p:val>
                                        </p:tav>
                                      </p:tavLst>
                                    </p:anim>
                                    <p:animEffect transition="in" filter="fade">
                                      <p:cBhvr>
                                        <p:cTn id="18" dur="52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afterEffect">
                                  <p:stCondLst>
                                    <p:cond delay="5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20" fill="hold"/>
                                        <p:tgtEl>
                                          <p:spTgt spid="11"/>
                                        </p:tgtEl>
                                        <p:attrNameLst>
                                          <p:attrName>ppt_y</p:attrName>
                                        </p:attrNameLst>
                                      </p:cBhvr>
                                      <p:tavLst>
                                        <p:tav tm="0">
                                          <p:val>
                                            <p:strVal val="#ppt_y+0.035"/>
                                          </p:val>
                                        </p:tav>
                                        <p:tav tm="100000">
                                          <p:val>
                                            <p:strVal val="#ppt_y"/>
                                          </p:val>
                                        </p:tav>
                                      </p:tavLst>
                                    </p:anim>
                                    <p:animEffect transition="in" filter="fade">
                                      <p:cBhvr>
                                        <p:cTn id="24" dur="52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34" presetClass="entr" presetSubtype="0" fill="hold" grpId="0" nodeType="afterEffect">
                                  <p:stCondLst>
                                    <p:cond delay="5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20" fill="hold"/>
                                        <p:tgtEl>
                                          <p:spTgt spid="12"/>
                                        </p:tgtEl>
                                        <p:attrNameLst>
                                          <p:attrName>ppt_y</p:attrName>
                                        </p:attrNameLst>
                                      </p:cBhvr>
                                      <p:tavLst>
                                        <p:tav tm="0">
                                          <p:val>
                                            <p:strVal val="#ppt_y+0.035"/>
                                          </p:val>
                                        </p:tav>
                                        <p:tav tm="100000">
                                          <p:val>
                                            <p:strVal val="#ppt_y"/>
                                          </p:val>
                                        </p:tav>
                                      </p:tavLst>
                                    </p:anim>
                                    <p:animEffect transition="in" filter="fade">
                                      <p:cBhvr>
                                        <p:cTn id="30" dur="520"/>
                                        <p:tgtEl>
                                          <p:spTgt spid="12"/>
                                        </p:tgtEl>
                                      </p:cBhvr>
                                    </p:animEffect>
                                  </p:childTnLst>
                                </p:cTn>
                              </p:par>
                              <p:par>
                                <p:cTn id="31" presetID="34"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20" fill="hold"/>
                                        <p:tgtEl>
                                          <p:spTgt spid="13"/>
                                        </p:tgtEl>
                                        <p:attrNameLst>
                                          <p:attrName>ppt_y</p:attrName>
                                        </p:attrNameLst>
                                      </p:cBhvr>
                                      <p:tavLst>
                                        <p:tav tm="0">
                                          <p:val>
                                            <p:strVal val="#ppt_y+0.035"/>
                                          </p:val>
                                        </p:tav>
                                        <p:tav tm="100000">
                                          <p:val>
                                            <p:strVal val="#ppt_y"/>
                                          </p:val>
                                        </p:tav>
                                      </p:tavLst>
                                    </p:anim>
                                    <p:animEffect transition="in" filter="fade">
                                      <p:cBhvr>
                                        <p:cTn id="34" dur="52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34" presetClass="entr" presetSubtype="0" fill="hold" grpId="0" nodeType="afterEffect">
                                  <p:stCondLst>
                                    <p:cond delay="5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20" fill="hold"/>
                                        <p:tgtEl>
                                          <p:spTgt spid="14"/>
                                        </p:tgtEl>
                                        <p:attrNameLst>
                                          <p:attrName>ppt_y</p:attrName>
                                        </p:attrNameLst>
                                      </p:cBhvr>
                                      <p:tavLst>
                                        <p:tav tm="0">
                                          <p:val>
                                            <p:strVal val="#ppt_y+0.035"/>
                                          </p:val>
                                        </p:tav>
                                        <p:tav tm="100000">
                                          <p:val>
                                            <p:strVal val="#ppt_y"/>
                                          </p:val>
                                        </p:tav>
                                      </p:tavLst>
                                    </p:anim>
                                    <p:animEffect transition="in" filter="fade">
                                      <p:cBhvr>
                                        <p:cTn id="40" dur="52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34" presetClass="entr" presetSubtype="0" fill="hold" grpId="0" nodeType="afterEffect">
                                  <p:stCondLst>
                                    <p:cond delay="5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20" fill="hold"/>
                                        <p:tgtEl>
                                          <p:spTgt spid="15"/>
                                        </p:tgtEl>
                                        <p:attrNameLst>
                                          <p:attrName>ppt_y</p:attrName>
                                        </p:attrNameLst>
                                      </p:cBhvr>
                                      <p:tavLst>
                                        <p:tav tm="0">
                                          <p:val>
                                            <p:strVal val="#ppt_y+0.035"/>
                                          </p:val>
                                        </p:tav>
                                        <p:tav tm="100000">
                                          <p:val>
                                            <p:strVal val="#ppt_y"/>
                                          </p:val>
                                        </p:tav>
                                      </p:tavLst>
                                    </p:anim>
                                    <p:animEffect transition="in" filter="fade">
                                      <p:cBhvr>
                                        <p:cTn id="46" dur="520"/>
                                        <p:tgtEl>
                                          <p:spTgt spid="15"/>
                                        </p:tgtEl>
                                      </p:cBhvr>
                                    </p:animEffect>
                                  </p:childTnLst>
                                </p:cTn>
                              </p:par>
                              <p:par>
                                <p:cTn id="47" presetID="34"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20" fill="hold"/>
                                        <p:tgtEl>
                                          <p:spTgt spid="16"/>
                                        </p:tgtEl>
                                        <p:attrNameLst>
                                          <p:attrName>ppt_y</p:attrName>
                                        </p:attrNameLst>
                                      </p:cBhvr>
                                      <p:tavLst>
                                        <p:tav tm="0">
                                          <p:val>
                                            <p:strVal val="#ppt_y+0.035"/>
                                          </p:val>
                                        </p:tav>
                                        <p:tav tm="100000">
                                          <p:val>
                                            <p:strVal val="#ppt_y"/>
                                          </p:val>
                                        </p:tav>
                                      </p:tavLst>
                                    </p:anim>
                                    <p:animEffect transition="in" filter="fade">
                                      <p:cBhvr>
                                        <p:cTn id="50" dur="52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34" presetClass="entr" presetSubtype="0" fill="hold" grpId="0" nodeType="afterEffect">
                                  <p:stCondLst>
                                    <p:cond delay="5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20" fill="hold"/>
                                        <p:tgtEl>
                                          <p:spTgt spid="17"/>
                                        </p:tgtEl>
                                        <p:attrNameLst>
                                          <p:attrName>ppt_y</p:attrName>
                                        </p:attrNameLst>
                                      </p:cBhvr>
                                      <p:tavLst>
                                        <p:tav tm="0">
                                          <p:val>
                                            <p:strVal val="#ppt_y+0.035"/>
                                          </p:val>
                                        </p:tav>
                                        <p:tav tm="100000">
                                          <p:val>
                                            <p:strVal val="#ppt_y"/>
                                          </p:val>
                                        </p:tav>
                                      </p:tavLst>
                                    </p:anim>
                                    <p:animEffect transition="in" filter="fade">
                                      <p:cBhvr>
                                        <p:cTn id="56" dur="52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34" presetClass="entr" presetSubtype="0" fill="hold" grpId="0" nodeType="afterEffect">
                                  <p:stCondLst>
                                    <p:cond delay="5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20" fill="hold"/>
                                        <p:tgtEl>
                                          <p:spTgt spid="18"/>
                                        </p:tgtEl>
                                        <p:attrNameLst>
                                          <p:attrName>ppt_y</p:attrName>
                                        </p:attrNameLst>
                                      </p:cBhvr>
                                      <p:tavLst>
                                        <p:tav tm="0">
                                          <p:val>
                                            <p:strVal val="#ppt_y+0.035"/>
                                          </p:val>
                                        </p:tav>
                                        <p:tav tm="100000">
                                          <p:val>
                                            <p:strVal val="#ppt_y"/>
                                          </p:val>
                                        </p:tav>
                                      </p:tavLst>
                                    </p:anim>
                                    <p:animEffect transition="in" filter="fade">
                                      <p:cBhvr>
                                        <p:cTn id="62" dur="52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34" presetClass="entr" presetSubtype="0" fill="hold" grpId="0" nodeType="afterEffect">
                                  <p:stCondLst>
                                    <p:cond delay="5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20" fill="hold"/>
                                        <p:tgtEl>
                                          <p:spTgt spid="19"/>
                                        </p:tgtEl>
                                        <p:attrNameLst>
                                          <p:attrName>ppt_y</p:attrName>
                                        </p:attrNameLst>
                                      </p:cBhvr>
                                      <p:tavLst>
                                        <p:tav tm="0">
                                          <p:val>
                                            <p:strVal val="#ppt_y+0.035"/>
                                          </p:val>
                                        </p:tav>
                                        <p:tav tm="100000">
                                          <p:val>
                                            <p:strVal val="#ppt_y"/>
                                          </p:val>
                                        </p:tav>
                                      </p:tavLst>
                                    </p:anim>
                                    <p:animEffect transition="in" filter="fade">
                                      <p:cBhvr>
                                        <p:cTn id="68" dur="520"/>
                                        <p:tgtEl>
                                          <p:spTgt spid="19"/>
                                        </p:tgtEl>
                                      </p:cBhvr>
                                    </p:animEffect>
                                  </p:childTnLst>
                                </p:cTn>
                              </p:par>
                              <p:par>
                                <p:cTn id="69" presetID="34"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20" fill="hold"/>
                                        <p:tgtEl>
                                          <p:spTgt spid="20"/>
                                        </p:tgtEl>
                                        <p:attrNameLst>
                                          <p:attrName>ppt_y</p:attrName>
                                        </p:attrNameLst>
                                      </p:cBhvr>
                                      <p:tavLst>
                                        <p:tav tm="0">
                                          <p:val>
                                            <p:strVal val="#ppt_y+0.035"/>
                                          </p:val>
                                        </p:tav>
                                        <p:tav tm="100000">
                                          <p:val>
                                            <p:strVal val="#ppt_y"/>
                                          </p:val>
                                        </p:tav>
                                      </p:tavLst>
                                    </p:anim>
                                    <p:animEffect transition="in" filter="fade">
                                      <p:cBhvr>
                                        <p:cTn id="72" dur="520"/>
                                        <p:tgtEl>
                                          <p:spTgt spid="20"/>
                                        </p:tgtEl>
                                      </p:cBhvr>
                                    </p:animEffect>
                                  </p:childTnLst>
                                </p:cTn>
                              </p:par>
                            </p:childTnLst>
                          </p:cTn>
                        </p:par>
                      </p:childTnLst>
                    </p:cTn>
                  </p:par>
                  <p:par>
                    <p:cTn id="73" fill="hold">
                      <p:stCondLst>
                        <p:cond delay="indefinite"/>
                      </p:stCondLst>
                      <p:childTnLst>
                        <p:par>
                          <p:cTn id="74" fill="hold">
                            <p:stCondLst>
                              <p:cond delay="0"/>
                            </p:stCondLst>
                            <p:childTnLst>
                              <p:par>
                                <p:cTn id="75" presetID="34" presetClass="entr" presetSubtype="0" fill="hold" grpId="0" nodeType="afterEffect">
                                  <p:stCondLst>
                                    <p:cond delay="5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20" fill="hold"/>
                                        <p:tgtEl>
                                          <p:spTgt spid="21"/>
                                        </p:tgtEl>
                                        <p:attrNameLst>
                                          <p:attrName>ppt_y</p:attrName>
                                        </p:attrNameLst>
                                      </p:cBhvr>
                                      <p:tavLst>
                                        <p:tav tm="0">
                                          <p:val>
                                            <p:strVal val="#ppt_y+0.035"/>
                                          </p:val>
                                        </p:tav>
                                        <p:tav tm="100000">
                                          <p:val>
                                            <p:strVal val="#ppt_y"/>
                                          </p:val>
                                        </p:tav>
                                      </p:tavLst>
                                    </p:anim>
                                    <p:animEffect transition="in" filter="fade">
                                      <p:cBhvr>
                                        <p:cTn id="78" dur="520"/>
                                        <p:tgtEl>
                                          <p:spTgt spid="21"/>
                                        </p:tgtEl>
                                      </p:cBhvr>
                                    </p:animEffect>
                                  </p:childTnLst>
                                </p:cTn>
                              </p:par>
                            </p:childTnLst>
                          </p:cTn>
                        </p:par>
                      </p:childTnLst>
                    </p:cTn>
                  </p:par>
                  <p:par>
                    <p:cTn id="79" fill="hold">
                      <p:stCondLst>
                        <p:cond delay="indefinite"/>
                      </p:stCondLst>
                      <p:childTnLst>
                        <p:par>
                          <p:cTn id="80" fill="hold">
                            <p:stCondLst>
                              <p:cond delay="0"/>
                            </p:stCondLst>
                            <p:childTnLst>
                              <p:par>
                                <p:cTn id="81" presetID="34" presetClass="entr" presetSubtype="0" fill="hold" grpId="0" nodeType="afterEffect">
                                  <p:stCondLst>
                                    <p:cond delay="5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20" fill="hold"/>
                                        <p:tgtEl>
                                          <p:spTgt spid="22"/>
                                        </p:tgtEl>
                                        <p:attrNameLst>
                                          <p:attrName>ppt_y</p:attrName>
                                        </p:attrNameLst>
                                      </p:cBhvr>
                                      <p:tavLst>
                                        <p:tav tm="0">
                                          <p:val>
                                            <p:strVal val="#ppt_y+0.035"/>
                                          </p:val>
                                        </p:tav>
                                        <p:tav tm="100000">
                                          <p:val>
                                            <p:strVal val="#ppt_y"/>
                                          </p:val>
                                        </p:tav>
                                      </p:tavLst>
                                    </p:anim>
                                    <p:animEffect transition="in" filter="fade">
                                      <p:cBhvr>
                                        <p:cTn id="84" dur="52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34" presetClass="entr" presetSubtype="0" fill="hold" grpId="0" nodeType="afterEffect">
                                  <p:stCondLst>
                                    <p:cond delay="50"/>
                                  </p:stCondLst>
                                  <p:childTnLst>
                                    <p:set>
                                      <p:cBhvr>
                                        <p:cTn id="88" dur="1" fill="hold">
                                          <p:stCondLst>
                                            <p:cond delay="0"/>
                                          </p:stCondLst>
                                        </p:cTn>
                                        <p:tgtEl>
                                          <p:spTgt spid="23"/>
                                        </p:tgtEl>
                                        <p:attrNameLst>
                                          <p:attrName>style.visibility</p:attrName>
                                        </p:attrNameLst>
                                      </p:cBhvr>
                                      <p:to>
                                        <p:strVal val="visible"/>
                                      </p:to>
                                    </p:set>
                                    <p:anim calcmode="lin" valueType="num">
                                      <p:cBhvr additive="base">
                                        <p:cTn id="89" dur="520" fill="hold"/>
                                        <p:tgtEl>
                                          <p:spTgt spid="23"/>
                                        </p:tgtEl>
                                        <p:attrNameLst>
                                          <p:attrName>ppt_y</p:attrName>
                                        </p:attrNameLst>
                                      </p:cBhvr>
                                      <p:tavLst>
                                        <p:tav tm="0">
                                          <p:val>
                                            <p:strVal val="#ppt_y+0.035"/>
                                          </p:val>
                                        </p:tav>
                                        <p:tav tm="100000">
                                          <p:val>
                                            <p:strVal val="#ppt_y"/>
                                          </p:val>
                                        </p:tav>
                                      </p:tavLst>
                                    </p:anim>
                                    <p:animEffect transition="in" filter="fade">
                                      <p:cBhvr>
                                        <p:cTn id="90" dur="520"/>
                                        <p:tgtEl>
                                          <p:spTgt spid="23"/>
                                        </p:tgtEl>
                                      </p:cBhvr>
                                    </p:animEffect>
                                  </p:childTnLst>
                                </p:cTn>
                              </p:par>
                            </p:childTnLst>
                          </p:cTn>
                        </p:par>
                      </p:childTnLst>
                    </p:cTn>
                  </p:par>
                  <p:par>
                    <p:cTn id="91" fill="hold">
                      <p:stCondLst>
                        <p:cond delay="indefinite"/>
                      </p:stCondLst>
                      <p:childTnLst>
                        <p:par>
                          <p:cTn id="92" fill="hold">
                            <p:stCondLst>
                              <p:cond delay="0"/>
                            </p:stCondLst>
                            <p:childTnLst>
                              <p:par>
                                <p:cTn id="93" presetID="34" presetClass="entr" presetSubtype="0" fill="hold" grpId="0" nodeType="afterEffect">
                                  <p:stCondLst>
                                    <p:cond delay="50"/>
                                  </p:stCondLst>
                                  <p:childTnLst>
                                    <p:set>
                                      <p:cBhvr>
                                        <p:cTn id="94" dur="1" fill="hold">
                                          <p:stCondLst>
                                            <p:cond delay="0"/>
                                          </p:stCondLst>
                                        </p:cTn>
                                        <p:tgtEl>
                                          <p:spTgt spid="24"/>
                                        </p:tgtEl>
                                        <p:attrNameLst>
                                          <p:attrName>style.visibility</p:attrName>
                                        </p:attrNameLst>
                                      </p:cBhvr>
                                      <p:to>
                                        <p:strVal val="visible"/>
                                      </p:to>
                                    </p:set>
                                    <p:anim calcmode="lin" valueType="num">
                                      <p:cBhvr additive="base">
                                        <p:cTn id="95" dur="520" fill="hold"/>
                                        <p:tgtEl>
                                          <p:spTgt spid="24"/>
                                        </p:tgtEl>
                                        <p:attrNameLst>
                                          <p:attrName>ppt_y</p:attrName>
                                        </p:attrNameLst>
                                      </p:cBhvr>
                                      <p:tavLst>
                                        <p:tav tm="0">
                                          <p:val>
                                            <p:strVal val="#ppt_y+0.035"/>
                                          </p:val>
                                        </p:tav>
                                        <p:tav tm="100000">
                                          <p:val>
                                            <p:strVal val="#ppt_y"/>
                                          </p:val>
                                        </p:tav>
                                      </p:tavLst>
                                    </p:anim>
                                    <p:animEffect transition="in" filter="fade">
                                      <p:cBhvr>
                                        <p:cTn id="96" dur="520"/>
                                        <p:tgtEl>
                                          <p:spTgt spid="24"/>
                                        </p:tgtEl>
                                      </p:cBhvr>
                                    </p:animEffect>
                                  </p:childTnLst>
                                </p:cTn>
                              </p:par>
                              <p:par>
                                <p:cTn id="97" presetID="34" presetClass="entr" presetSubtype="0" fill="hold" grpId="0" nodeType="withEffect">
                                  <p:stCondLst>
                                    <p:cond delay="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520" fill="hold"/>
                                        <p:tgtEl>
                                          <p:spTgt spid="25"/>
                                        </p:tgtEl>
                                        <p:attrNameLst>
                                          <p:attrName>ppt_y</p:attrName>
                                        </p:attrNameLst>
                                      </p:cBhvr>
                                      <p:tavLst>
                                        <p:tav tm="0">
                                          <p:val>
                                            <p:strVal val="#ppt_y+0.035"/>
                                          </p:val>
                                        </p:tav>
                                        <p:tav tm="100000">
                                          <p:val>
                                            <p:strVal val="#ppt_y"/>
                                          </p:val>
                                        </p:tav>
                                      </p:tavLst>
                                    </p:anim>
                                    <p:animEffect transition="in" filter="fade">
                                      <p:cBhvr>
                                        <p:cTn id="100" dur="520"/>
                                        <p:tgtEl>
                                          <p:spTgt spid="25"/>
                                        </p:tgtEl>
                                      </p:cBhvr>
                                    </p:animEffect>
                                  </p:childTnLst>
                                </p:cTn>
                              </p:par>
                            </p:childTnLst>
                          </p:cTn>
                        </p:par>
                      </p:childTnLst>
                    </p:cTn>
                  </p:par>
                  <p:par>
                    <p:cTn id="101" fill="hold">
                      <p:stCondLst>
                        <p:cond delay="indefinite"/>
                      </p:stCondLst>
                      <p:childTnLst>
                        <p:par>
                          <p:cTn id="102" fill="hold">
                            <p:stCondLst>
                              <p:cond delay="0"/>
                            </p:stCondLst>
                            <p:childTnLst>
                              <p:par>
                                <p:cTn id="103" presetID="34" presetClass="entr" presetSubtype="0" fill="hold" grpId="0" nodeType="afterEffect">
                                  <p:stCondLst>
                                    <p:cond delay="50"/>
                                  </p:stCondLst>
                                  <p:childTnLst>
                                    <p:set>
                                      <p:cBhvr>
                                        <p:cTn id="104" dur="1" fill="hold">
                                          <p:stCondLst>
                                            <p:cond delay="0"/>
                                          </p:stCondLst>
                                        </p:cTn>
                                        <p:tgtEl>
                                          <p:spTgt spid="26"/>
                                        </p:tgtEl>
                                        <p:attrNameLst>
                                          <p:attrName>style.visibility</p:attrName>
                                        </p:attrNameLst>
                                      </p:cBhvr>
                                      <p:to>
                                        <p:strVal val="visible"/>
                                      </p:to>
                                    </p:set>
                                    <p:anim calcmode="lin" valueType="num">
                                      <p:cBhvr additive="base">
                                        <p:cTn id="105" dur="520" fill="hold"/>
                                        <p:tgtEl>
                                          <p:spTgt spid="26"/>
                                        </p:tgtEl>
                                        <p:attrNameLst>
                                          <p:attrName>ppt_y</p:attrName>
                                        </p:attrNameLst>
                                      </p:cBhvr>
                                      <p:tavLst>
                                        <p:tav tm="0">
                                          <p:val>
                                            <p:strVal val="#ppt_y+0.035"/>
                                          </p:val>
                                        </p:tav>
                                        <p:tav tm="100000">
                                          <p:val>
                                            <p:strVal val="#ppt_y"/>
                                          </p:val>
                                        </p:tav>
                                      </p:tavLst>
                                    </p:anim>
                                    <p:animEffect transition="in" filter="fade">
                                      <p:cBhvr>
                                        <p:cTn id="106" dur="520"/>
                                        <p:tgtEl>
                                          <p:spTgt spid="26"/>
                                        </p:tgtEl>
                                      </p:cBhvr>
                                    </p:animEffect>
                                  </p:childTnLst>
                                </p:cTn>
                              </p:par>
                              <p:par>
                                <p:cTn id="107" presetID="34" presetClass="entr" presetSubtype="0" fill="hold" grpId="0" nodeType="withEffect">
                                  <p:stCondLst>
                                    <p:cond delay="0"/>
                                  </p:stCondLst>
                                  <p:childTnLst>
                                    <p:set>
                                      <p:cBhvr>
                                        <p:cTn id="108" dur="1" fill="hold">
                                          <p:stCondLst>
                                            <p:cond delay="0"/>
                                          </p:stCondLst>
                                        </p:cTn>
                                        <p:tgtEl>
                                          <p:spTgt spid="27"/>
                                        </p:tgtEl>
                                        <p:attrNameLst>
                                          <p:attrName>style.visibility</p:attrName>
                                        </p:attrNameLst>
                                      </p:cBhvr>
                                      <p:to>
                                        <p:strVal val="visible"/>
                                      </p:to>
                                    </p:set>
                                    <p:anim calcmode="lin" valueType="num">
                                      <p:cBhvr additive="base">
                                        <p:cTn id="109" dur="520" fill="hold"/>
                                        <p:tgtEl>
                                          <p:spTgt spid="27"/>
                                        </p:tgtEl>
                                        <p:attrNameLst>
                                          <p:attrName>ppt_y</p:attrName>
                                        </p:attrNameLst>
                                      </p:cBhvr>
                                      <p:tavLst>
                                        <p:tav tm="0">
                                          <p:val>
                                            <p:strVal val="#ppt_y+0.035"/>
                                          </p:val>
                                        </p:tav>
                                        <p:tav tm="100000">
                                          <p:val>
                                            <p:strVal val="#ppt_y"/>
                                          </p:val>
                                        </p:tav>
                                      </p:tavLst>
                                    </p:anim>
                                    <p:animEffect transition="in" filter="fade">
                                      <p:cBhvr>
                                        <p:cTn id="110" dur="520"/>
                                        <p:tgtEl>
                                          <p:spTgt spid="27"/>
                                        </p:tgtEl>
                                      </p:cBhvr>
                                    </p:animEffect>
                                  </p:childTnLst>
                                </p:cTn>
                              </p:par>
                            </p:childTnLst>
                          </p:cTn>
                        </p:par>
                      </p:childTnLst>
                    </p:cTn>
                  </p:par>
                  <p:par>
                    <p:cTn id="111" fill="hold">
                      <p:stCondLst>
                        <p:cond delay="indefinite"/>
                      </p:stCondLst>
                      <p:childTnLst>
                        <p:par>
                          <p:cTn id="112" fill="hold">
                            <p:stCondLst>
                              <p:cond delay="0"/>
                            </p:stCondLst>
                            <p:childTnLst>
                              <p:par>
                                <p:cTn id="113" presetID="34" presetClass="entr" presetSubtype="0" fill="hold" grpId="0" nodeType="afterEffect">
                                  <p:stCondLst>
                                    <p:cond delay="50"/>
                                  </p:stCondLst>
                                  <p:childTnLst>
                                    <p:set>
                                      <p:cBhvr>
                                        <p:cTn id="114" dur="1" fill="hold">
                                          <p:stCondLst>
                                            <p:cond delay="0"/>
                                          </p:stCondLst>
                                        </p:cTn>
                                        <p:tgtEl>
                                          <p:spTgt spid="28"/>
                                        </p:tgtEl>
                                        <p:attrNameLst>
                                          <p:attrName>style.visibility</p:attrName>
                                        </p:attrNameLst>
                                      </p:cBhvr>
                                      <p:to>
                                        <p:strVal val="visible"/>
                                      </p:to>
                                    </p:set>
                                    <p:anim calcmode="lin" valueType="num">
                                      <p:cBhvr additive="base">
                                        <p:cTn id="115" dur="520" fill="hold"/>
                                        <p:tgtEl>
                                          <p:spTgt spid="28"/>
                                        </p:tgtEl>
                                        <p:attrNameLst>
                                          <p:attrName>ppt_y</p:attrName>
                                        </p:attrNameLst>
                                      </p:cBhvr>
                                      <p:tavLst>
                                        <p:tav tm="0">
                                          <p:val>
                                            <p:strVal val="#ppt_y+0.035"/>
                                          </p:val>
                                        </p:tav>
                                        <p:tav tm="100000">
                                          <p:val>
                                            <p:strVal val="#ppt_y"/>
                                          </p:val>
                                        </p:tav>
                                      </p:tavLst>
                                    </p:anim>
                                    <p:animEffect transition="in" filter="fade">
                                      <p:cBhvr>
                                        <p:cTn id="116" dur="520"/>
                                        <p:tgtEl>
                                          <p:spTgt spid="28"/>
                                        </p:tgtEl>
                                      </p:cBhvr>
                                    </p:animEffect>
                                  </p:childTnLst>
                                </p:cTn>
                              </p:par>
                              <p:par>
                                <p:cTn id="117" presetID="34" presetClass="entr" presetSubtype="0" fill="hold" grpId="0" nodeType="withEffect">
                                  <p:stCondLst>
                                    <p:cond delay="0"/>
                                  </p:stCondLst>
                                  <p:childTnLst>
                                    <p:set>
                                      <p:cBhvr>
                                        <p:cTn id="118" dur="1" fill="hold">
                                          <p:stCondLst>
                                            <p:cond delay="0"/>
                                          </p:stCondLst>
                                        </p:cTn>
                                        <p:tgtEl>
                                          <p:spTgt spid="29"/>
                                        </p:tgtEl>
                                        <p:attrNameLst>
                                          <p:attrName>style.visibility</p:attrName>
                                        </p:attrNameLst>
                                      </p:cBhvr>
                                      <p:to>
                                        <p:strVal val="visible"/>
                                      </p:to>
                                    </p:set>
                                    <p:anim calcmode="lin" valueType="num">
                                      <p:cBhvr additive="base">
                                        <p:cTn id="119" dur="520" fill="hold"/>
                                        <p:tgtEl>
                                          <p:spTgt spid="29"/>
                                        </p:tgtEl>
                                        <p:attrNameLst>
                                          <p:attrName>ppt_y</p:attrName>
                                        </p:attrNameLst>
                                      </p:cBhvr>
                                      <p:tavLst>
                                        <p:tav tm="0">
                                          <p:val>
                                            <p:strVal val="#ppt_y+0.035"/>
                                          </p:val>
                                        </p:tav>
                                        <p:tav tm="100000">
                                          <p:val>
                                            <p:strVal val="#ppt_y"/>
                                          </p:val>
                                        </p:tav>
                                      </p:tavLst>
                                    </p:anim>
                                    <p:animEffect transition="in" filter="fade">
                                      <p:cBhvr>
                                        <p:cTn id="120" dur="520"/>
                                        <p:tgtEl>
                                          <p:spTgt spid="29"/>
                                        </p:tgtEl>
                                      </p:cBhvr>
                                    </p:animEffect>
                                  </p:childTnLst>
                                </p:cTn>
                              </p:par>
                            </p:childTnLst>
                          </p:cTn>
                        </p:par>
                      </p:childTnLst>
                    </p:cTn>
                  </p:par>
                  <p:par>
                    <p:cTn id="121" fill="hold">
                      <p:stCondLst>
                        <p:cond delay="indefinite"/>
                      </p:stCondLst>
                      <p:childTnLst>
                        <p:par>
                          <p:cTn id="122" fill="hold">
                            <p:stCondLst>
                              <p:cond delay="0"/>
                            </p:stCondLst>
                            <p:childTnLst>
                              <p:par>
                                <p:cTn id="123" presetID="34" presetClass="entr" presetSubtype="0" fill="hold" grpId="0" nodeType="afterEffect">
                                  <p:stCondLst>
                                    <p:cond delay="50"/>
                                  </p:stCondLst>
                                  <p:childTnLst>
                                    <p:set>
                                      <p:cBhvr>
                                        <p:cTn id="124" dur="1" fill="hold">
                                          <p:stCondLst>
                                            <p:cond delay="0"/>
                                          </p:stCondLst>
                                        </p:cTn>
                                        <p:tgtEl>
                                          <p:spTgt spid="30"/>
                                        </p:tgtEl>
                                        <p:attrNameLst>
                                          <p:attrName>style.visibility</p:attrName>
                                        </p:attrNameLst>
                                      </p:cBhvr>
                                      <p:to>
                                        <p:strVal val="visible"/>
                                      </p:to>
                                    </p:set>
                                    <p:anim calcmode="lin" valueType="num">
                                      <p:cBhvr additive="base">
                                        <p:cTn id="125" dur="520" fill="hold"/>
                                        <p:tgtEl>
                                          <p:spTgt spid="30"/>
                                        </p:tgtEl>
                                        <p:attrNameLst>
                                          <p:attrName>ppt_y</p:attrName>
                                        </p:attrNameLst>
                                      </p:cBhvr>
                                      <p:tavLst>
                                        <p:tav tm="0">
                                          <p:val>
                                            <p:strVal val="#ppt_y+0.035"/>
                                          </p:val>
                                        </p:tav>
                                        <p:tav tm="100000">
                                          <p:val>
                                            <p:strVal val="#ppt_y"/>
                                          </p:val>
                                        </p:tav>
                                      </p:tavLst>
                                    </p:anim>
                                    <p:animEffect transition="in" filter="fade">
                                      <p:cBhvr>
                                        <p:cTn id="126" dur="520"/>
                                        <p:tgtEl>
                                          <p:spTgt spid="30"/>
                                        </p:tgtEl>
                                      </p:cBhvr>
                                    </p:animEffect>
                                  </p:childTnLst>
                                </p:cTn>
                              </p:par>
                            </p:childTnLst>
                          </p:cTn>
                        </p:par>
                      </p:childTnLst>
                    </p:cTn>
                  </p:par>
                  <p:par>
                    <p:cTn id="127" fill="hold">
                      <p:stCondLst>
                        <p:cond delay="indefinite"/>
                      </p:stCondLst>
                      <p:childTnLst>
                        <p:par>
                          <p:cTn id="128" fill="hold">
                            <p:stCondLst>
                              <p:cond delay="0"/>
                            </p:stCondLst>
                            <p:childTnLst>
                              <p:par>
                                <p:cTn id="129" presetID="34" presetClass="entr" presetSubtype="0" fill="hold" grpId="0" nodeType="afterEffect">
                                  <p:stCondLst>
                                    <p:cond delay="50"/>
                                  </p:stCondLst>
                                  <p:childTnLst>
                                    <p:set>
                                      <p:cBhvr>
                                        <p:cTn id="130" dur="1" fill="hold">
                                          <p:stCondLst>
                                            <p:cond delay="0"/>
                                          </p:stCondLst>
                                        </p:cTn>
                                        <p:tgtEl>
                                          <p:spTgt spid="31"/>
                                        </p:tgtEl>
                                        <p:attrNameLst>
                                          <p:attrName>style.visibility</p:attrName>
                                        </p:attrNameLst>
                                      </p:cBhvr>
                                      <p:to>
                                        <p:strVal val="visible"/>
                                      </p:to>
                                    </p:set>
                                    <p:anim calcmode="lin" valueType="num">
                                      <p:cBhvr additive="base">
                                        <p:cTn id="131" dur="520" fill="hold"/>
                                        <p:tgtEl>
                                          <p:spTgt spid="31"/>
                                        </p:tgtEl>
                                        <p:attrNameLst>
                                          <p:attrName>ppt_y</p:attrName>
                                        </p:attrNameLst>
                                      </p:cBhvr>
                                      <p:tavLst>
                                        <p:tav tm="0">
                                          <p:val>
                                            <p:strVal val="#ppt_y+0.035"/>
                                          </p:val>
                                        </p:tav>
                                        <p:tav tm="100000">
                                          <p:val>
                                            <p:strVal val="#ppt_y"/>
                                          </p:val>
                                        </p:tav>
                                      </p:tavLst>
                                    </p:anim>
                                    <p:animEffect transition="in" filter="fade">
                                      <p:cBhvr>
                                        <p:cTn id="132" dur="520"/>
                                        <p:tgtEl>
                                          <p:spTgt spid="31"/>
                                        </p:tgtEl>
                                      </p:cBhvr>
                                    </p:animEffect>
                                  </p:childTnLst>
                                </p:cTn>
                              </p:par>
                            </p:childTnLst>
                          </p:cTn>
                        </p:par>
                      </p:childTnLst>
                    </p:cTn>
                  </p:par>
                  <p:par>
                    <p:cTn id="133" fill="hold">
                      <p:stCondLst>
                        <p:cond delay="indefinite"/>
                      </p:stCondLst>
                      <p:childTnLst>
                        <p:par>
                          <p:cTn id="134" fill="hold">
                            <p:stCondLst>
                              <p:cond delay="0"/>
                            </p:stCondLst>
                            <p:childTnLst>
                              <p:par>
                                <p:cTn id="135" presetID="34" presetClass="entr" presetSubtype="0" fill="hold" grpId="0" nodeType="afterEffect">
                                  <p:stCondLst>
                                    <p:cond delay="50"/>
                                  </p:stCondLst>
                                  <p:childTnLst>
                                    <p:set>
                                      <p:cBhvr>
                                        <p:cTn id="136" dur="1" fill="hold">
                                          <p:stCondLst>
                                            <p:cond delay="0"/>
                                          </p:stCondLst>
                                        </p:cTn>
                                        <p:tgtEl>
                                          <p:spTgt spid="32"/>
                                        </p:tgtEl>
                                        <p:attrNameLst>
                                          <p:attrName>style.visibility</p:attrName>
                                        </p:attrNameLst>
                                      </p:cBhvr>
                                      <p:to>
                                        <p:strVal val="visible"/>
                                      </p:to>
                                    </p:set>
                                    <p:anim calcmode="lin" valueType="num">
                                      <p:cBhvr additive="base">
                                        <p:cTn id="137" dur="520" fill="hold"/>
                                        <p:tgtEl>
                                          <p:spTgt spid="32"/>
                                        </p:tgtEl>
                                        <p:attrNameLst>
                                          <p:attrName>ppt_y</p:attrName>
                                        </p:attrNameLst>
                                      </p:cBhvr>
                                      <p:tavLst>
                                        <p:tav tm="0">
                                          <p:val>
                                            <p:strVal val="#ppt_y+0.035"/>
                                          </p:val>
                                        </p:tav>
                                        <p:tav tm="100000">
                                          <p:val>
                                            <p:strVal val="#ppt_y"/>
                                          </p:val>
                                        </p:tav>
                                      </p:tavLst>
                                    </p:anim>
                                    <p:animEffect transition="in" filter="fade">
                                      <p:cBhvr>
                                        <p:cTn id="138" dur="520"/>
                                        <p:tgtEl>
                                          <p:spTgt spid="32"/>
                                        </p:tgtEl>
                                      </p:cBhvr>
                                    </p:animEffect>
                                  </p:childTnLst>
                                </p:cTn>
                              </p:par>
                            </p:childTnLst>
                          </p:cTn>
                        </p:par>
                      </p:childTnLst>
                    </p:cTn>
                  </p:par>
                  <p:par>
                    <p:cTn id="139" fill="hold">
                      <p:stCondLst>
                        <p:cond delay="indefinite"/>
                      </p:stCondLst>
                      <p:childTnLst>
                        <p:par>
                          <p:cTn id="140" fill="hold">
                            <p:stCondLst>
                              <p:cond delay="0"/>
                            </p:stCondLst>
                            <p:childTnLst>
                              <p:par>
                                <p:cTn id="141" presetID="34" presetClass="entr" presetSubtype="0" fill="hold" grpId="0" nodeType="afterEffect">
                                  <p:stCondLst>
                                    <p:cond delay="50"/>
                                  </p:stCondLst>
                                  <p:childTnLst>
                                    <p:set>
                                      <p:cBhvr>
                                        <p:cTn id="142" dur="1" fill="hold">
                                          <p:stCondLst>
                                            <p:cond delay="0"/>
                                          </p:stCondLst>
                                        </p:cTn>
                                        <p:tgtEl>
                                          <p:spTgt spid="33"/>
                                        </p:tgtEl>
                                        <p:attrNameLst>
                                          <p:attrName>style.visibility</p:attrName>
                                        </p:attrNameLst>
                                      </p:cBhvr>
                                      <p:to>
                                        <p:strVal val="visible"/>
                                      </p:to>
                                    </p:set>
                                    <p:anim calcmode="lin" valueType="num">
                                      <p:cBhvr additive="base">
                                        <p:cTn id="143" dur="520" fill="hold"/>
                                        <p:tgtEl>
                                          <p:spTgt spid="33"/>
                                        </p:tgtEl>
                                        <p:attrNameLst>
                                          <p:attrName>ppt_y</p:attrName>
                                        </p:attrNameLst>
                                      </p:cBhvr>
                                      <p:tavLst>
                                        <p:tav tm="0">
                                          <p:val>
                                            <p:strVal val="#ppt_y+0.035"/>
                                          </p:val>
                                        </p:tav>
                                        <p:tav tm="100000">
                                          <p:val>
                                            <p:strVal val="#ppt_y"/>
                                          </p:val>
                                        </p:tav>
                                      </p:tavLst>
                                    </p:anim>
                                    <p:animEffect transition="in" filter="fade">
                                      <p:cBhvr>
                                        <p:cTn id="144" dur="520"/>
                                        <p:tgtEl>
                                          <p:spTgt spid="33"/>
                                        </p:tgtEl>
                                      </p:cBhvr>
                                    </p:animEffect>
                                  </p:childTnLst>
                                </p:cTn>
                              </p:par>
                              <p:par>
                                <p:cTn id="145" presetID="34" presetClass="entr" presetSubtype="0" fill="hold" grpId="0" nodeType="withEffect">
                                  <p:stCondLst>
                                    <p:cond delay="0"/>
                                  </p:stCondLst>
                                  <p:childTnLst>
                                    <p:set>
                                      <p:cBhvr>
                                        <p:cTn id="146" dur="1" fill="hold">
                                          <p:stCondLst>
                                            <p:cond delay="0"/>
                                          </p:stCondLst>
                                        </p:cTn>
                                        <p:tgtEl>
                                          <p:spTgt spid="34"/>
                                        </p:tgtEl>
                                        <p:attrNameLst>
                                          <p:attrName>style.visibility</p:attrName>
                                        </p:attrNameLst>
                                      </p:cBhvr>
                                      <p:to>
                                        <p:strVal val="visible"/>
                                      </p:to>
                                    </p:set>
                                    <p:anim calcmode="lin" valueType="num">
                                      <p:cBhvr additive="base">
                                        <p:cTn id="147" dur="520" fill="hold"/>
                                        <p:tgtEl>
                                          <p:spTgt spid="34"/>
                                        </p:tgtEl>
                                        <p:attrNameLst>
                                          <p:attrName>ppt_y</p:attrName>
                                        </p:attrNameLst>
                                      </p:cBhvr>
                                      <p:tavLst>
                                        <p:tav tm="0">
                                          <p:val>
                                            <p:strVal val="#ppt_y+0.035"/>
                                          </p:val>
                                        </p:tav>
                                        <p:tav tm="100000">
                                          <p:val>
                                            <p:strVal val="#ppt_y"/>
                                          </p:val>
                                        </p:tav>
                                      </p:tavLst>
                                    </p:anim>
                                    <p:animEffect transition="in" filter="fade">
                                      <p:cBhvr>
                                        <p:cTn id="148" dur="520"/>
                                        <p:tgtEl>
                                          <p:spTgt spid="34"/>
                                        </p:tgtEl>
                                      </p:cBhvr>
                                    </p:animEffect>
                                  </p:childTnLst>
                                </p:cTn>
                              </p:par>
                            </p:childTnLst>
                          </p:cTn>
                        </p:par>
                      </p:childTnLst>
                    </p:cTn>
                  </p:par>
                  <p:par>
                    <p:cTn id="149" fill="hold">
                      <p:stCondLst>
                        <p:cond delay="indefinite"/>
                      </p:stCondLst>
                      <p:childTnLst>
                        <p:par>
                          <p:cTn id="150" fill="hold">
                            <p:stCondLst>
                              <p:cond delay="0"/>
                            </p:stCondLst>
                            <p:childTnLst>
                              <p:par>
                                <p:cTn id="151" presetID="34" presetClass="entr" presetSubtype="0" fill="hold" grpId="0" nodeType="afterEffect">
                                  <p:stCondLst>
                                    <p:cond delay="50"/>
                                  </p:stCondLst>
                                  <p:childTnLst>
                                    <p:set>
                                      <p:cBhvr>
                                        <p:cTn id="152" dur="1" fill="hold">
                                          <p:stCondLst>
                                            <p:cond delay="0"/>
                                          </p:stCondLst>
                                        </p:cTn>
                                        <p:tgtEl>
                                          <p:spTgt spid="35"/>
                                        </p:tgtEl>
                                        <p:attrNameLst>
                                          <p:attrName>style.visibility</p:attrName>
                                        </p:attrNameLst>
                                      </p:cBhvr>
                                      <p:to>
                                        <p:strVal val="visible"/>
                                      </p:to>
                                    </p:set>
                                    <p:anim calcmode="lin" valueType="num">
                                      <p:cBhvr additive="base">
                                        <p:cTn id="153" dur="520" fill="hold"/>
                                        <p:tgtEl>
                                          <p:spTgt spid="35"/>
                                        </p:tgtEl>
                                        <p:attrNameLst>
                                          <p:attrName>ppt_y</p:attrName>
                                        </p:attrNameLst>
                                      </p:cBhvr>
                                      <p:tavLst>
                                        <p:tav tm="0">
                                          <p:val>
                                            <p:strVal val="#ppt_y+0.035"/>
                                          </p:val>
                                        </p:tav>
                                        <p:tav tm="100000">
                                          <p:val>
                                            <p:strVal val="#ppt_y"/>
                                          </p:val>
                                        </p:tav>
                                      </p:tavLst>
                                    </p:anim>
                                    <p:animEffect transition="in" filter="fade">
                                      <p:cBhvr>
                                        <p:cTn id="154" dur="520"/>
                                        <p:tgtEl>
                                          <p:spTgt spid="35"/>
                                        </p:tgtEl>
                                      </p:cBhvr>
                                    </p:animEffect>
                                  </p:childTnLst>
                                </p:cTn>
                              </p:par>
                              <p:par>
                                <p:cTn id="155" presetID="34" presetClass="entr" presetSubtype="0" fill="hold" grpId="0" nodeType="withEffect">
                                  <p:stCondLst>
                                    <p:cond delay="0"/>
                                  </p:stCondLst>
                                  <p:childTnLst>
                                    <p:set>
                                      <p:cBhvr>
                                        <p:cTn id="156" dur="1" fill="hold">
                                          <p:stCondLst>
                                            <p:cond delay="0"/>
                                          </p:stCondLst>
                                        </p:cTn>
                                        <p:tgtEl>
                                          <p:spTgt spid="36"/>
                                        </p:tgtEl>
                                        <p:attrNameLst>
                                          <p:attrName>style.visibility</p:attrName>
                                        </p:attrNameLst>
                                      </p:cBhvr>
                                      <p:to>
                                        <p:strVal val="visible"/>
                                      </p:to>
                                    </p:set>
                                    <p:anim calcmode="lin" valueType="num">
                                      <p:cBhvr additive="base">
                                        <p:cTn id="157" dur="520" fill="hold"/>
                                        <p:tgtEl>
                                          <p:spTgt spid="36"/>
                                        </p:tgtEl>
                                        <p:attrNameLst>
                                          <p:attrName>ppt_y</p:attrName>
                                        </p:attrNameLst>
                                      </p:cBhvr>
                                      <p:tavLst>
                                        <p:tav tm="0">
                                          <p:val>
                                            <p:strVal val="#ppt_y+0.035"/>
                                          </p:val>
                                        </p:tav>
                                        <p:tav tm="100000">
                                          <p:val>
                                            <p:strVal val="#ppt_y"/>
                                          </p:val>
                                        </p:tav>
                                      </p:tavLst>
                                    </p:anim>
                                    <p:animEffect transition="in" filter="fade">
                                      <p:cBhvr>
                                        <p:cTn id="158" dur="520"/>
                                        <p:tgtEl>
                                          <p:spTgt spid="36"/>
                                        </p:tgtEl>
                                      </p:cBhvr>
                                    </p:animEffect>
                                  </p:childTnLst>
                                </p:cTn>
                              </p:par>
                            </p:childTnLst>
                          </p:cTn>
                        </p:par>
                      </p:childTnLst>
                    </p:cTn>
                  </p:par>
                  <p:par>
                    <p:cTn id="159" fill="hold">
                      <p:stCondLst>
                        <p:cond delay="indefinite"/>
                      </p:stCondLst>
                      <p:childTnLst>
                        <p:par>
                          <p:cTn id="160" fill="hold">
                            <p:stCondLst>
                              <p:cond delay="0"/>
                            </p:stCondLst>
                            <p:childTnLst>
                              <p:par>
                                <p:cTn id="161" presetID="34" presetClass="entr" presetSubtype="0" fill="hold" grpId="0" nodeType="afterEffect">
                                  <p:stCondLst>
                                    <p:cond delay="50"/>
                                  </p:stCondLst>
                                  <p:childTnLst>
                                    <p:set>
                                      <p:cBhvr>
                                        <p:cTn id="162" dur="1" fill="hold">
                                          <p:stCondLst>
                                            <p:cond delay="0"/>
                                          </p:stCondLst>
                                        </p:cTn>
                                        <p:tgtEl>
                                          <p:spTgt spid="37"/>
                                        </p:tgtEl>
                                        <p:attrNameLst>
                                          <p:attrName>style.visibility</p:attrName>
                                        </p:attrNameLst>
                                      </p:cBhvr>
                                      <p:to>
                                        <p:strVal val="visible"/>
                                      </p:to>
                                    </p:set>
                                    <p:anim calcmode="lin" valueType="num">
                                      <p:cBhvr additive="base">
                                        <p:cTn id="163" dur="520" fill="hold"/>
                                        <p:tgtEl>
                                          <p:spTgt spid="37"/>
                                        </p:tgtEl>
                                        <p:attrNameLst>
                                          <p:attrName>ppt_y</p:attrName>
                                        </p:attrNameLst>
                                      </p:cBhvr>
                                      <p:tavLst>
                                        <p:tav tm="0">
                                          <p:val>
                                            <p:strVal val="#ppt_y+0.035"/>
                                          </p:val>
                                        </p:tav>
                                        <p:tav tm="100000">
                                          <p:val>
                                            <p:strVal val="#ppt_y"/>
                                          </p:val>
                                        </p:tav>
                                      </p:tavLst>
                                    </p:anim>
                                    <p:animEffect transition="in" filter="fade">
                                      <p:cBhvr>
                                        <p:cTn id="164" dur="520"/>
                                        <p:tgtEl>
                                          <p:spTgt spid="37"/>
                                        </p:tgtEl>
                                      </p:cBhvr>
                                    </p:animEffect>
                                  </p:childTnLst>
                                </p:cTn>
                              </p:par>
                              <p:par>
                                <p:cTn id="165" presetID="34" presetClass="entr" presetSubtype="0" fill="hold" grpId="0" nodeType="withEffect">
                                  <p:stCondLst>
                                    <p:cond delay="0"/>
                                  </p:stCondLst>
                                  <p:childTnLst>
                                    <p:set>
                                      <p:cBhvr>
                                        <p:cTn id="166" dur="1" fill="hold">
                                          <p:stCondLst>
                                            <p:cond delay="0"/>
                                          </p:stCondLst>
                                        </p:cTn>
                                        <p:tgtEl>
                                          <p:spTgt spid="38"/>
                                        </p:tgtEl>
                                        <p:attrNameLst>
                                          <p:attrName>style.visibility</p:attrName>
                                        </p:attrNameLst>
                                      </p:cBhvr>
                                      <p:to>
                                        <p:strVal val="visible"/>
                                      </p:to>
                                    </p:set>
                                    <p:anim calcmode="lin" valueType="num">
                                      <p:cBhvr additive="base">
                                        <p:cTn id="167" dur="520" fill="hold"/>
                                        <p:tgtEl>
                                          <p:spTgt spid="38"/>
                                        </p:tgtEl>
                                        <p:attrNameLst>
                                          <p:attrName>ppt_y</p:attrName>
                                        </p:attrNameLst>
                                      </p:cBhvr>
                                      <p:tavLst>
                                        <p:tav tm="0">
                                          <p:val>
                                            <p:strVal val="#ppt_y+0.035"/>
                                          </p:val>
                                        </p:tav>
                                        <p:tav tm="100000">
                                          <p:val>
                                            <p:strVal val="#ppt_y"/>
                                          </p:val>
                                        </p:tav>
                                      </p:tavLst>
                                    </p:anim>
                                    <p:animEffect transition="in" filter="fade">
                                      <p:cBhvr>
                                        <p:cTn id="168" dur="520"/>
                                        <p:tgtEl>
                                          <p:spTgt spid="38"/>
                                        </p:tgtEl>
                                      </p:cBhvr>
                                    </p:animEffect>
                                  </p:childTnLst>
                                </p:cTn>
                              </p:par>
                              <p:par>
                                <p:cTn id="169" presetID="34" presetClass="entr" presetSubtype="0" fill="hold" grpId="0" nodeType="withEffect">
                                  <p:stCondLst>
                                    <p:cond delay="0"/>
                                  </p:stCondLst>
                                  <p:childTnLst>
                                    <p:set>
                                      <p:cBhvr>
                                        <p:cTn id="170" dur="1" fill="hold">
                                          <p:stCondLst>
                                            <p:cond delay="0"/>
                                          </p:stCondLst>
                                        </p:cTn>
                                        <p:tgtEl>
                                          <p:spTgt spid="39"/>
                                        </p:tgtEl>
                                        <p:attrNameLst>
                                          <p:attrName>style.visibility</p:attrName>
                                        </p:attrNameLst>
                                      </p:cBhvr>
                                      <p:to>
                                        <p:strVal val="visible"/>
                                      </p:to>
                                    </p:set>
                                    <p:anim calcmode="lin" valueType="num">
                                      <p:cBhvr additive="base">
                                        <p:cTn id="171" dur="520" fill="hold"/>
                                        <p:tgtEl>
                                          <p:spTgt spid="39"/>
                                        </p:tgtEl>
                                        <p:attrNameLst>
                                          <p:attrName>ppt_y</p:attrName>
                                        </p:attrNameLst>
                                      </p:cBhvr>
                                      <p:tavLst>
                                        <p:tav tm="0">
                                          <p:val>
                                            <p:strVal val="#ppt_y+0.035"/>
                                          </p:val>
                                        </p:tav>
                                        <p:tav tm="100000">
                                          <p:val>
                                            <p:strVal val="#ppt_y"/>
                                          </p:val>
                                        </p:tav>
                                      </p:tavLst>
                                    </p:anim>
                                    <p:animEffect transition="in" filter="fade">
                                      <p:cBhvr>
                                        <p:cTn id="172" dur="520"/>
                                        <p:tgtEl>
                                          <p:spTgt spid="39"/>
                                        </p:tgtEl>
                                      </p:cBhvr>
                                    </p:animEffect>
                                  </p:childTnLst>
                                </p:cTn>
                              </p:par>
                              <p:par>
                                <p:cTn id="173" presetID="34" presetClass="entr" presetSubtype="0" fill="hold" grpId="0" nodeType="withEffect">
                                  <p:stCondLst>
                                    <p:cond delay="0"/>
                                  </p:stCondLst>
                                  <p:childTnLst>
                                    <p:set>
                                      <p:cBhvr>
                                        <p:cTn id="174" dur="1" fill="hold">
                                          <p:stCondLst>
                                            <p:cond delay="0"/>
                                          </p:stCondLst>
                                        </p:cTn>
                                        <p:tgtEl>
                                          <p:spTgt spid="40"/>
                                        </p:tgtEl>
                                        <p:attrNameLst>
                                          <p:attrName>style.visibility</p:attrName>
                                        </p:attrNameLst>
                                      </p:cBhvr>
                                      <p:to>
                                        <p:strVal val="visible"/>
                                      </p:to>
                                    </p:set>
                                    <p:anim calcmode="lin" valueType="num">
                                      <p:cBhvr additive="base">
                                        <p:cTn id="175" dur="520" fill="hold"/>
                                        <p:tgtEl>
                                          <p:spTgt spid="40"/>
                                        </p:tgtEl>
                                        <p:attrNameLst>
                                          <p:attrName>ppt_y</p:attrName>
                                        </p:attrNameLst>
                                      </p:cBhvr>
                                      <p:tavLst>
                                        <p:tav tm="0">
                                          <p:val>
                                            <p:strVal val="#ppt_y+0.035"/>
                                          </p:val>
                                        </p:tav>
                                        <p:tav tm="100000">
                                          <p:val>
                                            <p:strVal val="#ppt_y"/>
                                          </p:val>
                                        </p:tav>
                                      </p:tavLst>
                                    </p:anim>
                                    <p:animEffect transition="in" filter="fade">
                                      <p:cBhvr>
                                        <p:cTn id="176" dur="520"/>
                                        <p:tgtEl>
                                          <p:spTgt spid="40"/>
                                        </p:tgtEl>
                                      </p:cBhvr>
                                    </p:animEffect>
                                  </p:childTnLst>
                                </p:cTn>
                              </p:par>
                            </p:childTnLst>
                          </p:cTn>
                        </p:par>
                      </p:childTnLst>
                    </p:cTn>
                  </p:par>
                  <p:par>
                    <p:cTn id="177" fill="hold">
                      <p:stCondLst>
                        <p:cond delay="indefinite"/>
                      </p:stCondLst>
                      <p:childTnLst>
                        <p:par>
                          <p:cTn id="178" fill="hold">
                            <p:stCondLst>
                              <p:cond delay="0"/>
                            </p:stCondLst>
                            <p:childTnLst>
                              <p:par>
                                <p:cTn id="179" presetID="34" presetClass="entr" presetSubtype="0" fill="hold" grpId="0" nodeType="afterEffect">
                                  <p:stCondLst>
                                    <p:cond delay="50"/>
                                  </p:stCondLst>
                                  <p:childTnLst>
                                    <p:set>
                                      <p:cBhvr>
                                        <p:cTn id="180" dur="1" fill="hold">
                                          <p:stCondLst>
                                            <p:cond delay="0"/>
                                          </p:stCondLst>
                                        </p:cTn>
                                        <p:tgtEl>
                                          <p:spTgt spid="41"/>
                                        </p:tgtEl>
                                        <p:attrNameLst>
                                          <p:attrName>style.visibility</p:attrName>
                                        </p:attrNameLst>
                                      </p:cBhvr>
                                      <p:to>
                                        <p:strVal val="visible"/>
                                      </p:to>
                                    </p:set>
                                    <p:anim calcmode="lin" valueType="num">
                                      <p:cBhvr additive="base">
                                        <p:cTn id="181" dur="520" fill="hold"/>
                                        <p:tgtEl>
                                          <p:spTgt spid="41"/>
                                        </p:tgtEl>
                                        <p:attrNameLst>
                                          <p:attrName>ppt_y</p:attrName>
                                        </p:attrNameLst>
                                      </p:cBhvr>
                                      <p:tavLst>
                                        <p:tav tm="0">
                                          <p:val>
                                            <p:strVal val="#ppt_y+0.035"/>
                                          </p:val>
                                        </p:tav>
                                        <p:tav tm="100000">
                                          <p:val>
                                            <p:strVal val="#ppt_y"/>
                                          </p:val>
                                        </p:tav>
                                      </p:tavLst>
                                    </p:anim>
                                    <p:animEffect transition="in" filter="fade">
                                      <p:cBhvr>
                                        <p:cTn id="182" dur="52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26.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4 — APPLICATIONS AND DATA AUGMENTATION</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The preset sheets — every preset, three draws each</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3FA7E0"/>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19</a:t>
            </a:r>
            <a:endParaRPr lang="en-US" sz="1000" dirty="0"/>
          </a:p>
        </p:txBody>
      </p:sp>
      <p:pic>
        <p:nvPicPr>
          <p:cNvPr id="7" name="Image 0" descr="one band of the sheet">    </p:cNvPr>
          <p:cNvPicPr>
            <a:picLocks noChangeAspect="1"/>
          </p:cNvPicPr>
          <p:nvPr/>
        </p:nvPicPr>
        <p:blipFill>
          <a:blip r:embed="rId1"/>
          <a:srcRect t="0" b="50000"/>
          <a:stretch>
            <a:fillRect/>
          </a:stretch>
        </p:blipFill>
        <p:spPr>
          <a:xfrm>
            <a:off x="2167710" y="1389888"/>
            <a:ext cx="3809265" cy="4114800"/>
          </a:xfrm>
          <a:prstGeom prst="rect">
            <a:avLst/>
          </a:prstGeom>
        </p:spPr>
      </p:pic>
      <p:pic>
        <p:nvPicPr>
          <p:cNvPr id="8" name="Image 1" descr="one band of the sheet">    </p:cNvPr>
          <p:cNvPicPr>
            <a:picLocks noChangeAspect="1"/>
          </p:cNvPicPr>
          <p:nvPr/>
        </p:nvPicPr>
        <p:blipFill>
          <a:blip r:embed="rId2"/>
          <a:srcRect t="50000" b="0"/>
          <a:stretch>
            <a:fillRect/>
          </a:stretch>
        </p:blipFill>
        <p:spPr>
          <a:xfrm>
            <a:off x="6214720" y="1389888"/>
            <a:ext cx="3809265" cy="4114800"/>
          </a:xfrm>
          <a:prstGeom prst="rect">
            <a:avLst/>
          </a:prstGeom>
        </p:spPr>
      </p:pic>
      <p:sp>
        <p:nvSpPr>
          <p:cNvPr id="9" name="Text 5"/>
          <p:cNvSpPr/>
          <p:nvPr/>
        </p:nvSpPr>
        <p:spPr>
          <a:xfrm>
            <a:off x="502920" y="5724144"/>
            <a:ext cx="11185855" cy="658368"/>
          </a:xfrm>
          <a:prstGeom prst="rect">
            <a:avLst/>
          </a:prstGeom>
          <a:noFill/>
          <a:ln/>
        </p:spPr>
        <p:txBody>
          <a:bodyPr wrap="square" rtlCol="0" anchor="t"/>
          <a:lstStyle/>
          <a:p>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Every preset, three draws each, on a night play frame and a day empty frame. Probability forced to 1, so the sheet shows the effect and not the coin flip. </a:t>
            </a:r>
            <a:pPr indent="0" marL="0">
              <a:lnSpc>
                <a:spcPts val="1470"/>
              </a:lnSpc>
              <a:buNone/>
            </a:pPr>
            <a:r>
              <a:rPr lang="en-US" sz="1050" i="1" dirty="0">
                <a:solidFill>
                  <a:srgbClr val="7A8886"/>
                </a:solidFill>
                <a:latin typeface="Segoe UI" pitchFamily="34" charset="0"/>
                <a:ea typeface="Segoe UI" pitchFamily="34" charset="-122"/>
                <a:cs typeface="Segoe UI" pitchFamily="34" charset="-120"/>
              </a:rPr>
              <a:t>Left: the night active-play frame. Right: the day empty frame — the two halves of the one sheet.</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367"/>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20" fill="hold"/>
                                        <p:tgtEl>
                                          <p:spTgt spid="8"/>
                                        </p:tgtEl>
                                        <p:attrNameLst>
                                          <p:attrName>ppt_y</p:attrName>
                                        </p:attrNameLst>
                                      </p:cBhvr>
                                      <p:tavLst>
                                        <p:tav tm="0">
                                          <p:val>
                                            <p:strVal val="#ppt_y+0.035"/>
                                          </p:val>
                                        </p:tav>
                                        <p:tav tm="100000">
                                          <p:val>
                                            <p:strVal val="#ppt_y"/>
                                          </p:val>
                                        </p:tav>
                                      </p:tavLst>
                                    </p:anim>
                                    <p:animEffect transition="in" filter="fade">
                                      <p:cBhvr>
                                        <p:cTn id="14" dur="52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grpId="0" nodeType="afterEffect">
                                  <p:stCondLst>
                                    <p:cond delay="367"/>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20" fill="hold"/>
                                        <p:tgtEl>
                                          <p:spTgt spid="9"/>
                                        </p:tgtEl>
                                        <p:attrNameLst>
                                          <p:attrName>ppt_y</p:attrName>
                                        </p:attrNameLst>
                                      </p:cBhvr>
                                      <p:tavLst>
                                        <p:tav tm="0">
                                          <p:val>
                                            <p:strVal val="#ppt_y+0.035"/>
                                          </p:val>
                                        </p:tav>
                                        <p:tav tm="100000">
                                          <p:val>
                                            <p:strVal val="#ppt_y"/>
                                          </p:val>
                                        </p:tav>
                                      </p:tavLst>
                                    </p:anim>
                                    <p:animEffect transition="in" filter="fade">
                                      <p:cBhvr>
                                        <p:cTn id="20" dur="5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7.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4 — APPLICATIONS AND DATA AUGMENTATION</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One effect at a time</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3FA7E0"/>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20</a:t>
            </a:r>
            <a:endParaRPr lang="en-US" sz="1000" dirty="0"/>
          </a:p>
        </p:txBody>
      </p:sp>
      <p:pic>
        <p:nvPicPr>
          <p:cNvPr id="7" name="Image 0" descr="one band of the sheet">    </p:cNvPr>
          <p:cNvPicPr>
            <a:picLocks noChangeAspect="1"/>
          </p:cNvPicPr>
          <p:nvPr/>
        </p:nvPicPr>
        <p:blipFill>
          <a:blip r:embed="rId1"/>
          <a:srcRect t="0" b="75000"/>
          <a:stretch>
            <a:fillRect/>
          </a:stretch>
        </p:blipFill>
        <p:spPr>
          <a:xfrm>
            <a:off x="502920" y="2023218"/>
            <a:ext cx="2645588" cy="2848141"/>
          </a:xfrm>
          <a:prstGeom prst="rect">
            <a:avLst/>
          </a:prstGeom>
        </p:spPr>
      </p:pic>
      <p:pic>
        <p:nvPicPr>
          <p:cNvPr id="8" name="Image 1" descr="one band of the sheet">    </p:cNvPr>
          <p:cNvPicPr>
            <a:picLocks noChangeAspect="1"/>
          </p:cNvPicPr>
          <p:nvPr/>
        </p:nvPicPr>
        <p:blipFill>
          <a:blip r:embed="rId2"/>
          <a:srcRect t="25000" b="50000"/>
          <a:stretch>
            <a:fillRect/>
          </a:stretch>
        </p:blipFill>
        <p:spPr>
          <a:xfrm>
            <a:off x="3349676" y="2023218"/>
            <a:ext cx="2645588" cy="2848141"/>
          </a:xfrm>
          <a:prstGeom prst="rect">
            <a:avLst/>
          </a:prstGeom>
        </p:spPr>
      </p:pic>
      <p:pic>
        <p:nvPicPr>
          <p:cNvPr id="9" name="Image 2" descr="one band of the sheet">    </p:cNvPr>
          <p:cNvPicPr>
            <a:picLocks noChangeAspect="1"/>
          </p:cNvPicPr>
          <p:nvPr/>
        </p:nvPicPr>
        <p:blipFill>
          <a:blip r:embed="rId3"/>
          <a:srcRect t="50000" b="25000"/>
          <a:stretch>
            <a:fillRect/>
          </a:stretch>
        </p:blipFill>
        <p:spPr>
          <a:xfrm>
            <a:off x="6196432" y="2023218"/>
            <a:ext cx="2645588" cy="2848141"/>
          </a:xfrm>
          <a:prstGeom prst="rect">
            <a:avLst/>
          </a:prstGeom>
        </p:spPr>
      </p:pic>
      <p:pic>
        <p:nvPicPr>
          <p:cNvPr id="10" name="Image 3" descr="one band of the sheet">    </p:cNvPr>
          <p:cNvPicPr>
            <a:picLocks noChangeAspect="1"/>
          </p:cNvPicPr>
          <p:nvPr/>
        </p:nvPicPr>
        <p:blipFill>
          <a:blip r:embed="rId4"/>
          <a:srcRect t="75000" b="0"/>
          <a:stretch>
            <a:fillRect/>
          </a:stretch>
        </p:blipFill>
        <p:spPr>
          <a:xfrm>
            <a:off x="9043187" y="2023218"/>
            <a:ext cx="2645588" cy="2848141"/>
          </a:xfrm>
          <a:prstGeom prst="rect">
            <a:avLst/>
          </a:prstGeom>
        </p:spPr>
      </p:pic>
      <p:sp>
        <p:nvSpPr>
          <p:cNvPr id="11" name="Text 5"/>
          <p:cNvSpPr/>
          <p:nvPr/>
        </p:nvSpPr>
        <p:spPr>
          <a:xfrm>
            <a:off x="502920" y="5090814"/>
            <a:ext cx="11185855" cy="658368"/>
          </a:xfrm>
          <a:prstGeom prst="rect">
            <a:avLst/>
          </a:prstGeom>
          <a:noFill/>
          <a:ln/>
        </p:spPr>
        <p:txBody>
          <a:bodyPr wrap="square" rtlCol="0" anchor="t"/>
          <a:lstStyle/>
          <a:p>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One effect at a time, at the magnitude </a:t>
            </a:r>
            <a:pPr indent="0" marL="0">
              <a:lnSpc>
                <a:spcPts val="1470"/>
              </a:lnSpc>
              <a:buNone/>
            </a:pPr>
            <a:r>
              <a:rPr lang="en-US" sz="1000" dirty="0">
                <a:solidFill>
                  <a:srgbClr val="7A8886"/>
                </a:solidFill>
                <a:latin typeface="Consolas" pitchFamily="34" charset="0"/>
                <a:ea typeface="Consolas" pitchFamily="34" charset="-122"/>
                <a:cs typeface="Consolas" pitchFamily="34" charset="-120"/>
              </a:rPr>
              <a:t>full</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uses — brightness 0.2, contrast 0.2, saturation 0.35, hue 6°, gamma 0.3, noise σ=5, fog 0.3, rain 0.3, flip. Magnitudes are read off the preset. </a:t>
            </a:r>
            <a:pPr indent="0" marL="0">
              <a:lnSpc>
                <a:spcPts val="1470"/>
              </a:lnSpc>
              <a:buNone/>
            </a:pPr>
            <a:r>
              <a:rPr lang="en-US" sz="1000" dirty="0">
                <a:solidFill>
                  <a:srgbClr val="7A8886"/>
                </a:solidFill>
                <a:latin typeface="Consolas" pitchFamily="34" charset="0"/>
                <a:ea typeface="Consolas" pitchFamily="34" charset="-122"/>
                <a:cs typeface="Consolas" pitchFamily="34" charset="-120"/>
              </a:rPr>
              <a:t>flip</a:t>
            </a:r>
            <a:pPr indent="0" marL="0">
              <a:lnSpc>
                <a:spcPts val="1470"/>
              </a:lnSpc>
              <a:buNone/>
            </a:pPr>
            <a:r>
              <a:rPr lang="en-US" sz="1050" dirty="0">
                <a:solidFill>
                  <a:srgbClr val="7A8886"/>
                </a:solidFill>
                <a:latin typeface="Segoe UI" pitchFamily="34" charset="0"/>
                <a:ea typeface="Segoe UI" pitchFamily="34" charset="-122"/>
                <a:cs typeface="Segoe UI" pitchFamily="34" charset="-120"/>
              </a:rPr>
              <a:t> is shown once; every other row is three draws. </a:t>
            </a:r>
            <a:pPr indent="0" marL="0">
              <a:lnSpc>
                <a:spcPts val="1470"/>
              </a:lnSpc>
              <a:buNone/>
            </a:pPr>
            <a:r>
              <a:rPr lang="en-US" sz="1050" i="1" dirty="0">
                <a:solidFill>
                  <a:srgbClr val="7A8886"/>
                </a:solidFill>
                <a:latin typeface="Segoe UI" pitchFamily="34" charset="0"/>
                <a:ea typeface="Segoe UI" pitchFamily="34" charset="-122"/>
                <a:cs typeface="Segoe UI" pitchFamily="34" charset="-120"/>
              </a:rPr>
              <a:t>The sheet is read left to right: four pieces of five bands, in the order they appear on it.</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20" fill="hold"/>
                                        <p:tgtEl>
                                          <p:spTgt spid="7"/>
                                        </p:tgtEl>
                                        <p:attrNameLst>
                                          <p:attrName>ppt_y</p:attrName>
                                        </p:attrNameLst>
                                      </p:cBhvr>
                                      <p:tavLst>
                                        <p:tav tm="0">
                                          <p:val>
                                            <p:strVal val="#ppt_y+0.035"/>
                                          </p:val>
                                        </p:tav>
                                        <p:tav tm="100000">
                                          <p:val>
                                            <p:strVal val="#ppt_y"/>
                                          </p:val>
                                        </p:tav>
                                      </p:tavLst>
                                    </p:anim>
                                    <p:animEffect transition="in" filter="fade">
                                      <p:cBhvr>
                                        <p:cTn id="8" dur="52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22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20" fill="hold"/>
                                        <p:tgtEl>
                                          <p:spTgt spid="8"/>
                                        </p:tgtEl>
                                        <p:attrNameLst>
                                          <p:attrName>ppt_y</p:attrName>
                                        </p:attrNameLst>
                                      </p:cBhvr>
                                      <p:tavLst>
                                        <p:tav tm="0">
                                          <p:val>
                                            <p:strVal val="#ppt_y+0.035"/>
                                          </p:val>
                                        </p:tav>
                                        <p:tav tm="100000">
                                          <p:val>
                                            <p:strVal val="#ppt_y"/>
                                          </p:val>
                                        </p:tav>
                                      </p:tavLst>
                                    </p:anim>
                                    <p:animEffect transition="in" filter="fade">
                                      <p:cBhvr>
                                        <p:cTn id="14" dur="52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grpId="0" nodeType="afterEffect">
                                  <p:stCondLst>
                                    <p:cond delay="22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20" fill="hold"/>
                                        <p:tgtEl>
                                          <p:spTgt spid="9"/>
                                        </p:tgtEl>
                                        <p:attrNameLst>
                                          <p:attrName>ppt_y</p:attrName>
                                        </p:attrNameLst>
                                      </p:cBhvr>
                                      <p:tavLst>
                                        <p:tav tm="0">
                                          <p:val>
                                            <p:strVal val="#ppt_y+0.035"/>
                                          </p:val>
                                        </p:tav>
                                        <p:tav tm="100000">
                                          <p:val>
                                            <p:strVal val="#ppt_y"/>
                                          </p:val>
                                        </p:tav>
                                      </p:tavLst>
                                    </p:anim>
                                    <p:animEffect transition="in" filter="fade">
                                      <p:cBhvr>
                                        <p:cTn id="20" dur="52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34" presetClass="entr" presetSubtype="0" fill="hold" grpId="0" nodeType="afterEffect">
                                  <p:stCondLst>
                                    <p:cond delay="22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20" fill="hold"/>
                                        <p:tgtEl>
                                          <p:spTgt spid="10"/>
                                        </p:tgtEl>
                                        <p:attrNameLst>
                                          <p:attrName>ppt_y</p:attrName>
                                        </p:attrNameLst>
                                      </p:cBhvr>
                                      <p:tavLst>
                                        <p:tav tm="0">
                                          <p:val>
                                            <p:strVal val="#ppt_y+0.035"/>
                                          </p:val>
                                        </p:tav>
                                        <p:tav tm="100000">
                                          <p:val>
                                            <p:strVal val="#ppt_y"/>
                                          </p:val>
                                        </p:tav>
                                      </p:tavLst>
                                    </p:anim>
                                    <p:animEffect transition="in" filter="fade">
                                      <p:cBhvr>
                                        <p:cTn id="26" dur="5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34" presetClass="entr" presetSubtype="0" fill="hold" grpId="0" nodeType="afterEffect">
                                  <p:stCondLst>
                                    <p:cond delay="22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20" fill="hold"/>
                                        <p:tgtEl>
                                          <p:spTgt spid="11"/>
                                        </p:tgtEl>
                                        <p:attrNameLst>
                                          <p:attrName>ppt_y</p:attrName>
                                        </p:attrNameLst>
                                      </p:cBhvr>
                                      <p:tavLst>
                                        <p:tav tm="0">
                                          <p:val>
                                            <p:strVal val="#ppt_y+0.035"/>
                                          </p:val>
                                        </p:tav>
                                        <p:tav tm="100000">
                                          <p:val>
                                            <p:strVal val="#ppt_y"/>
                                          </p:val>
                                        </p:tav>
                                      </p:tavLst>
                                    </p:anim>
                                    <p:animEffect transition="in" filter="fade">
                                      <p:cBhvr>
                                        <p:cTn id="32" dur="5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8.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02920" y="310896"/>
            <a:ext cx="11185855" cy="237744"/>
          </a:xfrm>
          <a:prstGeom prst="rect">
            <a:avLst/>
          </a:prstGeom>
          <a:noFill/>
          <a:ln/>
        </p:spPr>
        <p:txBody>
          <a:bodyPr wrap="square" rtlCol="0" anchor="ctr"/>
          <a:lstStyle/>
          <a:p>
            <a:pPr indent="0" marL="0">
              <a:buNone/>
            </a:pPr>
            <a:r>
              <a:rPr lang="en-US" sz="1000" b="1" spc="240" kern="0" dirty="0">
                <a:solidFill>
                  <a:srgbClr val="7A8886"/>
                </a:solidFill>
                <a:latin typeface="Consolas" pitchFamily="34" charset="0"/>
                <a:ea typeface="Consolas" pitchFamily="34" charset="-122"/>
                <a:cs typeface="Consolas" pitchFamily="34" charset="-120"/>
              </a:rPr>
              <a:t>CHAPTER 4 — APPLICATIONS AND DATA AUGMENTATION</a:t>
            </a:r>
            <a:endParaRPr lang="en-US" sz="1000" dirty="0"/>
          </a:p>
        </p:txBody>
      </p:sp>
      <p:sp>
        <p:nvSpPr>
          <p:cNvPr id="3" name="Text 1"/>
          <p:cNvSpPr/>
          <p:nvPr/>
        </p:nvSpPr>
        <p:spPr>
          <a:xfrm>
            <a:off x="502920" y="566928"/>
            <a:ext cx="10637215" cy="475488"/>
          </a:xfrm>
          <a:prstGeom prst="rect">
            <a:avLst/>
          </a:prstGeom>
          <a:noFill/>
          <a:ln/>
        </p:spPr>
        <p:txBody>
          <a:bodyPr wrap="square" rtlCol="0" anchor="ctr"/>
          <a:lstStyle/>
          <a:p>
            <a:pPr indent="0" marL="0">
              <a:buNone/>
            </a:pPr>
            <a:r>
              <a:rPr lang="en-US" sz="2300" b="1" dirty="0">
                <a:solidFill>
                  <a:srgbClr val="111817"/>
                </a:solidFill>
                <a:latin typeface="Segoe UI" pitchFamily="34" charset="0"/>
                <a:ea typeface="Segoe UI" pitchFamily="34" charset="-122"/>
                <a:cs typeface="Segoe UI" pitchFamily="34" charset="-120"/>
              </a:rPr>
              <a:t>The preprocessing search — change from the untouched baseline</a:t>
            </a:r>
            <a:endParaRPr lang="en-US" sz="2300" dirty="0"/>
          </a:p>
        </p:txBody>
      </p:sp>
      <p:sp>
        <p:nvSpPr>
          <p:cNvPr id="4" name="Shape 2"/>
          <p:cNvSpPr/>
          <p:nvPr/>
        </p:nvSpPr>
        <p:spPr>
          <a:xfrm>
            <a:off x="502920" y="1152144"/>
            <a:ext cx="11185855" cy="10973"/>
          </a:xfrm>
          <a:prstGeom prst="rect">
            <a:avLst/>
          </a:prstGeom>
          <a:solidFill>
            <a:srgbClr val="DDE4E2"/>
          </a:solidFill>
          <a:ln/>
        </p:spPr>
      </p:sp>
      <p:sp>
        <p:nvSpPr>
          <p:cNvPr id="5" name="Shape 3"/>
          <p:cNvSpPr/>
          <p:nvPr/>
        </p:nvSpPr>
        <p:spPr>
          <a:xfrm>
            <a:off x="502920" y="1138428"/>
            <a:ext cx="1234440" cy="38405"/>
          </a:xfrm>
          <a:prstGeom prst="rect">
            <a:avLst/>
          </a:prstGeom>
          <a:solidFill>
            <a:srgbClr val="3FA7E0"/>
          </a:solidFill>
          <a:ln/>
        </p:spPr>
      </p:sp>
      <p:sp>
        <p:nvSpPr>
          <p:cNvPr id="6" name="Text 4"/>
          <p:cNvSpPr/>
          <p:nvPr/>
        </p:nvSpPr>
        <p:spPr>
          <a:xfrm>
            <a:off x="10957255" y="6400800"/>
            <a:ext cx="731520" cy="274320"/>
          </a:xfrm>
          <a:prstGeom prst="rect">
            <a:avLst/>
          </a:prstGeom>
          <a:noFill/>
          <a:ln/>
        </p:spPr>
        <p:txBody>
          <a:bodyPr wrap="square" rtlCol="0" anchor="ctr"/>
          <a:lstStyle/>
          <a:p>
            <a:pPr algn="r" indent="0" marL="0">
              <a:buNone/>
            </a:pPr>
            <a:r>
              <a:rPr lang="en-US" sz="1000" dirty="0">
                <a:solidFill>
                  <a:srgbClr val="7A8886"/>
                </a:solidFill>
                <a:latin typeface="Consolas" pitchFamily="34" charset="0"/>
                <a:ea typeface="Consolas" pitchFamily="34" charset="-122"/>
                <a:cs typeface="Consolas" pitchFamily="34" charset="-120"/>
              </a:rPr>
              <a:t>21</a:t>
            </a:r>
            <a:endParaRPr lang="en-US" sz="1000" dirty="0"/>
          </a:p>
        </p:txBody>
      </p:sp>
      <p:sp>
        <p:nvSpPr>
          <p:cNvPr id="7" name="Shape 5"/>
          <p:cNvSpPr/>
          <p:nvPr/>
        </p:nvSpPr>
        <p:spPr>
          <a:xfrm>
            <a:off x="502920" y="1371600"/>
            <a:ext cx="11185855" cy="384048"/>
          </a:xfrm>
          <a:prstGeom prst="roundRect">
            <a:avLst>
              <a:gd name="adj" fmla="val 19048"/>
            </a:avLst>
          </a:prstGeom>
          <a:solidFill>
            <a:srgbClr val="EEF2F1"/>
          </a:solidFill>
          <a:ln/>
        </p:spPr>
      </p:sp>
      <p:sp>
        <p:nvSpPr>
          <p:cNvPr id="8" name="Text 6"/>
          <p:cNvSpPr/>
          <p:nvPr/>
        </p:nvSpPr>
        <p:spPr>
          <a:xfrm>
            <a:off x="740664" y="1371600"/>
            <a:ext cx="10710367" cy="384048"/>
          </a:xfrm>
          <a:prstGeom prst="rect">
            <a:avLst/>
          </a:prstGeom>
          <a:noFill/>
          <a:ln/>
        </p:spPr>
        <p:txBody>
          <a:bodyPr wrap="square" rtlCol="0" anchor="ctr"/>
          <a:lstStyle/>
          <a:p>
            <a:pPr indent="0" marL="0">
              <a:buNone/>
            </a:pPr>
            <a:r>
              <a:rPr lang="en-US" sz="1100" b="1" dirty="0">
                <a:solidFill>
                  <a:srgbClr val="111817"/>
                </a:solidFill>
                <a:latin typeface="Segoe UI" pitchFamily="34" charset="0"/>
                <a:ea typeface="Segoe UI" pitchFamily="34" charset="-122"/>
                <a:cs typeface="Segoe UI" pitchFamily="34" charset="-120"/>
              </a:rPr>
              <a:t>Best on DINOv2, all frames:  </a:t>
            </a:r>
            <a:pPr indent="0" marL="0">
              <a:buNone/>
            </a:pPr>
            <a:r>
              <a:rPr lang="en-US" sz="1100" dirty="0">
                <a:solidFill>
                  <a:srgbClr val="111817"/>
                </a:solidFill>
                <a:latin typeface="Consolas" pitchFamily="34" charset="0"/>
                <a:ea typeface="Consolas" pitchFamily="34" charset="-122"/>
                <a:cs typeface="Consolas" pitchFamily="34" charset="-120"/>
              </a:rPr>
              <a:t>clahe=auto</a:t>
            </a:r>
            <a:pPr indent="0" marL="0">
              <a:buNone/>
            </a:pPr>
            <a:r>
              <a:rPr lang="en-US" sz="1100" dirty="0">
                <a:solidFill>
                  <a:srgbClr val="111817"/>
                </a:solidFill>
                <a:latin typeface="Segoe UI" pitchFamily="34" charset="0"/>
                <a:ea typeface="Segoe UI" pitchFamily="34" charset="-122"/>
                <a:cs typeface="Segoe UI" pitchFamily="34" charset="-120"/>
              </a:rPr>
              <a:t>  at 0.9881 recall, worst fold 0.905.   </a:t>
            </a:r>
            <a:pPr indent="0" marL="0">
              <a:buNone/>
            </a:pPr>
            <a:r>
              <a:rPr lang="en-US" sz="1100" dirty="0">
                <a:solidFill>
                  <a:srgbClr val="7A8886"/>
                </a:solidFill>
                <a:latin typeface="Segoe UI" pitchFamily="34" charset="0"/>
                <a:ea typeface="Segoe UI" pitchFamily="34" charset="-122"/>
                <a:cs typeface="Segoe UI" pitchFamily="34" charset="-120"/>
              </a:rPr>
              <a:t>43 evaluations · 1599 frames</a:t>
            </a:r>
            <a:endParaRPr lang="en-US" sz="1100" dirty="0"/>
          </a:p>
        </p:txBody>
      </p:sp>
      <p:sp>
        <p:nvSpPr>
          <p:cNvPr id="9" name="Text 7"/>
          <p:cNvSpPr/>
          <p:nvPr/>
        </p:nvSpPr>
        <p:spPr>
          <a:xfrm>
            <a:off x="502920" y="1810512"/>
            <a:ext cx="11185855" cy="274320"/>
          </a:xfrm>
          <a:prstGeom prst="rect">
            <a:avLst/>
          </a:prstGeom>
          <a:noFill/>
          <a:ln/>
        </p:spPr>
        <p:txBody>
          <a:bodyPr wrap="square" rtlCol="0" anchor="ctr"/>
          <a:lstStyle/>
          <a:p>
            <a:pPr indent="0" marL="0">
              <a:buNone/>
            </a:pPr>
            <a:r>
              <a:rPr lang="en-US" sz="1050" dirty="0">
                <a:solidFill>
                  <a:srgbClr val="7A8886"/>
                </a:solidFill>
                <a:latin typeface="Segoe UI" pitchFamily="34" charset="0"/>
                <a:ea typeface="Segoe UI" pitchFamily="34" charset="-122"/>
                <a:cs typeface="Segoe UI" pitchFamily="34" charset="-120"/>
              </a:rPr>
              <a:t>Cross-venue play recall. Bars run right when a switch helped and left when it hurt; the number on the right is the absolute recall. Baseline 0.831.</a:t>
            </a:r>
            <a:endParaRPr lang="en-US" sz="1050" dirty="0"/>
          </a:p>
        </p:txBody>
      </p:sp>
      <p:sp>
        <p:nvSpPr>
          <p:cNvPr id="10" name="Shape 8"/>
          <p:cNvSpPr/>
          <p:nvPr/>
        </p:nvSpPr>
        <p:spPr>
          <a:xfrm>
            <a:off x="6964528" y="2139696"/>
            <a:ext cx="7315" cy="3460090"/>
          </a:xfrm>
          <a:prstGeom prst="rect">
            <a:avLst/>
          </a:prstGeom>
          <a:solidFill>
            <a:srgbClr val="7A8886"/>
          </a:solidFill>
          <a:ln/>
        </p:spPr>
      </p:sp>
      <p:sp>
        <p:nvSpPr>
          <p:cNvPr id="11" name="Text 9"/>
          <p:cNvSpPr/>
          <p:nvPr/>
        </p:nvSpPr>
        <p:spPr>
          <a:xfrm>
            <a:off x="502920" y="2139696"/>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clahe=auto  · r2</a:t>
            </a:r>
            <a:endParaRPr lang="en-US" sz="850" dirty="0"/>
          </a:p>
        </p:txBody>
      </p:sp>
      <p:sp>
        <p:nvSpPr>
          <p:cNvPr id="12" name="Shape 10"/>
          <p:cNvSpPr/>
          <p:nvPr/>
        </p:nvSpPr>
        <p:spPr>
          <a:xfrm>
            <a:off x="6964528" y="2185873"/>
            <a:ext cx="3535547" cy="150876"/>
          </a:xfrm>
          <a:prstGeom prst="roundRect">
            <a:avLst>
              <a:gd name="adj" fmla="val 12121"/>
            </a:avLst>
          </a:prstGeom>
          <a:solidFill>
            <a:srgbClr val="F5A524"/>
          </a:solidFill>
          <a:ln/>
        </p:spPr>
      </p:sp>
      <p:sp>
        <p:nvSpPr>
          <p:cNvPr id="13" name="Text 11"/>
          <p:cNvSpPr/>
          <p:nvPr/>
        </p:nvSpPr>
        <p:spPr>
          <a:xfrm>
            <a:off x="11121847" y="2139696"/>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0.988</a:t>
            </a:r>
            <a:endParaRPr lang="en-US" sz="850" dirty="0"/>
          </a:p>
        </p:txBody>
      </p:sp>
      <p:sp>
        <p:nvSpPr>
          <p:cNvPr id="14" name="Text 12"/>
          <p:cNvSpPr/>
          <p:nvPr/>
        </p:nvSpPr>
        <p:spPr>
          <a:xfrm>
            <a:off x="502920" y="2382926"/>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saturation=0.5  · r2</a:t>
            </a:r>
            <a:endParaRPr lang="en-US" sz="850" dirty="0"/>
          </a:p>
        </p:txBody>
      </p:sp>
      <p:sp>
        <p:nvSpPr>
          <p:cNvPr id="15" name="Shape 13"/>
          <p:cNvSpPr/>
          <p:nvPr/>
        </p:nvSpPr>
        <p:spPr>
          <a:xfrm>
            <a:off x="6964528" y="2429104"/>
            <a:ext cx="3294896" cy="150876"/>
          </a:xfrm>
          <a:prstGeom prst="roundRect">
            <a:avLst>
              <a:gd name="adj" fmla="val 12121"/>
            </a:avLst>
          </a:prstGeom>
          <a:solidFill>
            <a:srgbClr val="0E8F5C"/>
          </a:solidFill>
          <a:ln/>
        </p:spPr>
      </p:sp>
      <p:sp>
        <p:nvSpPr>
          <p:cNvPr id="16" name="Text 14"/>
          <p:cNvSpPr/>
          <p:nvPr/>
        </p:nvSpPr>
        <p:spPr>
          <a:xfrm>
            <a:off x="11121847" y="2382926"/>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0.977</a:t>
            </a:r>
            <a:endParaRPr lang="en-US" sz="850" dirty="0"/>
          </a:p>
        </p:txBody>
      </p:sp>
      <p:sp>
        <p:nvSpPr>
          <p:cNvPr id="17" name="Text 15"/>
          <p:cNvSpPr/>
          <p:nvPr/>
        </p:nvSpPr>
        <p:spPr>
          <a:xfrm>
            <a:off x="502920" y="2626157"/>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clahe=on  · r2</a:t>
            </a:r>
            <a:endParaRPr lang="en-US" sz="850" dirty="0"/>
          </a:p>
        </p:txBody>
      </p:sp>
      <p:sp>
        <p:nvSpPr>
          <p:cNvPr id="18" name="Shape 16"/>
          <p:cNvSpPr/>
          <p:nvPr/>
        </p:nvSpPr>
        <p:spPr>
          <a:xfrm>
            <a:off x="6964528" y="2672334"/>
            <a:ext cx="3267907" cy="150876"/>
          </a:xfrm>
          <a:prstGeom prst="roundRect">
            <a:avLst>
              <a:gd name="adj" fmla="val 12121"/>
            </a:avLst>
          </a:prstGeom>
          <a:solidFill>
            <a:srgbClr val="F5A524"/>
          </a:solidFill>
          <a:ln/>
        </p:spPr>
      </p:sp>
      <p:sp>
        <p:nvSpPr>
          <p:cNvPr id="19" name="Text 17"/>
          <p:cNvSpPr/>
          <p:nvPr/>
        </p:nvSpPr>
        <p:spPr>
          <a:xfrm>
            <a:off x="11121847" y="2626157"/>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0.976</a:t>
            </a:r>
            <a:endParaRPr lang="en-US" sz="850" dirty="0"/>
          </a:p>
        </p:txBody>
      </p:sp>
      <p:sp>
        <p:nvSpPr>
          <p:cNvPr id="20" name="Text 18"/>
          <p:cNvSpPr/>
          <p:nvPr/>
        </p:nvSpPr>
        <p:spPr>
          <a:xfrm>
            <a:off x="502920" y="2869387"/>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letterbox=False  · r2</a:t>
            </a:r>
            <a:endParaRPr lang="en-US" sz="850" dirty="0"/>
          </a:p>
        </p:txBody>
      </p:sp>
      <p:sp>
        <p:nvSpPr>
          <p:cNvPr id="21" name="Shape 19"/>
          <p:cNvSpPr/>
          <p:nvPr/>
        </p:nvSpPr>
        <p:spPr>
          <a:xfrm>
            <a:off x="6964528" y="2915564"/>
            <a:ext cx="3249915" cy="150876"/>
          </a:xfrm>
          <a:prstGeom prst="roundRect">
            <a:avLst>
              <a:gd name="adj" fmla="val 12121"/>
            </a:avLst>
          </a:prstGeom>
          <a:solidFill>
            <a:srgbClr val="F5A524"/>
          </a:solidFill>
          <a:ln/>
        </p:spPr>
      </p:sp>
      <p:sp>
        <p:nvSpPr>
          <p:cNvPr id="22" name="Text 20"/>
          <p:cNvSpPr/>
          <p:nvPr/>
        </p:nvSpPr>
        <p:spPr>
          <a:xfrm>
            <a:off x="11121847" y="2869387"/>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0.975</a:t>
            </a:r>
            <a:endParaRPr lang="en-US" sz="850" dirty="0"/>
          </a:p>
        </p:txBody>
      </p:sp>
      <p:sp>
        <p:nvSpPr>
          <p:cNvPr id="23" name="Text 21"/>
          <p:cNvSpPr/>
          <p:nvPr/>
        </p:nvSpPr>
        <p:spPr>
          <a:xfrm>
            <a:off x="502920" y="3112618"/>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gamma=1.4  · r3</a:t>
            </a:r>
            <a:endParaRPr lang="en-US" sz="850" dirty="0"/>
          </a:p>
        </p:txBody>
      </p:sp>
      <p:sp>
        <p:nvSpPr>
          <p:cNvPr id="24" name="Shape 22"/>
          <p:cNvSpPr/>
          <p:nvPr/>
        </p:nvSpPr>
        <p:spPr>
          <a:xfrm>
            <a:off x="6964528" y="3158795"/>
            <a:ext cx="2950788" cy="150876"/>
          </a:xfrm>
          <a:prstGeom prst="roundRect">
            <a:avLst>
              <a:gd name="adj" fmla="val 12121"/>
            </a:avLst>
          </a:prstGeom>
          <a:solidFill>
            <a:srgbClr val="0E8F5C"/>
          </a:solidFill>
          <a:ln/>
        </p:spPr>
      </p:sp>
      <p:sp>
        <p:nvSpPr>
          <p:cNvPr id="25" name="Text 23"/>
          <p:cNvSpPr/>
          <p:nvPr/>
        </p:nvSpPr>
        <p:spPr>
          <a:xfrm>
            <a:off x="11121847" y="3112618"/>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0.962</a:t>
            </a:r>
            <a:endParaRPr lang="en-US" sz="850" dirty="0"/>
          </a:p>
        </p:txBody>
      </p:sp>
      <p:sp>
        <p:nvSpPr>
          <p:cNvPr id="26" name="Text 24"/>
          <p:cNvSpPr/>
          <p:nvPr/>
        </p:nvSpPr>
        <p:spPr>
          <a:xfrm>
            <a:off x="502920" y="3355848"/>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saturation=0.5  · r3</a:t>
            </a:r>
            <a:endParaRPr lang="en-US" sz="850" dirty="0"/>
          </a:p>
        </p:txBody>
      </p:sp>
      <p:sp>
        <p:nvSpPr>
          <p:cNvPr id="27" name="Shape 25"/>
          <p:cNvSpPr/>
          <p:nvPr/>
        </p:nvSpPr>
        <p:spPr>
          <a:xfrm>
            <a:off x="6964528" y="3402025"/>
            <a:ext cx="3486068" cy="150876"/>
          </a:xfrm>
          <a:prstGeom prst="roundRect">
            <a:avLst>
              <a:gd name="adj" fmla="val 12121"/>
            </a:avLst>
          </a:prstGeom>
          <a:solidFill>
            <a:srgbClr val="F5A524"/>
          </a:solidFill>
          <a:ln/>
        </p:spPr>
      </p:sp>
      <p:sp>
        <p:nvSpPr>
          <p:cNvPr id="28" name="Text 26"/>
          <p:cNvSpPr/>
          <p:nvPr/>
        </p:nvSpPr>
        <p:spPr>
          <a:xfrm>
            <a:off x="11121847" y="3355848"/>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0.986</a:t>
            </a:r>
            <a:endParaRPr lang="en-US" sz="850" dirty="0"/>
          </a:p>
        </p:txBody>
      </p:sp>
      <p:sp>
        <p:nvSpPr>
          <p:cNvPr id="29" name="Text 27"/>
          <p:cNvSpPr/>
          <p:nvPr/>
        </p:nvSpPr>
        <p:spPr>
          <a:xfrm>
            <a:off x="502920" y="3599078"/>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gamma=0.7  · r2</a:t>
            </a:r>
            <a:endParaRPr lang="en-US" sz="850" dirty="0"/>
          </a:p>
        </p:txBody>
      </p:sp>
      <p:sp>
        <p:nvSpPr>
          <p:cNvPr id="30" name="Shape 28"/>
          <p:cNvSpPr/>
          <p:nvPr/>
        </p:nvSpPr>
        <p:spPr>
          <a:xfrm>
            <a:off x="6964528" y="3645256"/>
            <a:ext cx="3213930" cy="150876"/>
          </a:xfrm>
          <a:prstGeom prst="roundRect">
            <a:avLst>
              <a:gd name="adj" fmla="val 12121"/>
            </a:avLst>
          </a:prstGeom>
          <a:solidFill>
            <a:srgbClr val="F5A524"/>
          </a:solidFill>
          <a:ln/>
        </p:spPr>
      </p:sp>
      <p:sp>
        <p:nvSpPr>
          <p:cNvPr id="31" name="Text 29"/>
          <p:cNvSpPr/>
          <p:nvPr/>
        </p:nvSpPr>
        <p:spPr>
          <a:xfrm>
            <a:off x="11121847" y="3599078"/>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0.974</a:t>
            </a:r>
            <a:endParaRPr lang="en-US" sz="850" dirty="0"/>
          </a:p>
        </p:txBody>
      </p:sp>
      <p:sp>
        <p:nvSpPr>
          <p:cNvPr id="32" name="Text 30"/>
          <p:cNvSpPr/>
          <p:nvPr/>
        </p:nvSpPr>
        <p:spPr>
          <a:xfrm>
            <a:off x="502920" y="3842309"/>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centre_crop=0.7  · r1</a:t>
            </a:r>
            <a:endParaRPr lang="en-US" sz="850" dirty="0"/>
          </a:p>
        </p:txBody>
      </p:sp>
      <p:sp>
        <p:nvSpPr>
          <p:cNvPr id="33" name="Shape 31"/>
          <p:cNvSpPr/>
          <p:nvPr/>
        </p:nvSpPr>
        <p:spPr>
          <a:xfrm>
            <a:off x="6964528" y="3888486"/>
            <a:ext cx="2993520" cy="150876"/>
          </a:xfrm>
          <a:prstGeom prst="roundRect">
            <a:avLst>
              <a:gd name="adj" fmla="val 12121"/>
            </a:avLst>
          </a:prstGeom>
          <a:solidFill>
            <a:srgbClr val="F5A524"/>
          </a:solidFill>
          <a:ln/>
        </p:spPr>
      </p:sp>
      <p:sp>
        <p:nvSpPr>
          <p:cNvPr id="34" name="Text 32"/>
          <p:cNvSpPr/>
          <p:nvPr/>
        </p:nvSpPr>
        <p:spPr>
          <a:xfrm>
            <a:off x="11121847" y="3842309"/>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0.964</a:t>
            </a:r>
            <a:endParaRPr lang="en-US" sz="850" dirty="0"/>
          </a:p>
        </p:txBody>
      </p:sp>
      <p:sp>
        <p:nvSpPr>
          <p:cNvPr id="35" name="Text 33"/>
          <p:cNvSpPr/>
          <p:nvPr/>
        </p:nvSpPr>
        <p:spPr>
          <a:xfrm>
            <a:off x="502920" y="4085539"/>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per_image_standardise=True  · r3</a:t>
            </a:r>
            <a:endParaRPr lang="en-US" sz="850" dirty="0"/>
          </a:p>
        </p:txBody>
      </p:sp>
      <p:sp>
        <p:nvSpPr>
          <p:cNvPr id="36" name="Shape 34"/>
          <p:cNvSpPr/>
          <p:nvPr/>
        </p:nvSpPr>
        <p:spPr>
          <a:xfrm>
            <a:off x="6964528" y="4131716"/>
            <a:ext cx="2910304" cy="150876"/>
          </a:xfrm>
          <a:prstGeom prst="roundRect">
            <a:avLst>
              <a:gd name="adj" fmla="val 12121"/>
            </a:avLst>
          </a:prstGeom>
          <a:solidFill>
            <a:srgbClr val="F5A524"/>
          </a:solidFill>
          <a:ln/>
        </p:spPr>
      </p:sp>
      <p:sp>
        <p:nvSpPr>
          <p:cNvPr id="37" name="Text 35"/>
          <p:cNvSpPr/>
          <p:nvPr/>
        </p:nvSpPr>
        <p:spPr>
          <a:xfrm>
            <a:off x="11121847" y="4085539"/>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0.960</a:t>
            </a:r>
            <a:endParaRPr lang="en-US" sz="850" dirty="0"/>
          </a:p>
        </p:txBody>
      </p:sp>
      <p:sp>
        <p:nvSpPr>
          <p:cNvPr id="38" name="Text 36"/>
          <p:cNvSpPr/>
          <p:nvPr/>
        </p:nvSpPr>
        <p:spPr>
          <a:xfrm>
            <a:off x="502920" y="4328770"/>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sharpen=0.6  · r3</a:t>
            </a:r>
            <a:endParaRPr lang="en-US" sz="850" dirty="0"/>
          </a:p>
        </p:txBody>
      </p:sp>
      <p:sp>
        <p:nvSpPr>
          <p:cNvPr id="39" name="Shape 37"/>
          <p:cNvSpPr/>
          <p:nvPr/>
        </p:nvSpPr>
        <p:spPr>
          <a:xfrm>
            <a:off x="6964528" y="4374947"/>
            <a:ext cx="3335380" cy="150876"/>
          </a:xfrm>
          <a:prstGeom prst="roundRect">
            <a:avLst>
              <a:gd name="adj" fmla="val 12121"/>
            </a:avLst>
          </a:prstGeom>
          <a:solidFill>
            <a:srgbClr val="F5A524"/>
          </a:solidFill>
          <a:ln/>
        </p:spPr>
      </p:sp>
      <p:sp>
        <p:nvSpPr>
          <p:cNvPr id="40" name="Text 38"/>
          <p:cNvSpPr/>
          <p:nvPr/>
        </p:nvSpPr>
        <p:spPr>
          <a:xfrm>
            <a:off x="11121847" y="4328770"/>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0.979</a:t>
            </a:r>
            <a:endParaRPr lang="en-US" sz="850" dirty="0"/>
          </a:p>
        </p:txBody>
      </p:sp>
      <p:sp>
        <p:nvSpPr>
          <p:cNvPr id="41" name="Text 39"/>
          <p:cNvSpPr/>
          <p:nvPr/>
        </p:nvSpPr>
        <p:spPr>
          <a:xfrm>
            <a:off x="502920" y="4572000"/>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saturation=0.0  · r2</a:t>
            </a:r>
            <a:endParaRPr lang="en-US" sz="850" dirty="0"/>
          </a:p>
        </p:txBody>
      </p:sp>
      <p:sp>
        <p:nvSpPr>
          <p:cNvPr id="42" name="Shape 40"/>
          <p:cNvSpPr/>
          <p:nvPr/>
        </p:nvSpPr>
        <p:spPr>
          <a:xfrm>
            <a:off x="6964528" y="4618177"/>
            <a:ext cx="2105135" cy="150876"/>
          </a:xfrm>
          <a:prstGeom prst="roundRect">
            <a:avLst>
              <a:gd name="adj" fmla="val 12121"/>
            </a:avLst>
          </a:prstGeom>
          <a:solidFill>
            <a:srgbClr val="F5A524"/>
          </a:solidFill>
          <a:ln/>
        </p:spPr>
      </p:sp>
      <p:sp>
        <p:nvSpPr>
          <p:cNvPr id="43" name="Text 41"/>
          <p:cNvSpPr/>
          <p:nvPr/>
        </p:nvSpPr>
        <p:spPr>
          <a:xfrm>
            <a:off x="11121847" y="4572000"/>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0.924</a:t>
            </a:r>
            <a:endParaRPr lang="en-US" sz="850" dirty="0"/>
          </a:p>
        </p:txBody>
      </p:sp>
      <p:sp>
        <p:nvSpPr>
          <p:cNvPr id="44" name="Text 42"/>
          <p:cNvSpPr/>
          <p:nvPr/>
        </p:nvSpPr>
        <p:spPr>
          <a:xfrm>
            <a:off x="502920" y="4815230"/>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denoise=25.0  · r2</a:t>
            </a:r>
            <a:endParaRPr lang="en-US" sz="850" dirty="0"/>
          </a:p>
        </p:txBody>
      </p:sp>
      <p:sp>
        <p:nvSpPr>
          <p:cNvPr id="45" name="Shape 43"/>
          <p:cNvSpPr/>
          <p:nvPr/>
        </p:nvSpPr>
        <p:spPr>
          <a:xfrm>
            <a:off x="6964528" y="4861408"/>
            <a:ext cx="3479321" cy="150876"/>
          </a:xfrm>
          <a:prstGeom prst="roundRect">
            <a:avLst>
              <a:gd name="adj" fmla="val 12121"/>
            </a:avLst>
          </a:prstGeom>
          <a:solidFill>
            <a:srgbClr val="F5A524"/>
          </a:solidFill>
          <a:ln/>
        </p:spPr>
      </p:sp>
      <p:sp>
        <p:nvSpPr>
          <p:cNvPr id="46" name="Text 44"/>
          <p:cNvSpPr/>
          <p:nvPr/>
        </p:nvSpPr>
        <p:spPr>
          <a:xfrm>
            <a:off x="11121847" y="4815230"/>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0.986</a:t>
            </a:r>
            <a:endParaRPr lang="en-US" sz="850" dirty="0"/>
          </a:p>
        </p:txBody>
      </p:sp>
      <p:sp>
        <p:nvSpPr>
          <p:cNvPr id="47" name="Text 45"/>
          <p:cNvSpPr/>
          <p:nvPr/>
        </p:nvSpPr>
        <p:spPr>
          <a:xfrm>
            <a:off x="502920" y="5058461"/>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undistort=0.3  · r1</a:t>
            </a:r>
            <a:endParaRPr lang="en-US" sz="850" dirty="0"/>
          </a:p>
        </p:txBody>
      </p:sp>
      <p:sp>
        <p:nvSpPr>
          <p:cNvPr id="48" name="Shape 46"/>
          <p:cNvSpPr/>
          <p:nvPr/>
        </p:nvSpPr>
        <p:spPr>
          <a:xfrm>
            <a:off x="6964528" y="5104638"/>
            <a:ext cx="1828499" cy="150876"/>
          </a:xfrm>
          <a:prstGeom prst="roundRect">
            <a:avLst>
              <a:gd name="adj" fmla="val 12121"/>
            </a:avLst>
          </a:prstGeom>
          <a:solidFill>
            <a:srgbClr val="F5A524"/>
          </a:solidFill>
          <a:ln/>
        </p:spPr>
      </p:sp>
      <p:sp>
        <p:nvSpPr>
          <p:cNvPr id="49" name="Text 47"/>
          <p:cNvSpPr/>
          <p:nvPr/>
        </p:nvSpPr>
        <p:spPr>
          <a:xfrm>
            <a:off x="11121847" y="5058461"/>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0.912</a:t>
            </a:r>
            <a:endParaRPr lang="en-US" sz="850" dirty="0"/>
          </a:p>
        </p:txBody>
      </p:sp>
      <p:sp>
        <p:nvSpPr>
          <p:cNvPr id="50" name="Text 48"/>
          <p:cNvSpPr/>
          <p:nvPr/>
        </p:nvSpPr>
        <p:spPr>
          <a:xfrm>
            <a:off x="502920" y="5301691"/>
            <a:ext cx="2267712" cy="243230"/>
          </a:xfrm>
          <a:prstGeom prst="rect">
            <a:avLst/>
          </a:prstGeom>
          <a:noFill/>
          <a:ln/>
        </p:spPr>
        <p:txBody>
          <a:bodyPr wrap="square" rtlCol="0" anchor="ctr"/>
          <a:lstStyle/>
          <a:p>
            <a:pPr algn="r" indent="0" marL="0">
              <a:buNone/>
            </a:pPr>
            <a:r>
              <a:rPr lang="en-US" sz="850" dirty="0">
                <a:solidFill>
                  <a:srgbClr val="4B5A58"/>
                </a:solidFill>
                <a:latin typeface="Consolas" pitchFamily="34" charset="0"/>
                <a:ea typeface="Consolas" pitchFamily="34" charset="-122"/>
                <a:cs typeface="Consolas" pitchFamily="34" charset="-120"/>
              </a:rPr>
              <a:t>saturation=0.0  · r1</a:t>
            </a:r>
            <a:endParaRPr lang="en-US" sz="850" dirty="0"/>
          </a:p>
        </p:txBody>
      </p:sp>
      <p:sp>
        <p:nvSpPr>
          <p:cNvPr id="51" name="Shape 49"/>
          <p:cNvSpPr/>
          <p:nvPr/>
        </p:nvSpPr>
        <p:spPr>
          <a:xfrm>
            <a:off x="6703635" y="5347868"/>
            <a:ext cx="260893" cy="150876"/>
          </a:xfrm>
          <a:prstGeom prst="roundRect">
            <a:avLst>
              <a:gd name="adj" fmla="val 12121"/>
            </a:avLst>
          </a:prstGeom>
          <a:solidFill>
            <a:srgbClr val="D22D4C"/>
          </a:solidFill>
          <a:ln/>
        </p:spPr>
      </p:sp>
      <p:sp>
        <p:nvSpPr>
          <p:cNvPr id="52" name="Text 50"/>
          <p:cNvSpPr/>
          <p:nvPr/>
        </p:nvSpPr>
        <p:spPr>
          <a:xfrm>
            <a:off x="11121847" y="5301691"/>
            <a:ext cx="566928" cy="243230"/>
          </a:xfrm>
          <a:prstGeom prst="rect">
            <a:avLst/>
          </a:prstGeom>
          <a:noFill/>
          <a:ln/>
        </p:spPr>
        <p:txBody>
          <a:bodyPr wrap="square" rtlCol="0" anchor="ctr"/>
          <a:lstStyle/>
          <a:p>
            <a:pPr indent="0" marL="0">
              <a:buNone/>
            </a:pPr>
            <a:r>
              <a:rPr lang="en-US" sz="850" b="1" dirty="0">
                <a:solidFill>
                  <a:srgbClr val="111817"/>
                </a:solidFill>
                <a:latin typeface="Consolas" pitchFamily="34" charset="0"/>
                <a:ea typeface="Consolas" pitchFamily="34" charset="-122"/>
                <a:cs typeface="Consolas" pitchFamily="34" charset="-120"/>
              </a:rPr>
              <a:t>0.819</a:t>
            </a:r>
            <a:endParaRPr lang="en-US" sz="850" dirty="0"/>
          </a:p>
        </p:txBody>
      </p:sp>
      <p:sp>
        <p:nvSpPr>
          <p:cNvPr id="53" name="Text 51"/>
          <p:cNvSpPr/>
          <p:nvPr/>
        </p:nvSpPr>
        <p:spPr>
          <a:xfrm>
            <a:off x="2898648" y="5581498"/>
            <a:ext cx="1097280" cy="219456"/>
          </a:xfrm>
          <a:prstGeom prst="rect">
            <a:avLst/>
          </a:prstGeom>
          <a:noFill/>
          <a:ln/>
        </p:spPr>
        <p:txBody>
          <a:bodyPr wrap="square" rtlCol="0" anchor="ctr"/>
          <a:lstStyle/>
          <a:p>
            <a:pPr indent="0" marL="0">
              <a:buNone/>
            </a:pPr>
            <a:r>
              <a:rPr lang="en-US" sz="900" dirty="0">
                <a:solidFill>
                  <a:srgbClr val="7A8886"/>
                </a:solidFill>
                <a:latin typeface="Consolas" pitchFamily="34" charset="0"/>
                <a:ea typeface="Consolas" pitchFamily="34" charset="-122"/>
                <a:cs typeface="Consolas" pitchFamily="34" charset="-120"/>
              </a:rPr>
              <a:t>worse</a:t>
            </a:r>
            <a:endParaRPr lang="en-US" sz="900" dirty="0"/>
          </a:p>
        </p:txBody>
      </p:sp>
      <p:sp>
        <p:nvSpPr>
          <p:cNvPr id="54" name="Text 52"/>
          <p:cNvSpPr/>
          <p:nvPr/>
        </p:nvSpPr>
        <p:spPr>
          <a:xfrm>
            <a:off x="6415888" y="5581498"/>
            <a:ext cx="1097280" cy="219456"/>
          </a:xfrm>
          <a:prstGeom prst="rect">
            <a:avLst/>
          </a:prstGeom>
          <a:noFill/>
          <a:ln/>
        </p:spPr>
        <p:txBody>
          <a:bodyPr wrap="square" rtlCol="0" anchor="ctr"/>
          <a:lstStyle/>
          <a:p>
            <a:pPr algn="ctr" indent="0" marL="0">
              <a:buNone/>
            </a:pPr>
            <a:r>
              <a:rPr lang="en-US" sz="900" dirty="0">
                <a:solidFill>
                  <a:srgbClr val="7A8886"/>
                </a:solidFill>
                <a:latin typeface="Consolas" pitchFamily="34" charset="0"/>
                <a:ea typeface="Consolas" pitchFamily="34" charset="-122"/>
                <a:cs typeface="Consolas" pitchFamily="34" charset="-120"/>
              </a:rPr>
              <a:t>baseline</a:t>
            </a:r>
            <a:endParaRPr lang="en-US" sz="900" dirty="0"/>
          </a:p>
        </p:txBody>
      </p:sp>
      <p:sp>
        <p:nvSpPr>
          <p:cNvPr id="55" name="Text 53"/>
          <p:cNvSpPr/>
          <p:nvPr/>
        </p:nvSpPr>
        <p:spPr>
          <a:xfrm>
            <a:off x="9933127" y="5581498"/>
            <a:ext cx="1097280" cy="219456"/>
          </a:xfrm>
          <a:prstGeom prst="rect">
            <a:avLst/>
          </a:prstGeom>
          <a:noFill/>
          <a:ln/>
        </p:spPr>
        <p:txBody>
          <a:bodyPr wrap="square" rtlCol="0" anchor="ctr"/>
          <a:lstStyle/>
          <a:p>
            <a:pPr algn="r" indent="0" marL="0">
              <a:buNone/>
            </a:pPr>
            <a:r>
              <a:rPr lang="en-US" sz="900" dirty="0">
                <a:solidFill>
                  <a:srgbClr val="7A8886"/>
                </a:solidFill>
                <a:latin typeface="Consolas" pitchFamily="34" charset="0"/>
                <a:ea typeface="Consolas" pitchFamily="34" charset="-122"/>
                <a:cs typeface="Consolas" pitchFamily="34" charset="-120"/>
              </a:rPr>
              <a:t>better</a:t>
            </a:r>
            <a:endParaRPr lang="en-US" sz="900" dirty="0"/>
          </a:p>
        </p:txBody>
      </p:sp>
      <p:sp>
        <p:nvSpPr>
          <p:cNvPr id="56" name="Shape 54"/>
          <p:cNvSpPr/>
          <p:nvPr/>
        </p:nvSpPr>
        <p:spPr>
          <a:xfrm>
            <a:off x="502920" y="5855818"/>
            <a:ext cx="128016" cy="128016"/>
          </a:xfrm>
          <a:prstGeom prst="rect">
            <a:avLst>
              <a:gd name="adj" fmla="val 14286"/>
            </a:avLst>
          </a:prstGeom>
          <a:solidFill>
            <a:srgbClr val="0E8F5C"/>
          </a:solidFill>
          <a:ln/>
        </p:spPr>
      </p:sp>
      <p:sp>
        <p:nvSpPr>
          <p:cNvPr id="57" name="Text 55"/>
          <p:cNvSpPr/>
          <p:nvPr/>
        </p:nvSpPr>
        <p:spPr>
          <a:xfrm>
            <a:off x="685800" y="5800954"/>
            <a:ext cx="3291840" cy="237744"/>
          </a:xfrm>
          <a:prstGeom prst="rect">
            <a:avLst/>
          </a:prstGeom>
          <a:noFill/>
          <a:ln/>
        </p:spPr>
        <p:txBody>
          <a:bodyPr wrap="square" rtlCol="0" anchor="ctr"/>
          <a:lstStyle/>
          <a:p>
            <a:pPr indent="0" marL="0">
              <a:buNone/>
            </a:pPr>
            <a:r>
              <a:rPr lang="en-US" sz="950" dirty="0">
                <a:solidFill>
                  <a:srgbClr val="7A8886"/>
                </a:solidFill>
                <a:latin typeface="Segoe UI" pitchFamily="34" charset="0"/>
                <a:ea typeface="Segoe UI" pitchFamily="34" charset="-122"/>
                <a:cs typeface="Segoe UI" pitchFamily="34" charset="-120"/>
              </a:rPr>
              <a:t>improved</a:t>
            </a:r>
            <a:endParaRPr lang="en-US" sz="950" dirty="0"/>
          </a:p>
        </p:txBody>
      </p:sp>
      <p:sp>
        <p:nvSpPr>
          <p:cNvPr id="58" name="Shape 56"/>
          <p:cNvSpPr/>
          <p:nvPr/>
        </p:nvSpPr>
        <p:spPr>
          <a:xfrm>
            <a:off x="1541678" y="5855818"/>
            <a:ext cx="128016" cy="128016"/>
          </a:xfrm>
          <a:prstGeom prst="rect">
            <a:avLst>
              <a:gd name="adj" fmla="val 14286"/>
            </a:avLst>
          </a:prstGeom>
          <a:solidFill>
            <a:srgbClr val="D22D4C"/>
          </a:solidFill>
          <a:ln/>
        </p:spPr>
      </p:sp>
      <p:sp>
        <p:nvSpPr>
          <p:cNvPr id="59" name="Text 57"/>
          <p:cNvSpPr/>
          <p:nvPr/>
        </p:nvSpPr>
        <p:spPr>
          <a:xfrm>
            <a:off x="1724558" y="5800954"/>
            <a:ext cx="3291840" cy="237744"/>
          </a:xfrm>
          <a:prstGeom prst="rect">
            <a:avLst/>
          </a:prstGeom>
          <a:noFill/>
          <a:ln/>
        </p:spPr>
        <p:txBody>
          <a:bodyPr wrap="square" rtlCol="0" anchor="ctr"/>
          <a:lstStyle/>
          <a:p>
            <a:pPr indent="0" marL="0">
              <a:buNone/>
            </a:pPr>
            <a:r>
              <a:rPr lang="en-US" sz="950" dirty="0">
                <a:solidFill>
                  <a:srgbClr val="7A8886"/>
                </a:solidFill>
                <a:latin typeface="Segoe UI" pitchFamily="34" charset="0"/>
                <a:ea typeface="Segoe UI" pitchFamily="34" charset="-122"/>
                <a:cs typeface="Segoe UI" pitchFamily="34" charset="-120"/>
              </a:rPr>
              <a:t>worse</a:t>
            </a:r>
            <a:endParaRPr lang="en-US" sz="950" dirty="0"/>
          </a:p>
        </p:txBody>
      </p:sp>
      <p:sp>
        <p:nvSpPr>
          <p:cNvPr id="60" name="Shape 58"/>
          <p:cNvSpPr/>
          <p:nvPr/>
        </p:nvSpPr>
        <p:spPr>
          <a:xfrm>
            <a:off x="2410358" y="5855818"/>
            <a:ext cx="128016" cy="128016"/>
          </a:xfrm>
          <a:prstGeom prst="rect">
            <a:avLst>
              <a:gd name="adj" fmla="val 14286"/>
            </a:avLst>
          </a:prstGeom>
          <a:solidFill>
            <a:srgbClr val="F5A524"/>
          </a:solidFill>
          <a:ln/>
        </p:spPr>
      </p:sp>
      <p:sp>
        <p:nvSpPr>
          <p:cNvPr id="61" name="Text 59"/>
          <p:cNvSpPr/>
          <p:nvPr/>
        </p:nvSpPr>
        <p:spPr>
          <a:xfrm>
            <a:off x="2593238" y="5800954"/>
            <a:ext cx="3291840" cy="237744"/>
          </a:xfrm>
          <a:prstGeom prst="rect">
            <a:avLst/>
          </a:prstGeom>
          <a:noFill/>
          <a:ln/>
        </p:spPr>
        <p:txBody>
          <a:bodyPr wrap="square" rtlCol="0" anchor="ctr"/>
          <a:lstStyle/>
          <a:p>
            <a:pPr indent="0" marL="0">
              <a:buNone/>
            </a:pPr>
            <a:r>
              <a:rPr lang="en-US" sz="950" dirty="0">
                <a:solidFill>
                  <a:srgbClr val="7A8886"/>
                </a:solidFill>
                <a:latin typeface="Segoe UI" pitchFamily="34" charset="0"/>
                <a:ea typeface="Segoe UI" pitchFamily="34" charset="-122"/>
                <a:cs typeface="Segoe UI" pitchFamily="34" charset="-120"/>
              </a:rPr>
              <a:t>gained recall but also raised false alarms</a:t>
            </a:r>
            <a:endParaRPr lang="en-US" sz="950" dirty="0"/>
          </a:p>
        </p:txBody>
      </p:sp>
      <p:sp>
        <p:nvSpPr>
          <p:cNvPr id="62" name="Text 60"/>
          <p:cNvSpPr/>
          <p:nvPr/>
        </p:nvSpPr>
        <p:spPr>
          <a:xfrm>
            <a:off x="502920" y="6130138"/>
            <a:ext cx="11185855" cy="457200"/>
          </a:xfrm>
          <a:prstGeom prst="rect">
            <a:avLst/>
          </a:prstGeom>
          <a:noFill/>
          <a:ln/>
        </p:spPr>
        <p:txBody>
          <a:bodyPr wrap="square" rtlCol="0" anchor="t"/>
          <a:lstStyle/>
          <a:p>
            <a:pPr indent="0" marL="0">
              <a:lnSpc>
                <a:spcPts val="1400"/>
              </a:lnSpc>
              <a:buNone/>
            </a:pPr>
            <a:r>
              <a:rPr lang="en-US" sz="1000" dirty="0">
                <a:solidFill>
                  <a:srgbClr val="7A8886"/>
                </a:solidFill>
                <a:latin typeface="Segoe UI" pitchFamily="34" charset="0"/>
                <a:ea typeface="Segoe UI" pitchFamily="34" charset="-122"/>
                <a:cs typeface="Segoe UI" pitchFamily="34" charset="-120"/>
              </a:rPr>
              <a:t>Every cross-venue test set is entirely active play, so recall can be bought by predicting “playing” more often. Amber bars did exactly that and are not improvements. Top 14 of 43 by </a:t>
            </a:r>
            <a:pPr indent="0" marL="0">
              <a:lnSpc>
                <a:spcPts val="1400"/>
              </a:lnSpc>
              <a:buNone/>
            </a:pPr>
            <a:r>
              <a:rPr lang="en-US" sz="1000" b="1" dirty="0">
                <a:solidFill>
                  <a:srgbClr val="7A8886"/>
                </a:solidFill>
                <a:latin typeface="Segoe UI" pitchFamily="34" charset="0"/>
                <a:ea typeface="Segoe UI" pitchFamily="34" charset="-122"/>
                <a:cs typeface="Segoe UI" pitchFamily="34" charset="-120"/>
              </a:rPr>
              <a:t>balanced = recall − false-play</a:t>
            </a:r>
            <a:pPr indent="0" marL="0">
              <a:lnSpc>
                <a:spcPts val="1400"/>
              </a:lnSpc>
              <a:buNone/>
            </a:pPr>
            <a:r>
              <a:rPr lang="en-US" sz="1000" dirty="0">
                <a:solidFill>
                  <a:srgbClr val="7A8886"/>
                </a:solidFill>
                <a:latin typeface="Segoe UI" pitchFamily="34" charset="0"/>
                <a:ea typeface="Segoe UI" pitchFamily="34" charset="-122"/>
                <a:cs typeface="Segoe UI" pitchFamily="34" charset="-120"/>
              </a:rPr>
              <a:t>; the untouched baseline ranks 21, which is why it is not on the chart. Three backbones over two frame counts: each finished run is saved under </a:t>
            </a:r>
            <a:pPr indent="0" marL="0">
              <a:lnSpc>
                <a:spcPts val="1400"/>
              </a:lnSpc>
              <a:buNone/>
            </a:pPr>
            <a:r>
              <a:rPr lang="en-US" sz="950" dirty="0">
                <a:solidFill>
                  <a:srgbClr val="7A8886"/>
                </a:solidFill>
                <a:latin typeface="Consolas" pitchFamily="34" charset="0"/>
                <a:ea typeface="Consolas" pitchFamily="34" charset="-122"/>
                <a:cs typeface="Consolas" pitchFamily="34" charset="-120"/>
              </a:rPr>
              <a:t>results/search_runs/</a:t>
            </a:r>
            <a:pPr indent="0" marL="0">
              <a:lnSpc>
                <a:spcPts val="1400"/>
              </a:lnSpc>
              <a:buNone/>
            </a:pPr>
            <a:r>
              <a:rPr lang="en-US" sz="1000" dirty="0">
                <a:solidFill>
                  <a:srgbClr val="7A8886"/>
                </a:solidFill>
                <a:latin typeface="Segoe UI" pitchFamily="34" charset="0"/>
                <a:ea typeface="Segoe UI" pitchFamily="34" charset="-122"/>
                <a:cs typeface="Segoe UI" pitchFamily="34" charset="-120"/>
              </a:rPr>
              <a:t>, so the six can be compared without re-running any of them.</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20" fill="hold"/>
                                        <p:tgtEl>
                                          <p:spTgt spid="8"/>
                                        </p:tgtEl>
                                        <p:attrNameLst>
                                          <p:attrName>ppt_y</p:attrName>
                                        </p:attrNameLst>
                                      </p:cBhvr>
                                      <p:tavLst>
                                        <p:tav tm="0">
                                          <p:val>
                                            <p:strVal val="#ppt_y+0.035"/>
                                          </p:val>
                                        </p:tav>
                                        <p:tav tm="100000">
                                          <p:val>
                                            <p:strVal val="#ppt_y"/>
                                          </p:val>
                                        </p:tav>
                                      </p:tavLst>
                                    </p:anim>
                                    <p:animEffect transition="in" filter="fade">
                                      <p:cBhvr>
                                        <p:cTn id="8" dur="520"/>
                                        <p:tgtEl>
                                          <p:spTgt spid="8"/>
                                        </p:tgtEl>
                                      </p:cBhvr>
                                    </p:animEffect>
                                  </p:childTnLst>
                                </p:cTn>
                              </p:par>
                              <p:par>
                                <p:cTn id="9" presetID="34"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20" fill="hold"/>
                                        <p:tgtEl>
                                          <p:spTgt spid="9"/>
                                        </p:tgtEl>
                                        <p:attrNameLst>
                                          <p:attrName>ppt_y</p:attrName>
                                        </p:attrNameLst>
                                      </p:cBhvr>
                                      <p:tavLst>
                                        <p:tav tm="0">
                                          <p:val>
                                            <p:strVal val="#ppt_y+0.035"/>
                                          </p:val>
                                        </p:tav>
                                        <p:tav tm="100000">
                                          <p:val>
                                            <p:strVal val="#ppt_y"/>
                                          </p:val>
                                        </p:tav>
                                      </p:tavLst>
                                    </p:anim>
                                    <p:animEffect transition="in" filter="fade">
                                      <p:cBhvr>
                                        <p:cTn id="12" dur="52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4" presetClass="entr" presetSubtype="0" fill="hold" grpId="0" nodeType="afterEffect">
                                  <p:stCondLst>
                                    <p:cond delay="58"/>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20" fill="hold"/>
                                        <p:tgtEl>
                                          <p:spTgt spid="10"/>
                                        </p:tgtEl>
                                        <p:attrNameLst>
                                          <p:attrName>ppt_y</p:attrName>
                                        </p:attrNameLst>
                                      </p:cBhvr>
                                      <p:tavLst>
                                        <p:tav tm="0">
                                          <p:val>
                                            <p:strVal val="#ppt_y+0.035"/>
                                          </p:val>
                                        </p:tav>
                                        <p:tav tm="100000">
                                          <p:val>
                                            <p:strVal val="#ppt_y"/>
                                          </p:val>
                                        </p:tav>
                                      </p:tavLst>
                                    </p:anim>
                                    <p:animEffect transition="in" filter="fade">
                                      <p:cBhvr>
                                        <p:cTn id="18" dur="52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afterEffect">
                                  <p:stCondLst>
                                    <p:cond delay="58"/>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20" fill="hold"/>
                                        <p:tgtEl>
                                          <p:spTgt spid="11"/>
                                        </p:tgtEl>
                                        <p:attrNameLst>
                                          <p:attrName>ppt_y</p:attrName>
                                        </p:attrNameLst>
                                      </p:cBhvr>
                                      <p:tavLst>
                                        <p:tav tm="0">
                                          <p:val>
                                            <p:strVal val="#ppt_y+0.035"/>
                                          </p:val>
                                        </p:tav>
                                        <p:tav tm="100000">
                                          <p:val>
                                            <p:strVal val="#ppt_y"/>
                                          </p:val>
                                        </p:tav>
                                      </p:tavLst>
                                    </p:anim>
                                    <p:animEffect transition="in" filter="fade">
                                      <p:cBhvr>
                                        <p:cTn id="24" dur="520"/>
                                        <p:tgtEl>
                                          <p:spTgt spid="11"/>
                                        </p:tgtEl>
                                      </p:cBhvr>
                                    </p:animEffect>
                                  </p:childTnLst>
                                </p:cTn>
                              </p:par>
                              <p:par>
                                <p:cTn id="25" presetID="34"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20" fill="hold"/>
                                        <p:tgtEl>
                                          <p:spTgt spid="12"/>
                                        </p:tgtEl>
                                        <p:attrNameLst>
                                          <p:attrName>ppt_y</p:attrName>
                                        </p:attrNameLst>
                                      </p:cBhvr>
                                      <p:tavLst>
                                        <p:tav tm="0">
                                          <p:val>
                                            <p:strVal val="#ppt_y+0.035"/>
                                          </p:val>
                                        </p:tav>
                                        <p:tav tm="100000">
                                          <p:val>
                                            <p:strVal val="#ppt_y"/>
                                          </p:val>
                                        </p:tav>
                                      </p:tavLst>
                                    </p:anim>
                                    <p:animEffect transition="in" filter="fade">
                                      <p:cBhvr>
                                        <p:cTn id="28" dur="520"/>
                                        <p:tgtEl>
                                          <p:spTgt spid="12"/>
                                        </p:tgtEl>
                                      </p:cBhvr>
                                    </p:animEffect>
                                  </p:childTnLst>
                                </p:cTn>
                              </p:par>
                              <p:par>
                                <p:cTn id="29" presetID="34"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20" fill="hold"/>
                                        <p:tgtEl>
                                          <p:spTgt spid="13"/>
                                        </p:tgtEl>
                                        <p:attrNameLst>
                                          <p:attrName>ppt_y</p:attrName>
                                        </p:attrNameLst>
                                      </p:cBhvr>
                                      <p:tavLst>
                                        <p:tav tm="0">
                                          <p:val>
                                            <p:strVal val="#ppt_y+0.035"/>
                                          </p:val>
                                        </p:tav>
                                        <p:tav tm="100000">
                                          <p:val>
                                            <p:strVal val="#ppt_y"/>
                                          </p:val>
                                        </p:tav>
                                      </p:tavLst>
                                    </p:anim>
                                    <p:animEffect transition="in" filter="fade">
                                      <p:cBhvr>
                                        <p:cTn id="32" dur="52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34" presetClass="entr" presetSubtype="0" fill="hold" grpId="0" nodeType="afterEffect">
                                  <p:stCondLst>
                                    <p:cond delay="58"/>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20" fill="hold"/>
                                        <p:tgtEl>
                                          <p:spTgt spid="14"/>
                                        </p:tgtEl>
                                        <p:attrNameLst>
                                          <p:attrName>ppt_y</p:attrName>
                                        </p:attrNameLst>
                                      </p:cBhvr>
                                      <p:tavLst>
                                        <p:tav tm="0">
                                          <p:val>
                                            <p:strVal val="#ppt_y+0.035"/>
                                          </p:val>
                                        </p:tav>
                                        <p:tav tm="100000">
                                          <p:val>
                                            <p:strVal val="#ppt_y"/>
                                          </p:val>
                                        </p:tav>
                                      </p:tavLst>
                                    </p:anim>
                                    <p:animEffect transition="in" filter="fade">
                                      <p:cBhvr>
                                        <p:cTn id="38" dur="520"/>
                                        <p:tgtEl>
                                          <p:spTgt spid="14"/>
                                        </p:tgtEl>
                                      </p:cBhvr>
                                    </p:animEffect>
                                  </p:childTnLst>
                                </p:cTn>
                              </p:par>
                              <p:par>
                                <p:cTn id="39" presetID="34"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20" fill="hold"/>
                                        <p:tgtEl>
                                          <p:spTgt spid="15"/>
                                        </p:tgtEl>
                                        <p:attrNameLst>
                                          <p:attrName>ppt_y</p:attrName>
                                        </p:attrNameLst>
                                      </p:cBhvr>
                                      <p:tavLst>
                                        <p:tav tm="0">
                                          <p:val>
                                            <p:strVal val="#ppt_y+0.035"/>
                                          </p:val>
                                        </p:tav>
                                        <p:tav tm="100000">
                                          <p:val>
                                            <p:strVal val="#ppt_y"/>
                                          </p:val>
                                        </p:tav>
                                      </p:tavLst>
                                    </p:anim>
                                    <p:animEffect transition="in" filter="fade">
                                      <p:cBhvr>
                                        <p:cTn id="42" dur="520"/>
                                        <p:tgtEl>
                                          <p:spTgt spid="15"/>
                                        </p:tgtEl>
                                      </p:cBhvr>
                                    </p:animEffect>
                                  </p:childTnLst>
                                </p:cTn>
                              </p:par>
                              <p:par>
                                <p:cTn id="43" presetID="34"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20" fill="hold"/>
                                        <p:tgtEl>
                                          <p:spTgt spid="16"/>
                                        </p:tgtEl>
                                        <p:attrNameLst>
                                          <p:attrName>ppt_y</p:attrName>
                                        </p:attrNameLst>
                                      </p:cBhvr>
                                      <p:tavLst>
                                        <p:tav tm="0">
                                          <p:val>
                                            <p:strVal val="#ppt_y+0.035"/>
                                          </p:val>
                                        </p:tav>
                                        <p:tav tm="100000">
                                          <p:val>
                                            <p:strVal val="#ppt_y"/>
                                          </p:val>
                                        </p:tav>
                                      </p:tavLst>
                                    </p:anim>
                                    <p:animEffect transition="in" filter="fade">
                                      <p:cBhvr>
                                        <p:cTn id="46" dur="52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34" presetClass="entr" presetSubtype="0" fill="hold" grpId="0" nodeType="afterEffect">
                                  <p:stCondLst>
                                    <p:cond delay="58"/>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20" fill="hold"/>
                                        <p:tgtEl>
                                          <p:spTgt spid="17"/>
                                        </p:tgtEl>
                                        <p:attrNameLst>
                                          <p:attrName>ppt_y</p:attrName>
                                        </p:attrNameLst>
                                      </p:cBhvr>
                                      <p:tavLst>
                                        <p:tav tm="0">
                                          <p:val>
                                            <p:strVal val="#ppt_y+0.035"/>
                                          </p:val>
                                        </p:tav>
                                        <p:tav tm="100000">
                                          <p:val>
                                            <p:strVal val="#ppt_y"/>
                                          </p:val>
                                        </p:tav>
                                      </p:tavLst>
                                    </p:anim>
                                    <p:animEffect transition="in" filter="fade">
                                      <p:cBhvr>
                                        <p:cTn id="52" dur="520"/>
                                        <p:tgtEl>
                                          <p:spTgt spid="17"/>
                                        </p:tgtEl>
                                      </p:cBhvr>
                                    </p:animEffect>
                                  </p:childTnLst>
                                </p:cTn>
                              </p:par>
                              <p:par>
                                <p:cTn id="53" presetID="34"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20" fill="hold"/>
                                        <p:tgtEl>
                                          <p:spTgt spid="18"/>
                                        </p:tgtEl>
                                        <p:attrNameLst>
                                          <p:attrName>ppt_y</p:attrName>
                                        </p:attrNameLst>
                                      </p:cBhvr>
                                      <p:tavLst>
                                        <p:tav tm="0">
                                          <p:val>
                                            <p:strVal val="#ppt_y+0.035"/>
                                          </p:val>
                                        </p:tav>
                                        <p:tav tm="100000">
                                          <p:val>
                                            <p:strVal val="#ppt_y"/>
                                          </p:val>
                                        </p:tav>
                                      </p:tavLst>
                                    </p:anim>
                                    <p:animEffect transition="in" filter="fade">
                                      <p:cBhvr>
                                        <p:cTn id="56" dur="520"/>
                                        <p:tgtEl>
                                          <p:spTgt spid="18"/>
                                        </p:tgtEl>
                                      </p:cBhvr>
                                    </p:animEffect>
                                  </p:childTnLst>
                                </p:cTn>
                              </p:par>
                              <p:par>
                                <p:cTn id="57" presetID="34"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20" fill="hold"/>
                                        <p:tgtEl>
                                          <p:spTgt spid="19"/>
                                        </p:tgtEl>
                                        <p:attrNameLst>
                                          <p:attrName>ppt_y</p:attrName>
                                        </p:attrNameLst>
                                      </p:cBhvr>
                                      <p:tavLst>
                                        <p:tav tm="0">
                                          <p:val>
                                            <p:strVal val="#ppt_y+0.035"/>
                                          </p:val>
                                        </p:tav>
                                        <p:tav tm="100000">
                                          <p:val>
                                            <p:strVal val="#ppt_y"/>
                                          </p:val>
                                        </p:tav>
                                      </p:tavLst>
                                    </p:anim>
                                    <p:animEffect transition="in" filter="fade">
                                      <p:cBhvr>
                                        <p:cTn id="60" dur="52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34" presetClass="entr" presetSubtype="0" fill="hold" grpId="0" nodeType="afterEffect">
                                  <p:stCondLst>
                                    <p:cond delay="58"/>
                                  </p:stCondLst>
                                  <p:childTnLst>
                                    <p:set>
                                      <p:cBhvr>
                                        <p:cTn id="64" dur="1" fill="hold">
                                          <p:stCondLst>
                                            <p:cond delay="0"/>
                                          </p:stCondLst>
                                        </p:cTn>
                                        <p:tgtEl>
                                          <p:spTgt spid="20"/>
                                        </p:tgtEl>
                                        <p:attrNameLst>
                                          <p:attrName>style.visibility</p:attrName>
                                        </p:attrNameLst>
                                      </p:cBhvr>
                                      <p:to>
                                        <p:strVal val="visible"/>
                                      </p:to>
                                    </p:set>
                                    <p:anim calcmode="lin" valueType="num">
                                      <p:cBhvr additive="base">
                                        <p:cTn id="65" dur="520" fill="hold"/>
                                        <p:tgtEl>
                                          <p:spTgt spid="20"/>
                                        </p:tgtEl>
                                        <p:attrNameLst>
                                          <p:attrName>ppt_y</p:attrName>
                                        </p:attrNameLst>
                                      </p:cBhvr>
                                      <p:tavLst>
                                        <p:tav tm="0">
                                          <p:val>
                                            <p:strVal val="#ppt_y+0.035"/>
                                          </p:val>
                                        </p:tav>
                                        <p:tav tm="100000">
                                          <p:val>
                                            <p:strVal val="#ppt_y"/>
                                          </p:val>
                                        </p:tav>
                                      </p:tavLst>
                                    </p:anim>
                                    <p:animEffect transition="in" filter="fade">
                                      <p:cBhvr>
                                        <p:cTn id="66" dur="520"/>
                                        <p:tgtEl>
                                          <p:spTgt spid="20"/>
                                        </p:tgtEl>
                                      </p:cBhvr>
                                    </p:animEffect>
                                  </p:childTnLst>
                                </p:cTn>
                              </p:par>
                              <p:par>
                                <p:cTn id="67" presetID="34"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20" fill="hold"/>
                                        <p:tgtEl>
                                          <p:spTgt spid="21"/>
                                        </p:tgtEl>
                                        <p:attrNameLst>
                                          <p:attrName>ppt_y</p:attrName>
                                        </p:attrNameLst>
                                      </p:cBhvr>
                                      <p:tavLst>
                                        <p:tav tm="0">
                                          <p:val>
                                            <p:strVal val="#ppt_y+0.035"/>
                                          </p:val>
                                        </p:tav>
                                        <p:tav tm="100000">
                                          <p:val>
                                            <p:strVal val="#ppt_y"/>
                                          </p:val>
                                        </p:tav>
                                      </p:tavLst>
                                    </p:anim>
                                    <p:animEffect transition="in" filter="fade">
                                      <p:cBhvr>
                                        <p:cTn id="70" dur="520"/>
                                        <p:tgtEl>
                                          <p:spTgt spid="21"/>
                                        </p:tgtEl>
                                      </p:cBhvr>
                                    </p:animEffect>
                                  </p:childTnLst>
                                </p:cTn>
                              </p:par>
                              <p:par>
                                <p:cTn id="71" presetID="34"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additive="base">
                                        <p:cTn id="73" dur="520" fill="hold"/>
                                        <p:tgtEl>
                                          <p:spTgt spid="22"/>
                                        </p:tgtEl>
                                        <p:attrNameLst>
                                          <p:attrName>ppt_y</p:attrName>
                                        </p:attrNameLst>
                                      </p:cBhvr>
                                      <p:tavLst>
                                        <p:tav tm="0">
                                          <p:val>
                                            <p:strVal val="#ppt_y+0.035"/>
                                          </p:val>
                                        </p:tav>
                                        <p:tav tm="100000">
                                          <p:val>
                                            <p:strVal val="#ppt_y"/>
                                          </p:val>
                                        </p:tav>
                                      </p:tavLst>
                                    </p:anim>
                                    <p:animEffect transition="in" filter="fade">
                                      <p:cBhvr>
                                        <p:cTn id="74" dur="520"/>
                                        <p:tgtEl>
                                          <p:spTgt spid="22"/>
                                        </p:tgtEl>
                                      </p:cBhvr>
                                    </p:animEffect>
                                  </p:childTnLst>
                                </p:cTn>
                              </p:par>
                            </p:childTnLst>
                          </p:cTn>
                        </p:par>
                      </p:childTnLst>
                    </p:cTn>
                  </p:par>
                  <p:par>
                    <p:cTn id="75" fill="hold">
                      <p:stCondLst>
                        <p:cond delay="indefinite"/>
                      </p:stCondLst>
                      <p:childTnLst>
                        <p:par>
                          <p:cTn id="76" fill="hold">
                            <p:stCondLst>
                              <p:cond delay="0"/>
                            </p:stCondLst>
                            <p:childTnLst>
                              <p:par>
                                <p:cTn id="77" presetID="34" presetClass="entr" presetSubtype="0" fill="hold" grpId="0" nodeType="afterEffect">
                                  <p:stCondLst>
                                    <p:cond delay="58"/>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20" fill="hold"/>
                                        <p:tgtEl>
                                          <p:spTgt spid="23"/>
                                        </p:tgtEl>
                                        <p:attrNameLst>
                                          <p:attrName>ppt_y</p:attrName>
                                        </p:attrNameLst>
                                      </p:cBhvr>
                                      <p:tavLst>
                                        <p:tav tm="0">
                                          <p:val>
                                            <p:strVal val="#ppt_y+0.035"/>
                                          </p:val>
                                        </p:tav>
                                        <p:tav tm="100000">
                                          <p:val>
                                            <p:strVal val="#ppt_y"/>
                                          </p:val>
                                        </p:tav>
                                      </p:tavLst>
                                    </p:anim>
                                    <p:animEffect transition="in" filter="fade">
                                      <p:cBhvr>
                                        <p:cTn id="80" dur="520"/>
                                        <p:tgtEl>
                                          <p:spTgt spid="23"/>
                                        </p:tgtEl>
                                      </p:cBhvr>
                                    </p:animEffect>
                                  </p:childTnLst>
                                </p:cTn>
                              </p:par>
                              <p:par>
                                <p:cTn id="81" presetID="34"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20" fill="hold"/>
                                        <p:tgtEl>
                                          <p:spTgt spid="24"/>
                                        </p:tgtEl>
                                        <p:attrNameLst>
                                          <p:attrName>ppt_y</p:attrName>
                                        </p:attrNameLst>
                                      </p:cBhvr>
                                      <p:tavLst>
                                        <p:tav tm="0">
                                          <p:val>
                                            <p:strVal val="#ppt_y+0.035"/>
                                          </p:val>
                                        </p:tav>
                                        <p:tav tm="100000">
                                          <p:val>
                                            <p:strVal val="#ppt_y"/>
                                          </p:val>
                                        </p:tav>
                                      </p:tavLst>
                                    </p:anim>
                                    <p:animEffect transition="in" filter="fade">
                                      <p:cBhvr>
                                        <p:cTn id="84" dur="520"/>
                                        <p:tgtEl>
                                          <p:spTgt spid="24"/>
                                        </p:tgtEl>
                                      </p:cBhvr>
                                    </p:animEffect>
                                  </p:childTnLst>
                                </p:cTn>
                              </p:par>
                              <p:par>
                                <p:cTn id="85" presetID="34"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20" fill="hold"/>
                                        <p:tgtEl>
                                          <p:spTgt spid="25"/>
                                        </p:tgtEl>
                                        <p:attrNameLst>
                                          <p:attrName>ppt_y</p:attrName>
                                        </p:attrNameLst>
                                      </p:cBhvr>
                                      <p:tavLst>
                                        <p:tav tm="0">
                                          <p:val>
                                            <p:strVal val="#ppt_y+0.035"/>
                                          </p:val>
                                        </p:tav>
                                        <p:tav tm="100000">
                                          <p:val>
                                            <p:strVal val="#ppt_y"/>
                                          </p:val>
                                        </p:tav>
                                      </p:tavLst>
                                    </p:anim>
                                    <p:animEffect transition="in" filter="fade">
                                      <p:cBhvr>
                                        <p:cTn id="88" dur="520"/>
                                        <p:tgtEl>
                                          <p:spTgt spid="25"/>
                                        </p:tgtEl>
                                      </p:cBhvr>
                                    </p:animEffect>
                                  </p:childTnLst>
                                </p:cTn>
                              </p:par>
                            </p:childTnLst>
                          </p:cTn>
                        </p:par>
                      </p:childTnLst>
                    </p:cTn>
                  </p:par>
                  <p:par>
                    <p:cTn id="89" fill="hold">
                      <p:stCondLst>
                        <p:cond delay="indefinite"/>
                      </p:stCondLst>
                      <p:childTnLst>
                        <p:par>
                          <p:cTn id="90" fill="hold">
                            <p:stCondLst>
                              <p:cond delay="0"/>
                            </p:stCondLst>
                            <p:childTnLst>
                              <p:par>
                                <p:cTn id="91" presetID="34" presetClass="entr" presetSubtype="0" fill="hold" grpId="0" nodeType="afterEffect">
                                  <p:stCondLst>
                                    <p:cond delay="58"/>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20" fill="hold"/>
                                        <p:tgtEl>
                                          <p:spTgt spid="26"/>
                                        </p:tgtEl>
                                        <p:attrNameLst>
                                          <p:attrName>ppt_y</p:attrName>
                                        </p:attrNameLst>
                                      </p:cBhvr>
                                      <p:tavLst>
                                        <p:tav tm="0">
                                          <p:val>
                                            <p:strVal val="#ppt_y+0.035"/>
                                          </p:val>
                                        </p:tav>
                                        <p:tav tm="100000">
                                          <p:val>
                                            <p:strVal val="#ppt_y"/>
                                          </p:val>
                                        </p:tav>
                                      </p:tavLst>
                                    </p:anim>
                                    <p:animEffect transition="in" filter="fade">
                                      <p:cBhvr>
                                        <p:cTn id="94" dur="520"/>
                                        <p:tgtEl>
                                          <p:spTgt spid="26"/>
                                        </p:tgtEl>
                                      </p:cBhvr>
                                    </p:animEffect>
                                  </p:childTnLst>
                                </p:cTn>
                              </p:par>
                              <p:par>
                                <p:cTn id="95" presetID="34" presetClass="entr" presetSubtype="0" fill="hold" grpId="0" nodeType="with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20" fill="hold"/>
                                        <p:tgtEl>
                                          <p:spTgt spid="27"/>
                                        </p:tgtEl>
                                        <p:attrNameLst>
                                          <p:attrName>ppt_y</p:attrName>
                                        </p:attrNameLst>
                                      </p:cBhvr>
                                      <p:tavLst>
                                        <p:tav tm="0">
                                          <p:val>
                                            <p:strVal val="#ppt_y+0.035"/>
                                          </p:val>
                                        </p:tav>
                                        <p:tav tm="100000">
                                          <p:val>
                                            <p:strVal val="#ppt_y"/>
                                          </p:val>
                                        </p:tav>
                                      </p:tavLst>
                                    </p:anim>
                                    <p:animEffect transition="in" filter="fade">
                                      <p:cBhvr>
                                        <p:cTn id="98" dur="520"/>
                                        <p:tgtEl>
                                          <p:spTgt spid="27"/>
                                        </p:tgtEl>
                                      </p:cBhvr>
                                    </p:animEffect>
                                  </p:childTnLst>
                                </p:cTn>
                              </p:par>
                              <p:par>
                                <p:cTn id="99" presetID="34" presetClass="entr" presetSubtype="0" fill="hold" grpId="0" nodeType="withEffect">
                                  <p:stCondLst>
                                    <p:cond delay="0"/>
                                  </p:stCondLst>
                                  <p:childTnLst>
                                    <p:set>
                                      <p:cBhvr>
                                        <p:cTn id="100" dur="1" fill="hold">
                                          <p:stCondLst>
                                            <p:cond delay="0"/>
                                          </p:stCondLst>
                                        </p:cTn>
                                        <p:tgtEl>
                                          <p:spTgt spid="28"/>
                                        </p:tgtEl>
                                        <p:attrNameLst>
                                          <p:attrName>style.visibility</p:attrName>
                                        </p:attrNameLst>
                                      </p:cBhvr>
                                      <p:to>
                                        <p:strVal val="visible"/>
                                      </p:to>
                                    </p:set>
                                    <p:anim calcmode="lin" valueType="num">
                                      <p:cBhvr additive="base">
                                        <p:cTn id="101" dur="520" fill="hold"/>
                                        <p:tgtEl>
                                          <p:spTgt spid="28"/>
                                        </p:tgtEl>
                                        <p:attrNameLst>
                                          <p:attrName>ppt_y</p:attrName>
                                        </p:attrNameLst>
                                      </p:cBhvr>
                                      <p:tavLst>
                                        <p:tav tm="0">
                                          <p:val>
                                            <p:strVal val="#ppt_y+0.035"/>
                                          </p:val>
                                        </p:tav>
                                        <p:tav tm="100000">
                                          <p:val>
                                            <p:strVal val="#ppt_y"/>
                                          </p:val>
                                        </p:tav>
                                      </p:tavLst>
                                    </p:anim>
                                    <p:animEffect transition="in" filter="fade">
                                      <p:cBhvr>
                                        <p:cTn id="102" dur="520"/>
                                        <p:tgtEl>
                                          <p:spTgt spid="28"/>
                                        </p:tgtEl>
                                      </p:cBhvr>
                                    </p:animEffect>
                                  </p:childTnLst>
                                </p:cTn>
                              </p:par>
                            </p:childTnLst>
                          </p:cTn>
                        </p:par>
                      </p:childTnLst>
                    </p:cTn>
                  </p:par>
                  <p:par>
                    <p:cTn id="103" fill="hold">
                      <p:stCondLst>
                        <p:cond delay="indefinite"/>
                      </p:stCondLst>
                      <p:childTnLst>
                        <p:par>
                          <p:cTn id="104" fill="hold">
                            <p:stCondLst>
                              <p:cond delay="0"/>
                            </p:stCondLst>
                            <p:childTnLst>
                              <p:par>
                                <p:cTn id="105" presetID="34" presetClass="entr" presetSubtype="0" fill="hold" grpId="0" nodeType="afterEffect">
                                  <p:stCondLst>
                                    <p:cond delay="58"/>
                                  </p:stCondLst>
                                  <p:childTnLst>
                                    <p:set>
                                      <p:cBhvr>
                                        <p:cTn id="106" dur="1" fill="hold">
                                          <p:stCondLst>
                                            <p:cond delay="0"/>
                                          </p:stCondLst>
                                        </p:cTn>
                                        <p:tgtEl>
                                          <p:spTgt spid="29"/>
                                        </p:tgtEl>
                                        <p:attrNameLst>
                                          <p:attrName>style.visibility</p:attrName>
                                        </p:attrNameLst>
                                      </p:cBhvr>
                                      <p:to>
                                        <p:strVal val="visible"/>
                                      </p:to>
                                    </p:set>
                                    <p:anim calcmode="lin" valueType="num">
                                      <p:cBhvr additive="base">
                                        <p:cTn id="107" dur="520" fill="hold"/>
                                        <p:tgtEl>
                                          <p:spTgt spid="29"/>
                                        </p:tgtEl>
                                        <p:attrNameLst>
                                          <p:attrName>ppt_y</p:attrName>
                                        </p:attrNameLst>
                                      </p:cBhvr>
                                      <p:tavLst>
                                        <p:tav tm="0">
                                          <p:val>
                                            <p:strVal val="#ppt_y+0.035"/>
                                          </p:val>
                                        </p:tav>
                                        <p:tav tm="100000">
                                          <p:val>
                                            <p:strVal val="#ppt_y"/>
                                          </p:val>
                                        </p:tav>
                                      </p:tavLst>
                                    </p:anim>
                                    <p:animEffect transition="in" filter="fade">
                                      <p:cBhvr>
                                        <p:cTn id="108" dur="520"/>
                                        <p:tgtEl>
                                          <p:spTgt spid="29"/>
                                        </p:tgtEl>
                                      </p:cBhvr>
                                    </p:animEffect>
                                  </p:childTnLst>
                                </p:cTn>
                              </p:par>
                              <p:par>
                                <p:cTn id="109" presetID="34" presetClass="entr" presetSubtype="0" fill="hold" grpId="0" nodeType="withEffect">
                                  <p:stCondLst>
                                    <p:cond delay="0"/>
                                  </p:stCondLst>
                                  <p:childTnLst>
                                    <p:set>
                                      <p:cBhvr>
                                        <p:cTn id="110" dur="1" fill="hold">
                                          <p:stCondLst>
                                            <p:cond delay="0"/>
                                          </p:stCondLst>
                                        </p:cTn>
                                        <p:tgtEl>
                                          <p:spTgt spid="30"/>
                                        </p:tgtEl>
                                        <p:attrNameLst>
                                          <p:attrName>style.visibility</p:attrName>
                                        </p:attrNameLst>
                                      </p:cBhvr>
                                      <p:to>
                                        <p:strVal val="visible"/>
                                      </p:to>
                                    </p:set>
                                    <p:anim calcmode="lin" valueType="num">
                                      <p:cBhvr additive="base">
                                        <p:cTn id="111" dur="520" fill="hold"/>
                                        <p:tgtEl>
                                          <p:spTgt spid="30"/>
                                        </p:tgtEl>
                                        <p:attrNameLst>
                                          <p:attrName>ppt_y</p:attrName>
                                        </p:attrNameLst>
                                      </p:cBhvr>
                                      <p:tavLst>
                                        <p:tav tm="0">
                                          <p:val>
                                            <p:strVal val="#ppt_y+0.035"/>
                                          </p:val>
                                        </p:tav>
                                        <p:tav tm="100000">
                                          <p:val>
                                            <p:strVal val="#ppt_y"/>
                                          </p:val>
                                        </p:tav>
                                      </p:tavLst>
                                    </p:anim>
                                    <p:animEffect transition="in" filter="fade">
                                      <p:cBhvr>
                                        <p:cTn id="112" dur="520"/>
                                        <p:tgtEl>
                                          <p:spTgt spid="30"/>
                                        </p:tgtEl>
                                      </p:cBhvr>
                                    </p:animEffect>
                                  </p:childTnLst>
                                </p:cTn>
                              </p:par>
                              <p:par>
                                <p:cTn id="113" presetID="34" presetClass="entr" presetSubtype="0" fill="hold" grpId="0" nodeType="withEffect">
                                  <p:stCondLst>
                                    <p:cond delay="0"/>
                                  </p:stCondLst>
                                  <p:childTnLst>
                                    <p:set>
                                      <p:cBhvr>
                                        <p:cTn id="114" dur="1" fill="hold">
                                          <p:stCondLst>
                                            <p:cond delay="0"/>
                                          </p:stCondLst>
                                        </p:cTn>
                                        <p:tgtEl>
                                          <p:spTgt spid="31"/>
                                        </p:tgtEl>
                                        <p:attrNameLst>
                                          <p:attrName>style.visibility</p:attrName>
                                        </p:attrNameLst>
                                      </p:cBhvr>
                                      <p:to>
                                        <p:strVal val="visible"/>
                                      </p:to>
                                    </p:set>
                                    <p:anim calcmode="lin" valueType="num">
                                      <p:cBhvr additive="base">
                                        <p:cTn id="115" dur="520" fill="hold"/>
                                        <p:tgtEl>
                                          <p:spTgt spid="31"/>
                                        </p:tgtEl>
                                        <p:attrNameLst>
                                          <p:attrName>ppt_y</p:attrName>
                                        </p:attrNameLst>
                                      </p:cBhvr>
                                      <p:tavLst>
                                        <p:tav tm="0">
                                          <p:val>
                                            <p:strVal val="#ppt_y+0.035"/>
                                          </p:val>
                                        </p:tav>
                                        <p:tav tm="100000">
                                          <p:val>
                                            <p:strVal val="#ppt_y"/>
                                          </p:val>
                                        </p:tav>
                                      </p:tavLst>
                                    </p:anim>
                                    <p:animEffect transition="in" filter="fade">
                                      <p:cBhvr>
                                        <p:cTn id="116" dur="520"/>
                                        <p:tgtEl>
                                          <p:spTgt spid="31"/>
                                        </p:tgtEl>
                                      </p:cBhvr>
                                    </p:animEffect>
                                  </p:childTnLst>
                                </p:cTn>
                              </p:par>
                            </p:childTnLst>
                          </p:cTn>
                        </p:par>
                      </p:childTnLst>
                    </p:cTn>
                  </p:par>
                  <p:par>
                    <p:cTn id="117" fill="hold">
                      <p:stCondLst>
                        <p:cond delay="indefinite"/>
                      </p:stCondLst>
                      <p:childTnLst>
                        <p:par>
                          <p:cTn id="118" fill="hold">
                            <p:stCondLst>
                              <p:cond delay="0"/>
                            </p:stCondLst>
                            <p:childTnLst>
                              <p:par>
                                <p:cTn id="119" presetID="34" presetClass="entr" presetSubtype="0" fill="hold" grpId="0" nodeType="afterEffect">
                                  <p:stCondLst>
                                    <p:cond delay="58"/>
                                  </p:stCondLst>
                                  <p:childTnLst>
                                    <p:set>
                                      <p:cBhvr>
                                        <p:cTn id="120" dur="1" fill="hold">
                                          <p:stCondLst>
                                            <p:cond delay="0"/>
                                          </p:stCondLst>
                                        </p:cTn>
                                        <p:tgtEl>
                                          <p:spTgt spid="32"/>
                                        </p:tgtEl>
                                        <p:attrNameLst>
                                          <p:attrName>style.visibility</p:attrName>
                                        </p:attrNameLst>
                                      </p:cBhvr>
                                      <p:to>
                                        <p:strVal val="visible"/>
                                      </p:to>
                                    </p:set>
                                    <p:anim calcmode="lin" valueType="num">
                                      <p:cBhvr additive="base">
                                        <p:cTn id="121" dur="520" fill="hold"/>
                                        <p:tgtEl>
                                          <p:spTgt spid="32"/>
                                        </p:tgtEl>
                                        <p:attrNameLst>
                                          <p:attrName>ppt_y</p:attrName>
                                        </p:attrNameLst>
                                      </p:cBhvr>
                                      <p:tavLst>
                                        <p:tav tm="0">
                                          <p:val>
                                            <p:strVal val="#ppt_y+0.035"/>
                                          </p:val>
                                        </p:tav>
                                        <p:tav tm="100000">
                                          <p:val>
                                            <p:strVal val="#ppt_y"/>
                                          </p:val>
                                        </p:tav>
                                      </p:tavLst>
                                    </p:anim>
                                    <p:animEffect transition="in" filter="fade">
                                      <p:cBhvr>
                                        <p:cTn id="122" dur="520"/>
                                        <p:tgtEl>
                                          <p:spTgt spid="32"/>
                                        </p:tgtEl>
                                      </p:cBhvr>
                                    </p:animEffect>
                                  </p:childTnLst>
                                </p:cTn>
                              </p:par>
                              <p:par>
                                <p:cTn id="123" presetID="34" presetClass="entr" presetSubtype="0" fill="hold" grpId="0" nodeType="withEffect">
                                  <p:stCondLst>
                                    <p:cond delay="0"/>
                                  </p:stCondLst>
                                  <p:childTnLst>
                                    <p:set>
                                      <p:cBhvr>
                                        <p:cTn id="124" dur="1" fill="hold">
                                          <p:stCondLst>
                                            <p:cond delay="0"/>
                                          </p:stCondLst>
                                        </p:cTn>
                                        <p:tgtEl>
                                          <p:spTgt spid="33"/>
                                        </p:tgtEl>
                                        <p:attrNameLst>
                                          <p:attrName>style.visibility</p:attrName>
                                        </p:attrNameLst>
                                      </p:cBhvr>
                                      <p:to>
                                        <p:strVal val="visible"/>
                                      </p:to>
                                    </p:set>
                                    <p:anim calcmode="lin" valueType="num">
                                      <p:cBhvr additive="base">
                                        <p:cTn id="125" dur="520" fill="hold"/>
                                        <p:tgtEl>
                                          <p:spTgt spid="33"/>
                                        </p:tgtEl>
                                        <p:attrNameLst>
                                          <p:attrName>ppt_y</p:attrName>
                                        </p:attrNameLst>
                                      </p:cBhvr>
                                      <p:tavLst>
                                        <p:tav tm="0">
                                          <p:val>
                                            <p:strVal val="#ppt_y+0.035"/>
                                          </p:val>
                                        </p:tav>
                                        <p:tav tm="100000">
                                          <p:val>
                                            <p:strVal val="#ppt_y"/>
                                          </p:val>
                                        </p:tav>
                                      </p:tavLst>
                                    </p:anim>
                                    <p:animEffect transition="in" filter="fade">
                                      <p:cBhvr>
                                        <p:cTn id="126" dur="520"/>
                                        <p:tgtEl>
                                          <p:spTgt spid="33"/>
                                        </p:tgtEl>
                                      </p:cBhvr>
                                    </p:animEffect>
                                  </p:childTnLst>
                                </p:cTn>
                              </p:par>
                              <p:par>
                                <p:cTn id="127" presetID="34" presetClass="entr" presetSubtype="0" fill="hold" grpId="0" nodeType="withEffect">
                                  <p:stCondLst>
                                    <p:cond delay="0"/>
                                  </p:stCondLst>
                                  <p:childTnLst>
                                    <p:set>
                                      <p:cBhvr>
                                        <p:cTn id="128" dur="1" fill="hold">
                                          <p:stCondLst>
                                            <p:cond delay="0"/>
                                          </p:stCondLst>
                                        </p:cTn>
                                        <p:tgtEl>
                                          <p:spTgt spid="34"/>
                                        </p:tgtEl>
                                        <p:attrNameLst>
                                          <p:attrName>style.visibility</p:attrName>
                                        </p:attrNameLst>
                                      </p:cBhvr>
                                      <p:to>
                                        <p:strVal val="visible"/>
                                      </p:to>
                                    </p:set>
                                    <p:anim calcmode="lin" valueType="num">
                                      <p:cBhvr additive="base">
                                        <p:cTn id="129" dur="520" fill="hold"/>
                                        <p:tgtEl>
                                          <p:spTgt spid="34"/>
                                        </p:tgtEl>
                                        <p:attrNameLst>
                                          <p:attrName>ppt_y</p:attrName>
                                        </p:attrNameLst>
                                      </p:cBhvr>
                                      <p:tavLst>
                                        <p:tav tm="0">
                                          <p:val>
                                            <p:strVal val="#ppt_y+0.035"/>
                                          </p:val>
                                        </p:tav>
                                        <p:tav tm="100000">
                                          <p:val>
                                            <p:strVal val="#ppt_y"/>
                                          </p:val>
                                        </p:tav>
                                      </p:tavLst>
                                    </p:anim>
                                    <p:animEffect transition="in" filter="fade">
                                      <p:cBhvr>
                                        <p:cTn id="130" dur="520"/>
                                        <p:tgtEl>
                                          <p:spTgt spid="34"/>
                                        </p:tgtEl>
                                      </p:cBhvr>
                                    </p:animEffect>
                                  </p:childTnLst>
                                </p:cTn>
                              </p:par>
                            </p:childTnLst>
                          </p:cTn>
                        </p:par>
                      </p:childTnLst>
                    </p:cTn>
                  </p:par>
                  <p:par>
                    <p:cTn id="131" fill="hold">
                      <p:stCondLst>
                        <p:cond delay="indefinite"/>
                      </p:stCondLst>
                      <p:childTnLst>
                        <p:par>
                          <p:cTn id="132" fill="hold">
                            <p:stCondLst>
                              <p:cond delay="0"/>
                            </p:stCondLst>
                            <p:childTnLst>
                              <p:par>
                                <p:cTn id="133" presetID="34" presetClass="entr" presetSubtype="0" fill="hold" grpId="0" nodeType="afterEffect">
                                  <p:stCondLst>
                                    <p:cond delay="58"/>
                                  </p:stCondLst>
                                  <p:childTnLst>
                                    <p:set>
                                      <p:cBhvr>
                                        <p:cTn id="134" dur="1" fill="hold">
                                          <p:stCondLst>
                                            <p:cond delay="0"/>
                                          </p:stCondLst>
                                        </p:cTn>
                                        <p:tgtEl>
                                          <p:spTgt spid="35"/>
                                        </p:tgtEl>
                                        <p:attrNameLst>
                                          <p:attrName>style.visibility</p:attrName>
                                        </p:attrNameLst>
                                      </p:cBhvr>
                                      <p:to>
                                        <p:strVal val="visible"/>
                                      </p:to>
                                    </p:set>
                                    <p:anim calcmode="lin" valueType="num">
                                      <p:cBhvr additive="base">
                                        <p:cTn id="135" dur="520" fill="hold"/>
                                        <p:tgtEl>
                                          <p:spTgt spid="35"/>
                                        </p:tgtEl>
                                        <p:attrNameLst>
                                          <p:attrName>ppt_y</p:attrName>
                                        </p:attrNameLst>
                                      </p:cBhvr>
                                      <p:tavLst>
                                        <p:tav tm="0">
                                          <p:val>
                                            <p:strVal val="#ppt_y+0.035"/>
                                          </p:val>
                                        </p:tav>
                                        <p:tav tm="100000">
                                          <p:val>
                                            <p:strVal val="#ppt_y"/>
                                          </p:val>
                                        </p:tav>
                                      </p:tavLst>
                                    </p:anim>
                                    <p:animEffect transition="in" filter="fade">
                                      <p:cBhvr>
                                        <p:cTn id="136" dur="520"/>
                                        <p:tgtEl>
                                          <p:spTgt spid="35"/>
                                        </p:tgtEl>
                                      </p:cBhvr>
                                    </p:animEffect>
                                  </p:childTnLst>
                                </p:cTn>
                              </p:par>
                              <p:par>
                                <p:cTn id="137" presetID="34" presetClass="entr" presetSubtype="0" fill="hold" grpId="0" nodeType="withEffect">
                                  <p:stCondLst>
                                    <p:cond delay="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520" fill="hold"/>
                                        <p:tgtEl>
                                          <p:spTgt spid="36"/>
                                        </p:tgtEl>
                                        <p:attrNameLst>
                                          <p:attrName>ppt_y</p:attrName>
                                        </p:attrNameLst>
                                      </p:cBhvr>
                                      <p:tavLst>
                                        <p:tav tm="0">
                                          <p:val>
                                            <p:strVal val="#ppt_y+0.035"/>
                                          </p:val>
                                        </p:tav>
                                        <p:tav tm="100000">
                                          <p:val>
                                            <p:strVal val="#ppt_y"/>
                                          </p:val>
                                        </p:tav>
                                      </p:tavLst>
                                    </p:anim>
                                    <p:animEffect transition="in" filter="fade">
                                      <p:cBhvr>
                                        <p:cTn id="140" dur="520"/>
                                        <p:tgtEl>
                                          <p:spTgt spid="36"/>
                                        </p:tgtEl>
                                      </p:cBhvr>
                                    </p:animEffect>
                                  </p:childTnLst>
                                </p:cTn>
                              </p:par>
                              <p:par>
                                <p:cTn id="141" presetID="34" presetClass="entr" presetSubtype="0" fill="hold" grpId="0" nodeType="withEffect">
                                  <p:stCondLst>
                                    <p:cond delay="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520" fill="hold"/>
                                        <p:tgtEl>
                                          <p:spTgt spid="37"/>
                                        </p:tgtEl>
                                        <p:attrNameLst>
                                          <p:attrName>ppt_y</p:attrName>
                                        </p:attrNameLst>
                                      </p:cBhvr>
                                      <p:tavLst>
                                        <p:tav tm="0">
                                          <p:val>
                                            <p:strVal val="#ppt_y+0.035"/>
                                          </p:val>
                                        </p:tav>
                                        <p:tav tm="100000">
                                          <p:val>
                                            <p:strVal val="#ppt_y"/>
                                          </p:val>
                                        </p:tav>
                                      </p:tavLst>
                                    </p:anim>
                                    <p:animEffect transition="in" filter="fade">
                                      <p:cBhvr>
                                        <p:cTn id="144" dur="520"/>
                                        <p:tgtEl>
                                          <p:spTgt spid="37"/>
                                        </p:tgtEl>
                                      </p:cBhvr>
                                    </p:animEffect>
                                  </p:childTnLst>
                                </p:cTn>
                              </p:par>
                            </p:childTnLst>
                          </p:cTn>
                        </p:par>
                      </p:childTnLst>
                    </p:cTn>
                  </p:par>
                  <p:par>
                    <p:cTn id="145" fill="hold">
                      <p:stCondLst>
                        <p:cond delay="indefinite"/>
                      </p:stCondLst>
                      <p:childTnLst>
                        <p:par>
                          <p:cTn id="146" fill="hold">
                            <p:stCondLst>
                              <p:cond delay="0"/>
                            </p:stCondLst>
                            <p:childTnLst>
                              <p:par>
                                <p:cTn id="147" presetID="34" presetClass="entr" presetSubtype="0" fill="hold" grpId="0" nodeType="afterEffect">
                                  <p:stCondLst>
                                    <p:cond delay="58"/>
                                  </p:stCondLst>
                                  <p:childTnLst>
                                    <p:set>
                                      <p:cBhvr>
                                        <p:cTn id="148" dur="1" fill="hold">
                                          <p:stCondLst>
                                            <p:cond delay="0"/>
                                          </p:stCondLst>
                                        </p:cTn>
                                        <p:tgtEl>
                                          <p:spTgt spid="38"/>
                                        </p:tgtEl>
                                        <p:attrNameLst>
                                          <p:attrName>style.visibility</p:attrName>
                                        </p:attrNameLst>
                                      </p:cBhvr>
                                      <p:to>
                                        <p:strVal val="visible"/>
                                      </p:to>
                                    </p:set>
                                    <p:anim calcmode="lin" valueType="num">
                                      <p:cBhvr additive="base">
                                        <p:cTn id="149" dur="520" fill="hold"/>
                                        <p:tgtEl>
                                          <p:spTgt spid="38"/>
                                        </p:tgtEl>
                                        <p:attrNameLst>
                                          <p:attrName>ppt_y</p:attrName>
                                        </p:attrNameLst>
                                      </p:cBhvr>
                                      <p:tavLst>
                                        <p:tav tm="0">
                                          <p:val>
                                            <p:strVal val="#ppt_y+0.035"/>
                                          </p:val>
                                        </p:tav>
                                        <p:tav tm="100000">
                                          <p:val>
                                            <p:strVal val="#ppt_y"/>
                                          </p:val>
                                        </p:tav>
                                      </p:tavLst>
                                    </p:anim>
                                    <p:animEffect transition="in" filter="fade">
                                      <p:cBhvr>
                                        <p:cTn id="150" dur="520"/>
                                        <p:tgtEl>
                                          <p:spTgt spid="38"/>
                                        </p:tgtEl>
                                      </p:cBhvr>
                                    </p:animEffect>
                                  </p:childTnLst>
                                </p:cTn>
                              </p:par>
                              <p:par>
                                <p:cTn id="151" presetID="34" presetClass="entr" presetSubtype="0" fill="hold" grpId="0" nodeType="withEffect">
                                  <p:stCondLst>
                                    <p:cond delay="0"/>
                                  </p:stCondLst>
                                  <p:childTnLst>
                                    <p:set>
                                      <p:cBhvr>
                                        <p:cTn id="152" dur="1" fill="hold">
                                          <p:stCondLst>
                                            <p:cond delay="0"/>
                                          </p:stCondLst>
                                        </p:cTn>
                                        <p:tgtEl>
                                          <p:spTgt spid="39"/>
                                        </p:tgtEl>
                                        <p:attrNameLst>
                                          <p:attrName>style.visibility</p:attrName>
                                        </p:attrNameLst>
                                      </p:cBhvr>
                                      <p:to>
                                        <p:strVal val="visible"/>
                                      </p:to>
                                    </p:set>
                                    <p:anim calcmode="lin" valueType="num">
                                      <p:cBhvr additive="base">
                                        <p:cTn id="153" dur="520" fill="hold"/>
                                        <p:tgtEl>
                                          <p:spTgt spid="39"/>
                                        </p:tgtEl>
                                        <p:attrNameLst>
                                          <p:attrName>ppt_y</p:attrName>
                                        </p:attrNameLst>
                                      </p:cBhvr>
                                      <p:tavLst>
                                        <p:tav tm="0">
                                          <p:val>
                                            <p:strVal val="#ppt_y+0.035"/>
                                          </p:val>
                                        </p:tav>
                                        <p:tav tm="100000">
                                          <p:val>
                                            <p:strVal val="#ppt_y"/>
                                          </p:val>
                                        </p:tav>
                                      </p:tavLst>
                                    </p:anim>
                                    <p:animEffect transition="in" filter="fade">
                                      <p:cBhvr>
                                        <p:cTn id="154" dur="520"/>
                                        <p:tgtEl>
                                          <p:spTgt spid="39"/>
                                        </p:tgtEl>
                                      </p:cBhvr>
                                    </p:animEffect>
                                  </p:childTnLst>
                                </p:cTn>
                              </p:par>
                              <p:par>
                                <p:cTn id="155" presetID="34" presetClass="entr" presetSubtype="0" fill="hold" grpId="0" nodeType="withEffect">
                                  <p:stCondLst>
                                    <p:cond delay="0"/>
                                  </p:stCondLst>
                                  <p:childTnLst>
                                    <p:set>
                                      <p:cBhvr>
                                        <p:cTn id="156" dur="1" fill="hold">
                                          <p:stCondLst>
                                            <p:cond delay="0"/>
                                          </p:stCondLst>
                                        </p:cTn>
                                        <p:tgtEl>
                                          <p:spTgt spid="40"/>
                                        </p:tgtEl>
                                        <p:attrNameLst>
                                          <p:attrName>style.visibility</p:attrName>
                                        </p:attrNameLst>
                                      </p:cBhvr>
                                      <p:to>
                                        <p:strVal val="visible"/>
                                      </p:to>
                                    </p:set>
                                    <p:anim calcmode="lin" valueType="num">
                                      <p:cBhvr additive="base">
                                        <p:cTn id="157" dur="520" fill="hold"/>
                                        <p:tgtEl>
                                          <p:spTgt spid="40"/>
                                        </p:tgtEl>
                                        <p:attrNameLst>
                                          <p:attrName>ppt_y</p:attrName>
                                        </p:attrNameLst>
                                      </p:cBhvr>
                                      <p:tavLst>
                                        <p:tav tm="0">
                                          <p:val>
                                            <p:strVal val="#ppt_y+0.035"/>
                                          </p:val>
                                        </p:tav>
                                        <p:tav tm="100000">
                                          <p:val>
                                            <p:strVal val="#ppt_y"/>
                                          </p:val>
                                        </p:tav>
                                      </p:tavLst>
                                    </p:anim>
                                    <p:animEffect transition="in" filter="fade">
                                      <p:cBhvr>
                                        <p:cTn id="158" dur="520"/>
                                        <p:tgtEl>
                                          <p:spTgt spid="40"/>
                                        </p:tgtEl>
                                      </p:cBhvr>
                                    </p:animEffect>
                                  </p:childTnLst>
                                </p:cTn>
                              </p:par>
                            </p:childTnLst>
                          </p:cTn>
                        </p:par>
                      </p:childTnLst>
                    </p:cTn>
                  </p:par>
                  <p:par>
                    <p:cTn id="159" fill="hold">
                      <p:stCondLst>
                        <p:cond delay="indefinite"/>
                      </p:stCondLst>
                      <p:childTnLst>
                        <p:par>
                          <p:cTn id="160" fill="hold">
                            <p:stCondLst>
                              <p:cond delay="0"/>
                            </p:stCondLst>
                            <p:childTnLst>
                              <p:par>
                                <p:cTn id="161" presetID="34" presetClass="entr" presetSubtype="0" fill="hold" grpId="0" nodeType="afterEffect">
                                  <p:stCondLst>
                                    <p:cond delay="58"/>
                                  </p:stCondLst>
                                  <p:childTnLst>
                                    <p:set>
                                      <p:cBhvr>
                                        <p:cTn id="162" dur="1" fill="hold">
                                          <p:stCondLst>
                                            <p:cond delay="0"/>
                                          </p:stCondLst>
                                        </p:cTn>
                                        <p:tgtEl>
                                          <p:spTgt spid="41"/>
                                        </p:tgtEl>
                                        <p:attrNameLst>
                                          <p:attrName>style.visibility</p:attrName>
                                        </p:attrNameLst>
                                      </p:cBhvr>
                                      <p:to>
                                        <p:strVal val="visible"/>
                                      </p:to>
                                    </p:set>
                                    <p:anim calcmode="lin" valueType="num">
                                      <p:cBhvr additive="base">
                                        <p:cTn id="163" dur="520" fill="hold"/>
                                        <p:tgtEl>
                                          <p:spTgt spid="41"/>
                                        </p:tgtEl>
                                        <p:attrNameLst>
                                          <p:attrName>ppt_y</p:attrName>
                                        </p:attrNameLst>
                                      </p:cBhvr>
                                      <p:tavLst>
                                        <p:tav tm="0">
                                          <p:val>
                                            <p:strVal val="#ppt_y+0.035"/>
                                          </p:val>
                                        </p:tav>
                                        <p:tav tm="100000">
                                          <p:val>
                                            <p:strVal val="#ppt_y"/>
                                          </p:val>
                                        </p:tav>
                                      </p:tavLst>
                                    </p:anim>
                                    <p:animEffect transition="in" filter="fade">
                                      <p:cBhvr>
                                        <p:cTn id="164" dur="520"/>
                                        <p:tgtEl>
                                          <p:spTgt spid="41"/>
                                        </p:tgtEl>
                                      </p:cBhvr>
                                    </p:animEffect>
                                  </p:childTnLst>
                                </p:cTn>
                              </p:par>
                              <p:par>
                                <p:cTn id="165" presetID="34" presetClass="entr" presetSubtype="0" fill="hold" grpId="0" nodeType="withEffect">
                                  <p:stCondLst>
                                    <p:cond delay="0"/>
                                  </p:stCondLst>
                                  <p:childTnLst>
                                    <p:set>
                                      <p:cBhvr>
                                        <p:cTn id="166" dur="1" fill="hold">
                                          <p:stCondLst>
                                            <p:cond delay="0"/>
                                          </p:stCondLst>
                                        </p:cTn>
                                        <p:tgtEl>
                                          <p:spTgt spid="42"/>
                                        </p:tgtEl>
                                        <p:attrNameLst>
                                          <p:attrName>style.visibility</p:attrName>
                                        </p:attrNameLst>
                                      </p:cBhvr>
                                      <p:to>
                                        <p:strVal val="visible"/>
                                      </p:to>
                                    </p:set>
                                    <p:anim calcmode="lin" valueType="num">
                                      <p:cBhvr additive="base">
                                        <p:cTn id="167" dur="520" fill="hold"/>
                                        <p:tgtEl>
                                          <p:spTgt spid="42"/>
                                        </p:tgtEl>
                                        <p:attrNameLst>
                                          <p:attrName>ppt_y</p:attrName>
                                        </p:attrNameLst>
                                      </p:cBhvr>
                                      <p:tavLst>
                                        <p:tav tm="0">
                                          <p:val>
                                            <p:strVal val="#ppt_y+0.035"/>
                                          </p:val>
                                        </p:tav>
                                        <p:tav tm="100000">
                                          <p:val>
                                            <p:strVal val="#ppt_y"/>
                                          </p:val>
                                        </p:tav>
                                      </p:tavLst>
                                    </p:anim>
                                    <p:animEffect transition="in" filter="fade">
                                      <p:cBhvr>
                                        <p:cTn id="168" dur="520"/>
                                        <p:tgtEl>
                                          <p:spTgt spid="42"/>
                                        </p:tgtEl>
                                      </p:cBhvr>
                                    </p:animEffect>
                                  </p:childTnLst>
                                </p:cTn>
                              </p:par>
                              <p:par>
                                <p:cTn id="169" presetID="34" presetClass="entr" presetSubtype="0" fill="hold" grpId="0" nodeType="withEffect">
                                  <p:stCondLst>
                                    <p:cond delay="0"/>
                                  </p:stCondLst>
                                  <p:childTnLst>
                                    <p:set>
                                      <p:cBhvr>
                                        <p:cTn id="170" dur="1" fill="hold">
                                          <p:stCondLst>
                                            <p:cond delay="0"/>
                                          </p:stCondLst>
                                        </p:cTn>
                                        <p:tgtEl>
                                          <p:spTgt spid="43"/>
                                        </p:tgtEl>
                                        <p:attrNameLst>
                                          <p:attrName>style.visibility</p:attrName>
                                        </p:attrNameLst>
                                      </p:cBhvr>
                                      <p:to>
                                        <p:strVal val="visible"/>
                                      </p:to>
                                    </p:set>
                                    <p:anim calcmode="lin" valueType="num">
                                      <p:cBhvr additive="base">
                                        <p:cTn id="171" dur="520" fill="hold"/>
                                        <p:tgtEl>
                                          <p:spTgt spid="43"/>
                                        </p:tgtEl>
                                        <p:attrNameLst>
                                          <p:attrName>ppt_y</p:attrName>
                                        </p:attrNameLst>
                                      </p:cBhvr>
                                      <p:tavLst>
                                        <p:tav tm="0">
                                          <p:val>
                                            <p:strVal val="#ppt_y+0.035"/>
                                          </p:val>
                                        </p:tav>
                                        <p:tav tm="100000">
                                          <p:val>
                                            <p:strVal val="#ppt_y"/>
                                          </p:val>
                                        </p:tav>
                                      </p:tavLst>
                                    </p:anim>
                                    <p:animEffect transition="in" filter="fade">
                                      <p:cBhvr>
                                        <p:cTn id="172" dur="520"/>
                                        <p:tgtEl>
                                          <p:spTgt spid="43"/>
                                        </p:tgtEl>
                                      </p:cBhvr>
                                    </p:animEffect>
                                  </p:childTnLst>
                                </p:cTn>
                              </p:par>
                            </p:childTnLst>
                          </p:cTn>
                        </p:par>
                      </p:childTnLst>
                    </p:cTn>
                  </p:par>
                  <p:par>
                    <p:cTn id="173" fill="hold">
                      <p:stCondLst>
                        <p:cond delay="indefinite"/>
                      </p:stCondLst>
                      <p:childTnLst>
                        <p:par>
                          <p:cTn id="174" fill="hold">
                            <p:stCondLst>
                              <p:cond delay="0"/>
                            </p:stCondLst>
                            <p:childTnLst>
                              <p:par>
                                <p:cTn id="175" presetID="34" presetClass="entr" presetSubtype="0" fill="hold" grpId="0" nodeType="afterEffect">
                                  <p:stCondLst>
                                    <p:cond delay="58"/>
                                  </p:stCondLst>
                                  <p:childTnLst>
                                    <p:set>
                                      <p:cBhvr>
                                        <p:cTn id="176" dur="1" fill="hold">
                                          <p:stCondLst>
                                            <p:cond delay="0"/>
                                          </p:stCondLst>
                                        </p:cTn>
                                        <p:tgtEl>
                                          <p:spTgt spid="44"/>
                                        </p:tgtEl>
                                        <p:attrNameLst>
                                          <p:attrName>style.visibility</p:attrName>
                                        </p:attrNameLst>
                                      </p:cBhvr>
                                      <p:to>
                                        <p:strVal val="visible"/>
                                      </p:to>
                                    </p:set>
                                    <p:anim calcmode="lin" valueType="num">
                                      <p:cBhvr additive="base">
                                        <p:cTn id="177" dur="520" fill="hold"/>
                                        <p:tgtEl>
                                          <p:spTgt spid="44"/>
                                        </p:tgtEl>
                                        <p:attrNameLst>
                                          <p:attrName>ppt_y</p:attrName>
                                        </p:attrNameLst>
                                      </p:cBhvr>
                                      <p:tavLst>
                                        <p:tav tm="0">
                                          <p:val>
                                            <p:strVal val="#ppt_y+0.035"/>
                                          </p:val>
                                        </p:tav>
                                        <p:tav tm="100000">
                                          <p:val>
                                            <p:strVal val="#ppt_y"/>
                                          </p:val>
                                        </p:tav>
                                      </p:tavLst>
                                    </p:anim>
                                    <p:animEffect transition="in" filter="fade">
                                      <p:cBhvr>
                                        <p:cTn id="178" dur="520"/>
                                        <p:tgtEl>
                                          <p:spTgt spid="44"/>
                                        </p:tgtEl>
                                      </p:cBhvr>
                                    </p:animEffect>
                                  </p:childTnLst>
                                </p:cTn>
                              </p:par>
                              <p:par>
                                <p:cTn id="179" presetID="34" presetClass="entr" presetSubtype="0" fill="hold" grpId="0" nodeType="withEffect">
                                  <p:stCondLst>
                                    <p:cond delay="0"/>
                                  </p:stCondLst>
                                  <p:childTnLst>
                                    <p:set>
                                      <p:cBhvr>
                                        <p:cTn id="180" dur="1" fill="hold">
                                          <p:stCondLst>
                                            <p:cond delay="0"/>
                                          </p:stCondLst>
                                        </p:cTn>
                                        <p:tgtEl>
                                          <p:spTgt spid="45"/>
                                        </p:tgtEl>
                                        <p:attrNameLst>
                                          <p:attrName>style.visibility</p:attrName>
                                        </p:attrNameLst>
                                      </p:cBhvr>
                                      <p:to>
                                        <p:strVal val="visible"/>
                                      </p:to>
                                    </p:set>
                                    <p:anim calcmode="lin" valueType="num">
                                      <p:cBhvr additive="base">
                                        <p:cTn id="181" dur="520" fill="hold"/>
                                        <p:tgtEl>
                                          <p:spTgt spid="45"/>
                                        </p:tgtEl>
                                        <p:attrNameLst>
                                          <p:attrName>ppt_y</p:attrName>
                                        </p:attrNameLst>
                                      </p:cBhvr>
                                      <p:tavLst>
                                        <p:tav tm="0">
                                          <p:val>
                                            <p:strVal val="#ppt_y+0.035"/>
                                          </p:val>
                                        </p:tav>
                                        <p:tav tm="100000">
                                          <p:val>
                                            <p:strVal val="#ppt_y"/>
                                          </p:val>
                                        </p:tav>
                                      </p:tavLst>
                                    </p:anim>
                                    <p:animEffect transition="in" filter="fade">
                                      <p:cBhvr>
                                        <p:cTn id="182" dur="520"/>
                                        <p:tgtEl>
                                          <p:spTgt spid="45"/>
                                        </p:tgtEl>
                                      </p:cBhvr>
                                    </p:animEffect>
                                  </p:childTnLst>
                                </p:cTn>
                              </p:par>
                              <p:par>
                                <p:cTn id="183" presetID="34" presetClass="entr" presetSubtype="0" fill="hold" grpId="0" nodeType="withEffect">
                                  <p:stCondLst>
                                    <p:cond delay="0"/>
                                  </p:stCondLst>
                                  <p:childTnLst>
                                    <p:set>
                                      <p:cBhvr>
                                        <p:cTn id="184" dur="1" fill="hold">
                                          <p:stCondLst>
                                            <p:cond delay="0"/>
                                          </p:stCondLst>
                                        </p:cTn>
                                        <p:tgtEl>
                                          <p:spTgt spid="46"/>
                                        </p:tgtEl>
                                        <p:attrNameLst>
                                          <p:attrName>style.visibility</p:attrName>
                                        </p:attrNameLst>
                                      </p:cBhvr>
                                      <p:to>
                                        <p:strVal val="visible"/>
                                      </p:to>
                                    </p:set>
                                    <p:anim calcmode="lin" valueType="num">
                                      <p:cBhvr additive="base">
                                        <p:cTn id="185" dur="520" fill="hold"/>
                                        <p:tgtEl>
                                          <p:spTgt spid="46"/>
                                        </p:tgtEl>
                                        <p:attrNameLst>
                                          <p:attrName>ppt_y</p:attrName>
                                        </p:attrNameLst>
                                      </p:cBhvr>
                                      <p:tavLst>
                                        <p:tav tm="0">
                                          <p:val>
                                            <p:strVal val="#ppt_y+0.035"/>
                                          </p:val>
                                        </p:tav>
                                        <p:tav tm="100000">
                                          <p:val>
                                            <p:strVal val="#ppt_y"/>
                                          </p:val>
                                        </p:tav>
                                      </p:tavLst>
                                    </p:anim>
                                    <p:animEffect transition="in" filter="fade">
                                      <p:cBhvr>
                                        <p:cTn id="186" dur="520"/>
                                        <p:tgtEl>
                                          <p:spTgt spid="46"/>
                                        </p:tgtEl>
                                      </p:cBhvr>
                                    </p:animEffect>
                                  </p:childTnLst>
                                </p:cTn>
                              </p:par>
                            </p:childTnLst>
                          </p:cTn>
                        </p:par>
                      </p:childTnLst>
                    </p:cTn>
                  </p:par>
                  <p:par>
                    <p:cTn id="187" fill="hold">
                      <p:stCondLst>
                        <p:cond delay="indefinite"/>
                      </p:stCondLst>
                      <p:childTnLst>
                        <p:par>
                          <p:cTn id="188" fill="hold">
                            <p:stCondLst>
                              <p:cond delay="0"/>
                            </p:stCondLst>
                            <p:childTnLst>
                              <p:par>
                                <p:cTn id="189" presetID="34" presetClass="entr" presetSubtype="0" fill="hold" grpId="0" nodeType="afterEffect">
                                  <p:stCondLst>
                                    <p:cond delay="58"/>
                                  </p:stCondLst>
                                  <p:childTnLst>
                                    <p:set>
                                      <p:cBhvr>
                                        <p:cTn id="190" dur="1" fill="hold">
                                          <p:stCondLst>
                                            <p:cond delay="0"/>
                                          </p:stCondLst>
                                        </p:cTn>
                                        <p:tgtEl>
                                          <p:spTgt spid="47"/>
                                        </p:tgtEl>
                                        <p:attrNameLst>
                                          <p:attrName>style.visibility</p:attrName>
                                        </p:attrNameLst>
                                      </p:cBhvr>
                                      <p:to>
                                        <p:strVal val="visible"/>
                                      </p:to>
                                    </p:set>
                                    <p:anim calcmode="lin" valueType="num">
                                      <p:cBhvr additive="base">
                                        <p:cTn id="191" dur="520" fill="hold"/>
                                        <p:tgtEl>
                                          <p:spTgt spid="47"/>
                                        </p:tgtEl>
                                        <p:attrNameLst>
                                          <p:attrName>ppt_y</p:attrName>
                                        </p:attrNameLst>
                                      </p:cBhvr>
                                      <p:tavLst>
                                        <p:tav tm="0">
                                          <p:val>
                                            <p:strVal val="#ppt_y+0.035"/>
                                          </p:val>
                                        </p:tav>
                                        <p:tav tm="100000">
                                          <p:val>
                                            <p:strVal val="#ppt_y"/>
                                          </p:val>
                                        </p:tav>
                                      </p:tavLst>
                                    </p:anim>
                                    <p:animEffect transition="in" filter="fade">
                                      <p:cBhvr>
                                        <p:cTn id="192" dur="520"/>
                                        <p:tgtEl>
                                          <p:spTgt spid="47"/>
                                        </p:tgtEl>
                                      </p:cBhvr>
                                    </p:animEffect>
                                  </p:childTnLst>
                                </p:cTn>
                              </p:par>
                              <p:par>
                                <p:cTn id="193" presetID="34" presetClass="entr" presetSubtype="0" fill="hold" grpId="0" nodeType="withEffect">
                                  <p:stCondLst>
                                    <p:cond delay="0"/>
                                  </p:stCondLst>
                                  <p:childTnLst>
                                    <p:set>
                                      <p:cBhvr>
                                        <p:cTn id="194" dur="1" fill="hold">
                                          <p:stCondLst>
                                            <p:cond delay="0"/>
                                          </p:stCondLst>
                                        </p:cTn>
                                        <p:tgtEl>
                                          <p:spTgt spid="48"/>
                                        </p:tgtEl>
                                        <p:attrNameLst>
                                          <p:attrName>style.visibility</p:attrName>
                                        </p:attrNameLst>
                                      </p:cBhvr>
                                      <p:to>
                                        <p:strVal val="visible"/>
                                      </p:to>
                                    </p:set>
                                    <p:anim calcmode="lin" valueType="num">
                                      <p:cBhvr additive="base">
                                        <p:cTn id="195" dur="520" fill="hold"/>
                                        <p:tgtEl>
                                          <p:spTgt spid="48"/>
                                        </p:tgtEl>
                                        <p:attrNameLst>
                                          <p:attrName>ppt_y</p:attrName>
                                        </p:attrNameLst>
                                      </p:cBhvr>
                                      <p:tavLst>
                                        <p:tav tm="0">
                                          <p:val>
                                            <p:strVal val="#ppt_y+0.035"/>
                                          </p:val>
                                        </p:tav>
                                        <p:tav tm="100000">
                                          <p:val>
                                            <p:strVal val="#ppt_y"/>
                                          </p:val>
                                        </p:tav>
                                      </p:tavLst>
                                    </p:anim>
                                    <p:animEffect transition="in" filter="fade">
                                      <p:cBhvr>
                                        <p:cTn id="196" dur="520"/>
                                        <p:tgtEl>
                                          <p:spTgt spid="48"/>
                                        </p:tgtEl>
                                      </p:cBhvr>
                                    </p:animEffect>
                                  </p:childTnLst>
                                </p:cTn>
                              </p:par>
                              <p:par>
                                <p:cTn id="197" presetID="34" presetClass="entr" presetSubtype="0" fill="hold" grpId="0" nodeType="withEffect">
                                  <p:stCondLst>
                                    <p:cond delay="0"/>
                                  </p:stCondLst>
                                  <p:childTnLst>
                                    <p:set>
                                      <p:cBhvr>
                                        <p:cTn id="198" dur="1" fill="hold">
                                          <p:stCondLst>
                                            <p:cond delay="0"/>
                                          </p:stCondLst>
                                        </p:cTn>
                                        <p:tgtEl>
                                          <p:spTgt spid="49"/>
                                        </p:tgtEl>
                                        <p:attrNameLst>
                                          <p:attrName>style.visibility</p:attrName>
                                        </p:attrNameLst>
                                      </p:cBhvr>
                                      <p:to>
                                        <p:strVal val="visible"/>
                                      </p:to>
                                    </p:set>
                                    <p:anim calcmode="lin" valueType="num">
                                      <p:cBhvr additive="base">
                                        <p:cTn id="199" dur="520" fill="hold"/>
                                        <p:tgtEl>
                                          <p:spTgt spid="49"/>
                                        </p:tgtEl>
                                        <p:attrNameLst>
                                          <p:attrName>ppt_y</p:attrName>
                                        </p:attrNameLst>
                                      </p:cBhvr>
                                      <p:tavLst>
                                        <p:tav tm="0">
                                          <p:val>
                                            <p:strVal val="#ppt_y+0.035"/>
                                          </p:val>
                                        </p:tav>
                                        <p:tav tm="100000">
                                          <p:val>
                                            <p:strVal val="#ppt_y"/>
                                          </p:val>
                                        </p:tav>
                                      </p:tavLst>
                                    </p:anim>
                                    <p:animEffect transition="in" filter="fade">
                                      <p:cBhvr>
                                        <p:cTn id="200" dur="520"/>
                                        <p:tgtEl>
                                          <p:spTgt spid="49"/>
                                        </p:tgtEl>
                                      </p:cBhvr>
                                    </p:animEffect>
                                  </p:childTnLst>
                                </p:cTn>
                              </p:par>
                            </p:childTnLst>
                          </p:cTn>
                        </p:par>
                      </p:childTnLst>
                    </p:cTn>
                  </p:par>
                  <p:par>
                    <p:cTn id="201" fill="hold">
                      <p:stCondLst>
                        <p:cond delay="indefinite"/>
                      </p:stCondLst>
                      <p:childTnLst>
                        <p:par>
                          <p:cTn id="202" fill="hold">
                            <p:stCondLst>
                              <p:cond delay="0"/>
                            </p:stCondLst>
                            <p:childTnLst>
                              <p:par>
                                <p:cTn id="203" presetID="34" presetClass="entr" presetSubtype="0" fill="hold" grpId="0" nodeType="afterEffect">
                                  <p:stCondLst>
                                    <p:cond delay="58"/>
                                  </p:stCondLst>
                                  <p:childTnLst>
                                    <p:set>
                                      <p:cBhvr>
                                        <p:cTn id="204" dur="1" fill="hold">
                                          <p:stCondLst>
                                            <p:cond delay="0"/>
                                          </p:stCondLst>
                                        </p:cTn>
                                        <p:tgtEl>
                                          <p:spTgt spid="50"/>
                                        </p:tgtEl>
                                        <p:attrNameLst>
                                          <p:attrName>style.visibility</p:attrName>
                                        </p:attrNameLst>
                                      </p:cBhvr>
                                      <p:to>
                                        <p:strVal val="visible"/>
                                      </p:to>
                                    </p:set>
                                    <p:anim calcmode="lin" valueType="num">
                                      <p:cBhvr additive="base">
                                        <p:cTn id="205" dur="520" fill="hold"/>
                                        <p:tgtEl>
                                          <p:spTgt spid="50"/>
                                        </p:tgtEl>
                                        <p:attrNameLst>
                                          <p:attrName>ppt_y</p:attrName>
                                        </p:attrNameLst>
                                      </p:cBhvr>
                                      <p:tavLst>
                                        <p:tav tm="0">
                                          <p:val>
                                            <p:strVal val="#ppt_y+0.035"/>
                                          </p:val>
                                        </p:tav>
                                        <p:tav tm="100000">
                                          <p:val>
                                            <p:strVal val="#ppt_y"/>
                                          </p:val>
                                        </p:tav>
                                      </p:tavLst>
                                    </p:anim>
                                    <p:animEffect transition="in" filter="fade">
                                      <p:cBhvr>
                                        <p:cTn id="206" dur="520"/>
                                        <p:tgtEl>
                                          <p:spTgt spid="50"/>
                                        </p:tgtEl>
                                      </p:cBhvr>
                                    </p:animEffect>
                                  </p:childTnLst>
                                </p:cTn>
                              </p:par>
                              <p:par>
                                <p:cTn id="207" presetID="34" presetClass="entr" presetSubtype="0" fill="hold" grpId="0" nodeType="withEffect">
                                  <p:stCondLst>
                                    <p:cond delay="0"/>
                                  </p:stCondLst>
                                  <p:childTnLst>
                                    <p:set>
                                      <p:cBhvr>
                                        <p:cTn id="208" dur="1" fill="hold">
                                          <p:stCondLst>
                                            <p:cond delay="0"/>
                                          </p:stCondLst>
                                        </p:cTn>
                                        <p:tgtEl>
                                          <p:spTgt spid="51"/>
                                        </p:tgtEl>
                                        <p:attrNameLst>
                                          <p:attrName>style.visibility</p:attrName>
                                        </p:attrNameLst>
                                      </p:cBhvr>
                                      <p:to>
                                        <p:strVal val="visible"/>
                                      </p:to>
                                    </p:set>
                                    <p:anim calcmode="lin" valueType="num">
                                      <p:cBhvr additive="base">
                                        <p:cTn id="209" dur="520" fill="hold"/>
                                        <p:tgtEl>
                                          <p:spTgt spid="51"/>
                                        </p:tgtEl>
                                        <p:attrNameLst>
                                          <p:attrName>ppt_y</p:attrName>
                                        </p:attrNameLst>
                                      </p:cBhvr>
                                      <p:tavLst>
                                        <p:tav tm="0">
                                          <p:val>
                                            <p:strVal val="#ppt_y+0.035"/>
                                          </p:val>
                                        </p:tav>
                                        <p:tav tm="100000">
                                          <p:val>
                                            <p:strVal val="#ppt_y"/>
                                          </p:val>
                                        </p:tav>
                                      </p:tavLst>
                                    </p:anim>
                                    <p:animEffect transition="in" filter="fade">
                                      <p:cBhvr>
                                        <p:cTn id="210" dur="520"/>
                                        <p:tgtEl>
                                          <p:spTgt spid="51"/>
                                        </p:tgtEl>
                                      </p:cBhvr>
                                    </p:animEffect>
                                  </p:childTnLst>
                                </p:cTn>
                              </p:par>
                              <p:par>
                                <p:cTn id="211" presetID="34" presetClass="entr" presetSubtype="0" fill="hold" grpId="0" nodeType="withEffect">
                                  <p:stCondLst>
                                    <p:cond delay="0"/>
                                  </p:stCondLst>
                                  <p:childTnLst>
                                    <p:set>
                                      <p:cBhvr>
                                        <p:cTn id="212" dur="1" fill="hold">
                                          <p:stCondLst>
                                            <p:cond delay="0"/>
                                          </p:stCondLst>
                                        </p:cTn>
                                        <p:tgtEl>
                                          <p:spTgt spid="52"/>
                                        </p:tgtEl>
                                        <p:attrNameLst>
                                          <p:attrName>style.visibility</p:attrName>
                                        </p:attrNameLst>
                                      </p:cBhvr>
                                      <p:to>
                                        <p:strVal val="visible"/>
                                      </p:to>
                                    </p:set>
                                    <p:anim calcmode="lin" valueType="num">
                                      <p:cBhvr additive="base">
                                        <p:cTn id="213" dur="520" fill="hold"/>
                                        <p:tgtEl>
                                          <p:spTgt spid="52"/>
                                        </p:tgtEl>
                                        <p:attrNameLst>
                                          <p:attrName>ppt_y</p:attrName>
                                        </p:attrNameLst>
                                      </p:cBhvr>
                                      <p:tavLst>
                                        <p:tav tm="0">
                                          <p:val>
                                            <p:strVal val="#ppt_y+0.035"/>
                                          </p:val>
                                        </p:tav>
                                        <p:tav tm="100000">
                                          <p:val>
                                            <p:strVal val="#ppt_y"/>
                                          </p:val>
                                        </p:tav>
                                      </p:tavLst>
                                    </p:anim>
                                    <p:animEffect transition="in" filter="fade">
                                      <p:cBhvr>
                                        <p:cTn id="214" dur="520"/>
                                        <p:tgtEl>
                                          <p:spTgt spid="52"/>
                                        </p:tgtEl>
                                      </p:cBhvr>
                                    </p:animEffect>
                                  </p:childTnLst>
                                </p:cTn>
                              </p:par>
                            </p:childTnLst>
                          </p:cTn>
                        </p:par>
                      </p:childTnLst>
                    </p:cTn>
                  </p:par>
                  <p:par>
                    <p:cTn id="215" fill="hold">
                      <p:stCondLst>
                        <p:cond delay="indefinite"/>
                      </p:stCondLst>
                      <p:childTnLst>
                        <p:par>
                          <p:cTn id="216" fill="hold">
                            <p:stCondLst>
                              <p:cond delay="0"/>
                            </p:stCondLst>
                            <p:childTnLst>
                              <p:par>
                                <p:cTn id="217" presetID="34" presetClass="entr" presetSubtype="0" fill="hold" grpId="0" nodeType="afterEffect">
                                  <p:stCondLst>
                                    <p:cond delay="58"/>
                                  </p:stCondLst>
                                  <p:childTnLst>
                                    <p:set>
                                      <p:cBhvr>
                                        <p:cTn id="218" dur="1" fill="hold">
                                          <p:stCondLst>
                                            <p:cond delay="0"/>
                                          </p:stCondLst>
                                        </p:cTn>
                                        <p:tgtEl>
                                          <p:spTgt spid="53"/>
                                        </p:tgtEl>
                                        <p:attrNameLst>
                                          <p:attrName>style.visibility</p:attrName>
                                        </p:attrNameLst>
                                      </p:cBhvr>
                                      <p:to>
                                        <p:strVal val="visible"/>
                                      </p:to>
                                    </p:set>
                                    <p:anim calcmode="lin" valueType="num">
                                      <p:cBhvr additive="base">
                                        <p:cTn id="219" dur="520" fill="hold"/>
                                        <p:tgtEl>
                                          <p:spTgt spid="53"/>
                                        </p:tgtEl>
                                        <p:attrNameLst>
                                          <p:attrName>ppt_y</p:attrName>
                                        </p:attrNameLst>
                                      </p:cBhvr>
                                      <p:tavLst>
                                        <p:tav tm="0">
                                          <p:val>
                                            <p:strVal val="#ppt_y+0.035"/>
                                          </p:val>
                                        </p:tav>
                                        <p:tav tm="100000">
                                          <p:val>
                                            <p:strVal val="#ppt_y"/>
                                          </p:val>
                                        </p:tav>
                                      </p:tavLst>
                                    </p:anim>
                                    <p:animEffect transition="in" filter="fade">
                                      <p:cBhvr>
                                        <p:cTn id="220" dur="520"/>
                                        <p:tgtEl>
                                          <p:spTgt spid="53"/>
                                        </p:tgtEl>
                                      </p:cBhvr>
                                    </p:animEffect>
                                  </p:childTnLst>
                                </p:cTn>
                              </p:par>
                              <p:par>
                                <p:cTn id="221" presetID="34" presetClass="entr" presetSubtype="0" fill="hold" grpId="0" nodeType="withEffect">
                                  <p:stCondLst>
                                    <p:cond delay="0"/>
                                  </p:stCondLst>
                                  <p:childTnLst>
                                    <p:set>
                                      <p:cBhvr>
                                        <p:cTn id="222" dur="1" fill="hold">
                                          <p:stCondLst>
                                            <p:cond delay="0"/>
                                          </p:stCondLst>
                                        </p:cTn>
                                        <p:tgtEl>
                                          <p:spTgt spid="54"/>
                                        </p:tgtEl>
                                        <p:attrNameLst>
                                          <p:attrName>style.visibility</p:attrName>
                                        </p:attrNameLst>
                                      </p:cBhvr>
                                      <p:to>
                                        <p:strVal val="visible"/>
                                      </p:to>
                                    </p:set>
                                    <p:anim calcmode="lin" valueType="num">
                                      <p:cBhvr additive="base">
                                        <p:cTn id="223" dur="520" fill="hold"/>
                                        <p:tgtEl>
                                          <p:spTgt spid="54"/>
                                        </p:tgtEl>
                                        <p:attrNameLst>
                                          <p:attrName>ppt_y</p:attrName>
                                        </p:attrNameLst>
                                      </p:cBhvr>
                                      <p:tavLst>
                                        <p:tav tm="0">
                                          <p:val>
                                            <p:strVal val="#ppt_y+0.035"/>
                                          </p:val>
                                        </p:tav>
                                        <p:tav tm="100000">
                                          <p:val>
                                            <p:strVal val="#ppt_y"/>
                                          </p:val>
                                        </p:tav>
                                      </p:tavLst>
                                    </p:anim>
                                    <p:animEffect transition="in" filter="fade">
                                      <p:cBhvr>
                                        <p:cTn id="224" dur="520"/>
                                        <p:tgtEl>
                                          <p:spTgt spid="54"/>
                                        </p:tgtEl>
                                      </p:cBhvr>
                                    </p:animEffect>
                                  </p:childTnLst>
                                </p:cTn>
                              </p:par>
                              <p:par>
                                <p:cTn id="225" presetID="34" presetClass="entr" presetSubtype="0" fill="hold" grpId="0" nodeType="withEffect">
                                  <p:stCondLst>
                                    <p:cond delay="0"/>
                                  </p:stCondLst>
                                  <p:childTnLst>
                                    <p:set>
                                      <p:cBhvr>
                                        <p:cTn id="226" dur="1" fill="hold">
                                          <p:stCondLst>
                                            <p:cond delay="0"/>
                                          </p:stCondLst>
                                        </p:cTn>
                                        <p:tgtEl>
                                          <p:spTgt spid="55"/>
                                        </p:tgtEl>
                                        <p:attrNameLst>
                                          <p:attrName>style.visibility</p:attrName>
                                        </p:attrNameLst>
                                      </p:cBhvr>
                                      <p:to>
                                        <p:strVal val="visible"/>
                                      </p:to>
                                    </p:set>
                                    <p:anim calcmode="lin" valueType="num">
                                      <p:cBhvr additive="base">
                                        <p:cTn id="227" dur="520" fill="hold"/>
                                        <p:tgtEl>
                                          <p:spTgt spid="55"/>
                                        </p:tgtEl>
                                        <p:attrNameLst>
                                          <p:attrName>ppt_y</p:attrName>
                                        </p:attrNameLst>
                                      </p:cBhvr>
                                      <p:tavLst>
                                        <p:tav tm="0">
                                          <p:val>
                                            <p:strVal val="#ppt_y+0.035"/>
                                          </p:val>
                                        </p:tav>
                                        <p:tav tm="100000">
                                          <p:val>
                                            <p:strVal val="#ppt_y"/>
                                          </p:val>
                                        </p:tav>
                                      </p:tavLst>
                                    </p:anim>
                                    <p:animEffect transition="in" filter="fade">
                                      <p:cBhvr>
                                        <p:cTn id="228" dur="520"/>
                                        <p:tgtEl>
                                          <p:spTgt spid="55"/>
                                        </p:tgtEl>
                                      </p:cBhvr>
                                    </p:animEffect>
                                  </p:childTnLst>
                                </p:cTn>
                              </p:par>
                            </p:childTnLst>
                          </p:cTn>
                        </p:par>
                      </p:childTnLst>
                    </p:cTn>
                  </p:par>
                  <p:par>
                    <p:cTn id="229" fill="hold">
                      <p:stCondLst>
                        <p:cond delay="indefinite"/>
                      </p:stCondLst>
                      <p:childTnLst>
                        <p:par>
                          <p:cTn id="230" fill="hold">
                            <p:stCondLst>
                              <p:cond delay="0"/>
                            </p:stCondLst>
                            <p:childTnLst>
                              <p:par>
                                <p:cTn id="231" presetID="34" presetClass="entr" presetSubtype="0" fill="hold" grpId="0" nodeType="afterEffect">
                                  <p:stCondLst>
                                    <p:cond delay="58"/>
                                  </p:stCondLst>
                                  <p:childTnLst>
                                    <p:set>
                                      <p:cBhvr>
                                        <p:cTn id="232" dur="1" fill="hold">
                                          <p:stCondLst>
                                            <p:cond delay="0"/>
                                          </p:stCondLst>
                                        </p:cTn>
                                        <p:tgtEl>
                                          <p:spTgt spid="56"/>
                                        </p:tgtEl>
                                        <p:attrNameLst>
                                          <p:attrName>style.visibility</p:attrName>
                                        </p:attrNameLst>
                                      </p:cBhvr>
                                      <p:to>
                                        <p:strVal val="visible"/>
                                      </p:to>
                                    </p:set>
                                    <p:anim calcmode="lin" valueType="num">
                                      <p:cBhvr additive="base">
                                        <p:cTn id="233" dur="520" fill="hold"/>
                                        <p:tgtEl>
                                          <p:spTgt spid="56"/>
                                        </p:tgtEl>
                                        <p:attrNameLst>
                                          <p:attrName>ppt_y</p:attrName>
                                        </p:attrNameLst>
                                      </p:cBhvr>
                                      <p:tavLst>
                                        <p:tav tm="0">
                                          <p:val>
                                            <p:strVal val="#ppt_y+0.035"/>
                                          </p:val>
                                        </p:tav>
                                        <p:tav tm="100000">
                                          <p:val>
                                            <p:strVal val="#ppt_y"/>
                                          </p:val>
                                        </p:tav>
                                      </p:tavLst>
                                    </p:anim>
                                    <p:animEffect transition="in" filter="fade">
                                      <p:cBhvr>
                                        <p:cTn id="234" dur="520"/>
                                        <p:tgtEl>
                                          <p:spTgt spid="56"/>
                                        </p:tgtEl>
                                      </p:cBhvr>
                                    </p:animEffect>
                                  </p:childTnLst>
                                </p:cTn>
                              </p:par>
                              <p:par>
                                <p:cTn id="235" presetID="34" presetClass="entr" presetSubtype="0" fill="hold" grpId="0" nodeType="withEffect">
                                  <p:stCondLst>
                                    <p:cond delay="0"/>
                                  </p:stCondLst>
                                  <p:childTnLst>
                                    <p:set>
                                      <p:cBhvr>
                                        <p:cTn id="236" dur="1" fill="hold">
                                          <p:stCondLst>
                                            <p:cond delay="0"/>
                                          </p:stCondLst>
                                        </p:cTn>
                                        <p:tgtEl>
                                          <p:spTgt spid="57"/>
                                        </p:tgtEl>
                                        <p:attrNameLst>
                                          <p:attrName>style.visibility</p:attrName>
                                        </p:attrNameLst>
                                      </p:cBhvr>
                                      <p:to>
                                        <p:strVal val="visible"/>
                                      </p:to>
                                    </p:set>
                                    <p:anim calcmode="lin" valueType="num">
                                      <p:cBhvr additive="base">
                                        <p:cTn id="237" dur="520" fill="hold"/>
                                        <p:tgtEl>
                                          <p:spTgt spid="57"/>
                                        </p:tgtEl>
                                        <p:attrNameLst>
                                          <p:attrName>ppt_y</p:attrName>
                                        </p:attrNameLst>
                                      </p:cBhvr>
                                      <p:tavLst>
                                        <p:tav tm="0">
                                          <p:val>
                                            <p:strVal val="#ppt_y+0.035"/>
                                          </p:val>
                                        </p:tav>
                                        <p:tav tm="100000">
                                          <p:val>
                                            <p:strVal val="#ppt_y"/>
                                          </p:val>
                                        </p:tav>
                                      </p:tavLst>
                                    </p:anim>
                                    <p:animEffect transition="in" filter="fade">
                                      <p:cBhvr>
                                        <p:cTn id="238" dur="520"/>
                                        <p:tgtEl>
                                          <p:spTgt spid="57"/>
                                        </p:tgtEl>
                                      </p:cBhvr>
                                    </p:animEffect>
                                  </p:childTnLst>
                                </p:cTn>
                              </p:par>
                              <p:par>
                                <p:cTn id="239" presetID="34" presetClass="entr" presetSubtype="0" fill="hold" grpId="0" nodeType="withEffect">
                                  <p:stCondLst>
                                    <p:cond delay="0"/>
                                  </p:stCondLst>
                                  <p:childTnLst>
                                    <p:set>
                                      <p:cBhvr>
                                        <p:cTn id="240" dur="1" fill="hold">
                                          <p:stCondLst>
                                            <p:cond delay="0"/>
                                          </p:stCondLst>
                                        </p:cTn>
                                        <p:tgtEl>
                                          <p:spTgt spid="58"/>
                                        </p:tgtEl>
                                        <p:attrNameLst>
                                          <p:attrName>style.visibility</p:attrName>
                                        </p:attrNameLst>
                                      </p:cBhvr>
                                      <p:to>
                                        <p:strVal val="visible"/>
                                      </p:to>
                                    </p:set>
                                    <p:anim calcmode="lin" valueType="num">
                                      <p:cBhvr additive="base">
                                        <p:cTn id="241" dur="520" fill="hold"/>
                                        <p:tgtEl>
                                          <p:spTgt spid="58"/>
                                        </p:tgtEl>
                                        <p:attrNameLst>
                                          <p:attrName>ppt_y</p:attrName>
                                        </p:attrNameLst>
                                      </p:cBhvr>
                                      <p:tavLst>
                                        <p:tav tm="0">
                                          <p:val>
                                            <p:strVal val="#ppt_y+0.035"/>
                                          </p:val>
                                        </p:tav>
                                        <p:tav tm="100000">
                                          <p:val>
                                            <p:strVal val="#ppt_y"/>
                                          </p:val>
                                        </p:tav>
                                      </p:tavLst>
                                    </p:anim>
                                    <p:animEffect transition="in" filter="fade">
                                      <p:cBhvr>
                                        <p:cTn id="242" dur="520"/>
                                        <p:tgtEl>
                                          <p:spTgt spid="58"/>
                                        </p:tgtEl>
                                      </p:cBhvr>
                                    </p:animEffect>
                                  </p:childTnLst>
                                </p:cTn>
                              </p:par>
                              <p:par>
                                <p:cTn id="243" presetID="34" presetClass="entr" presetSubtype="0" fill="hold" grpId="0" nodeType="withEffect">
                                  <p:stCondLst>
                                    <p:cond delay="0"/>
                                  </p:stCondLst>
                                  <p:childTnLst>
                                    <p:set>
                                      <p:cBhvr>
                                        <p:cTn id="244" dur="1" fill="hold">
                                          <p:stCondLst>
                                            <p:cond delay="0"/>
                                          </p:stCondLst>
                                        </p:cTn>
                                        <p:tgtEl>
                                          <p:spTgt spid="59"/>
                                        </p:tgtEl>
                                        <p:attrNameLst>
                                          <p:attrName>style.visibility</p:attrName>
                                        </p:attrNameLst>
                                      </p:cBhvr>
                                      <p:to>
                                        <p:strVal val="visible"/>
                                      </p:to>
                                    </p:set>
                                    <p:anim calcmode="lin" valueType="num">
                                      <p:cBhvr additive="base">
                                        <p:cTn id="245" dur="520" fill="hold"/>
                                        <p:tgtEl>
                                          <p:spTgt spid="59"/>
                                        </p:tgtEl>
                                        <p:attrNameLst>
                                          <p:attrName>ppt_y</p:attrName>
                                        </p:attrNameLst>
                                      </p:cBhvr>
                                      <p:tavLst>
                                        <p:tav tm="0">
                                          <p:val>
                                            <p:strVal val="#ppt_y+0.035"/>
                                          </p:val>
                                        </p:tav>
                                        <p:tav tm="100000">
                                          <p:val>
                                            <p:strVal val="#ppt_y"/>
                                          </p:val>
                                        </p:tav>
                                      </p:tavLst>
                                    </p:anim>
                                    <p:animEffect transition="in" filter="fade">
                                      <p:cBhvr>
                                        <p:cTn id="246" dur="520"/>
                                        <p:tgtEl>
                                          <p:spTgt spid="59"/>
                                        </p:tgtEl>
                                      </p:cBhvr>
                                    </p:animEffect>
                                  </p:childTnLst>
                                </p:cTn>
                              </p:par>
                              <p:par>
                                <p:cTn id="247" presetID="34" presetClass="entr" presetSubtype="0" fill="hold" grpId="0" nodeType="withEffect">
                                  <p:stCondLst>
                                    <p:cond delay="0"/>
                                  </p:stCondLst>
                                  <p:childTnLst>
                                    <p:set>
                                      <p:cBhvr>
                                        <p:cTn id="248" dur="1" fill="hold">
                                          <p:stCondLst>
                                            <p:cond delay="0"/>
                                          </p:stCondLst>
                                        </p:cTn>
                                        <p:tgtEl>
                                          <p:spTgt spid="60"/>
                                        </p:tgtEl>
                                        <p:attrNameLst>
                                          <p:attrName>style.visibility</p:attrName>
                                        </p:attrNameLst>
                                      </p:cBhvr>
                                      <p:to>
                                        <p:strVal val="visible"/>
                                      </p:to>
                                    </p:set>
                                    <p:anim calcmode="lin" valueType="num">
                                      <p:cBhvr additive="base">
                                        <p:cTn id="249" dur="520" fill="hold"/>
                                        <p:tgtEl>
                                          <p:spTgt spid="60"/>
                                        </p:tgtEl>
                                        <p:attrNameLst>
                                          <p:attrName>ppt_y</p:attrName>
                                        </p:attrNameLst>
                                      </p:cBhvr>
                                      <p:tavLst>
                                        <p:tav tm="0">
                                          <p:val>
                                            <p:strVal val="#ppt_y+0.035"/>
                                          </p:val>
                                        </p:tav>
                                        <p:tav tm="100000">
                                          <p:val>
                                            <p:strVal val="#ppt_y"/>
                                          </p:val>
                                        </p:tav>
                                      </p:tavLst>
                                    </p:anim>
                                    <p:animEffect transition="in" filter="fade">
                                      <p:cBhvr>
                                        <p:cTn id="250" dur="520"/>
                                        <p:tgtEl>
                                          <p:spTgt spid="60"/>
                                        </p:tgtEl>
                                      </p:cBhvr>
                                    </p:animEffect>
                                  </p:childTnLst>
                                </p:cTn>
                              </p:par>
                              <p:par>
                                <p:cTn id="251" presetID="34" presetClass="entr" presetSubtype="0" fill="hold" grpId="0" nodeType="withEffect">
                                  <p:stCondLst>
                                    <p:cond delay="0"/>
                                  </p:stCondLst>
                                  <p:childTnLst>
                                    <p:set>
                                      <p:cBhvr>
                                        <p:cTn id="252" dur="1" fill="hold">
                                          <p:stCondLst>
                                            <p:cond delay="0"/>
                                          </p:stCondLst>
                                        </p:cTn>
                                        <p:tgtEl>
                                          <p:spTgt spid="61"/>
                                        </p:tgtEl>
                                        <p:attrNameLst>
                                          <p:attrName>style.visibility</p:attrName>
                                        </p:attrNameLst>
                                      </p:cBhvr>
                                      <p:to>
                                        <p:strVal val="visible"/>
                                      </p:to>
                                    </p:set>
                                    <p:anim calcmode="lin" valueType="num">
                                      <p:cBhvr additive="base">
                                        <p:cTn id="253" dur="520" fill="hold"/>
                                        <p:tgtEl>
                                          <p:spTgt spid="61"/>
                                        </p:tgtEl>
                                        <p:attrNameLst>
                                          <p:attrName>ppt_y</p:attrName>
                                        </p:attrNameLst>
                                      </p:cBhvr>
                                      <p:tavLst>
                                        <p:tav tm="0">
                                          <p:val>
                                            <p:strVal val="#ppt_y+0.035"/>
                                          </p:val>
                                        </p:tav>
                                        <p:tav tm="100000">
                                          <p:val>
                                            <p:strVal val="#ppt_y"/>
                                          </p:val>
                                        </p:tav>
                                      </p:tavLst>
                                    </p:anim>
                                    <p:animEffect transition="in" filter="fade">
                                      <p:cBhvr>
                                        <p:cTn id="254" dur="520"/>
                                        <p:tgtEl>
                                          <p:spTgt spid="61"/>
                                        </p:tgtEl>
                                      </p:cBhvr>
                                    </p:animEffect>
                                  </p:childTnLst>
                                </p:cTn>
                              </p:par>
                            </p:childTnLst>
                          </p:cTn>
                        </p:par>
                      </p:childTnLst>
                    </p:cTn>
                  </p:par>
                  <p:par>
                    <p:cTn id="255" fill="hold">
                      <p:stCondLst>
                        <p:cond delay="indefinite"/>
                      </p:stCondLst>
                      <p:childTnLst>
                        <p:par>
                          <p:cTn id="256" fill="hold">
                            <p:stCondLst>
                              <p:cond delay="0"/>
                            </p:stCondLst>
                            <p:childTnLst>
                              <p:par>
                                <p:cTn id="257" presetID="34" presetClass="entr" presetSubtype="0" fill="hold" grpId="0" nodeType="afterEffect">
                                  <p:stCondLst>
                                    <p:cond delay="58"/>
                                  </p:stCondLst>
                                  <p:childTnLst>
                                    <p:set>
                                      <p:cBhvr>
                                        <p:cTn id="258" dur="1" fill="hold">
                                          <p:stCondLst>
                                            <p:cond delay="0"/>
                                          </p:stCondLst>
                                        </p:cTn>
                                        <p:tgtEl>
                                          <p:spTgt spid="62"/>
                                        </p:tgtEl>
                                        <p:attrNameLst>
                                          <p:attrName>style.visibility</p:attrName>
                                        </p:attrNameLst>
                                      </p:cBhvr>
                                      <p:to>
                                        <p:strVal val="visible"/>
                                      </p:to>
                                    </p:set>
                                    <p:anim calcmode="lin" valueType="num">
                                      <p:cBhvr additive="base">
                                        <p:cTn id="259" dur="520" fill="hold"/>
                                        <p:tgtEl>
                                          <p:spTgt spid="62"/>
                                        </p:tgtEl>
                                        <p:attrNameLst>
                                          <p:attrName>ppt_y</p:attrName>
                                        </p:attrNameLst>
                                      </p:cBhvr>
                                      <p:tavLst>
                                        <p:tav tm="0">
                                          <p:val>
                                            <p:strVal val="#ppt_y+0.035"/>
                                          </p:val>
                                        </p:tav>
                                        <p:tav tm="100000">
                                          <p:val>
                                            <p:strVal val="#ppt_y"/>
                                          </p:val>
                                        </p:tav>
                                      </p:tavLst>
                                    </p:anim>
                                    <p:animEffect transition="in" filter="fade">
                                      <p:cBhvr>
                                        <p:cTn id="260" dur="52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Lst>
  </p:timing>
</p:sld>
</file>

<file path=ppt/slides/slide29.xml><?xml version="1.0" encoding="utf-8"?>
<p:sld xmlns:mc="http://schemas.openxmlformats.org/markup-compatibility/2006" xmlns:p14="http://schemas.microsoft.com/office/powerpoint/2010/main"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gradFill rotWithShape="1">
            <a:gsLst>
              <a:gs pos="0">
                <a:srgbClr val="0E8F5C"/>
              </a:gs>
              <a:gs pos="100000">
                <a:srgbClr val="14A86D"/>
              </a:gs>
            </a:gsLst>
            <a:lin ang="2700000" scaled="0"/>
          </a:gradFill>
          <a:ln/>
        </p:spPr>
      </p:sp>
      <p:sp>
        <p:nvSpPr>
          <p:cNvPr id="3" name="Text 1"/>
          <p:cNvSpPr/>
          <p:nvPr/>
        </p:nvSpPr>
        <p:spPr>
          <a:xfrm>
            <a:off x="822960" y="2183953"/>
            <a:ext cx="10545775" cy="292608"/>
          </a:xfrm>
          <a:prstGeom prst="rect">
            <a:avLst/>
          </a:prstGeom>
          <a:noFill/>
          <a:ln/>
        </p:spPr>
        <p:txBody>
          <a:bodyPr wrap="square" rtlCol="0" anchor="b"/>
          <a:lstStyle/>
          <a:p>
            <a:pPr indent="0" marL="0">
              <a:buNone/>
            </a:pPr>
            <a:r>
              <a:rPr lang="en-US" sz="1200" b="1" spc="300" kern="0" dirty="0">
                <a:solidFill>
                  <a:srgbClr val="BBC9D6"/>
                </a:solidFill>
                <a:latin typeface="Consolas" pitchFamily="34" charset="0"/>
                <a:ea typeface="Consolas" pitchFamily="34" charset="-122"/>
                <a:cs typeface="Consolas" pitchFamily="34" charset="-120"/>
              </a:rPr>
              <a:t>QUESTIONS</a:t>
            </a:r>
            <a:endParaRPr lang="en-US" sz="1200" dirty="0"/>
          </a:p>
        </p:txBody>
      </p:sp>
      <p:sp>
        <p:nvSpPr>
          <p:cNvPr id="4" name="Text 2"/>
          <p:cNvSpPr/>
          <p:nvPr/>
        </p:nvSpPr>
        <p:spPr>
          <a:xfrm>
            <a:off x="822960" y="2568001"/>
            <a:ext cx="9692640" cy="640080"/>
          </a:xfrm>
          <a:prstGeom prst="rect">
            <a:avLst/>
          </a:prstGeom>
          <a:noFill/>
          <a:ln/>
        </p:spPr>
        <p:txBody>
          <a:bodyPr wrap="square" rtlCol="0" anchor="t"/>
          <a:lstStyle/>
          <a:p>
            <a:pPr indent="0" marL="0">
              <a:lnSpc>
                <a:spcPts val="4176"/>
              </a:lnSpc>
              <a:buNone/>
            </a:pPr>
            <a:r>
              <a:rPr lang="en-US" sz="3600" b="1" dirty="0">
                <a:solidFill>
                  <a:srgbClr val="FFFFFF"/>
                </a:solidFill>
                <a:latin typeface="Segoe UI" pitchFamily="34" charset="0"/>
                <a:ea typeface="Segoe UI" pitchFamily="34" charset="-122"/>
                <a:cs typeface="Segoe UI" pitchFamily="34" charset="-120"/>
              </a:rPr>
              <a:t>Ask anything.</a:t>
            </a:r>
            <a:endParaRPr lang="en-US" sz="3600" dirty="0"/>
          </a:p>
        </p:txBody>
      </p:sp>
      <p:sp>
        <p:nvSpPr>
          <p:cNvPr id="5" name="Text 3"/>
          <p:cNvSpPr/>
          <p:nvPr/>
        </p:nvSpPr>
        <p:spPr>
          <a:xfrm>
            <a:off x="822960" y="3445825"/>
            <a:ext cx="8961120" cy="396240"/>
          </a:xfrm>
          <a:prstGeom prst="rect">
            <a:avLst/>
          </a:prstGeom>
          <a:noFill/>
          <a:ln/>
        </p:spPr>
        <p:txBody>
          <a:bodyPr wrap="square" rtlCol="0" anchor="t"/>
          <a:lstStyle/>
          <a:p>
            <a:pPr indent="0" marL="0">
              <a:lnSpc>
                <a:spcPts val="2400"/>
              </a:lnSpc>
              <a:buNone/>
            </a:pPr>
            <a:r>
              <a:rPr lang="en-US" sz="1600" dirty="0">
                <a:solidFill>
                  <a:srgbClr val="DCE6EE"/>
                </a:solidFill>
                <a:latin typeface="Segoe UI" pitchFamily="34" charset="0"/>
                <a:ea typeface="Segoe UI" pitchFamily="34" charset="-122"/>
                <a:cs typeface="Segoe UI" pitchFamily="34" charset="-120"/>
              </a:rPr>
              <a:t>And then, rather than another slide: the model, running.</a:t>
            </a:r>
            <a:endParaRPr lang="en-US" sz="1600" dirty="0"/>
          </a:p>
        </p:txBody>
      </p:sp>
      <p:sp>
        <p:nvSpPr>
          <p:cNvPr id="6" name="Shape 4"/>
          <p:cNvSpPr/>
          <p:nvPr/>
        </p:nvSpPr>
        <p:spPr>
          <a:xfrm>
            <a:off x="822960" y="4224528"/>
            <a:ext cx="10545775" cy="1371600"/>
          </a:xfrm>
          <a:prstGeom prst="roundRect">
            <a:avLst>
              <a:gd name="adj" fmla="val 5333"/>
            </a:avLst>
          </a:prstGeom>
          <a:solidFill>
            <a:srgbClr val="0B6B45"/>
          </a:solidFill>
          <a:ln/>
        </p:spPr>
      </p:sp>
      <p:sp>
        <p:nvSpPr>
          <p:cNvPr id="7" name="Shape 5"/>
          <p:cNvSpPr/>
          <p:nvPr/>
        </p:nvSpPr>
        <p:spPr>
          <a:xfrm>
            <a:off x="905256" y="4224528"/>
            <a:ext cx="10463479" cy="1371600"/>
          </a:xfrm>
          <a:prstGeom prst="roundRect">
            <a:avLst>
              <a:gd name="adj" fmla="val 5333"/>
            </a:avLst>
          </a:prstGeom>
          <a:solidFill>
            <a:srgbClr val="FFFFFF"/>
          </a:solidFill>
          <a:ln/>
        </p:spPr>
      </p:sp>
      <p:sp>
        <p:nvSpPr>
          <p:cNvPr id="8" name="Text 6"/>
          <p:cNvSpPr/>
          <p:nvPr/>
        </p:nvSpPr>
        <p:spPr>
          <a:xfrm>
            <a:off x="1152144" y="4389120"/>
            <a:ext cx="9887407" cy="1042416"/>
          </a:xfrm>
          <a:prstGeom prst="rect">
            <a:avLst/>
          </a:prstGeom>
          <a:noFill/>
          <a:ln/>
        </p:spPr>
        <p:txBody>
          <a:bodyPr wrap="square" rtlCol="0" anchor="ctr"/>
          <a:lstStyle/>
          <a:p>
            <a:pPr indent="0" marL="0">
              <a:lnSpc>
                <a:spcPts val="2400"/>
              </a:lnSpc>
              <a:spcBef>
                <a:spcPts val="800"/>
              </a:spcBef>
              <a:buNone/>
            </a:pPr>
            <a:r>
              <a:rPr lang="en-US" sz="1600" dirty="0">
                <a:solidFill>
                  <a:srgbClr val="111817"/>
                </a:solidFill>
                <a:latin typeface="Segoe UI" pitchFamily="34" charset="0"/>
                <a:ea typeface="Segoe UI" pitchFamily="34" charset="-122"/>
                <a:cs typeface="Segoe UI" pitchFamily="34" charset="-120"/>
              </a:rPr>
              <a:t>Now we would like to </a:t>
            </a:r>
            <a:pPr indent="0" marL="0">
              <a:lnSpc>
                <a:spcPts val="2400"/>
              </a:lnSpc>
              <a:spcBef>
                <a:spcPts val="800"/>
              </a:spcBef>
              <a:buNone/>
            </a:pPr>
            <a:r>
              <a:rPr lang="en-US" sz="1600" b="1" dirty="0">
                <a:solidFill>
                  <a:srgbClr val="111817"/>
                </a:solidFill>
                <a:latin typeface="Segoe UI" pitchFamily="34" charset="0"/>
                <a:ea typeface="Segoe UI" pitchFamily="34" charset="-122"/>
                <a:cs typeface="Segoe UI" pitchFamily="34" charset="-120"/>
              </a:rPr>
              <a:t>show you the system</a:t>
            </a:r>
            <a:pPr indent="0" marL="0">
              <a:lnSpc>
                <a:spcPts val="2400"/>
              </a:lnSpc>
              <a:spcBef>
                <a:spcPts val="800"/>
              </a:spcBef>
              <a:buNone/>
            </a:pPr>
            <a:r>
              <a:rPr lang="en-US" sz="1600" dirty="0">
                <a:solidFill>
                  <a:srgbClr val="111817"/>
                </a:solidFill>
                <a:latin typeface="Segoe UI" pitchFamily="34" charset="0"/>
                <a:ea typeface="Segoe UI" pitchFamily="34" charset="-122"/>
                <a:cs typeface="Segoe UI" pitchFamily="34" charset="-120"/>
              </a:rPr>
              <a:t> — the model on real footage, how a frame becomes a verdict, and what the operator actually sees.</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700">
        <p:push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34" presetClass="entr" presetSubtype="0"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20" fill="hold"/>
                                        <p:tgtEl>
                                          <p:spTgt spid="3"/>
                                        </p:tgtEl>
                                        <p:attrNameLst>
                                          <p:attrName>ppt_y</p:attrName>
                                        </p:attrNameLst>
                                      </p:cBhvr>
                                      <p:tavLst>
                                        <p:tav tm="0">
                                          <p:val>
                                            <p:strVal val="#ppt_y+0.035"/>
                                          </p:val>
                                        </p:tav>
                                        <p:tav tm="100000">
                                          <p:val>
                                            <p:strVal val="#ppt_y"/>
                                          </p:val>
                                        </p:tav>
                                      </p:tavLst>
                                    </p:anim>
                                    <p:animEffect transition="in" filter="fade">
                                      <p:cBhvr>
                                        <p:cTn id="8" dur="52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grpId="0" nodeType="afterEffect">
                                  <p:stCondLst>
                                    <p:cond delay="275"/>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20" fill="hold"/>
                                        <p:tgtEl>
                                          <p:spTgt spid="4"/>
                                        </p:tgtEl>
                                        <p:attrNameLst>
                                          <p:attrName>ppt_y</p:attrName>
                                        </p:attrNameLst>
                                      </p:cBhvr>
                                      <p:tavLst>
                                        <p:tav tm="0">
                                          <p:val>
                                            <p:strVal val="#ppt_y+0.035"/>
                                          </p:val>
                                        </p:tav>
                                        <p:tav tm="100000">
                                          <p:val>
                                            <p:strVal val="#ppt_y"/>
                                          </p:val>
                                        </p:tav>
                                      </p:tavLst>
                                    </p:anim>
                                    <p:animEffect transition="in" filter="fade">
                                      <p:cBhvr>
                                        <p:cTn id="14" dur="52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34" presetClass="entr" presetSubtype="0" fill="hold" grpId="0" nodeType="afterEffect">
                                  <p:stCondLst>
                                    <p:cond delay="275"/>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20" fill="hold"/>
                                        <p:tgtEl>
                                          <p:spTgt spid="5"/>
                                        </p:tgtEl>
                                        <p:attrNameLst>
                                          <p:attrName>ppt_y</p:attrName>
                                        </p:attrNameLst>
                                      </p:cBhvr>
                                      <p:tavLst>
                                        <p:tav tm="0">
                                          <p:val>
                                            <p:strVal val="#ppt_y+0.035"/>
                                          </p:val>
                                        </p:tav>
                                        <p:tav tm="100000">
                                          <p:val>
                                            <p:strVal val="#ppt_y"/>
                                          </p:val>
                                        </p:tav>
                                      </p:tavLst>
                                    </p:anim>
                                    <p:animEffect transition="in" filter="fade">
                                      <p:cBhvr>
                                        <p:cTn id="20" dur="52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4" presetClass="entr" presetSubtype="0" fill="hold" grpId="0" nodeType="afterEffect">
                                  <p:stCondLst>
                                    <p:cond delay="275"/>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20" fill="hold"/>
                                        <p:tgtEl>
                                          <p:spTgt spid="6"/>
                                        </p:tgtEl>
                                        <p:attrNameLst>
                                          <p:attrName>ppt_y</p:attrName>
                                        </p:attrNameLst>
                                      </p:cBhvr>
                                      <p:tavLst>
                                        <p:tav tm="0">
                                          <p:val>
                                            <p:strVal val="#ppt_y+0.035"/>
                                          </p:val>
                                        </p:tav>
                                        <p:tav tm="100000">
                                          <p:val>
                                            <p:strVal val="#ppt_y"/>
                                          </p:val>
                                        </p:tav>
                                      </p:tavLst>
                                    </p:anim>
                                    <p:animEffect transition="in" filter="fade">
                                      <p:cBhvr>
                                        <p:cTn id="26" dur="520"/>
                                        <p:tgtEl>
                                          <p:spTgt spid="6"/>
                                        </p:tgtEl>
                                      </p:cBhvr>
                                    </p:animEffect>
                                  </p:childTnLst>
                                </p:cTn>
                              </p:par>
                              <p:par>
                                <p:cTn id="27" presetID="34"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20" fill="hold"/>
                                        <p:tgtEl>
                                          <p:spTgt spid="7"/>
                                        </p:tgtEl>
                                        <p:attrNameLst>
                                          <p:attrName>ppt_y</p:attrName>
                                        </p:attrNameLst>
                                      </p:cBhvr>
                                      <p:tavLst>
                                        <p:tav tm="0">
                                          <p:val>
                                            <p:strVal val="#ppt_y+0.035"/>
                                          </p:val>
                                        </p:tav>
                                        <p:tav tm="100000">
                                          <p:val>
                                            <p:strVal val="#ppt_y"/>
                                          </p:val>
                                        </p:tav>
                                      </p:tavLst>
                                    </p:anim>
                                    <p:animEffect transition="in" filter="fade">
                                      <p:cBhvr>
                                        <p:cTn id="30" dur="520"/>
                                        <p:tgtEl>
                                          <p:spTgt spid="7"/>
                                        </p:tgtEl>
                                      </p:cBhvr>
                                    </p:animEffect>
                                  </p:childTnLst>
                                </p:cTn>
                              </p:par>
                              <p:par>
                                <p:cTn id="31" presetID="34"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20" fill="hold"/>
                                        <p:tgtEl>
                                          <p:spTgt spid="8"/>
                                        </p:tgtEl>
                                        <p:attrNameLst>
                                          <p:attrName>ppt_y</p:attrName>
                                        </p:attrNameLst>
                                      </p:cBhvr>
                                      <p:tavLst>
                                        <p:tav tm="0">
                                          <p:val>
                                            <p:strVal val="#ppt_y+0.035"/>
                                          </p:val>
                                        </p:tav>
                                        <p:tav tm="100000">
                                          <p:val>
                                            <p:strVal val="#ppt_y"/>
                                          </p:val>
                                        </p:tav>
                                      </p:tavLst>
                                    </p:anim>
                                    <p:animEffect transition="in" filter="fade">
                                      <p:cBhvr>
                                        <p:cTn id="34" dur="52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Playground Activity Detection using Deep Learning</dc:title>
  <dc:subject>Master's thesis defence</dc:subject>
  <dc:creator>Fady Khazaka</dc:creator>
  <cp:lastModifiedBy>Fady Khazaka</cp:lastModifiedBy>
  <cp:revision>1</cp:revision>
  <dcterms:created xsi:type="dcterms:W3CDTF">2026-10-01T10:19:05Z</dcterms:created>
  <dcterms:modified xsi:type="dcterms:W3CDTF">2026-10-01T10:19:05Z</dcterms:modified>
</cp:coreProperties>
</file>