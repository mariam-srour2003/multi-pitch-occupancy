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False-play rate</c:v>
                </c:pt>
              </c:strCache>
            </c:strRef>
          </c:tx>
          <c:spPr>
            <a:solidFill>
              <a:srgbClr val="2FA86B"/>
            </a:solidFill>
            <a:effectLst/>
          </c:spPr>
          <c:invertIfNegative val="0"/>
          <c:dLbls>
            <c:numFmt formatCode="0.000" sourceLinked="0"/>
            <c:txPr>
              <a:bodyPr/>
              <a:lstStyle/>
              <a:p>
                <a:pPr>
                  <a:defRPr b="0" i="0" strike="noStrike" sz="1200" u="none">
                    <a:solidFill>
                      <a:srgbClr val="16211C"/>
                    </a:solidFill>
                    <a:latin typeface="Calibri"/>
                  </a:defRPr>
                </a:pPr>
              </a:p>
            </c:txPr>
            <c:showLegendKey val="0"/>
            <c:showVal val="1"/>
            <c:showCatName val="0"/>
            <c:showSerName val="0"/>
            <c:showPercent val="0"/>
            <c:showBubbleSize val="0"/>
            <c:showLeaderLines val="0"/>
          </c:dLbls>
          <c:dPt>
            <c:idx val="0"/>
            <c:invertIfNegative val="0"/>
            <c:bubble3D val="0"/>
            <c:spPr>
              <a:solidFill>
                <a:srgbClr val="2FA86B"/>
              </a:solidFill>
              <a:effectLst/>
            </c:spPr>
          </c:dPt>
          <c:dPt>
            <c:idx val="1"/>
            <c:invertIfNegative val="0"/>
            <c:bubble3D val="0"/>
            <c:spPr>
              <a:solidFill>
                <a:srgbClr val="F2A33C"/>
              </a:solidFill>
              <a:effectLst/>
            </c:spPr>
          </c:dPt>
          <c:dPt>
            <c:idx val="2"/>
            <c:invertIfNegative val="0"/>
            <c:bubble3D val="0"/>
            <c:spPr>
              <a:solidFill>
                <a:srgbClr val="D6455B"/>
              </a:solidFill>
              <a:effectLst/>
            </c:spPr>
          </c:dPt>
          <c:dPt>
            <c:idx val="3"/>
            <c:invertIfNegative val="0"/>
            <c:bubble3D val="0"/>
            <c:spPr>
              <a:solidFill>
                <a:srgbClr val="D6455B"/>
              </a:solidFill>
              <a:effectLst/>
            </c:spPr>
          </c:dPt>
          <c:cat>
            <c:multiLvlStrRef>
              <c:f>Sheet1!$A$2:$A$5</c:f>
              <c:multiLvlStrCache>
                <c:ptCount val="4"/>
                <c:lvl>
                  <c:pt idx="0">
                    <c:v>Clock rule
(no pixels)</c:v>
                  </c:pt>
                  <c:pt idx="1">
                    <c:v>DINOv2</c:v>
                  </c:pt>
                  <c:pt idx="2">
                    <c:v>ViT</c:v>
                  </c:pt>
                  <c:pt idx="3">
                    <c:v>ConvNeXtV2</c:v>
                  </c:pt>
                </c:lvl>
              </c:multiLvlStrCache>
            </c:multiLvlStrRef>
          </c:cat>
          <c:val>
            <c:numRef>
              <c:f>Sheet1!$B$2:$B$5</c:f>
              <c:numCache>
                <c:formatCode>General</c:formatCode>
                <c:ptCount val="4"/>
                <c:pt idx="0">
                  <c:v>0.0206</c:v>
                </c:pt>
                <c:pt idx="1">
                  <c:v>0.3086</c:v>
                </c:pt>
                <c:pt idx="2">
                  <c:v>0.8354</c:v>
                </c:pt>
                <c:pt idx="3">
                  <c:v>0.9918</c:v>
                </c:pt>
              </c:numCache>
            </c:numRef>
          </c:val>
        </c:ser>
        <c:dLbls>
          <c:numFmt formatCode="0.000" sourceLinked="0"/>
          <c:txPr>
            <a:bodyPr/>
            <a:lstStyle/>
            <a:p>
              <a:pPr>
                <a:defRPr b="0" i="0" strike="noStrike" sz="1200" u="none">
                  <a:solidFill>
                    <a:srgbClr val="16211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62"/>
                </a:solidFill>
                <a:latin typeface="Calibri"/>
              </a:defRPr>
            </a:pPr>
            <a:endParaRPr lang="en-US"/>
          </a:p>
        </c:txPr>
        <c:crossAx val="2094734552"/>
        <c:crosses val="autoZero"/>
        <c:auto val="1"/>
        <c:lblAlgn val="ctr"/>
        <c:noMultiLvlLbl val="1"/>
      </c:catAx>
      <c:valAx>
        <c:axId val="2094734552"/>
        <c:scaling>
          <c:orientation val="minMax"/>
          <c:max val="1.1"/>
        </c:scaling>
        <c:delete val="0"/>
        <c:axPos val="l"/>
        <c:majorGridlines>
          <c:spPr>
            <a:ln w="12700" cap="flat">
              <a:solidFill>
                <a:srgbClr val="E4EA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Span of macro-F1</c:v>
                </c:pt>
              </c:strCache>
            </c:strRef>
          </c:tx>
          <c:spPr>
            <a:solidFill>
              <a:srgbClr val="F2A33C"/>
            </a:solidFill>
            <a:effectLst/>
          </c:spPr>
          <c:invertIfNegative val="0"/>
          <c:dLbls>
            <c:numFmt formatCode="0.000" sourceLinked="0"/>
            <c:txPr>
              <a:bodyPr/>
              <a:lstStyle/>
              <a:p>
                <a:pPr>
                  <a:defRPr b="0" i="0" strike="noStrike" sz="1300" u="none">
                    <a:solidFill>
                      <a:srgbClr val="16211C"/>
                    </a:solidFill>
                    <a:latin typeface="Calibri"/>
                  </a:defRPr>
                </a:pPr>
              </a:p>
            </c:txPr>
            <c:showLegendKey val="0"/>
            <c:showVal val="1"/>
            <c:showCatName val="0"/>
            <c:showSerName val="0"/>
            <c:showPercent val="0"/>
            <c:showBubbleSize val="0"/>
            <c:showLeaderLines val="0"/>
          </c:dLbls>
          <c:dPt>
            <c:idx val="0"/>
            <c:invertIfNegative val="0"/>
            <c:bubble3D val="0"/>
            <c:spPr>
              <a:solidFill>
                <a:srgbClr val="F2A33C"/>
              </a:solidFill>
              <a:effectLst/>
            </c:spPr>
          </c:dPt>
          <c:dPt>
            <c:idx val="1"/>
            <c:invertIfNegative val="0"/>
            <c:bubble3D val="0"/>
            <c:spPr>
              <a:solidFill>
                <a:srgbClr val="1F7A4C"/>
              </a:solidFill>
              <a:effectLst/>
            </c:spPr>
          </c:dPt>
          <c:cat>
            <c:multiLvlStrRef>
              <c:f>Sheet1!$A$2:$A$3</c:f>
              <c:multiLvlStrCache>
                <c:ptCount val="2"/>
                <c:lvl>
                  <c:pt idx="0">
                    <c:v>How you word the prompt</c:v>
                  </c:pt>
                  <c:pt idx="1">
                    <c:v>Which of 3 backbones you pick</c:v>
                  </c:pt>
                </c:lvl>
              </c:multiLvlStrCache>
            </c:multiLvlStrRef>
          </c:cat>
          <c:val>
            <c:numRef>
              <c:f>Sheet1!$B$2:$B$3</c:f>
              <c:numCache>
                <c:formatCode>General</c:formatCode>
                <c:ptCount val="2"/>
                <c:pt idx="0">
                  <c:v>0.7265</c:v>
                </c:pt>
                <c:pt idx="1">
                  <c:v>0.082</c:v>
                </c:pt>
              </c:numCache>
            </c:numRef>
          </c:val>
        </c:ser>
        <c:dLbls>
          <c:numFmt formatCode="0.000" sourceLinked="0"/>
          <c:txPr>
            <a:bodyPr/>
            <a:lstStyle/>
            <a:p>
              <a:pPr>
                <a:defRPr b="0" i="0" strike="noStrike" sz="1300" u="none">
                  <a:solidFill>
                    <a:srgbClr val="16211C"/>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11C"/>
                </a:solidFill>
                <a:latin typeface="Calibri"/>
              </a:defRPr>
            </a:pPr>
            <a:endParaRPr lang="en-US"/>
          </a:p>
        </c:txPr>
        <c:crossAx val="2094734552"/>
        <c:crosses val="autoZero"/>
        <c:auto val="1"/>
        <c:lblAlgn val="ctr"/>
        <c:noMultiLvlLbl val="1"/>
      </c:catAx>
      <c:valAx>
        <c:axId val="2094734552"/>
        <c:scaling>
          <c:orientation val="minMax"/>
          <c:max val="0.85"/>
        </c:scaling>
        <c:delete val="0"/>
        <c:axPos val="b"/>
        <c:majorGridlines>
          <c:spPr>
            <a:ln w="12700" cap="flat">
              <a:solidFill>
                <a:srgbClr val="E4EA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macro-F1</c:v>
                </c:pt>
              </c:strCache>
            </c:strRef>
          </c:tx>
          <c:spPr>
            <a:solidFill>
              <a:srgbClr val="1F7A4C"/>
            </a:solidFill>
            <a:effectLst/>
          </c:spPr>
          <c:invertIfNegative val="0"/>
          <c:dLbls>
            <c:numFmt formatCode="0.000" sourceLinked="0"/>
            <c:txPr>
              <a:bodyPr/>
              <a:lstStyle/>
              <a:p>
                <a:pPr>
                  <a:defRPr b="0" i="0" strike="noStrike" sz="1200" u="none">
                    <a:solidFill>
                      <a:srgbClr val="16211C"/>
                    </a:solidFill>
                    <a:latin typeface="Calibri"/>
                  </a:defRPr>
                </a:pPr>
              </a:p>
            </c:txPr>
            <c:showLegendKey val="0"/>
            <c:showVal val="1"/>
            <c:showCatName val="0"/>
            <c:showSerName val="0"/>
            <c:showPercent val="0"/>
            <c:showBubbleSize val="0"/>
            <c:showLeaderLines val="0"/>
          </c:dLbls>
          <c:dPt>
            <c:idx val="0"/>
            <c:invertIfNegative val="0"/>
            <c:bubble3D val="0"/>
            <c:spPr>
              <a:solidFill>
                <a:srgbClr val="1F7A4C"/>
              </a:solidFill>
              <a:effectLst/>
            </c:spPr>
          </c:dPt>
          <c:dPt>
            <c:idx val="1"/>
            <c:invertIfNegative val="0"/>
            <c:bubble3D val="0"/>
            <c:spPr>
              <a:solidFill>
                <a:srgbClr val="D6455B"/>
              </a:solidFill>
              <a:effectLst/>
            </c:spPr>
          </c:dPt>
          <c:dPt>
            <c:idx val="2"/>
            <c:invertIfNegative val="0"/>
            <c:bubble3D val="0"/>
            <c:spPr>
              <a:solidFill>
                <a:srgbClr val="D6455B"/>
              </a:solidFill>
              <a:effectLst/>
            </c:spPr>
          </c:dPt>
          <c:dPt>
            <c:idx val="3"/>
            <c:invertIfNegative val="0"/>
            <c:bubble3D val="0"/>
            <c:spPr>
              <a:solidFill>
                <a:srgbClr val="D6455B"/>
              </a:solidFill>
              <a:effectLst/>
            </c:spPr>
          </c:dPt>
          <c:dPt>
            <c:idx val="4"/>
            <c:invertIfNegative val="0"/>
            <c:bubble3D val="0"/>
            <c:spPr>
              <a:solidFill>
                <a:srgbClr val="D6455B"/>
              </a:solidFill>
              <a:effectLst/>
            </c:spPr>
          </c:dPt>
          <c:cat>
            <c:multiLvlStrRef>
              <c:f>Sheet1!$A$2:$A$6</c:f>
              <c:multiLvlStrCache>
                <c:ptCount val="5"/>
                <c:lvl>
                  <c:pt idx="0">
                    <c:v>Draw 1
(published)</c:v>
                  </c:pt>
                  <c:pt idx="1">
                    <c:v>Draw 2</c:v>
                  </c:pt>
                  <c:pt idx="2">
                    <c:v>Draw 3</c:v>
                  </c:pt>
                  <c:pt idx="3">
                    <c:v>Draw 4</c:v>
                  </c:pt>
                  <c:pt idx="4">
                    <c:v>Draw 5</c:v>
                  </c:pt>
                </c:lvl>
              </c:multiLvlStrCache>
            </c:multiLvlStrRef>
          </c:cat>
          <c:val>
            <c:numRef>
              <c:f>Sheet1!$B$2:$B$6</c:f>
              <c:numCache>
                <c:formatCode>General</c:formatCode>
                <c:ptCount val="5"/>
                <c:pt idx="0">
                  <c:v>0.855</c:v>
                </c:pt>
                <c:pt idx="1">
                  <c:v>0.4136</c:v>
                </c:pt>
                <c:pt idx="2">
                  <c:v>0.351</c:v>
                </c:pt>
                <c:pt idx="3">
                  <c:v>0.3501</c:v>
                </c:pt>
                <c:pt idx="4">
                  <c:v>0.3479</c:v>
                </c:pt>
              </c:numCache>
            </c:numRef>
          </c:val>
        </c:ser>
        <c:dLbls>
          <c:numFmt formatCode="0.000" sourceLinked="0"/>
          <c:txPr>
            <a:bodyPr/>
            <a:lstStyle/>
            <a:p>
              <a:pPr>
                <a:defRPr b="0" i="0" strike="noStrike" sz="1200" u="none">
                  <a:solidFill>
                    <a:srgbClr val="16211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A6B62"/>
                </a:solidFill>
                <a:latin typeface="Calibri"/>
              </a:defRPr>
            </a:pPr>
            <a:endParaRPr lang="en-US"/>
          </a:p>
        </c:txPr>
        <c:crossAx val="2094734552"/>
        <c:crosses val="autoZero"/>
        <c:auto val="1"/>
        <c:lblAlgn val="ctr"/>
        <c:noMultiLvlLbl val="1"/>
      </c:catAx>
      <c:valAx>
        <c:axId val="2094734552"/>
        <c:scaling>
          <c:orientation val="minMax"/>
          <c:max val="1"/>
        </c:scaling>
        <c:delete val="0"/>
        <c:axPos val="l"/>
        <c:majorGridlines>
          <c:spPr>
            <a:ln w="12700" cap="flat">
              <a:solidFill>
                <a:srgbClr val="E4EA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6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distinguished examiners, professors and colleagues.
My name is Mariam Srour, and I am a Master's student in [Programme] at [Institution].
The title of my research is "Multi-Pitch Occupancy and Booking Verification from Existing Cameras". Throughout this talk I will use the shorter version on the slide: who actually used the pitch?
[25 minutes. Pace: about 45 seconds a slide. Do not rush the three slides on the confound - they are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presentation I will briefly take you through the purpose of the research; how the research works, including a short hypothetical scenario; what problem the research tackles; how it provides a solution; and I will conclude with a summary.
I flag the two experiments at the bottom now, because they are where the method contribution of this thesis actually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study is to find out which sold pitch hours were actually used, using cameras that are already installed for match highlights.
The study focuses on a network of synthetic five-a-side football pitches, three kinds of scene - empty, active play, and maintenance - and the facility's own booking records.
Say this plainly: the output is not a classification. It is a billing conversation. 'This booking looks unused, and here are three frames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first, so nobody has to guess it. 1,692 hand-labelled frames, three classes, seven venue folds, and no GPU anywhere in the design.
The card at the bottom is the rule that makes this an audit rather than a rubber stamp. If the classifier could see the booking flag, its agreement with the booking would mean nothing. The vision path and the reconciliation layer never share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achieve the purpose of the study I built and then evaluated a five-stage system.
Stage one is the decision that makes everything else possible. Instead of decoding twenty to thirty continuous video streams, the system samples one frame per camera per minute. That is roughly a 99% cut in bandwidth, from about 60-90 megabits down to under one, and it is what lets the whole facility run on a single Intel mini-PC with no graphics card.
Stage three is worth naming: the cheap geometric and motion checks can overrule the neural network. I will come back to that, because it turns out to matter more than the choice of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that concrete. It is Tuesday evening. The booking system says pitch 3 was sold for an hour and a member of staff marked it as used. The cameras sampled sixteen frames across that hour, and thirteen of them show an empty pitch under floodlights.
The system does not cancel the charge. It raises one advisory with three evidence photos, and a manager decides what to do.
In the code that is structural rather than a promise. The only output type the decision layer can produce is an Advisory; requires_human_confirmation is a property, not a setting; and there is no code path that acts on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involved recorded footage from fixed cameras at nine venues, sampled every fifteen seconds and hand-labelled into three classes against a written protocol that was fixed before the runs.
The amber card is the one to dwell on. Fixed cameras plus short intervals means almost every frame has a near-twin. That single property is what invalidated the pilot, and it is why the next slide is about splitting rather than about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collected data were analysed with frozen vision backbones and a small trained head, evaluated under grouped splits and leave-one-venue-out.
Two choices here are the method contribution. First, every protocol runs four trivial baselines alongside the models - a rule that reads only the clock, a colour histogram, a constant predictor and a random one. If a trivial baseline wins, that is information about the protocol, not a curiosity to leave out of the write-up.
Second, I report the resolution of each test. Over seven folds the smallest attainable two-sided p-value is 0.0156 - so 'not significant' and 'the design could not have produced significance' are different statements, and I say which one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addresses the problem that a facility sells pitch hours and has no verified record of which ones were used. Staff write it down; the records are unverified; three kinds of error follow, and each costs money or trust.
Concede the obvious objection before anyone raises it: a twenty-euro motion sensor is more robust in fog, in darkness, and against a dirty lens. But a sensor answers 'did something move'. An audit needs 'was this booking used, and here is the picture' - and it has to tell a five-a-side match from a groundsman on a mower.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a great deal is known about frozen backbones and about occupancy from CCTV, there remains a gap: almost all of it is evaluated on frames drawn from the same scenes that appear in training.
That gap is important here because the facility's money rests entirely on one class. Getting 'playing' right is easy and worth nothing - if the system cannot reliably recognise an empty pitch, it cannot flag a single unused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consequence, and it is measurable. Under a random split, 37% of near-duplicate pairs land on opposite sides of the train/test line. Group the split by venue and slot and that falls to under 1%.
The price of that honesty is severe: ConvNeXtV2's macro-F1 roughly halves. And on the leaky split, every one of its twelve errors was a frame whose near-duplicate was sitting in the training set.
The bottom card is where I checked my own result. A model that never trains cannot leak, so scoring a zero-shot model on the same test sets isolates what changing the test set does by itself - 0.183 of it. The leakage-attributable part is 0.33 to 0.40, not 0.52. Reporting the larger number would have made my story stronger and it would have been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talk, so I will slow down.
Across the recorded corpus, daylight is 98% empty pitches and night is 99% football. Which means the sentence 'night means play, day means not-play' is correct on 99.1% of my data, without looking at a single pixel.
The consequence is that nothing measured on this data can separate a model that recognises an empty pitch from a model that recognises the time of day. The two cells that would break the tie hold nine frames and six frames.
I want to be precise about what kind of claim this is. It is a statement about the dataset, not about the models - and identifying it, rather than reporting around it, is the contribution of this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that confound does to a benchmark. The clock rule predicts the majority class for the lighting condition and reads no pixels at all. Across unseen venues it has a false-play rate fifteen times lower than the best backbone, and perfect play-recall. It beats all three on both axes at once.
Expect the question on the second card, and answer it directly: no, the backbones are not worthless. They are indistinguishable from a light meter on this dataset.
One honesty note, and I would rather volunteer it. An earlier version of this slide said the opposite - that the rule collapsed across venues. That number came from a label error: a brightness threshold had filed 216 frames of floodlit night football as daylight. Corrected, the rule wins, and the finding reversed.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went and got the missing case: four minutes of a floodlit pitch at night with nobody on it, scored minute by minute.
The clock rule calls all sixteen minutes active play. It is wrong on every single one. The neural probe on its own sits at 0.38. The deployed path - probe plus pitch boundary plus motion gate plus person gate - is at zero, and gets all thirteen empty minutes right.
The point to land, and it is the most useful sentence in the thesis: the benchmark had 1,692 frames and the clip had a few hundred. The clip won, because it contained the case the benchmark was missing. More data of the same kind would not have found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cases, and the pattern is the point: each was found by checking rather than by theorising.
On leave-one-venue-out, a constant predictor that always answers 'playing' scores a perfect macro-F1 - ahead of every backbone. This is stronger than saying the protocol changes the ranking. On that protocol there is no ranking to change.
The second one is subtler and I think it is the strongest result in the thesis. The false-play rate had been quoted throughout as how well a model recognises an empty pitch. So I asked what the models answer instead. DINOv2 says playing 75 times and maintenance 168 times, and is correct zero times out of 243. The published numbers stand; the inference drawn from them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the models, because it is the first thing anyone asks.
Two hundred million frozen parameters, and eleven thousand trained ones. The backbones never saw this data during training - they are fixed feature extractors. That ratio is what made the experimental breadth possible: embed the corpus once, and every downstream experiment is a probe on cached vectors that costs seconds instead of hours.
The third card is worth saying out loud. The proposal named ConvNeXtV2. Under leakage-free evaluation DINOv2 leads and ConvNeXtV2 does not. The decision was made on a measurement, and the measurement was taken after the proposal. That is the process working, not a mistake being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proposed two novel modules, and I want to report both the way they came out.
The gated fusion head is a negative result. Routing between backbones is worth minus 0.024 cross-venue recall against the same head with the gate off. I built the ablation as a three-rung ladder - uniform, constant, learned - because a simple on/off switch credited routing with what is really a learned constant.
STAN scores a perfect 1.000, and I am going to argue against my own number. The composed label is a deterministic function of five templates, so a model that reads contiguity recovers the generating process. That is a saturated benchmark. The real test set is two slots, and the thirty-slot threshold raises an exception in code rather than sitting in a footnote.
I re-drew it before anyone asked - same check that retracted the augmentation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two experiments I said I would spend time on. These are the ones I would have reported as clean successes six months ago, and both turned out to be measuring something other than what they claimed.
Two searches with opposite cost profiles. The preprocessing search asks which image preparation helps the backbone; every candidate needs a fresh embedding pass over the whole dataset, so it has to be greedy. The prompt search asks how well we can do with no labels at all, just by describing the three classes well; prompts are a few short strings against embeddings computed once, so it can be exhaustive.
The same guard applies to both: every cross-venue fold is 100% active play, so recall alone can be bought by answering 'playing' more often. Everything here is ranked on recall minus false-play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Eighty-eight runs over crop, undistort, gamma, saturation, sharpening, denoise and CLAHE. It produced a clear winner with a perfect score.
Then I measured the resolution of the search itself, and that is the rest of the slide. One frame moving in the smallest venue fold shifts the headline by 0.0119. The bootstrap interval over the seven folds is 0.092 wide at the median configuration. Almost every difference the search ranked on is smaller than its own error bar.
So the ranking is real arithmetic on unreal precision. The search is not wrong - it is finer-grained than the evidence underneath it, and saying so is more useful than reporting a winner.
The bottom card is the other half: the proposal predicted CLAHE would help with glare. It costs 0.27. The plan was wrong and the measurement said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375 prompt sets, no labels used at all, scored exhaustively.
Here is the number I find genuinely uncomfortable. The span from worst wording to best wording is 0.726 macro-F1. Choosing between the three trained backbones - the decision the entire model chapter is about - moves the score by 0.082. How you write the sentence matters about nine times more than which model you pick.
And then the two guards on the right, both of which I want to state before anyone else does. Only 22.9% of prompt sets beat the best trained probe and the median one loses, so 'zero-shot works' is only true if you already know which wording to use - and knowing that requires labels. Second, the winner's lead of 0.447 is measured on the same folds it was selected from. That is disclosed in the pre-registration as an undeclared search family, and the hypothesis tests deliberately use a different, pre-declared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augmentation experiment.
The question is a good one and it is the deployment question. A probe trained on camera A scores 0.441 on camera B, which watches the same pitch from a different angle with different exposure. One labelled frame of camera B takes it to 0.99. Can augmentation - varying brightness, gamma and sensor noise during training - close that gap with no labels from B at all?
The bottom card explains why this is one experiment on one boundary rather than a flag on everything: augmentation happens before the backbone, so it breaks the embedding cache that the whole experimental programme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was yes, and it was a good result. One draw of the light preset - brightness, gamma, sensor noise - took empty-pitch recall on the unseen camera from zero to 0.687, with no labels from that camera at all. Macro-F1 0.855.
It went into the write-up as a finding, with one note attached: only one draw had been taken.
Pause here. Let them sit with it as a success for a moment, because the next slide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ran the identical experiment four more times, changing nothing but the random seed. Same frames, same preset, same probe seed, same test set.
0.414. 0.351. 0.350. 0.348.
The published 0.855 is the maximum of five, not a typical value. The standard deviation is 0.221 on a metric that only runs from zero to one. And four of the five draws are worse than using no augmentation at all, which scores 0.441.
One more detail that explains the shape. Three draws score exactly 0.3479, which is not a coincidence: that is the macro-F1 of answering 'active play' to all 521 test frames. What moves between draws is whether the fitted boundary reaches camera B's empty pitch at all. It does not degrade gracefully - it is either a working classifier or the trivial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headline was retracted, and I want to be precise about what was retracted. The row in the results file is unchanged and still reproduces exactly. What was withdrawn is the claim about the method. It is now restated as a claim about that one draw, and it is only ever quoted next to the spread.
The transferable lesson is the middle card. A unit test that fixed the published value would have passed forever, because the artefact was reproducible. Reproducibility checked the wrong thing. Only re-drawing the randomness caught it.
That is now standing practice in this project, and I ran it on my own strongest result - the temporal model - and volunteered the spread before anyone asked for it. Running that check on your own headline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I do about all of this?
This study seeks to address the problem in three ways, and the common thread is worth naming before I show them: not one of them is a bigger or better neural network. Every gain in this project came from cheap structure around the model, or from labelling a handful of the right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cheap geometric and motion rules that sit in front of the model and can overrule it. False alarms on empty pitches fall from 0.617 to 0.012. Counting every kind of wrong verdict rather than only play-shaped ones, error falls from 1.00 to 0.11.
Second: generating the cell the data does not have. Thirty-one synthetic empty-pitch frames take cross-venue false alarms from 0.768 to 0.024 while raising play-recall.
Third is the deployment recipe, and it is the one the facility can act on tomorrow. One labelled frame of a new camera takes every backbone to about 0.98. And here is the control that reframes it: from five frames, training on those five alone matches training on those five plus 775 frames from the source camera. The source set stops contributing.
So I state the weaker claim, because it is the true one: what buys the accuracy is any labels from the new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methodological half of the contribution, and I think it is the part that transfers beyond football pitches.
Six safeguards in this project were doing nothing at all. A test-set lock resolved against the working directory. A processor-geometry fingerprint that never changed. A confidence threshold set to zero, which can never fire. A gate criterion that searched for a word instead of running the verifier. A live-camera class that raised an exception on the attribute it needed, so it could never run. And evidence selection that recorded a path of None for every frame it chose.
Every one of them passed whatever test existed. So each new guard is now verified by deliberately breaking the thing it guards and confirming the guard fires. That practice found half the results in this talk.
The root of it is one observation from early in the project: a wrong result that looks plausible is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what the system deliberately will not do, because auditing how a facility's pitches are used is close to auditing the people who work there.
The commitment is that the system never bills and never acts. What makes that credible is that it is structural rather than a policy sentence: Advisory is the only type the decision layer can return, human confirmation is a property rather than a parameter, and there is no code path that acts.
The middle item on the right is the subtle one and I think it is the most important. If the model is unsure, that uncertainty belongs to the model. Turning a REVIEW into a flag against a member of staff would be laundering the system's own weakness into someone else's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limits, and I would rather state them than be asked.
Every empty pitch in the corpus comes from a single venue, so a three-class cross-venue evaluation simply cannot be run here.
The second one is the one I find most instructive. 243 held-out empty frames sound like a healthy sample, but they are three distinct scenes - consecutive views from one fixed camera. Six comparisons that were significant to p equals 8 times ten to the minus 53 did not survive being recounted that way.
And nothing has run on the target mini-PC. Every speed number is from a laptop.
The line at the bottom matters to me: 'not significant' and 'the design could not have produced significance' are different statements, and I report which one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what would change them, ordered by value rather than by effort.
Empty-pitch footage at a second venue is first because one half-hour of recording resolves three separate limitations at once. About thirty real labelled slots is second, and that is one conversation with the facility rather than any engineering. Five labelled frames per camera is third, and it is already measured.
Close on the sentence at the bottom, and say it deliberately: the limitations of this thesis are mostly a data-access problem with a known and inexpensive solution, not a methodological one. That is a much better last word than an apology.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this study investigated whether the cameras a facility already owns can verify which booked hours were actually used, on hardware it already has, with a human deciding every case.
The findings indicate that the system works end to end - and that the evaluation is the real result. On this corpus, lighting and occupancy are confounded so tightly that a rule reading only the clock outperforms three modern backbones, and one short clip containing the missing case reverses that ranking completely.
These findings contribute a set of evaluation practices that apply well beyond this problem, and they give the facility a concrete, inexpensive recipe for onboarding a new camera.
Then the last line, slowly, and stop talking: no protocol compensates for a case the data never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I welcome any questions, comments, suggestions or feedback you may have.
The chips are the four questions most likely to come. Short answers:
Colour histogram: 0.9616 on the leaky split, and statistically indistinguishable from ConvNeXtV2 once you count the 62 distinct scenes rather than 394 frames.
Novelty vs smoothing: tested against four tuned baselines including an HMM, beaten by 0.105 - with the saturation caveat enforced in code.
Multiple comparisons: Holm within declared families, and the undeclared search families are disclosed as numbered amendments rather than folded in quietly.
Human ceiling: no inter-annotator figure exists. Say that plainly - it is a real gap. Practise saying 'we do not know' without flinching; an examiner trusts a candidate who has bounded their ignorance more than one who has not noticed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1E"/>
        </a:solidFill>
      </p:bgPr>
    </p:bg>
    <p:spTree>
      <p:nvGrpSpPr>
        <p:cNvPr id="1" name=""/>
        <p:cNvGrpSpPr/>
        <p:nvPr/>
      </p:nvGrpSpPr>
      <p:grpSpPr>
        <a:xfrm>
          <a:off x="0" y="0"/>
          <a:ext cx="0" cy="0"/>
          <a:chOff x="0" y="0"/>
          <a:chExt cx="0" cy="0"/>
        </a:xfrm>
      </p:grpSpPr>
      <p:sp>
        <p:nvSpPr>
          <p:cNvPr id="2" name="Shape 0"/>
          <p:cNvSpPr/>
          <p:nvPr/>
        </p:nvSpPr>
        <p:spPr>
          <a:xfrm>
            <a:off x="9418320" y="1005840"/>
            <a:ext cx="3108960" cy="3108960"/>
          </a:xfrm>
          <a:prstGeom prst="ellipse">
            <a:avLst/>
          </a:prstGeom>
          <a:solidFill>
            <a:srgbClr val="1A3C2B"/>
          </a:solidFill>
          <a:ln/>
        </p:spPr>
      </p:sp>
      <p:sp>
        <p:nvSpPr>
          <p:cNvPr id="3" name="Shape 1"/>
          <p:cNvSpPr/>
          <p:nvPr/>
        </p:nvSpPr>
        <p:spPr>
          <a:xfrm>
            <a:off x="10241280" y="1828800"/>
            <a:ext cx="1463040" cy="1463040"/>
          </a:xfrm>
          <a:prstGeom prst="ellipse">
            <a:avLst/>
          </a:prstGeom>
          <a:solidFill>
            <a:srgbClr val="2FA86B">
              <a:alpha val="38000"/>
            </a:srgbClr>
          </a:solidFill>
          <a:ln/>
        </p:spPr>
      </p:sp>
      <p:sp>
        <p:nvSpPr>
          <p:cNvPr id="4" name="Text 2"/>
          <p:cNvSpPr txBox="1"/>
          <p:nvPr/>
        </p:nvSpPr>
        <p:spPr>
          <a:xfrm>
            <a:off x="566928" y="1325880"/>
            <a:ext cx="8686800" cy="274320"/>
          </a:xfrm>
          <a:prstGeom prst="rect">
            <a:avLst/>
          </a:prstGeom>
          <a:noFill/>
          <a:ln/>
        </p:spPr>
        <p:txBody>
          <a:bodyPr wrap="square" lIns="0" tIns="0" rIns="0" bIns="0" rtlCol="0" anchor="ctr"/>
          <a:lstStyle/>
          <a:p>
            <a:pPr indent="0" marL="0">
              <a:buNone/>
            </a:pPr>
            <a:r>
              <a:rPr lang="en-US" sz="1250" b="1" spc="260" kern="0" dirty="0">
                <a:solidFill>
                  <a:srgbClr val="2FA86B"/>
                </a:solidFill>
                <a:latin typeface="Calibri" pitchFamily="34" charset="0"/>
                <a:ea typeface="Calibri" pitchFamily="34" charset="-122"/>
                <a:cs typeface="Calibri" pitchFamily="34" charset="-120"/>
              </a:rPr>
              <a:t>MASTER'S THESIS  •  ORAL DEFENCE</a:t>
            </a:r>
            <a:endParaRPr lang="en-US" sz="1250" dirty="0"/>
          </a:p>
        </p:txBody>
      </p:sp>
      <p:sp>
        <p:nvSpPr>
          <p:cNvPr id="5" name="Text 3"/>
          <p:cNvSpPr txBox="1"/>
          <p:nvPr/>
        </p:nvSpPr>
        <p:spPr>
          <a:xfrm>
            <a:off x="566928" y="1783080"/>
            <a:ext cx="8412480" cy="1920240"/>
          </a:xfrm>
          <a:prstGeom prst="rect">
            <a:avLst/>
          </a:prstGeom>
          <a:noFill/>
          <a:ln/>
        </p:spPr>
        <p:txBody>
          <a:bodyPr wrap="square" lIns="0" tIns="0" rIns="0" bIns="0" rtlCol="0" anchor="t"/>
          <a:lstStyle/>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Who actually used</a:t>
            </a:r>
            <a:endParaRPr lang="en-US" sz="5200" dirty="0"/>
          </a:p>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the pitch?</a:t>
            </a:r>
            <a:endParaRPr lang="en-US" sz="5200" dirty="0"/>
          </a:p>
        </p:txBody>
      </p:sp>
      <p:sp>
        <p:nvSpPr>
          <p:cNvPr id="6" name="Text 4"/>
          <p:cNvSpPr txBox="1"/>
          <p:nvPr/>
        </p:nvSpPr>
        <p:spPr>
          <a:xfrm>
            <a:off x="566928" y="3822192"/>
            <a:ext cx="8229600" cy="731520"/>
          </a:xfrm>
          <a:prstGeom prst="rect">
            <a:avLst/>
          </a:prstGeom>
          <a:noFill/>
          <a:ln/>
        </p:spPr>
        <p:txBody>
          <a:bodyPr wrap="square" lIns="0" tIns="0" rIns="0" bIns="0" rtlCol="0" anchor="ctr"/>
          <a:lstStyle/>
          <a:p>
            <a:pPr indent="0" marL="0">
              <a:lnSpc>
                <a:spcPts val="2400"/>
              </a:lnSpc>
              <a:buNone/>
            </a:pPr>
            <a:r>
              <a:rPr lang="en-US" sz="1750" dirty="0">
                <a:solidFill>
                  <a:srgbClr val="C8DCD1"/>
                </a:solidFill>
                <a:latin typeface="Calibri" pitchFamily="34" charset="0"/>
                <a:ea typeface="Calibri" pitchFamily="34" charset="-122"/>
                <a:cs typeface="Calibri" pitchFamily="34" charset="-120"/>
              </a:rPr>
              <a:t>Multi-pitch occupancy and booking verification from cameras that are already there</a:t>
            </a:r>
            <a:endParaRPr lang="en-US" sz="1750" dirty="0"/>
          </a:p>
        </p:txBody>
      </p:sp>
      <p:sp>
        <p:nvSpPr>
          <p:cNvPr id="7" name="Shape 5"/>
          <p:cNvSpPr/>
          <p:nvPr/>
        </p:nvSpPr>
        <p:spPr>
          <a:xfrm>
            <a:off x="566928" y="4892040"/>
            <a:ext cx="146304" cy="146304"/>
          </a:xfrm>
          <a:prstGeom prst="ellipse">
            <a:avLst/>
          </a:prstGeom>
          <a:solidFill>
            <a:srgbClr val="F2A33C"/>
          </a:solidFill>
          <a:ln/>
        </p:spPr>
      </p:sp>
      <p:sp>
        <p:nvSpPr>
          <p:cNvPr id="8" name="Text 6"/>
          <p:cNvSpPr txBox="1"/>
          <p:nvPr/>
        </p:nvSpPr>
        <p:spPr>
          <a:xfrm>
            <a:off x="877824" y="4718304"/>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Mariam Srour</a:t>
            </a:r>
            <a:endParaRPr lang="en-US" sz="1900" dirty="0"/>
          </a:p>
        </p:txBody>
      </p:sp>
      <p:sp>
        <p:nvSpPr>
          <p:cNvPr id="9" name="Text 7"/>
          <p:cNvSpPr txBox="1"/>
          <p:nvPr/>
        </p:nvSpPr>
        <p:spPr>
          <a:xfrm>
            <a:off x="877824" y="5102352"/>
            <a:ext cx="8229600" cy="320040"/>
          </a:xfrm>
          <a:prstGeom prst="rect">
            <a:avLst/>
          </a:prstGeom>
          <a:noFill/>
          <a:ln/>
        </p:spPr>
        <p:txBody>
          <a:bodyPr wrap="square" lIns="0" tIns="0" rIns="0" bIns="0" rtlCol="0" anchor="ctr"/>
          <a:lstStyle/>
          <a:p>
            <a:pPr indent="0" marL="0">
              <a:buNone/>
            </a:pPr>
            <a:r>
              <a:rPr lang="en-US" sz="1350" dirty="0">
                <a:solidFill>
                  <a:srgbClr val="9CBBAB"/>
                </a:solidFill>
                <a:latin typeface="Calibri" pitchFamily="34" charset="0"/>
                <a:ea typeface="Calibri" pitchFamily="34" charset="-122"/>
                <a:cs typeface="Calibri" pitchFamily="34" charset="-120"/>
              </a:rPr>
              <a:t>[Programme]  •  [Institution]  •  Supervisor: [Name]  •  [Date]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Where we are going</a:t>
            </a:r>
            <a:endParaRPr lang="en-US" sz="3800" dirty="0"/>
          </a:p>
        </p:txBody>
      </p:sp>
      <p:sp>
        <p:nvSpPr>
          <p:cNvPr id="4" name="Shape 2"/>
          <p:cNvSpPr/>
          <p:nvPr/>
        </p:nvSpPr>
        <p:spPr>
          <a:xfrm>
            <a:off x="566928" y="2057400"/>
            <a:ext cx="2029968" cy="2286000"/>
          </a:xfrm>
          <a:prstGeom prst="roundRect">
            <a:avLst>
              <a:gd name="adj" fmla="val 4505"/>
            </a:avLst>
          </a:prstGeom>
          <a:solidFill>
            <a:srgbClr val="F4F7F4"/>
          </a:solidFill>
          <a:ln/>
          <a:effectLst>
            <a:outerShdw sx="100000" sy="100000" kx="0" ky="0" algn="bl" rotWithShape="0" blurRad="101600" dist="12700" dir="5400000">
              <a:srgbClr val="000000">
                <a:alpha val="7000"/>
              </a:srgbClr>
            </a:outerShdw>
          </a:effectLst>
        </p:spPr>
      </p:sp>
      <p:sp>
        <p:nvSpPr>
          <p:cNvPr id="5" name="Shape 3"/>
          <p:cNvSpPr/>
          <p:nvPr/>
        </p:nvSpPr>
        <p:spPr>
          <a:xfrm>
            <a:off x="804672" y="2295144"/>
            <a:ext cx="493776" cy="493776"/>
          </a:xfrm>
          <a:prstGeom prst="ellipse">
            <a:avLst/>
          </a:prstGeom>
          <a:solidFill>
            <a:srgbClr val="2FA86B"/>
          </a:solidFill>
          <a:ln/>
        </p:spPr>
      </p:sp>
      <p:sp>
        <p:nvSpPr>
          <p:cNvPr id="6" name="Text 4"/>
          <p:cNvSpPr txBox="1"/>
          <p:nvPr/>
        </p:nvSpPr>
        <p:spPr>
          <a:xfrm>
            <a:off x="804672" y="22951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804672" y="2953512"/>
            <a:ext cx="1554480"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Purpose</a:t>
            </a:r>
            <a:endParaRPr lang="en-US" sz="1600" dirty="0"/>
          </a:p>
        </p:txBody>
      </p:sp>
      <p:sp>
        <p:nvSpPr>
          <p:cNvPr id="8" name="Text 6"/>
          <p:cNvSpPr txBox="1"/>
          <p:nvPr/>
        </p:nvSpPr>
        <p:spPr>
          <a:xfrm>
            <a:off x="804672" y="3337560"/>
            <a:ext cx="1554480" cy="82296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What the study is for</a:t>
            </a:r>
            <a:endParaRPr lang="en-US" sz="1350" dirty="0"/>
          </a:p>
        </p:txBody>
      </p:sp>
      <p:sp>
        <p:nvSpPr>
          <p:cNvPr id="9" name="Shape 7"/>
          <p:cNvSpPr/>
          <p:nvPr/>
        </p:nvSpPr>
        <p:spPr>
          <a:xfrm>
            <a:off x="2816352" y="2057400"/>
            <a:ext cx="2029968" cy="2286000"/>
          </a:xfrm>
          <a:prstGeom prst="roundRect">
            <a:avLst>
              <a:gd name="adj" fmla="val 4505"/>
            </a:avLst>
          </a:prstGeom>
          <a:solidFill>
            <a:srgbClr val="E6F3EC"/>
          </a:solidFill>
          <a:ln/>
          <a:effectLst>
            <a:outerShdw sx="100000" sy="100000" kx="0" ky="0" algn="bl" rotWithShape="0" blurRad="101600" dist="12700" dir="5400000">
              <a:srgbClr val="000000">
                <a:alpha val="7000"/>
              </a:srgbClr>
            </a:outerShdw>
          </a:effectLst>
        </p:spPr>
      </p:sp>
      <p:sp>
        <p:nvSpPr>
          <p:cNvPr id="10" name="Shape 8"/>
          <p:cNvSpPr/>
          <p:nvPr/>
        </p:nvSpPr>
        <p:spPr>
          <a:xfrm>
            <a:off x="3054096" y="2295144"/>
            <a:ext cx="493776" cy="493776"/>
          </a:xfrm>
          <a:prstGeom prst="ellipse">
            <a:avLst/>
          </a:prstGeom>
          <a:solidFill>
            <a:srgbClr val="1F7A4C"/>
          </a:solidFill>
          <a:ln/>
        </p:spPr>
      </p:sp>
      <p:sp>
        <p:nvSpPr>
          <p:cNvPr id="11" name="Text 9"/>
          <p:cNvSpPr txBox="1"/>
          <p:nvPr/>
        </p:nvSpPr>
        <p:spPr>
          <a:xfrm>
            <a:off x="3054096" y="22951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3054096" y="2953512"/>
            <a:ext cx="1554480"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How it works</a:t>
            </a:r>
            <a:endParaRPr lang="en-US" sz="1600" dirty="0"/>
          </a:p>
        </p:txBody>
      </p:sp>
      <p:sp>
        <p:nvSpPr>
          <p:cNvPr id="13" name="Text 11"/>
          <p:cNvSpPr txBox="1"/>
          <p:nvPr/>
        </p:nvSpPr>
        <p:spPr>
          <a:xfrm>
            <a:off x="3054096" y="3337560"/>
            <a:ext cx="1554480" cy="82296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The system, and a scenario</a:t>
            </a:r>
            <a:endParaRPr lang="en-US" sz="1350" dirty="0"/>
          </a:p>
        </p:txBody>
      </p:sp>
      <p:sp>
        <p:nvSpPr>
          <p:cNvPr id="14" name="Shape 12"/>
          <p:cNvSpPr/>
          <p:nvPr/>
        </p:nvSpPr>
        <p:spPr>
          <a:xfrm>
            <a:off x="5065776" y="2057400"/>
            <a:ext cx="2029968" cy="2286000"/>
          </a:xfrm>
          <a:prstGeom prst="roundRect">
            <a:avLst>
              <a:gd name="adj" fmla="val 4505"/>
            </a:avLst>
          </a:prstGeom>
          <a:solidFill>
            <a:srgbClr val="F4F7F4"/>
          </a:solidFill>
          <a:ln/>
          <a:effectLst>
            <a:outerShdw sx="100000" sy="100000" kx="0" ky="0" algn="bl" rotWithShape="0" blurRad="101600" dist="12700" dir="5400000">
              <a:srgbClr val="000000">
                <a:alpha val="7000"/>
              </a:srgbClr>
            </a:outerShdw>
          </a:effectLst>
        </p:spPr>
      </p:sp>
      <p:sp>
        <p:nvSpPr>
          <p:cNvPr id="15" name="Shape 13"/>
          <p:cNvSpPr/>
          <p:nvPr/>
        </p:nvSpPr>
        <p:spPr>
          <a:xfrm>
            <a:off x="5303520" y="2295144"/>
            <a:ext cx="493776" cy="493776"/>
          </a:xfrm>
          <a:prstGeom prst="ellipse">
            <a:avLst/>
          </a:prstGeom>
          <a:solidFill>
            <a:srgbClr val="F2A33C"/>
          </a:solidFill>
          <a:ln/>
        </p:spPr>
      </p:sp>
      <p:sp>
        <p:nvSpPr>
          <p:cNvPr id="16" name="Text 14"/>
          <p:cNvSpPr txBox="1"/>
          <p:nvPr/>
        </p:nvSpPr>
        <p:spPr>
          <a:xfrm>
            <a:off x="5303520" y="22951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5303520" y="2953512"/>
            <a:ext cx="1554480"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The problem</a:t>
            </a:r>
            <a:endParaRPr lang="en-US" sz="1600" dirty="0"/>
          </a:p>
        </p:txBody>
      </p:sp>
      <p:sp>
        <p:nvSpPr>
          <p:cNvPr id="18" name="Text 16"/>
          <p:cNvSpPr txBox="1"/>
          <p:nvPr/>
        </p:nvSpPr>
        <p:spPr>
          <a:xfrm>
            <a:off x="5303520" y="3337560"/>
            <a:ext cx="1554480" cy="82296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And the gap that motivated it</a:t>
            </a:r>
            <a:endParaRPr lang="en-US" sz="1350" dirty="0"/>
          </a:p>
        </p:txBody>
      </p:sp>
      <p:sp>
        <p:nvSpPr>
          <p:cNvPr id="19" name="Shape 17"/>
          <p:cNvSpPr/>
          <p:nvPr/>
        </p:nvSpPr>
        <p:spPr>
          <a:xfrm>
            <a:off x="7315200" y="2057400"/>
            <a:ext cx="2029968" cy="2286000"/>
          </a:xfrm>
          <a:prstGeom prst="roundRect">
            <a:avLst>
              <a:gd name="adj" fmla="val 4505"/>
            </a:avLst>
          </a:prstGeom>
          <a:solidFill>
            <a:srgbClr val="E6F3EC"/>
          </a:solidFill>
          <a:ln/>
          <a:effectLst>
            <a:outerShdw sx="100000" sy="100000" kx="0" ky="0" algn="bl" rotWithShape="0" blurRad="101600" dist="12700" dir="5400000">
              <a:srgbClr val="000000">
                <a:alpha val="7000"/>
              </a:srgbClr>
            </a:outerShdw>
          </a:effectLst>
        </p:spPr>
      </p:sp>
      <p:sp>
        <p:nvSpPr>
          <p:cNvPr id="20" name="Shape 18"/>
          <p:cNvSpPr/>
          <p:nvPr/>
        </p:nvSpPr>
        <p:spPr>
          <a:xfrm>
            <a:off x="7552944" y="2295144"/>
            <a:ext cx="493776" cy="493776"/>
          </a:xfrm>
          <a:prstGeom prst="ellipse">
            <a:avLst/>
          </a:prstGeom>
          <a:solidFill>
            <a:srgbClr val="D6455B"/>
          </a:solidFill>
          <a:ln/>
        </p:spPr>
      </p:sp>
      <p:sp>
        <p:nvSpPr>
          <p:cNvPr id="21" name="Text 19"/>
          <p:cNvSpPr txBox="1"/>
          <p:nvPr/>
        </p:nvSpPr>
        <p:spPr>
          <a:xfrm>
            <a:off x="7552944" y="22951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txBox="1"/>
          <p:nvPr/>
        </p:nvSpPr>
        <p:spPr>
          <a:xfrm>
            <a:off x="7552944" y="2953512"/>
            <a:ext cx="1554480"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The solution</a:t>
            </a:r>
            <a:endParaRPr lang="en-US" sz="1600" dirty="0"/>
          </a:p>
        </p:txBody>
      </p:sp>
      <p:sp>
        <p:nvSpPr>
          <p:cNvPr id="23" name="Text 21"/>
          <p:cNvSpPr txBox="1"/>
          <p:nvPr/>
        </p:nvSpPr>
        <p:spPr>
          <a:xfrm>
            <a:off x="7552944" y="3337560"/>
            <a:ext cx="1554480" cy="82296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What we changed, and what it cost</a:t>
            </a:r>
            <a:endParaRPr lang="en-US" sz="1350" dirty="0"/>
          </a:p>
        </p:txBody>
      </p:sp>
      <p:sp>
        <p:nvSpPr>
          <p:cNvPr id="24" name="Shape 22"/>
          <p:cNvSpPr/>
          <p:nvPr/>
        </p:nvSpPr>
        <p:spPr>
          <a:xfrm>
            <a:off x="9564624" y="2057400"/>
            <a:ext cx="2029968" cy="2286000"/>
          </a:xfrm>
          <a:prstGeom prst="roundRect">
            <a:avLst>
              <a:gd name="adj" fmla="val 4505"/>
            </a:avLst>
          </a:prstGeom>
          <a:solidFill>
            <a:srgbClr val="F4F7F4"/>
          </a:solidFill>
          <a:ln/>
          <a:effectLst>
            <a:outerShdw sx="100000" sy="100000" kx="0" ky="0" algn="bl" rotWithShape="0" blurRad="101600" dist="12700" dir="5400000">
              <a:srgbClr val="000000">
                <a:alpha val="7000"/>
              </a:srgbClr>
            </a:outerShdw>
          </a:effectLst>
        </p:spPr>
      </p:sp>
      <p:sp>
        <p:nvSpPr>
          <p:cNvPr id="25" name="Shape 23"/>
          <p:cNvSpPr/>
          <p:nvPr/>
        </p:nvSpPr>
        <p:spPr>
          <a:xfrm>
            <a:off x="9802368" y="2295144"/>
            <a:ext cx="493776" cy="493776"/>
          </a:xfrm>
          <a:prstGeom prst="ellipse">
            <a:avLst/>
          </a:prstGeom>
          <a:solidFill>
            <a:srgbClr val="2FA86B"/>
          </a:solidFill>
          <a:ln/>
        </p:spPr>
      </p:sp>
      <p:sp>
        <p:nvSpPr>
          <p:cNvPr id="26" name="Text 24"/>
          <p:cNvSpPr txBox="1"/>
          <p:nvPr/>
        </p:nvSpPr>
        <p:spPr>
          <a:xfrm>
            <a:off x="9802368" y="22951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7" name="Text 25"/>
          <p:cNvSpPr txBox="1"/>
          <p:nvPr/>
        </p:nvSpPr>
        <p:spPr>
          <a:xfrm>
            <a:off x="9802368" y="2953512"/>
            <a:ext cx="1554480"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Summary</a:t>
            </a:r>
            <a:endParaRPr lang="en-US" sz="1600" dirty="0"/>
          </a:p>
        </p:txBody>
      </p:sp>
      <p:sp>
        <p:nvSpPr>
          <p:cNvPr id="28" name="Text 26"/>
          <p:cNvSpPr txBox="1"/>
          <p:nvPr/>
        </p:nvSpPr>
        <p:spPr>
          <a:xfrm>
            <a:off x="9802368" y="3337560"/>
            <a:ext cx="1554480" cy="82296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And your questions</a:t>
            </a:r>
            <a:endParaRPr lang="en-US" sz="1350" dirty="0"/>
          </a:p>
        </p:txBody>
      </p:sp>
      <p:sp>
        <p:nvSpPr>
          <p:cNvPr id="29" name="Text 27"/>
          <p:cNvSpPr txBox="1"/>
          <p:nvPr/>
        </p:nvSpPr>
        <p:spPr>
          <a:xfrm>
            <a:off x="566928" y="4754880"/>
            <a:ext cx="11027664" cy="365760"/>
          </a:xfrm>
          <a:prstGeom prst="rect">
            <a:avLst/>
          </a:prstGeom>
          <a:noFill/>
          <a:ln/>
        </p:spPr>
        <p:txBody>
          <a:bodyPr wrap="square" lIns="0" tIns="0" rIns="0" bIns="0" rtlCol="0" anchor="ctr"/>
          <a:lstStyle/>
          <a:p>
            <a:pPr indent="0" marL="0">
              <a:buNone/>
            </a:pPr>
            <a:r>
              <a:rPr lang="en-US" sz="1450" i="1" dirty="0">
                <a:solidFill>
                  <a:srgbClr val="1F7A4C"/>
                </a:solidFill>
                <a:latin typeface="Calibri" pitchFamily="34" charset="0"/>
                <a:ea typeface="Calibri" pitchFamily="34" charset="-122"/>
                <a:cs typeface="Calibri" pitchFamily="34" charset="-120"/>
              </a:rPr>
              <a:t>Two parts I will spend real time on: the configuration searches, and the augmentation experiment.</a:t>
            </a:r>
            <a:endParaRPr lang="en-US" sz="1450" dirty="0"/>
          </a:p>
        </p:txBody>
      </p:sp>
      <p:sp>
        <p:nvSpPr>
          <p:cNvPr id="30" name="Text 28"/>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Roadmap</a:t>
            </a:r>
            <a:endParaRPr lang="en-US" sz="1050" dirty="0"/>
          </a:p>
        </p:txBody>
      </p:sp>
      <p:sp>
        <p:nvSpPr>
          <p:cNvPr id="31" name="Text 29"/>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A1E"/>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2FA86B"/>
                </a:solidFill>
                <a:latin typeface="Calibri" pitchFamily="34" charset="0"/>
                <a:ea typeface="Calibri" pitchFamily="34" charset="-122"/>
                <a:cs typeface="Calibri" pitchFamily="34" charset="-120"/>
              </a:rPr>
              <a:t>PURPOSE OF THE RESEARCH</a:t>
            </a:r>
            <a:endParaRPr lang="en-US" sz="1200" dirty="0"/>
          </a:p>
        </p:txBody>
      </p:sp>
      <p:sp>
        <p:nvSpPr>
          <p:cNvPr id="3" name="Text 1"/>
          <p:cNvSpPr txBox="1"/>
          <p:nvPr/>
        </p:nvSpPr>
        <p:spPr>
          <a:xfrm>
            <a:off x="566928" y="1371600"/>
            <a:ext cx="10332720" cy="2286000"/>
          </a:xfrm>
          <a:prstGeom prst="rect">
            <a:avLst/>
          </a:prstGeom>
          <a:noFill/>
          <a:ln/>
        </p:spPr>
        <p:txBody>
          <a:bodyPr wrap="square" lIns="0" tIns="0" rIns="0" bIns="0" rtlCol="0" anchor="t"/>
          <a:lstStyle/>
          <a:p>
            <a:pPr indent="0" marL="0">
              <a:lnSpc>
                <a:spcPts val="4032"/>
              </a:lnSpc>
              <a:buNone/>
            </a:pPr>
            <a:r>
              <a:rPr lang="en-US" sz="3600" b="1" dirty="0">
                <a:solidFill>
                  <a:srgbClr val="FFFFFF"/>
                </a:solidFill>
                <a:latin typeface="Cambria" pitchFamily="34" charset="0"/>
                <a:ea typeface="Cambria" pitchFamily="34" charset="-122"/>
                <a:cs typeface="Cambria" pitchFamily="34" charset="-120"/>
              </a:rPr>
              <a:t>Find out which booked hours were really used — using the cameras a facility already owns.</a:t>
            </a:r>
            <a:endParaRPr lang="en-US" sz="3600" dirty="0"/>
          </a:p>
        </p:txBody>
      </p:sp>
      <p:sp>
        <p:nvSpPr>
          <p:cNvPr id="4" name="Shape 2"/>
          <p:cNvSpPr/>
          <p:nvPr/>
        </p:nvSpPr>
        <p:spPr>
          <a:xfrm>
            <a:off x="566928" y="4069080"/>
            <a:ext cx="1751076" cy="475488"/>
          </a:xfrm>
          <a:prstGeom prst="roundRect">
            <a:avLst>
              <a:gd name="adj" fmla="val 50000"/>
            </a:avLst>
          </a:prstGeom>
          <a:solidFill>
            <a:srgbClr val="1A3C2B"/>
          </a:solidFill>
          <a:ln w="12700">
            <a:solidFill>
              <a:srgbClr val="1F7A4C"/>
            </a:solidFill>
            <a:prstDash val="solid"/>
          </a:ln>
        </p:spPr>
      </p:sp>
      <p:sp>
        <p:nvSpPr>
          <p:cNvPr id="5" name="Text 3"/>
          <p:cNvSpPr txBox="1"/>
          <p:nvPr/>
        </p:nvSpPr>
        <p:spPr>
          <a:xfrm>
            <a:off x="566928" y="4069080"/>
            <a:ext cx="1751076" cy="475488"/>
          </a:xfrm>
          <a:prstGeom prst="rect">
            <a:avLst/>
          </a:prstGeom>
          <a:noFill/>
          <a:ln/>
        </p:spPr>
        <p:txBody>
          <a:bodyPr wrap="square" lIns="0" tIns="0" rIns="0" bIns="0" rtlCol="0" anchor="ctr"/>
          <a:lstStyle/>
          <a:p>
            <a:pPr algn="ctr" indent="0" marL="0">
              <a:buNone/>
            </a:pPr>
            <a:r>
              <a:rPr lang="en-US" sz="1350" b="1" dirty="0">
                <a:solidFill>
                  <a:srgbClr val="DCEFE4"/>
                </a:solidFill>
                <a:latin typeface="Calibri" pitchFamily="34" charset="0"/>
                <a:ea typeface="Calibri" pitchFamily="34" charset="-122"/>
                <a:cs typeface="Calibri" pitchFamily="34" charset="-120"/>
              </a:rPr>
              <a:t>No new hardware</a:t>
            </a:r>
            <a:endParaRPr lang="en-US" sz="1350" dirty="0"/>
          </a:p>
        </p:txBody>
      </p:sp>
      <p:sp>
        <p:nvSpPr>
          <p:cNvPr id="6" name="Shape 4"/>
          <p:cNvSpPr/>
          <p:nvPr/>
        </p:nvSpPr>
        <p:spPr>
          <a:xfrm>
            <a:off x="2500884" y="4069080"/>
            <a:ext cx="2327148" cy="475488"/>
          </a:xfrm>
          <a:prstGeom prst="roundRect">
            <a:avLst>
              <a:gd name="adj" fmla="val 50000"/>
            </a:avLst>
          </a:prstGeom>
          <a:solidFill>
            <a:srgbClr val="1A3C2B"/>
          </a:solidFill>
          <a:ln w="12700">
            <a:solidFill>
              <a:srgbClr val="1F7A4C"/>
            </a:solidFill>
            <a:prstDash val="solid"/>
          </a:ln>
        </p:spPr>
      </p:sp>
      <p:sp>
        <p:nvSpPr>
          <p:cNvPr id="7" name="Text 5"/>
          <p:cNvSpPr txBox="1"/>
          <p:nvPr/>
        </p:nvSpPr>
        <p:spPr>
          <a:xfrm>
            <a:off x="2500884" y="4069080"/>
            <a:ext cx="2327148" cy="475488"/>
          </a:xfrm>
          <a:prstGeom prst="rect">
            <a:avLst/>
          </a:prstGeom>
          <a:noFill/>
          <a:ln/>
        </p:spPr>
        <p:txBody>
          <a:bodyPr wrap="square" lIns="0" tIns="0" rIns="0" bIns="0" rtlCol="0" anchor="ctr"/>
          <a:lstStyle/>
          <a:p>
            <a:pPr algn="ctr" indent="0" marL="0">
              <a:buNone/>
            </a:pPr>
            <a:r>
              <a:rPr lang="en-US" sz="1350" b="1" dirty="0">
                <a:solidFill>
                  <a:srgbClr val="DCEFE4"/>
                </a:solidFill>
                <a:latin typeface="Calibri" pitchFamily="34" charset="0"/>
                <a:ea typeface="Calibri" pitchFamily="34" charset="-122"/>
                <a:cs typeface="Calibri" pitchFamily="34" charset="-120"/>
              </a:rPr>
              <a:t>No GPU — one small PC</a:t>
            </a:r>
            <a:endParaRPr lang="en-US" sz="1350" dirty="0"/>
          </a:p>
        </p:txBody>
      </p:sp>
      <p:sp>
        <p:nvSpPr>
          <p:cNvPr id="8" name="Shape 6"/>
          <p:cNvSpPr/>
          <p:nvPr/>
        </p:nvSpPr>
        <p:spPr>
          <a:xfrm>
            <a:off x="5010912" y="4069080"/>
            <a:ext cx="2807208" cy="475488"/>
          </a:xfrm>
          <a:prstGeom prst="roundRect">
            <a:avLst>
              <a:gd name="adj" fmla="val 50000"/>
            </a:avLst>
          </a:prstGeom>
          <a:solidFill>
            <a:srgbClr val="1A3C2B"/>
          </a:solidFill>
          <a:ln w="12700">
            <a:solidFill>
              <a:srgbClr val="1F7A4C"/>
            </a:solidFill>
            <a:prstDash val="solid"/>
          </a:ln>
        </p:spPr>
      </p:sp>
      <p:sp>
        <p:nvSpPr>
          <p:cNvPr id="9" name="Text 7"/>
          <p:cNvSpPr txBox="1"/>
          <p:nvPr/>
        </p:nvSpPr>
        <p:spPr>
          <a:xfrm>
            <a:off x="5010912" y="4069080"/>
            <a:ext cx="2807208" cy="475488"/>
          </a:xfrm>
          <a:prstGeom prst="rect">
            <a:avLst/>
          </a:prstGeom>
          <a:noFill/>
          <a:ln/>
        </p:spPr>
        <p:txBody>
          <a:bodyPr wrap="square" lIns="0" tIns="0" rIns="0" bIns="0" rtlCol="0" anchor="ctr"/>
          <a:lstStyle/>
          <a:p>
            <a:pPr algn="ctr" indent="0" marL="0">
              <a:buNone/>
            </a:pPr>
            <a:r>
              <a:rPr lang="en-US" sz="1350" b="1" dirty="0">
                <a:solidFill>
                  <a:srgbClr val="DCEFE4"/>
                </a:solidFill>
                <a:latin typeface="Calibri" pitchFamily="34" charset="0"/>
                <a:ea typeface="Calibri" pitchFamily="34" charset="-122"/>
                <a:cs typeface="Calibri" pitchFamily="34" charset="-120"/>
              </a:rPr>
              <a:t>A human decides every case</a:t>
            </a:r>
            <a:endParaRPr lang="en-US" sz="1350" dirty="0"/>
          </a:p>
        </p:txBody>
      </p:sp>
      <p:sp>
        <p:nvSpPr>
          <p:cNvPr id="10" name="Text 8"/>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Purpose</a:t>
            </a:r>
            <a:endParaRPr lang="en-US" sz="1050" dirty="0"/>
          </a:p>
        </p:txBody>
      </p:sp>
      <p:sp>
        <p:nvSpPr>
          <p:cNvPr id="11" name="Text 9"/>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PURPOSE — THE SCOPE</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What the study actually covers</a:t>
            </a:r>
            <a:endParaRPr lang="en-US" sz="3800" dirty="0"/>
          </a:p>
        </p:txBody>
      </p:sp>
      <p:sp>
        <p:nvSpPr>
          <p:cNvPr id="4" name="Shape 2"/>
          <p:cNvSpPr/>
          <p:nvPr/>
        </p:nvSpPr>
        <p:spPr>
          <a:xfrm>
            <a:off x="566928" y="2011680"/>
            <a:ext cx="2592324" cy="1828800"/>
          </a:xfrm>
          <a:prstGeom prst="roundRect">
            <a:avLst>
              <a:gd name="adj" fmla="val 5000"/>
            </a:avLst>
          </a:prstGeom>
          <a:solidFill>
            <a:srgbClr val="F4F7F4"/>
          </a:solidFill>
          <a:ln/>
          <a:effectLst>
            <a:outerShdw sx="100000" sy="100000" kx="0" ky="0" algn="bl" rotWithShape="0" blurRad="101600" dist="12700" dir="5400000">
              <a:srgbClr val="000000">
                <a:alpha val="7000"/>
              </a:srgbClr>
            </a:outerShdw>
          </a:effectLst>
        </p:spPr>
      </p:sp>
      <p:sp>
        <p:nvSpPr>
          <p:cNvPr id="5" name="Text 3"/>
          <p:cNvSpPr txBox="1"/>
          <p:nvPr/>
        </p:nvSpPr>
        <p:spPr>
          <a:xfrm>
            <a:off x="768096" y="2212848"/>
            <a:ext cx="2189988" cy="749808"/>
          </a:xfrm>
          <a:prstGeom prst="rect">
            <a:avLst/>
          </a:prstGeom>
          <a:noFill/>
          <a:ln/>
        </p:spPr>
        <p:txBody>
          <a:bodyPr wrap="square" lIns="0" tIns="0" rIns="0" bIns="0" rtlCol="0" anchor="ctr"/>
          <a:lstStyle/>
          <a:p>
            <a:pPr indent="0" marL="0">
              <a:buNone/>
            </a:pPr>
            <a:r>
              <a:rPr lang="en-US" sz="4000" b="1" dirty="0">
                <a:solidFill>
                  <a:srgbClr val="1F7A4C"/>
                </a:solidFill>
                <a:latin typeface="Cambria" pitchFamily="34" charset="0"/>
                <a:ea typeface="Cambria" pitchFamily="34" charset="-122"/>
                <a:cs typeface="Cambria" pitchFamily="34" charset="-120"/>
              </a:rPr>
              <a:t>1,692</a:t>
            </a:r>
            <a:endParaRPr lang="en-US" sz="4000" dirty="0"/>
          </a:p>
        </p:txBody>
      </p:sp>
      <p:sp>
        <p:nvSpPr>
          <p:cNvPr id="6" name="Text 4"/>
          <p:cNvSpPr txBox="1"/>
          <p:nvPr/>
        </p:nvSpPr>
        <p:spPr>
          <a:xfrm>
            <a:off x="768096" y="2980944"/>
            <a:ext cx="2189988" cy="67665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labelled frames</a:t>
            </a:r>
            <a:endParaRPr lang="en-US" sz="1250" dirty="0"/>
          </a:p>
        </p:txBody>
      </p:sp>
      <p:sp>
        <p:nvSpPr>
          <p:cNvPr id="7" name="Shape 5"/>
          <p:cNvSpPr/>
          <p:nvPr/>
        </p:nvSpPr>
        <p:spPr>
          <a:xfrm>
            <a:off x="3378708" y="2011680"/>
            <a:ext cx="2592324" cy="1828800"/>
          </a:xfrm>
          <a:prstGeom prst="roundRect">
            <a:avLst>
              <a:gd name="adj" fmla="val 5000"/>
            </a:avLst>
          </a:prstGeom>
          <a:solidFill>
            <a:srgbClr val="E6F3EC"/>
          </a:solidFill>
          <a:ln/>
          <a:effectLst>
            <a:outerShdw sx="100000" sy="100000" kx="0" ky="0" algn="bl" rotWithShape="0" blurRad="101600" dist="12700" dir="5400000">
              <a:srgbClr val="000000">
                <a:alpha val="7000"/>
              </a:srgbClr>
            </a:outerShdw>
          </a:effectLst>
        </p:spPr>
      </p:sp>
      <p:sp>
        <p:nvSpPr>
          <p:cNvPr id="8" name="Text 6"/>
          <p:cNvSpPr txBox="1"/>
          <p:nvPr/>
        </p:nvSpPr>
        <p:spPr>
          <a:xfrm>
            <a:off x="3579876" y="2212848"/>
            <a:ext cx="2189988" cy="749808"/>
          </a:xfrm>
          <a:prstGeom prst="rect">
            <a:avLst/>
          </a:prstGeom>
          <a:noFill/>
          <a:ln/>
        </p:spPr>
        <p:txBody>
          <a:bodyPr wrap="square" lIns="0" tIns="0" rIns="0" bIns="0" rtlCol="0" anchor="ctr"/>
          <a:lstStyle/>
          <a:p>
            <a:pPr indent="0" marL="0">
              <a:buNone/>
            </a:pPr>
            <a:r>
              <a:rPr lang="en-US" sz="4000" b="1" dirty="0">
                <a:solidFill>
                  <a:srgbClr val="1F7A4C"/>
                </a:solidFill>
                <a:latin typeface="Cambria" pitchFamily="34" charset="0"/>
                <a:ea typeface="Cambria" pitchFamily="34" charset="-122"/>
                <a:cs typeface="Cambria" pitchFamily="34" charset="-120"/>
              </a:rPr>
              <a:t>3</a:t>
            </a:r>
            <a:endParaRPr lang="en-US" sz="4000" dirty="0"/>
          </a:p>
        </p:txBody>
      </p:sp>
      <p:sp>
        <p:nvSpPr>
          <p:cNvPr id="9" name="Text 7"/>
          <p:cNvSpPr txBox="1"/>
          <p:nvPr/>
        </p:nvSpPr>
        <p:spPr>
          <a:xfrm>
            <a:off x="3579876" y="2980944"/>
            <a:ext cx="2189988" cy="67665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classes: empty, playing, maintenance</a:t>
            </a:r>
            <a:endParaRPr lang="en-US" sz="1250" dirty="0"/>
          </a:p>
        </p:txBody>
      </p:sp>
      <p:sp>
        <p:nvSpPr>
          <p:cNvPr id="10" name="Shape 8"/>
          <p:cNvSpPr/>
          <p:nvPr/>
        </p:nvSpPr>
        <p:spPr>
          <a:xfrm>
            <a:off x="6190488" y="2011680"/>
            <a:ext cx="2592324" cy="1828800"/>
          </a:xfrm>
          <a:prstGeom prst="roundRect">
            <a:avLst>
              <a:gd name="adj" fmla="val 5000"/>
            </a:avLst>
          </a:prstGeom>
          <a:solidFill>
            <a:srgbClr val="FCEFDA"/>
          </a:solidFill>
          <a:ln/>
          <a:effectLst>
            <a:outerShdw sx="100000" sy="100000" kx="0" ky="0" algn="bl" rotWithShape="0" blurRad="101600" dist="12700" dir="5400000">
              <a:srgbClr val="000000">
                <a:alpha val="7000"/>
              </a:srgbClr>
            </a:outerShdw>
          </a:effectLst>
        </p:spPr>
      </p:sp>
      <p:sp>
        <p:nvSpPr>
          <p:cNvPr id="11" name="Text 9"/>
          <p:cNvSpPr txBox="1"/>
          <p:nvPr/>
        </p:nvSpPr>
        <p:spPr>
          <a:xfrm>
            <a:off x="6391656" y="2212848"/>
            <a:ext cx="2189988" cy="749808"/>
          </a:xfrm>
          <a:prstGeom prst="rect">
            <a:avLst/>
          </a:prstGeom>
          <a:noFill/>
          <a:ln/>
        </p:spPr>
        <p:txBody>
          <a:bodyPr wrap="square" lIns="0" tIns="0" rIns="0" bIns="0" rtlCol="0" anchor="ctr"/>
          <a:lstStyle/>
          <a:p>
            <a:pPr indent="0" marL="0">
              <a:buNone/>
            </a:pPr>
            <a:r>
              <a:rPr lang="en-US" sz="4000" b="1" dirty="0">
                <a:solidFill>
                  <a:srgbClr val="B26A00"/>
                </a:solidFill>
                <a:latin typeface="Cambria" pitchFamily="34" charset="0"/>
                <a:ea typeface="Cambria" pitchFamily="34" charset="-122"/>
                <a:cs typeface="Cambria" pitchFamily="34" charset="-120"/>
              </a:rPr>
              <a:t>7</a:t>
            </a:r>
            <a:endParaRPr lang="en-US" sz="4000" dirty="0"/>
          </a:p>
        </p:txBody>
      </p:sp>
      <p:sp>
        <p:nvSpPr>
          <p:cNvPr id="12" name="Text 10"/>
          <p:cNvSpPr txBox="1"/>
          <p:nvPr/>
        </p:nvSpPr>
        <p:spPr>
          <a:xfrm>
            <a:off x="6391656" y="2980944"/>
            <a:ext cx="2189988" cy="67665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venue folds for cross-venue testing</a:t>
            </a:r>
            <a:endParaRPr lang="en-US" sz="1250" dirty="0"/>
          </a:p>
        </p:txBody>
      </p:sp>
      <p:sp>
        <p:nvSpPr>
          <p:cNvPr id="13" name="Shape 11"/>
          <p:cNvSpPr/>
          <p:nvPr/>
        </p:nvSpPr>
        <p:spPr>
          <a:xfrm>
            <a:off x="9002268" y="2011680"/>
            <a:ext cx="2592324" cy="1828800"/>
          </a:xfrm>
          <a:prstGeom prst="roundRect">
            <a:avLst>
              <a:gd name="adj" fmla="val 5000"/>
            </a:avLst>
          </a:prstGeom>
          <a:solidFill>
            <a:srgbClr val="FAE3E7"/>
          </a:solidFill>
          <a:ln/>
          <a:effectLst>
            <a:outerShdw sx="100000" sy="100000" kx="0" ky="0" algn="bl" rotWithShape="0" blurRad="101600" dist="12700" dir="5400000">
              <a:srgbClr val="000000">
                <a:alpha val="7000"/>
              </a:srgbClr>
            </a:outerShdw>
          </a:effectLst>
        </p:spPr>
      </p:sp>
      <p:sp>
        <p:nvSpPr>
          <p:cNvPr id="14" name="Text 12"/>
          <p:cNvSpPr txBox="1"/>
          <p:nvPr/>
        </p:nvSpPr>
        <p:spPr>
          <a:xfrm>
            <a:off x="9203436" y="2212848"/>
            <a:ext cx="2189988" cy="749808"/>
          </a:xfrm>
          <a:prstGeom prst="rect">
            <a:avLst/>
          </a:prstGeom>
          <a:noFill/>
          <a:ln/>
        </p:spPr>
        <p:txBody>
          <a:bodyPr wrap="square" lIns="0" tIns="0" rIns="0" bIns="0" rtlCol="0" anchor="ctr"/>
          <a:lstStyle/>
          <a:p>
            <a:pPr indent="0" marL="0">
              <a:buNone/>
            </a:pPr>
            <a:r>
              <a:rPr lang="en-US" sz="4000" b="1" dirty="0">
                <a:solidFill>
                  <a:srgbClr val="D6455B"/>
                </a:solidFill>
                <a:latin typeface="Cambria" pitchFamily="34" charset="0"/>
                <a:ea typeface="Cambria" pitchFamily="34" charset="-122"/>
                <a:cs typeface="Cambria" pitchFamily="34" charset="-120"/>
              </a:rPr>
              <a:t>0</a:t>
            </a:r>
            <a:endParaRPr lang="en-US" sz="4000" dirty="0"/>
          </a:p>
        </p:txBody>
      </p:sp>
      <p:sp>
        <p:nvSpPr>
          <p:cNvPr id="15" name="Text 13"/>
          <p:cNvSpPr txBox="1"/>
          <p:nvPr/>
        </p:nvSpPr>
        <p:spPr>
          <a:xfrm>
            <a:off x="9203436" y="2980944"/>
            <a:ext cx="2189988" cy="67665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GPUs — a CPU-only design constraint</a:t>
            </a:r>
            <a:endParaRPr lang="en-US" sz="1250" dirty="0"/>
          </a:p>
        </p:txBody>
      </p:sp>
      <p:sp>
        <p:nvSpPr>
          <p:cNvPr id="16" name="Shape 14"/>
          <p:cNvSpPr/>
          <p:nvPr/>
        </p:nvSpPr>
        <p:spPr>
          <a:xfrm>
            <a:off x="566928" y="4114800"/>
            <a:ext cx="11027664" cy="1417320"/>
          </a:xfrm>
          <a:prstGeom prst="roundRect">
            <a:avLst>
              <a:gd name="adj" fmla="val 6452"/>
            </a:avLst>
          </a:prstGeom>
          <a:solidFill>
            <a:srgbClr val="F4F7F4"/>
          </a:solidFill>
          <a:ln/>
          <a:effectLst>
            <a:outerShdw sx="100000" sy="100000" kx="0" ky="0" algn="bl" rotWithShape="0" blurRad="101600" dist="12700" dir="5400000">
              <a:srgbClr val="000000">
                <a:alpha val="7000"/>
              </a:srgbClr>
            </a:outerShdw>
          </a:effectLst>
        </p:spPr>
      </p:sp>
      <p:sp>
        <p:nvSpPr>
          <p:cNvPr id="17" name="Text 15"/>
          <p:cNvSpPr txBox="1"/>
          <p:nvPr/>
        </p:nvSpPr>
        <p:spPr>
          <a:xfrm>
            <a:off x="804672" y="4352544"/>
            <a:ext cx="10552176" cy="45720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One design rule carried everywhere</a:t>
            </a:r>
            <a:endParaRPr lang="en-US" sz="1600" dirty="0"/>
          </a:p>
        </p:txBody>
      </p:sp>
      <p:sp>
        <p:nvSpPr>
          <p:cNvPr id="18" name="Text 16"/>
          <p:cNvSpPr txBox="1"/>
          <p:nvPr/>
        </p:nvSpPr>
        <p:spPr>
          <a:xfrm>
            <a:off x="804672" y="4809744"/>
            <a:ext cx="10552176" cy="539496"/>
          </a:xfrm>
          <a:prstGeom prst="rect">
            <a:avLst/>
          </a:prstGeom>
          <a:noFill/>
          <a:ln/>
        </p:spPr>
        <p:txBody>
          <a:bodyPr wrap="square" lIns="0" tIns="0" rIns="0" bIns="0" rtlCol="0" anchor="t"/>
          <a:lstStyle/>
          <a:p>
            <a:pPr indent="0" marL="0">
              <a:lnSpc>
                <a:spcPts val="1890"/>
              </a:lnSpc>
              <a:buNone/>
            </a:pPr>
            <a:r>
              <a:rPr lang="en-US" sz="1400" dirty="0">
                <a:solidFill>
                  <a:srgbClr val="5A6B62"/>
                </a:solidFill>
                <a:latin typeface="Calibri" pitchFamily="34" charset="0"/>
                <a:ea typeface="Calibri" pitchFamily="34" charset="-122"/>
                <a:cs typeface="Calibri" pitchFamily="34" charset="-120"/>
              </a:rPr>
              <a:t>The vision path must never see the booking record as an input. A model that has read the booking flag cannot give evidence independent of the record it audits.</a:t>
            </a:r>
            <a:endParaRPr lang="en-US" sz="1400" dirty="0"/>
          </a:p>
        </p:txBody>
      </p:sp>
      <p:sp>
        <p:nvSpPr>
          <p:cNvPr id="19" name="Text 17"/>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Purpose — scope</a:t>
            </a:r>
            <a:endParaRPr lang="en-US" sz="1050" dirty="0"/>
          </a:p>
        </p:txBody>
      </p:sp>
      <p:sp>
        <p:nvSpPr>
          <p:cNvPr id="20" name="Text 18"/>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HOW THE RESEARCH WORKS</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Five stages, one frame a minute</a:t>
            </a:r>
            <a:endParaRPr lang="en-US" sz="3800" dirty="0"/>
          </a:p>
        </p:txBody>
      </p:sp>
      <p:sp>
        <p:nvSpPr>
          <p:cNvPr id="4" name="Text 2"/>
          <p:cNvSpPr txBox="1"/>
          <p:nvPr/>
        </p:nvSpPr>
        <p:spPr>
          <a:xfrm>
            <a:off x="566928" y="1664208"/>
            <a:ext cx="9692640" cy="54864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Sparse sampling, not a video stream — which is what makes it fit on one small computer.</a:t>
            </a:r>
            <a:endParaRPr lang="en-US" sz="1700" dirty="0"/>
          </a:p>
        </p:txBody>
      </p:sp>
      <p:sp>
        <p:nvSpPr>
          <p:cNvPr id="5" name="Shape 3"/>
          <p:cNvSpPr/>
          <p:nvPr/>
        </p:nvSpPr>
        <p:spPr>
          <a:xfrm>
            <a:off x="566928" y="2487168"/>
            <a:ext cx="2044598" cy="2377440"/>
          </a:xfrm>
          <a:prstGeom prst="roundRect">
            <a:avLst>
              <a:gd name="adj" fmla="val 4472"/>
            </a:avLst>
          </a:prstGeom>
          <a:solidFill>
            <a:srgbClr val="F4F7F4"/>
          </a:solidFill>
          <a:ln/>
          <a:effectLst>
            <a:outerShdw sx="100000" sy="100000" kx="0" ky="0" algn="bl" rotWithShape="0" blurRad="101600" dist="12700" dir="5400000">
              <a:srgbClr val="000000">
                <a:alpha val="7000"/>
              </a:srgbClr>
            </a:outerShdw>
          </a:effectLst>
        </p:spPr>
      </p:sp>
      <p:sp>
        <p:nvSpPr>
          <p:cNvPr id="6" name="Shape 4"/>
          <p:cNvSpPr/>
          <p:nvPr/>
        </p:nvSpPr>
        <p:spPr>
          <a:xfrm>
            <a:off x="804672" y="2724912"/>
            <a:ext cx="493776" cy="493776"/>
          </a:xfrm>
          <a:prstGeom prst="ellipse">
            <a:avLst/>
          </a:prstGeom>
          <a:solidFill>
            <a:srgbClr val="2FA86B"/>
          </a:solidFill>
          <a:ln/>
        </p:spPr>
      </p:sp>
      <p:sp>
        <p:nvSpPr>
          <p:cNvPr id="7" name="Text 5"/>
          <p:cNvSpPr txBox="1"/>
          <p:nvPr/>
        </p:nvSpPr>
        <p:spPr>
          <a:xfrm>
            <a:off x="804672" y="27249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804672" y="3383280"/>
            <a:ext cx="1569110"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Sample</a:t>
            </a:r>
            <a:endParaRPr lang="en-US" sz="1600" dirty="0"/>
          </a:p>
        </p:txBody>
      </p:sp>
      <p:sp>
        <p:nvSpPr>
          <p:cNvPr id="9" name="Text 7"/>
          <p:cNvSpPr txBox="1"/>
          <p:nvPr/>
        </p:nvSpPr>
        <p:spPr>
          <a:xfrm>
            <a:off x="804672" y="3749040"/>
            <a:ext cx="1569110" cy="9326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One frame per camera per minute. About 99% less network traffic.</a:t>
            </a:r>
            <a:endParaRPr lang="en-US" sz="1350" dirty="0"/>
          </a:p>
        </p:txBody>
      </p:sp>
      <p:sp>
        <p:nvSpPr>
          <p:cNvPr id="10" name="Shape 8"/>
          <p:cNvSpPr/>
          <p:nvPr/>
        </p:nvSpPr>
        <p:spPr>
          <a:xfrm>
            <a:off x="2812694" y="2487168"/>
            <a:ext cx="2044598" cy="2377440"/>
          </a:xfrm>
          <a:prstGeom prst="roundRect">
            <a:avLst>
              <a:gd name="adj" fmla="val 4472"/>
            </a:avLst>
          </a:prstGeom>
          <a:solidFill>
            <a:srgbClr val="E6F3EC"/>
          </a:solidFill>
          <a:ln/>
          <a:effectLst>
            <a:outerShdw sx="100000" sy="100000" kx="0" ky="0" algn="bl" rotWithShape="0" blurRad="101600" dist="12700" dir="5400000">
              <a:srgbClr val="000000">
                <a:alpha val="7000"/>
              </a:srgbClr>
            </a:outerShdw>
          </a:effectLst>
        </p:spPr>
      </p:sp>
      <p:sp>
        <p:nvSpPr>
          <p:cNvPr id="11" name="Shape 9"/>
          <p:cNvSpPr/>
          <p:nvPr/>
        </p:nvSpPr>
        <p:spPr>
          <a:xfrm>
            <a:off x="3050438" y="2724912"/>
            <a:ext cx="493776" cy="493776"/>
          </a:xfrm>
          <a:prstGeom prst="ellipse">
            <a:avLst/>
          </a:prstGeom>
          <a:solidFill>
            <a:srgbClr val="2FA86B"/>
          </a:solidFill>
          <a:ln/>
        </p:spPr>
      </p:sp>
      <p:sp>
        <p:nvSpPr>
          <p:cNvPr id="12" name="Text 10"/>
          <p:cNvSpPr txBox="1"/>
          <p:nvPr/>
        </p:nvSpPr>
        <p:spPr>
          <a:xfrm>
            <a:off x="3050438" y="27249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3050438" y="3383280"/>
            <a:ext cx="1569110"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Classify</a:t>
            </a:r>
            <a:endParaRPr lang="en-US" sz="1600" dirty="0"/>
          </a:p>
        </p:txBody>
      </p:sp>
      <p:sp>
        <p:nvSpPr>
          <p:cNvPr id="14" name="Text 12"/>
          <p:cNvSpPr txBox="1"/>
          <p:nvPr/>
        </p:nvSpPr>
        <p:spPr>
          <a:xfrm>
            <a:off x="3050438" y="3749040"/>
            <a:ext cx="1569110" cy="9326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Empty, playing, or maintenance — a small head on a frozen backbone.</a:t>
            </a:r>
            <a:endParaRPr lang="en-US" sz="1350" dirty="0"/>
          </a:p>
        </p:txBody>
      </p:sp>
      <p:sp>
        <p:nvSpPr>
          <p:cNvPr id="15" name="Shape 13"/>
          <p:cNvSpPr/>
          <p:nvPr/>
        </p:nvSpPr>
        <p:spPr>
          <a:xfrm>
            <a:off x="5058461" y="2487168"/>
            <a:ext cx="2044598" cy="2377440"/>
          </a:xfrm>
          <a:prstGeom prst="roundRect">
            <a:avLst>
              <a:gd name="adj" fmla="val 4472"/>
            </a:avLst>
          </a:prstGeom>
          <a:solidFill>
            <a:srgbClr val="F4F7F4"/>
          </a:solidFill>
          <a:ln/>
          <a:effectLst>
            <a:outerShdw sx="100000" sy="100000" kx="0" ky="0" algn="bl" rotWithShape="0" blurRad="101600" dist="12700" dir="5400000">
              <a:srgbClr val="000000">
                <a:alpha val="7000"/>
              </a:srgbClr>
            </a:outerShdw>
          </a:effectLst>
        </p:spPr>
      </p:sp>
      <p:sp>
        <p:nvSpPr>
          <p:cNvPr id="16" name="Shape 14"/>
          <p:cNvSpPr/>
          <p:nvPr/>
        </p:nvSpPr>
        <p:spPr>
          <a:xfrm>
            <a:off x="5296205" y="2724912"/>
            <a:ext cx="493776" cy="493776"/>
          </a:xfrm>
          <a:prstGeom prst="ellipse">
            <a:avLst/>
          </a:prstGeom>
          <a:solidFill>
            <a:srgbClr val="1F7A4C"/>
          </a:solidFill>
          <a:ln/>
        </p:spPr>
      </p:sp>
      <p:sp>
        <p:nvSpPr>
          <p:cNvPr id="17" name="Text 15"/>
          <p:cNvSpPr txBox="1"/>
          <p:nvPr/>
        </p:nvSpPr>
        <p:spPr>
          <a:xfrm>
            <a:off x="5296205" y="27249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5296205" y="3383280"/>
            <a:ext cx="1569110"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Check</a:t>
            </a:r>
            <a:endParaRPr lang="en-US" sz="1600" dirty="0"/>
          </a:p>
        </p:txBody>
      </p:sp>
      <p:sp>
        <p:nvSpPr>
          <p:cNvPr id="19" name="Text 17"/>
          <p:cNvSpPr txBox="1"/>
          <p:nvPr/>
        </p:nvSpPr>
        <p:spPr>
          <a:xfrm>
            <a:off x="5296205" y="3749040"/>
            <a:ext cx="1569110" cy="9326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Pitch area, motion, people, ball. Cheap rules that can veto the model.</a:t>
            </a:r>
            <a:endParaRPr lang="en-US" sz="1350" dirty="0"/>
          </a:p>
        </p:txBody>
      </p:sp>
      <p:sp>
        <p:nvSpPr>
          <p:cNvPr id="20" name="Shape 18"/>
          <p:cNvSpPr/>
          <p:nvPr/>
        </p:nvSpPr>
        <p:spPr>
          <a:xfrm>
            <a:off x="7304227" y="2487168"/>
            <a:ext cx="2044598" cy="2377440"/>
          </a:xfrm>
          <a:prstGeom prst="roundRect">
            <a:avLst>
              <a:gd name="adj" fmla="val 4472"/>
            </a:avLst>
          </a:prstGeom>
          <a:solidFill>
            <a:srgbClr val="E6F3EC"/>
          </a:solidFill>
          <a:ln/>
          <a:effectLst>
            <a:outerShdw sx="100000" sy="100000" kx="0" ky="0" algn="bl" rotWithShape="0" blurRad="101600" dist="12700" dir="5400000">
              <a:srgbClr val="000000">
                <a:alpha val="7000"/>
              </a:srgbClr>
            </a:outerShdw>
          </a:effectLst>
        </p:spPr>
      </p:sp>
      <p:sp>
        <p:nvSpPr>
          <p:cNvPr id="21" name="Shape 19"/>
          <p:cNvSpPr/>
          <p:nvPr/>
        </p:nvSpPr>
        <p:spPr>
          <a:xfrm>
            <a:off x="7541971" y="2724912"/>
            <a:ext cx="493776" cy="493776"/>
          </a:xfrm>
          <a:prstGeom prst="ellipse">
            <a:avLst/>
          </a:prstGeom>
          <a:solidFill>
            <a:srgbClr val="1F7A4C"/>
          </a:solidFill>
          <a:ln/>
        </p:spPr>
      </p:sp>
      <p:sp>
        <p:nvSpPr>
          <p:cNvPr id="22" name="Text 20"/>
          <p:cNvSpPr txBox="1"/>
          <p:nvPr/>
        </p:nvSpPr>
        <p:spPr>
          <a:xfrm>
            <a:off x="7541971" y="27249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txBox="1"/>
          <p:nvPr/>
        </p:nvSpPr>
        <p:spPr>
          <a:xfrm>
            <a:off x="7541971" y="3383280"/>
            <a:ext cx="1569110"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Aggregate</a:t>
            </a:r>
            <a:endParaRPr lang="en-US" sz="1600" dirty="0"/>
          </a:p>
        </p:txBody>
      </p:sp>
      <p:sp>
        <p:nvSpPr>
          <p:cNvPr id="24" name="Text 22"/>
          <p:cNvSpPr txBox="1"/>
          <p:nvPr/>
        </p:nvSpPr>
        <p:spPr>
          <a:xfrm>
            <a:off x="7541971" y="3749040"/>
            <a:ext cx="1569110" cy="9326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About 60 predictions an hour become one verdict: used, not used, review.</a:t>
            </a:r>
            <a:endParaRPr lang="en-US" sz="1350" dirty="0"/>
          </a:p>
        </p:txBody>
      </p:sp>
      <p:sp>
        <p:nvSpPr>
          <p:cNvPr id="25" name="Shape 23"/>
          <p:cNvSpPr/>
          <p:nvPr/>
        </p:nvSpPr>
        <p:spPr>
          <a:xfrm>
            <a:off x="9549994" y="2487168"/>
            <a:ext cx="2044598" cy="2377440"/>
          </a:xfrm>
          <a:prstGeom prst="roundRect">
            <a:avLst>
              <a:gd name="adj" fmla="val 4472"/>
            </a:avLst>
          </a:prstGeom>
          <a:solidFill>
            <a:srgbClr val="F4F7F4"/>
          </a:solidFill>
          <a:ln/>
          <a:effectLst>
            <a:outerShdw sx="100000" sy="100000" kx="0" ky="0" algn="bl" rotWithShape="0" blurRad="101600" dist="12700" dir="5400000">
              <a:srgbClr val="000000">
                <a:alpha val="7000"/>
              </a:srgbClr>
            </a:outerShdw>
          </a:effectLst>
        </p:spPr>
      </p:sp>
      <p:sp>
        <p:nvSpPr>
          <p:cNvPr id="26" name="Shape 24"/>
          <p:cNvSpPr/>
          <p:nvPr/>
        </p:nvSpPr>
        <p:spPr>
          <a:xfrm>
            <a:off x="9787738" y="2724912"/>
            <a:ext cx="493776" cy="493776"/>
          </a:xfrm>
          <a:prstGeom prst="ellipse">
            <a:avLst/>
          </a:prstGeom>
          <a:solidFill>
            <a:srgbClr val="F2A33C"/>
          </a:solidFill>
          <a:ln/>
        </p:spPr>
      </p:sp>
      <p:sp>
        <p:nvSpPr>
          <p:cNvPr id="27" name="Text 25"/>
          <p:cNvSpPr txBox="1"/>
          <p:nvPr/>
        </p:nvSpPr>
        <p:spPr>
          <a:xfrm>
            <a:off x="9787738" y="27249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8" name="Text 26"/>
          <p:cNvSpPr txBox="1"/>
          <p:nvPr/>
        </p:nvSpPr>
        <p:spPr>
          <a:xfrm>
            <a:off x="9787738" y="3383280"/>
            <a:ext cx="1569110"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Compare</a:t>
            </a:r>
            <a:endParaRPr lang="en-US" sz="1600" dirty="0"/>
          </a:p>
        </p:txBody>
      </p:sp>
      <p:sp>
        <p:nvSpPr>
          <p:cNvPr id="29" name="Text 27"/>
          <p:cNvSpPr txBox="1"/>
          <p:nvPr/>
        </p:nvSpPr>
        <p:spPr>
          <a:xfrm>
            <a:off x="9787738" y="3749040"/>
            <a:ext cx="1569110" cy="9326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Verdict against the booking record. Disagreements are flagged with evidence.</a:t>
            </a:r>
            <a:endParaRPr lang="en-US" sz="1350" dirty="0"/>
          </a:p>
        </p:txBody>
      </p:sp>
      <p:sp>
        <p:nvSpPr>
          <p:cNvPr id="30" name="Text 28"/>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How it works</a:t>
            </a:r>
            <a:endParaRPr lang="en-US" sz="1050" dirty="0"/>
          </a:p>
        </p:txBody>
      </p:sp>
      <p:sp>
        <p:nvSpPr>
          <p:cNvPr id="31" name="Text 29"/>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A HYPOTHETICAL SCENARIO</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Tuesday, 20:00 — Pitch 3</a:t>
            </a:r>
            <a:endParaRPr lang="en-US" sz="3800" dirty="0"/>
          </a:p>
        </p:txBody>
      </p:sp>
      <p:sp>
        <p:nvSpPr>
          <p:cNvPr id="4" name="Shape 2"/>
          <p:cNvSpPr/>
          <p:nvPr/>
        </p:nvSpPr>
        <p:spPr>
          <a:xfrm>
            <a:off x="566928" y="2286000"/>
            <a:ext cx="3127248" cy="2377440"/>
          </a:xfrm>
          <a:prstGeom prst="roundRect">
            <a:avLst>
              <a:gd name="adj" fmla="val 3846"/>
            </a:avLst>
          </a:prstGeom>
          <a:solidFill>
            <a:srgbClr val="E6F3EC"/>
          </a:solidFill>
          <a:ln/>
          <a:effectLst>
            <a:outerShdw sx="100000" sy="100000" kx="0" ky="0" algn="bl" rotWithShape="0" blurRad="101600" dist="12700" dir="5400000">
              <a:srgbClr val="000000">
                <a:alpha val="7000"/>
              </a:srgbClr>
            </a:outerShdw>
          </a:effectLst>
        </p:spPr>
      </p:sp>
      <p:sp>
        <p:nvSpPr>
          <p:cNvPr id="5" name="Text 3"/>
          <p:cNvSpPr txBox="1"/>
          <p:nvPr/>
        </p:nvSpPr>
        <p:spPr>
          <a:xfrm>
            <a:off x="804672" y="2505456"/>
            <a:ext cx="2651760" cy="256032"/>
          </a:xfrm>
          <a:prstGeom prst="rect">
            <a:avLst/>
          </a:prstGeom>
          <a:noFill/>
          <a:ln/>
        </p:spPr>
        <p:txBody>
          <a:bodyPr wrap="square" lIns="0" tIns="0" rIns="0" bIns="0" rtlCol="0" anchor="ctr"/>
          <a:lstStyle/>
          <a:p>
            <a:pPr indent="0" marL="0">
              <a:buNone/>
            </a:pPr>
            <a:r>
              <a:rPr lang="en-US" sz="1100" b="1" spc="160" kern="0" dirty="0">
                <a:solidFill>
                  <a:srgbClr val="1F7A4C"/>
                </a:solidFill>
                <a:latin typeface="Calibri" pitchFamily="34" charset="0"/>
                <a:ea typeface="Calibri" pitchFamily="34" charset="-122"/>
                <a:cs typeface="Calibri" pitchFamily="34" charset="-120"/>
              </a:rPr>
              <a:t>THE BOOKING SAYS</a:t>
            </a:r>
            <a:endParaRPr lang="en-US" sz="1100" dirty="0"/>
          </a:p>
        </p:txBody>
      </p:sp>
      <p:sp>
        <p:nvSpPr>
          <p:cNvPr id="6" name="Text 4"/>
          <p:cNvSpPr txBox="1"/>
          <p:nvPr/>
        </p:nvSpPr>
        <p:spPr>
          <a:xfrm>
            <a:off x="804672" y="2834640"/>
            <a:ext cx="2651760" cy="914400"/>
          </a:xfrm>
          <a:prstGeom prst="rect">
            <a:avLst/>
          </a:prstGeom>
          <a:noFill/>
          <a:ln/>
        </p:spPr>
        <p:txBody>
          <a:bodyPr wrap="square" lIns="0" tIns="0" rIns="0" bIns="0" rtlCol="0" anchor="t"/>
          <a:lstStyle/>
          <a:p>
            <a:pPr indent="0" marL="0">
              <a:lnSpc>
                <a:spcPts val="2600"/>
              </a:lnSpc>
              <a:buNone/>
            </a:pPr>
            <a:r>
              <a:rPr lang="en-US" sz="2200" b="1" dirty="0">
                <a:solidFill>
                  <a:srgbClr val="16211C"/>
                </a:solidFill>
                <a:latin typeface="Cambria" pitchFamily="34" charset="0"/>
                <a:ea typeface="Cambria" pitchFamily="34" charset="-122"/>
                <a:cs typeface="Cambria" pitchFamily="34" charset="-120"/>
              </a:rPr>
              <a:t>Sold. One hour.</a:t>
            </a:r>
            <a:endParaRPr lang="en-US" sz="2200" dirty="0"/>
          </a:p>
        </p:txBody>
      </p:sp>
      <p:sp>
        <p:nvSpPr>
          <p:cNvPr id="7" name="Text 5"/>
          <p:cNvSpPr txBox="1"/>
          <p:nvPr/>
        </p:nvSpPr>
        <p:spPr>
          <a:xfrm>
            <a:off x="804672" y="3840480"/>
            <a:ext cx="2651760" cy="640080"/>
          </a:xfrm>
          <a:prstGeom prst="rect">
            <a:avLst/>
          </a:prstGeom>
          <a:noFill/>
          <a:ln/>
        </p:spPr>
        <p:txBody>
          <a:bodyPr wrap="square" lIns="0" tIns="0" rIns="0" bIns="0" rtlCol="0" anchor="t"/>
          <a:lstStyle/>
          <a:p>
            <a:pPr indent="0" marL="0">
              <a:lnSpc>
                <a:spcPts val="1700"/>
              </a:lnSpc>
              <a:buNone/>
            </a:pPr>
            <a:r>
              <a:rPr lang="en-US" sz="1300" dirty="0">
                <a:solidFill>
                  <a:srgbClr val="5A6B62"/>
                </a:solidFill>
                <a:latin typeface="Calibri" pitchFamily="34" charset="0"/>
                <a:ea typeface="Calibri" pitchFamily="34" charset="-122"/>
                <a:cs typeface="Calibri" pitchFamily="34" charset="-120"/>
              </a:rPr>
              <a:t>Paid for, and marked “used” by staff.</a:t>
            </a:r>
            <a:endParaRPr lang="en-US" sz="1300" dirty="0"/>
          </a:p>
        </p:txBody>
      </p:sp>
      <p:sp>
        <p:nvSpPr>
          <p:cNvPr id="8" name="Text 6"/>
          <p:cNvSpPr txBox="1"/>
          <p:nvPr/>
        </p:nvSpPr>
        <p:spPr>
          <a:xfrm>
            <a:off x="3767328" y="3108960"/>
            <a:ext cx="676656" cy="548640"/>
          </a:xfrm>
          <a:prstGeom prst="rect">
            <a:avLst/>
          </a:prstGeom>
          <a:noFill/>
          <a:ln/>
        </p:spPr>
        <p:txBody>
          <a:bodyPr wrap="square" lIns="0" tIns="0" rIns="0" bIns="0" rtlCol="0" anchor="ctr"/>
          <a:lstStyle/>
          <a:p>
            <a:pPr algn="ctr" indent="0" marL="0">
              <a:buNone/>
            </a:pPr>
            <a:r>
              <a:rPr lang="en-US" sz="2600" b="1" dirty="0">
                <a:solidFill>
                  <a:srgbClr val="F2A33C"/>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517136" y="2286000"/>
            <a:ext cx="3127248" cy="2377440"/>
          </a:xfrm>
          <a:prstGeom prst="roundRect">
            <a:avLst>
              <a:gd name="adj" fmla="val 3846"/>
            </a:avLst>
          </a:prstGeom>
          <a:solidFill>
            <a:srgbClr val="FCEFDA"/>
          </a:solidFill>
          <a:ln/>
          <a:effectLst>
            <a:outerShdw sx="100000" sy="100000" kx="0" ky="0" algn="bl" rotWithShape="0" blurRad="101600" dist="12700" dir="5400000">
              <a:srgbClr val="000000">
                <a:alpha val="7000"/>
              </a:srgbClr>
            </a:outerShdw>
          </a:effectLst>
        </p:spPr>
      </p:sp>
      <p:sp>
        <p:nvSpPr>
          <p:cNvPr id="10" name="Text 8"/>
          <p:cNvSpPr txBox="1"/>
          <p:nvPr/>
        </p:nvSpPr>
        <p:spPr>
          <a:xfrm>
            <a:off x="4754880" y="2505456"/>
            <a:ext cx="2651760" cy="256032"/>
          </a:xfrm>
          <a:prstGeom prst="rect">
            <a:avLst/>
          </a:prstGeom>
          <a:noFill/>
          <a:ln/>
        </p:spPr>
        <p:txBody>
          <a:bodyPr wrap="square" lIns="0" tIns="0" rIns="0" bIns="0" rtlCol="0" anchor="ctr"/>
          <a:lstStyle/>
          <a:p>
            <a:pPr indent="0" marL="0">
              <a:buNone/>
            </a:pPr>
            <a:r>
              <a:rPr lang="en-US" sz="1100" b="1" spc="160" kern="0" dirty="0">
                <a:solidFill>
                  <a:srgbClr val="B26A00"/>
                </a:solidFill>
                <a:latin typeface="Calibri" pitchFamily="34" charset="0"/>
                <a:ea typeface="Calibri" pitchFamily="34" charset="-122"/>
                <a:cs typeface="Calibri" pitchFamily="34" charset="-120"/>
              </a:rPr>
              <a:t>THE CAMERA SEES</a:t>
            </a:r>
            <a:endParaRPr lang="en-US" sz="1100" dirty="0"/>
          </a:p>
        </p:txBody>
      </p:sp>
      <p:sp>
        <p:nvSpPr>
          <p:cNvPr id="11" name="Text 9"/>
          <p:cNvSpPr txBox="1"/>
          <p:nvPr/>
        </p:nvSpPr>
        <p:spPr>
          <a:xfrm>
            <a:off x="4754880" y="2834640"/>
            <a:ext cx="2651760" cy="914400"/>
          </a:xfrm>
          <a:prstGeom prst="rect">
            <a:avLst/>
          </a:prstGeom>
          <a:noFill/>
          <a:ln/>
        </p:spPr>
        <p:txBody>
          <a:bodyPr wrap="square" lIns="0" tIns="0" rIns="0" bIns="0" rtlCol="0" anchor="t"/>
          <a:lstStyle/>
          <a:p>
            <a:pPr indent="0" marL="0">
              <a:lnSpc>
                <a:spcPts val="2600"/>
              </a:lnSpc>
              <a:buNone/>
            </a:pPr>
            <a:r>
              <a:rPr lang="en-US" sz="2200" b="1" dirty="0">
                <a:solidFill>
                  <a:srgbClr val="16211C"/>
                </a:solidFill>
                <a:latin typeface="Cambria" pitchFamily="34" charset="0"/>
                <a:ea typeface="Cambria" pitchFamily="34" charset="-122"/>
                <a:cs typeface="Cambria" pitchFamily="34" charset="-120"/>
              </a:rPr>
              <a:t>Empty pitch,</a:t>
            </a:r>
            <a:endParaRPr lang="en-US" sz="2200" dirty="0"/>
          </a:p>
          <a:p>
            <a:pPr indent="0" marL="0">
              <a:lnSpc>
                <a:spcPts val="2600"/>
              </a:lnSpc>
              <a:buNone/>
            </a:pPr>
            <a:r>
              <a:rPr lang="en-US" sz="2200" b="1" dirty="0">
                <a:solidFill>
                  <a:srgbClr val="16211C"/>
                </a:solidFill>
                <a:latin typeface="Cambria" pitchFamily="34" charset="0"/>
                <a:ea typeface="Cambria" pitchFamily="34" charset="-122"/>
                <a:cs typeface="Cambria" pitchFamily="34" charset="-120"/>
              </a:rPr>
              <a:t>13 of 16 minutes</a:t>
            </a:r>
            <a:endParaRPr lang="en-US" sz="2200" dirty="0"/>
          </a:p>
        </p:txBody>
      </p:sp>
      <p:sp>
        <p:nvSpPr>
          <p:cNvPr id="12" name="Text 10"/>
          <p:cNvSpPr txBox="1"/>
          <p:nvPr/>
        </p:nvSpPr>
        <p:spPr>
          <a:xfrm>
            <a:off x="4754880" y="3840480"/>
            <a:ext cx="2651760" cy="640080"/>
          </a:xfrm>
          <a:prstGeom prst="rect">
            <a:avLst/>
          </a:prstGeom>
          <a:noFill/>
          <a:ln/>
        </p:spPr>
        <p:txBody>
          <a:bodyPr wrap="square" lIns="0" tIns="0" rIns="0" bIns="0" rtlCol="0" anchor="t"/>
          <a:lstStyle/>
          <a:p>
            <a:pPr indent="0" marL="0">
              <a:lnSpc>
                <a:spcPts val="1700"/>
              </a:lnSpc>
              <a:buNone/>
            </a:pPr>
            <a:r>
              <a:rPr lang="en-US" sz="1300" dirty="0">
                <a:solidFill>
                  <a:srgbClr val="5A6B62"/>
                </a:solidFill>
                <a:latin typeface="Calibri" pitchFamily="34" charset="0"/>
                <a:ea typeface="Calibri" pitchFamily="34" charset="-122"/>
                <a:cs typeface="Calibri" pitchFamily="34" charset="-120"/>
              </a:rPr>
              <a:t>Floodlights on. Nobody on the grass.</a:t>
            </a:r>
            <a:endParaRPr lang="en-US" sz="1300" dirty="0"/>
          </a:p>
        </p:txBody>
      </p:sp>
      <p:sp>
        <p:nvSpPr>
          <p:cNvPr id="13" name="Text 11"/>
          <p:cNvSpPr txBox="1"/>
          <p:nvPr/>
        </p:nvSpPr>
        <p:spPr>
          <a:xfrm>
            <a:off x="7717536" y="3108960"/>
            <a:ext cx="676656" cy="548640"/>
          </a:xfrm>
          <a:prstGeom prst="rect">
            <a:avLst/>
          </a:prstGeom>
          <a:noFill/>
          <a:ln/>
        </p:spPr>
        <p:txBody>
          <a:bodyPr wrap="square" lIns="0" tIns="0" rIns="0" bIns="0" rtlCol="0" anchor="ctr"/>
          <a:lstStyle/>
          <a:p>
            <a:pPr algn="ctr" indent="0" marL="0">
              <a:buNone/>
            </a:pPr>
            <a:r>
              <a:rPr lang="en-US" sz="2600" b="1" dirty="0">
                <a:solidFill>
                  <a:srgbClr val="F2A33C"/>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8467344" y="2286000"/>
            <a:ext cx="3127248" cy="2377440"/>
          </a:xfrm>
          <a:prstGeom prst="roundRect">
            <a:avLst>
              <a:gd name="adj" fmla="val 3846"/>
            </a:avLst>
          </a:prstGeom>
          <a:solidFill>
            <a:srgbClr val="E6F3EC"/>
          </a:solidFill>
          <a:ln/>
          <a:effectLst>
            <a:outerShdw sx="100000" sy="100000" kx="0" ky="0" algn="bl" rotWithShape="0" blurRad="101600" dist="12700" dir="5400000">
              <a:srgbClr val="000000">
                <a:alpha val="7000"/>
              </a:srgbClr>
            </a:outerShdw>
          </a:effectLst>
        </p:spPr>
      </p:sp>
      <p:sp>
        <p:nvSpPr>
          <p:cNvPr id="15" name="Text 13"/>
          <p:cNvSpPr txBox="1"/>
          <p:nvPr/>
        </p:nvSpPr>
        <p:spPr>
          <a:xfrm>
            <a:off x="8705088" y="2505456"/>
            <a:ext cx="2651760" cy="256032"/>
          </a:xfrm>
          <a:prstGeom prst="rect">
            <a:avLst/>
          </a:prstGeom>
          <a:noFill/>
          <a:ln/>
        </p:spPr>
        <p:txBody>
          <a:bodyPr wrap="square" lIns="0" tIns="0" rIns="0" bIns="0" rtlCol="0" anchor="ctr"/>
          <a:lstStyle/>
          <a:p>
            <a:pPr indent="0" marL="0">
              <a:buNone/>
            </a:pPr>
            <a:r>
              <a:rPr lang="en-US" sz="1100" b="1" spc="160" kern="0" dirty="0">
                <a:solidFill>
                  <a:srgbClr val="1F7A4C"/>
                </a:solidFill>
                <a:latin typeface="Calibri" pitchFamily="34" charset="0"/>
                <a:ea typeface="Calibri" pitchFamily="34" charset="-122"/>
                <a:cs typeface="Calibri" pitchFamily="34" charset="-120"/>
              </a:rPr>
              <a:t>THE SYSTEM SAYS</a:t>
            </a:r>
            <a:endParaRPr lang="en-US" sz="1100" dirty="0"/>
          </a:p>
        </p:txBody>
      </p:sp>
      <p:sp>
        <p:nvSpPr>
          <p:cNvPr id="16" name="Text 14"/>
          <p:cNvSpPr txBox="1"/>
          <p:nvPr/>
        </p:nvSpPr>
        <p:spPr>
          <a:xfrm>
            <a:off x="8705088" y="2834640"/>
            <a:ext cx="2651760" cy="914400"/>
          </a:xfrm>
          <a:prstGeom prst="rect">
            <a:avLst/>
          </a:prstGeom>
          <a:noFill/>
          <a:ln/>
        </p:spPr>
        <p:txBody>
          <a:bodyPr wrap="square" lIns="0" tIns="0" rIns="0" bIns="0" rtlCol="0" anchor="t"/>
          <a:lstStyle/>
          <a:p>
            <a:pPr indent="0" marL="0">
              <a:lnSpc>
                <a:spcPts val="2600"/>
              </a:lnSpc>
              <a:buNone/>
            </a:pPr>
            <a:r>
              <a:rPr lang="en-US" sz="2200" b="1" dirty="0">
                <a:solidFill>
                  <a:srgbClr val="16211C"/>
                </a:solidFill>
                <a:latin typeface="Cambria" pitchFamily="34" charset="0"/>
                <a:ea typeface="Cambria" pitchFamily="34" charset="-122"/>
                <a:cs typeface="Cambria" pitchFamily="34" charset="-120"/>
              </a:rPr>
              <a:t>REVIEW</a:t>
            </a:r>
            <a:endParaRPr lang="en-US" sz="2200" dirty="0"/>
          </a:p>
          <a:p>
            <a:pPr indent="0" marL="0">
              <a:lnSpc>
                <a:spcPts val="2600"/>
              </a:lnSpc>
              <a:buNone/>
            </a:pPr>
            <a:r>
              <a:rPr lang="en-US" sz="2200" b="1" dirty="0">
                <a:solidFill>
                  <a:srgbClr val="16211C"/>
                </a:solidFill>
                <a:latin typeface="Cambria" pitchFamily="34" charset="0"/>
                <a:ea typeface="Cambria" pitchFamily="34" charset="-122"/>
                <a:cs typeface="Cambria" pitchFamily="34" charset="-120"/>
              </a:rPr>
              <a:t>+ 3 photos</a:t>
            </a:r>
            <a:endParaRPr lang="en-US" sz="2200" dirty="0"/>
          </a:p>
        </p:txBody>
      </p:sp>
      <p:sp>
        <p:nvSpPr>
          <p:cNvPr id="17" name="Text 15"/>
          <p:cNvSpPr txBox="1"/>
          <p:nvPr/>
        </p:nvSpPr>
        <p:spPr>
          <a:xfrm>
            <a:off x="8705088" y="3840480"/>
            <a:ext cx="2651760" cy="640080"/>
          </a:xfrm>
          <a:prstGeom prst="rect">
            <a:avLst/>
          </a:prstGeom>
          <a:noFill/>
          <a:ln/>
        </p:spPr>
        <p:txBody>
          <a:bodyPr wrap="square" lIns="0" tIns="0" rIns="0" bIns="0" rtlCol="0" anchor="t"/>
          <a:lstStyle/>
          <a:p>
            <a:pPr indent="0" marL="0">
              <a:lnSpc>
                <a:spcPts val="1700"/>
              </a:lnSpc>
              <a:buNone/>
            </a:pPr>
            <a:r>
              <a:rPr lang="en-US" sz="1300" dirty="0">
                <a:solidFill>
                  <a:srgbClr val="5A6B62"/>
                </a:solidFill>
                <a:latin typeface="Calibri" pitchFamily="34" charset="0"/>
                <a:ea typeface="Calibri" pitchFamily="34" charset="-122"/>
                <a:cs typeface="Calibri" pitchFamily="34" charset="-120"/>
              </a:rPr>
              <a:t>Never “do not bill”. Only “look at this”.</a:t>
            </a:r>
            <a:endParaRPr lang="en-US" sz="1300" dirty="0"/>
          </a:p>
        </p:txBody>
      </p:sp>
      <p:sp>
        <p:nvSpPr>
          <p:cNvPr id="18" name="Text 16"/>
          <p:cNvSpPr txBox="1"/>
          <p:nvPr/>
        </p:nvSpPr>
        <p:spPr>
          <a:xfrm>
            <a:off x="566928" y="5029200"/>
            <a:ext cx="11027664" cy="457200"/>
          </a:xfrm>
          <a:prstGeom prst="rect">
            <a:avLst/>
          </a:prstGeom>
          <a:noFill/>
          <a:ln/>
        </p:spPr>
        <p:txBody>
          <a:bodyPr wrap="square" lIns="0" tIns="0" rIns="0" bIns="0" rtlCol="0" anchor="ctr"/>
          <a:lstStyle/>
          <a:p>
            <a:pPr indent="0" marL="0">
              <a:buNone/>
            </a:pPr>
            <a:r>
              <a:rPr lang="en-US" sz="2000" b="1" dirty="0">
                <a:solidFill>
                  <a:srgbClr val="1F7A4C"/>
                </a:solidFill>
                <a:latin typeface="Cambria" pitchFamily="34" charset="0"/>
                <a:ea typeface="Cambria" pitchFamily="34" charset="-122"/>
                <a:cs typeface="Cambria" pitchFamily="34" charset="-120"/>
              </a:rPr>
              <a:t>The output is a conversation, not a charge.</a:t>
            </a:r>
            <a:endParaRPr lang="en-US" sz="2000" dirty="0"/>
          </a:p>
        </p:txBody>
      </p:sp>
      <p:sp>
        <p:nvSpPr>
          <p:cNvPr id="19" name="Text 17"/>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How it works — scenario</a:t>
            </a:r>
            <a:endParaRPr lang="en-US" sz="1050" dirty="0"/>
          </a:p>
        </p:txBody>
      </p:sp>
      <p:sp>
        <p:nvSpPr>
          <p:cNvPr id="20" name="Text 18"/>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HOW THE RESEARCH WORKS — METHOD</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How the data were collected</a:t>
            </a:r>
            <a:endParaRPr lang="en-US" sz="3800" dirty="0"/>
          </a:p>
        </p:txBody>
      </p:sp>
      <p:sp>
        <p:nvSpPr>
          <p:cNvPr id="4" name="Shape 2"/>
          <p:cNvSpPr/>
          <p:nvPr/>
        </p:nvSpPr>
        <p:spPr>
          <a:xfrm>
            <a:off x="566928" y="2103120"/>
            <a:ext cx="2592324" cy="1920240"/>
          </a:xfrm>
          <a:prstGeom prst="roundRect">
            <a:avLst>
              <a:gd name="adj" fmla="val 4762"/>
            </a:avLst>
          </a:prstGeom>
          <a:solidFill>
            <a:srgbClr val="F4F7F4"/>
          </a:solidFill>
          <a:ln/>
          <a:effectLst>
            <a:outerShdw sx="100000" sy="100000" kx="0" ky="0" algn="bl" rotWithShape="0" blurRad="101600" dist="12700" dir="5400000">
              <a:srgbClr val="000000">
                <a:alpha val="7000"/>
              </a:srgbClr>
            </a:outerShdw>
          </a:effectLst>
        </p:spPr>
      </p:sp>
      <p:sp>
        <p:nvSpPr>
          <p:cNvPr id="5" name="Text 3"/>
          <p:cNvSpPr txBox="1"/>
          <p:nvPr/>
        </p:nvSpPr>
        <p:spPr>
          <a:xfrm>
            <a:off x="804672" y="2340864"/>
            <a:ext cx="2116836"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Fixed cameras</a:t>
            </a:r>
            <a:endParaRPr lang="en-US" sz="1600" dirty="0"/>
          </a:p>
        </p:txBody>
      </p:sp>
      <p:sp>
        <p:nvSpPr>
          <p:cNvPr id="6" name="Text 4"/>
          <p:cNvSpPr txBox="1"/>
          <p:nvPr/>
        </p:nvSpPr>
        <p:spPr>
          <a:xfrm>
            <a:off x="804672" y="2724912"/>
            <a:ext cx="2116836" cy="111556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Existing CCTV on posts. One view forever — which is why no rotation is ever simulated.</a:t>
            </a:r>
            <a:endParaRPr lang="en-US" sz="1350" dirty="0"/>
          </a:p>
        </p:txBody>
      </p:sp>
      <p:sp>
        <p:nvSpPr>
          <p:cNvPr id="7" name="Shape 5"/>
          <p:cNvSpPr/>
          <p:nvPr/>
        </p:nvSpPr>
        <p:spPr>
          <a:xfrm>
            <a:off x="3378708" y="2103120"/>
            <a:ext cx="2592324" cy="1920240"/>
          </a:xfrm>
          <a:prstGeom prst="roundRect">
            <a:avLst>
              <a:gd name="adj" fmla="val 4762"/>
            </a:avLst>
          </a:prstGeom>
          <a:solidFill>
            <a:srgbClr val="E6F3EC"/>
          </a:solidFill>
          <a:ln/>
          <a:effectLst>
            <a:outerShdw sx="100000" sy="100000" kx="0" ky="0" algn="bl" rotWithShape="0" blurRad="101600" dist="12700" dir="5400000">
              <a:srgbClr val="000000">
                <a:alpha val="7000"/>
              </a:srgbClr>
            </a:outerShdw>
          </a:effectLst>
        </p:spPr>
      </p:sp>
      <p:sp>
        <p:nvSpPr>
          <p:cNvPr id="8" name="Text 6"/>
          <p:cNvSpPr txBox="1"/>
          <p:nvPr/>
        </p:nvSpPr>
        <p:spPr>
          <a:xfrm>
            <a:off x="3616452" y="2340864"/>
            <a:ext cx="2116836"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Every 15 seconds</a:t>
            </a:r>
            <a:endParaRPr lang="en-US" sz="1600" dirty="0"/>
          </a:p>
        </p:txBody>
      </p:sp>
      <p:sp>
        <p:nvSpPr>
          <p:cNvPr id="9" name="Text 7"/>
          <p:cNvSpPr txBox="1"/>
          <p:nvPr/>
        </p:nvSpPr>
        <p:spPr>
          <a:xfrm>
            <a:off x="3616452" y="2724912"/>
            <a:ext cx="2116836" cy="111556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Sampled from recorded footage, then hand-labelled into three classes.</a:t>
            </a:r>
            <a:endParaRPr lang="en-US" sz="1350" dirty="0"/>
          </a:p>
        </p:txBody>
      </p:sp>
      <p:sp>
        <p:nvSpPr>
          <p:cNvPr id="10" name="Shape 8"/>
          <p:cNvSpPr/>
          <p:nvPr/>
        </p:nvSpPr>
        <p:spPr>
          <a:xfrm>
            <a:off x="6190488" y="2103120"/>
            <a:ext cx="2592324" cy="1920240"/>
          </a:xfrm>
          <a:prstGeom prst="roundRect">
            <a:avLst>
              <a:gd name="adj" fmla="val 4762"/>
            </a:avLst>
          </a:prstGeom>
          <a:solidFill>
            <a:srgbClr val="F4F7F4"/>
          </a:solidFill>
          <a:ln/>
          <a:effectLst>
            <a:outerShdw sx="100000" sy="100000" kx="0" ky="0" algn="bl" rotWithShape="0" blurRad="101600" dist="12700" dir="5400000">
              <a:srgbClr val="000000">
                <a:alpha val="7000"/>
              </a:srgbClr>
            </a:outerShdw>
          </a:effectLst>
        </p:spPr>
      </p:sp>
      <p:sp>
        <p:nvSpPr>
          <p:cNvPr id="11" name="Text 9"/>
          <p:cNvSpPr txBox="1"/>
          <p:nvPr/>
        </p:nvSpPr>
        <p:spPr>
          <a:xfrm>
            <a:off x="6428232" y="2340864"/>
            <a:ext cx="2116836"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Nine venues</a:t>
            </a:r>
            <a:endParaRPr lang="en-US" sz="1600" dirty="0"/>
          </a:p>
        </p:txBody>
      </p:sp>
      <p:sp>
        <p:nvSpPr>
          <p:cNvPr id="12" name="Text 10"/>
          <p:cNvSpPr txBox="1"/>
          <p:nvPr/>
        </p:nvSpPr>
        <p:spPr>
          <a:xfrm>
            <a:off x="6428232" y="2724912"/>
            <a:ext cx="2116836" cy="111556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Seven usable as cross-venue folds, plus two cameras watching one pitch.</a:t>
            </a:r>
            <a:endParaRPr lang="en-US" sz="1350" dirty="0"/>
          </a:p>
        </p:txBody>
      </p:sp>
      <p:sp>
        <p:nvSpPr>
          <p:cNvPr id="13" name="Shape 11"/>
          <p:cNvSpPr/>
          <p:nvPr/>
        </p:nvSpPr>
        <p:spPr>
          <a:xfrm>
            <a:off x="9002268" y="2103120"/>
            <a:ext cx="2592324" cy="1920240"/>
          </a:xfrm>
          <a:prstGeom prst="roundRect">
            <a:avLst>
              <a:gd name="adj" fmla="val 4762"/>
            </a:avLst>
          </a:prstGeom>
          <a:solidFill>
            <a:srgbClr val="E6F3EC"/>
          </a:solidFill>
          <a:ln/>
          <a:effectLst>
            <a:outerShdw sx="100000" sy="100000" kx="0" ky="0" algn="bl" rotWithShape="0" blurRad="101600" dist="12700" dir="5400000">
              <a:srgbClr val="000000">
                <a:alpha val="7000"/>
              </a:srgbClr>
            </a:outerShdw>
          </a:effectLst>
        </p:spPr>
      </p:sp>
      <p:sp>
        <p:nvSpPr>
          <p:cNvPr id="14" name="Text 12"/>
          <p:cNvSpPr txBox="1"/>
          <p:nvPr/>
        </p:nvSpPr>
        <p:spPr>
          <a:xfrm>
            <a:off x="9240012" y="2340864"/>
            <a:ext cx="2116836" cy="384048"/>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A written protocol</a:t>
            </a:r>
            <a:endParaRPr lang="en-US" sz="1600" dirty="0"/>
          </a:p>
        </p:txBody>
      </p:sp>
      <p:sp>
        <p:nvSpPr>
          <p:cNvPr id="15" name="Text 13"/>
          <p:cNvSpPr txBox="1"/>
          <p:nvPr/>
        </p:nvSpPr>
        <p:spPr>
          <a:xfrm>
            <a:off x="9240012" y="2724912"/>
            <a:ext cx="2116836" cy="111556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Labelling rules fixed in advance, with the ambiguous cases decided before the runs.</a:t>
            </a:r>
            <a:endParaRPr lang="en-US" sz="1350" dirty="0"/>
          </a:p>
        </p:txBody>
      </p:sp>
      <p:sp>
        <p:nvSpPr>
          <p:cNvPr id="16" name="Shape 14"/>
          <p:cNvSpPr/>
          <p:nvPr/>
        </p:nvSpPr>
        <p:spPr>
          <a:xfrm>
            <a:off x="566928" y="4261104"/>
            <a:ext cx="11027664" cy="1207008"/>
          </a:xfrm>
          <a:prstGeom prst="roundRect">
            <a:avLst>
              <a:gd name="adj" fmla="val 7576"/>
            </a:avLst>
          </a:prstGeom>
          <a:solidFill>
            <a:srgbClr val="FCEFDA"/>
          </a:solidFill>
          <a:ln/>
          <a:effectLst>
            <a:outerShdw sx="100000" sy="100000" kx="0" ky="0" algn="bl" rotWithShape="0" blurRad="101600" dist="12700" dir="5400000">
              <a:srgbClr val="000000">
                <a:alpha val="7000"/>
              </a:srgbClr>
            </a:outerShdw>
          </a:effectLst>
        </p:spPr>
      </p:sp>
      <p:sp>
        <p:nvSpPr>
          <p:cNvPr id="17" name="Text 15"/>
          <p:cNvSpPr txBox="1"/>
          <p:nvPr/>
        </p:nvSpPr>
        <p:spPr>
          <a:xfrm>
            <a:off x="804672" y="4498848"/>
            <a:ext cx="10552176" cy="457200"/>
          </a:xfrm>
          <a:prstGeom prst="rect">
            <a:avLst/>
          </a:prstGeom>
          <a:noFill/>
          <a:ln/>
        </p:spPr>
        <p:txBody>
          <a:bodyPr wrap="square" lIns="0" tIns="0" rIns="0" bIns="0" rtlCol="0" anchor="t"/>
          <a:lstStyle/>
          <a:p>
            <a:pPr indent="0" marL="0">
              <a:lnSpc>
                <a:spcPts val="1783"/>
              </a:lnSpc>
              <a:buNone/>
            </a:pPr>
            <a:r>
              <a:rPr lang="en-US" sz="1550" b="1" dirty="0">
                <a:solidFill>
                  <a:srgbClr val="16211C"/>
                </a:solidFill>
                <a:latin typeface="Cambria" pitchFamily="34" charset="0"/>
                <a:ea typeface="Cambria" pitchFamily="34" charset="-122"/>
                <a:cs typeface="Cambria" pitchFamily="34" charset="-120"/>
              </a:rPr>
              <a:t>The fact that shaped the whole evaluation</a:t>
            </a:r>
            <a:endParaRPr lang="en-US" sz="1550" dirty="0"/>
          </a:p>
        </p:txBody>
      </p:sp>
      <p:sp>
        <p:nvSpPr>
          <p:cNvPr id="18" name="Text 16"/>
          <p:cNvSpPr txBox="1"/>
          <p:nvPr/>
        </p:nvSpPr>
        <p:spPr>
          <a:xfrm>
            <a:off x="804672" y="4956048"/>
            <a:ext cx="10552176" cy="329184"/>
          </a:xfrm>
          <a:prstGeom prst="rect">
            <a:avLst/>
          </a:prstGeom>
          <a:noFill/>
          <a:ln/>
        </p:spPr>
        <p:txBody>
          <a:bodyPr wrap="square" lIns="0" tIns="0" rIns="0" bIns="0" rtlCol="0" anchor="t"/>
          <a:lstStyle/>
          <a:p>
            <a:pPr indent="0" marL="0">
              <a:lnSpc>
                <a:spcPts val="1890"/>
              </a:lnSpc>
              <a:buNone/>
            </a:pPr>
            <a:r>
              <a:rPr lang="en-US" sz="1400" dirty="0">
                <a:solidFill>
                  <a:srgbClr val="5A6B62"/>
                </a:solidFill>
                <a:latin typeface="Calibri" pitchFamily="34" charset="0"/>
                <a:ea typeface="Calibri" pitchFamily="34" charset="-122"/>
                <a:cs typeface="Calibri" pitchFamily="34" charset="-120"/>
              </a:rPr>
              <a:t>Because the cameras are fixed and frames come every 15 seconds, 98.5% of frames have a near-duplicate somewhere in the corpus.</a:t>
            </a:r>
            <a:endParaRPr lang="en-US" sz="1400" dirty="0"/>
          </a:p>
        </p:txBody>
      </p:sp>
      <p:sp>
        <p:nvSpPr>
          <p:cNvPr id="19" name="Text 17"/>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Method — data</a:t>
            </a:r>
            <a:endParaRPr lang="en-US" sz="1050" dirty="0"/>
          </a:p>
        </p:txBody>
      </p:sp>
      <p:sp>
        <p:nvSpPr>
          <p:cNvPr id="20" name="Text 18"/>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HOW THE RESEARCH WORKS — METHOD</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How the data were analysed</a:t>
            </a:r>
            <a:endParaRPr lang="en-US" sz="3800" dirty="0"/>
          </a:p>
        </p:txBody>
      </p:sp>
      <p:sp>
        <p:nvSpPr>
          <p:cNvPr id="4" name="Shape 2"/>
          <p:cNvSpPr/>
          <p:nvPr/>
        </p:nvSpPr>
        <p:spPr>
          <a:xfrm>
            <a:off x="566928" y="2103120"/>
            <a:ext cx="5376672" cy="1371600"/>
          </a:xfrm>
          <a:prstGeom prst="roundRect">
            <a:avLst>
              <a:gd name="adj" fmla="val 6667"/>
            </a:avLst>
          </a:prstGeom>
          <a:solidFill>
            <a:srgbClr val="F4F7F4"/>
          </a:solidFill>
          <a:ln/>
          <a:effectLst>
            <a:outerShdw sx="100000" sy="100000" kx="0" ky="0" algn="bl" rotWithShape="0" blurRad="101600" dist="12700" dir="5400000">
              <a:srgbClr val="000000">
                <a:alpha val="7000"/>
              </a:srgbClr>
            </a:outerShdw>
          </a:effectLst>
        </p:spPr>
      </p:sp>
      <p:sp>
        <p:nvSpPr>
          <p:cNvPr id="5" name="Text 3"/>
          <p:cNvSpPr txBox="1"/>
          <p:nvPr/>
        </p:nvSpPr>
        <p:spPr>
          <a:xfrm>
            <a:off x="804672" y="2340864"/>
            <a:ext cx="4901184"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Grouped splits, never random</a:t>
            </a:r>
            <a:endParaRPr lang="en-US" sz="1600" dirty="0"/>
          </a:p>
        </p:txBody>
      </p:sp>
      <p:sp>
        <p:nvSpPr>
          <p:cNvPr id="6" name="Text 4"/>
          <p:cNvSpPr txBox="1"/>
          <p:nvPr/>
        </p:nvSpPr>
        <p:spPr>
          <a:xfrm>
            <a:off x="804672" y="2706624"/>
            <a:ext cx="4901184" cy="585216"/>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Whole venues and whole slots are held out, so a test frame never has a near-twin in training.</a:t>
            </a:r>
            <a:endParaRPr lang="en-US" sz="1350" dirty="0"/>
          </a:p>
        </p:txBody>
      </p:sp>
      <p:sp>
        <p:nvSpPr>
          <p:cNvPr id="7" name="Shape 5"/>
          <p:cNvSpPr/>
          <p:nvPr/>
        </p:nvSpPr>
        <p:spPr>
          <a:xfrm>
            <a:off x="566928" y="3675888"/>
            <a:ext cx="5376672" cy="1371600"/>
          </a:xfrm>
          <a:prstGeom prst="roundRect">
            <a:avLst>
              <a:gd name="adj" fmla="val 6667"/>
            </a:avLst>
          </a:prstGeom>
          <a:solidFill>
            <a:srgbClr val="E6F3EC"/>
          </a:solidFill>
          <a:ln/>
          <a:effectLst>
            <a:outerShdw sx="100000" sy="100000" kx="0" ky="0" algn="bl" rotWithShape="0" blurRad="101600" dist="12700" dir="5400000">
              <a:srgbClr val="000000">
                <a:alpha val="7000"/>
              </a:srgbClr>
            </a:outerShdw>
          </a:effectLst>
        </p:spPr>
      </p:sp>
      <p:sp>
        <p:nvSpPr>
          <p:cNvPr id="8" name="Text 6"/>
          <p:cNvSpPr txBox="1"/>
          <p:nvPr/>
        </p:nvSpPr>
        <p:spPr>
          <a:xfrm>
            <a:off x="804672" y="3913632"/>
            <a:ext cx="4901184"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Four trivial baselines, every time</a:t>
            </a:r>
            <a:endParaRPr lang="en-US" sz="1600" dirty="0"/>
          </a:p>
        </p:txBody>
      </p:sp>
      <p:sp>
        <p:nvSpPr>
          <p:cNvPr id="9" name="Text 7"/>
          <p:cNvSpPr txBox="1"/>
          <p:nvPr/>
        </p:nvSpPr>
        <p:spPr>
          <a:xfrm>
            <a:off x="804672" y="4279392"/>
            <a:ext cx="4901184" cy="585216"/>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 clock rule, a colour histogram, a constant predictor, a random one. If they win, the protocol is wrong.</a:t>
            </a:r>
            <a:endParaRPr lang="en-US" sz="1350" dirty="0"/>
          </a:p>
        </p:txBody>
      </p:sp>
      <p:sp>
        <p:nvSpPr>
          <p:cNvPr id="10" name="Shape 8"/>
          <p:cNvSpPr/>
          <p:nvPr/>
        </p:nvSpPr>
        <p:spPr>
          <a:xfrm>
            <a:off x="6217920" y="2103120"/>
            <a:ext cx="5376672" cy="1371600"/>
          </a:xfrm>
          <a:prstGeom prst="roundRect">
            <a:avLst>
              <a:gd name="adj" fmla="val 6667"/>
            </a:avLst>
          </a:prstGeom>
          <a:solidFill>
            <a:srgbClr val="E6F3EC"/>
          </a:solidFill>
          <a:ln/>
          <a:effectLst>
            <a:outerShdw sx="100000" sy="100000" kx="0" ky="0" algn="bl" rotWithShape="0" blurRad="101600" dist="12700" dir="5400000">
              <a:srgbClr val="000000">
                <a:alpha val="7000"/>
              </a:srgbClr>
            </a:outerShdw>
          </a:effectLst>
        </p:spPr>
      </p:sp>
      <p:sp>
        <p:nvSpPr>
          <p:cNvPr id="11" name="Text 9"/>
          <p:cNvSpPr txBox="1"/>
          <p:nvPr/>
        </p:nvSpPr>
        <p:spPr>
          <a:xfrm>
            <a:off x="6455664" y="2340864"/>
            <a:ext cx="4901184"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Leave-one-venue-out</a:t>
            </a:r>
            <a:endParaRPr lang="en-US" sz="1600" dirty="0"/>
          </a:p>
        </p:txBody>
      </p:sp>
      <p:sp>
        <p:nvSpPr>
          <p:cNvPr id="12" name="Text 10"/>
          <p:cNvSpPr txBox="1"/>
          <p:nvPr/>
        </p:nvSpPr>
        <p:spPr>
          <a:xfrm>
            <a:off x="6455664" y="2706624"/>
            <a:ext cx="4901184" cy="585216"/>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Seven folds. Every comparison is reported with the smallest p-value the design could have produced.</a:t>
            </a:r>
            <a:endParaRPr lang="en-US" sz="1350" dirty="0"/>
          </a:p>
        </p:txBody>
      </p:sp>
      <p:sp>
        <p:nvSpPr>
          <p:cNvPr id="13" name="Shape 11"/>
          <p:cNvSpPr/>
          <p:nvPr/>
        </p:nvSpPr>
        <p:spPr>
          <a:xfrm>
            <a:off x="6217920" y="3675888"/>
            <a:ext cx="5376672" cy="1371600"/>
          </a:xfrm>
          <a:prstGeom prst="roundRect">
            <a:avLst>
              <a:gd name="adj" fmla="val 6667"/>
            </a:avLst>
          </a:prstGeom>
          <a:solidFill>
            <a:srgbClr val="F4F7F4"/>
          </a:solidFill>
          <a:ln/>
          <a:effectLst>
            <a:outerShdw sx="100000" sy="100000" kx="0" ky="0" algn="bl" rotWithShape="0" blurRad="101600" dist="12700" dir="5400000">
              <a:srgbClr val="000000">
                <a:alpha val="7000"/>
              </a:srgbClr>
            </a:outerShdw>
          </a:effectLst>
        </p:spPr>
      </p:sp>
      <p:sp>
        <p:nvSpPr>
          <p:cNvPr id="14" name="Text 12"/>
          <p:cNvSpPr txBox="1"/>
          <p:nvPr/>
        </p:nvSpPr>
        <p:spPr>
          <a:xfrm>
            <a:off x="6455664" y="3913632"/>
            <a:ext cx="4901184" cy="365760"/>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Pre-registered, amended in the open</a:t>
            </a:r>
            <a:endParaRPr lang="en-US" sz="1600" dirty="0"/>
          </a:p>
        </p:txBody>
      </p:sp>
      <p:sp>
        <p:nvSpPr>
          <p:cNvPr id="15" name="Text 13"/>
          <p:cNvSpPr txBox="1"/>
          <p:nvPr/>
        </p:nvSpPr>
        <p:spPr>
          <a:xfrm>
            <a:off x="6455664" y="4279392"/>
            <a:ext cx="4901184" cy="585216"/>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Hypotheses fixed before the runs; every change since is numbered, dated and left in place.</a:t>
            </a:r>
            <a:endParaRPr lang="en-US" sz="1350" dirty="0"/>
          </a:p>
        </p:txBody>
      </p:sp>
      <p:sp>
        <p:nvSpPr>
          <p:cNvPr id="16" name="Text 14"/>
          <p:cNvSpPr txBox="1"/>
          <p:nvPr/>
        </p:nvSpPr>
        <p:spPr>
          <a:xfrm>
            <a:off x="566928" y="5358384"/>
            <a:ext cx="11027664" cy="320040"/>
          </a:xfrm>
          <a:prstGeom prst="rect">
            <a:avLst/>
          </a:prstGeom>
          <a:noFill/>
          <a:ln/>
        </p:spPr>
        <p:txBody>
          <a:bodyPr wrap="square" lIns="0" tIns="0" rIns="0" bIns="0" rtlCol="0" anchor="ctr"/>
          <a:lstStyle/>
          <a:p>
            <a:pPr indent="0" marL="0">
              <a:buNone/>
            </a:pPr>
            <a:r>
              <a:rPr lang="en-US" sz="1300" i="1" dirty="0">
                <a:solidFill>
                  <a:srgbClr val="5A6B62"/>
                </a:solidFill>
                <a:latin typeface="Calibri" pitchFamily="34" charset="0"/>
                <a:ea typeface="Calibri" pitchFamily="34" charset="-122"/>
                <a:cs typeface="Calibri" pitchFamily="34" charset="-120"/>
              </a:rPr>
              <a:t>Holm correction within each declared family of tests.</a:t>
            </a:r>
            <a:endParaRPr lang="en-US" sz="1300" dirty="0"/>
          </a:p>
        </p:txBody>
      </p:sp>
      <p:sp>
        <p:nvSpPr>
          <p:cNvPr id="17" name="Text 15"/>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Method — analysis</a:t>
            </a:r>
            <a:endParaRPr lang="en-US" sz="1050" dirty="0"/>
          </a:p>
        </p:txBody>
      </p:sp>
      <p:sp>
        <p:nvSpPr>
          <p:cNvPr id="18" name="Text 16"/>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A1E"/>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2FA86B"/>
                </a:solidFill>
                <a:latin typeface="Calibri" pitchFamily="34" charset="0"/>
                <a:ea typeface="Calibri" pitchFamily="34" charset="-122"/>
                <a:cs typeface="Calibri" pitchFamily="34" charset="-120"/>
              </a:rPr>
              <a:t>WHAT PROBLEM DOES THE RESEARCH TACKLE?</a:t>
            </a:r>
            <a:endParaRPr lang="en-US" sz="1200" dirty="0"/>
          </a:p>
        </p:txBody>
      </p:sp>
      <p:sp>
        <p:nvSpPr>
          <p:cNvPr id="3" name="Text 1"/>
          <p:cNvSpPr txBox="1"/>
          <p:nvPr/>
        </p:nvSpPr>
        <p:spPr>
          <a:xfrm>
            <a:off x="566928" y="1371600"/>
            <a:ext cx="10332720" cy="2286000"/>
          </a:xfrm>
          <a:prstGeom prst="rect">
            <a:avLst/>
          </a:prstGeom>
          <a:noFill/>
          <a:ln/>
        </p:spPr>
        <p:txBody>
          <a:bodyPr wrap="square" lIns="0" tIns="0" rIns="0" bIns="0" rtlCol="0" anchor="t"/>
          <a:lstStyle/>
          <a:p>
            <a:pPr indent="0" marL="0">
              <a:lnSpc>
                <a:spcPts val="4480"/>
              </a:lnSpc>
              <a:buNone/>
            </a:pPr>
            <a:r>
              <a:rPr lang="en-US" sz="4000" b="1" dirty="0">
                <a:solidFill>
                  <a:srgbClr val="FFFFFF"/>
                </a:solidFill>
                <a:latin typeface="Cambria" pitchFamily="34" charset="0"/>
                <a:ea typeface="Cambria" pitchFamily="34" charset="-122"/>
                <a:cs typeface="Cambria" pitchFamily="34" charset="-120"/>
              </a:rPr>
              <a:t>A facility sells hours.</a:t>
            </a:r>
            <a:endParaRPr lang="en-US" sz="4000" dirty="0"/>
          </a:p>
          <a:p>
            <a:pPr indent="0" marL="0">
              <a:lnSpc>
                <a:spcPts val="4480"/>
              </a:lnSpc>
              <a:buNone/>
            </a:pPr>
            <a:r>
              <a:rPr lang="en-US" sz="4000" b="1" dirty="0">
                <a:solidFill>
                  <a:srgbClr val="FFFFFF"/>
                </a:solidFill>
                <a:latin typeface="Cambria" pitchFamily="34" charset="0"/>
                <a:ea typeface="Cambria" pitchFamily="34" charset="-122"/>
                <a:cs typeface="Cambria" pitchFamily="34" charset="-120"/>
              </a:rPr>
              <a:t>Nobody checks which ones were used.</a:t>
            </a:r>
            <a:endParaRPr lang="en-US" sz="4000" dirty="0"/>
          </a:p>
        </p:txBody>
      </p:sp>
      <p:sp>
        <p:nvSpPr>
          <p:cNvPr id="4" name="Shape 2"/>
          <p:cNvSpPr/>
          <p:nvPr/>
        </p:nvSpPr>
        <p:spPr>
          <a:xfrm>
            <a:off x="566928" y="4041648"/>
            <a:ext cx="3517392" cy="1316736"/>
          </a:xfrm>
          <a:prstGeom prst="roundRect">
            <a:avLst>
              <a:gd name="adj" fmla="val 6944"/>
            </a:avLst>
          </a:prstGeom>
          <a:solidFill>
            <a:srgbClr val="1A3C2B"/>
          </a:solidFill>
          <a:ln/>
        </p:spPr>
      </p:sp>
      <p:sp>
        <p:nvSpPr>
          <p:cNvPr id="5" name="Text 3"/>
          <p:cNvSpPr txBox="1"/>
          <p:nvPr/>
        </p:nvSpPr>
        <p:spPr>
          <a:xfrm>
            <a:off x="804672" y="4242816"/>
            <a:ext cx="3041904"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No-shows</a:t>
            </a:r>
            <a:endParaRPr lang="en-US" sz="1600" dirty="0"/>
          </a:p>
        </p:txBody>
      </p:sp>
      <p:sp>
        <p:nvSpPr>
          <p:cNvPr id="6" name="Text 4"/>
          <p:cNvSpPr txBox="1"/>
          <p:nvPr/>
        </p:nvSpPr>
        <p:spPr>
          <a:xfrm>
            <a:off x="804672" y="4626864"/>
            <a:ext cx="3041904" cy="566928"/>
          </a:xfrm>
          <a:prstGeom prst="rect">
            <a:avLst/>
          </a:prstGeom>
          <a:noFill/>
          <a:ln/>
        </p:spPr>
        <p:txBody>
          <a:bodyPr wrap="square" lIns="0" tIns="0" rIns="0" bIns="0" rtlCol="0" anchor="t"/>
          <a:lstStyle/>
          <a:p>
            <a:pPr indent="0" marL="0">
              <a:lnSpc>
                <a:spcPts val="1700"/>
              </a:lnSpc>
              <a:buNone/>
            </a:pPr>
            <a:r>
              <a:rPr lang="en-US" sz="1300" dirty="0">
                <a:solidFill>
                  <a:srgbClr val="AFCBBC"/>
                </a:solidFill>
                <a:latin typeface="Calibri" pitchFamily="34" charset="0"/>
                <a:ea typeface="Calibri" pitchFamily="34" charset="-122"/>
                <a:cs typeface="Calibri" pitchFamily="34" charset="-120"/>
              </a:rPr>
              <a:t>Paid for, never played.</a:t>
            </a:r>
            <a:endParaRPr lang="en-US" sz="1300" dirty="0"/>
          </a:p>
        </p:txBody>
      </p:sp>
      <p:sp>
        <p:nvSpPr>
          <p:cNvPr id="7" name="Shape 5"/>
          <p:cNvSpPr/>
          <p:nvPr/>
        </p:nvSpPr>
        <p:spPr>
          <a:xfrm>
            <a:off x="4322064" y="4041648"/>
            <a:ext cx="3517392" cy="1316736"/>
          </a:xfrm>
          <a:prstGeom prst="roundRect">
            <a:avLst>
              <a:gd name="adj" fmla="val 6944"/>
            </a:avLst>
          </a:prstGeom>
          <a:solidFill>
            <a:srgbClr val="1A3C2B"/>
          </a:solidFill>
          <a:ln/>
        </p:spPr>
      </p:sp>
      <p:sp>
        <p:nvSpPr>
          <p:cNvPr id="8" name="Text 6"/>
          <p:cNvSpPr txBox="1"/>
          <p:nvPr/>
        </p:nvSpPr>
        <p:spPr>
          <a:xfrm>
            <a:off x="4559808" y="4242816"/>
            <a:ext cx="3041904"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Unbooked use</a:t>
            </a:r>
            <a:endParaRPr lang="en-US" sz="1600" dirty="0"/>
          </a:p>
        </p:txBody>
      </p:sp>
      <p:sp>
        <p:nvSpPr>
          <p:cNvPr id="9" name="Text 7"/>
          <p:cNvSpPr txBox="1"/>
          <p:nvPr/>
        </p:nvSpPr>
        <p:spPr>
          <a:xfrm>
            <a:off x="4559808" y="4626864"/>
            <a:ext cx="3041904" cy="566928"/>
          </a:xfrm>
          <a:prstGeom prst="rect">
            <a:avLst/>
          </a:prstGeom>
          <a:noFill/>
          <a:ln/>
        </p:spPr>
        <p:txBody>
          <a:bodyPr wrap="square" lIns="0" tIns="0" rIns="0" bIns="0" rtlCol="0" anchor="t"/>
          <a:lstStyle/>
          <a:p>
            <a:pPr indent="0" marL="0">
              <a:lnSpc>
                <a:spcPts val="1700"/>
              </a:lnSpc>
              <a:buNone/>
            </a:pPr>
            <a:r>
              <a:rPr lang="en-US" sz="1300" dirty="0">
                <a:solidFill>
                  <a:srgbClr val="AFCBBC"/>
                </a:solidFill>
                <a:latin typeface="Calibri" pitchFamily="34" charset="0"/>
                <a:ea typeface="Calibri" pitchFamily="34" charset="-122"/>
                <a:cs typeface="Calibri" pitchFamily="34" charset="-120"/>
              </a:rPr>
              <a:t>Played, never paid for.</a:t>
            </a:r>
            <a:endParaRPr lang="en-US" sz="1300" dirty="0"/>
          </a:p>
        </p:txBody>
      </p:sp>
      <p:sp>
        <p:nvSpPr>
          <p:cNvPr id="10" name="Shape 8"/>
          <p:cNvSpPr/>
          <p:nvPr/>
        </p:nvSpPr>
        <p:spPr>
          <a:xfrm>
            <a:off x="8077200" y="4041648"/>
            <a:ext cx="3517392" cy="1316736"/>
          </a:xfrm>
          <a:prstGeom prst="roundRect">
            <a:avLst>
              <a:gd name="adj" fmla="val 6944"/>
            </a:avLst>
          </a:prstGeom>
          <a:solidFill>
            <a:srgbClr val="1A3C2B"/>
          </a:solidFill>
          <a:ln/>
        </p:spPr>
      </p:sp>
      <p:sp>
        <p:nvSpPr>
          <p:cNvPr id="11" name="Text 9"/>
          <p:cNvSpPr txBox="1"/>
          <p:nvPr/>
        </p:nvSpPr>
        <p:spPr>
          <a:xfrm>
            <a:off x="8314944" y="4242816"/>
            <a:ext cx="3041904"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Data-entry error</a:t>
            </a:r>
            <a:endParaRPr lang="en-US" sz="1600" dirty="0"/>
          </a:p>
        </p:txBody>
      </p:sp>
      <p:sp>
        <p:nvSpPr>
          <p:cNvPr id="12" name="Text 10"/>
          <p:cNvSpPr txBox="1"/>
          <p:nvPr/>
        </p:nvSpPr>
        <p:spPr>
          <a:xfrm>
            <a:off x="8314944" y="4626864"/>
            <a:ext cx="3041904" cy="566928"/>
          </a:xfrm>
          <a:prstGeom prst="rect">
            <a:avLst/>
          </a:prstGeom>
          <a:noFill/>
          <a:ln/>
        </p:spPr>
        <p:txBody>
          <a:bodyPr wrap="square" lIns="0" tIns="0" rIns="0" bIns="0" rtlCol="0" anchor="t"/>
          <a:lstStyle/>
          <a:p>
            <a:pPr indent="0" marL="0">
              <a:lnSpc>
                <a:spcPts val="1700"/>
              </a:lnSpc>
              <a:buNone/>
            </a:pPr>
            <a:r>
              <a:rPr lang="en-US" sz="1300" dirty="0">
                <a:solidFill>
                  <a:srgbClr val="AFCBBC"/>
                </a:solidFill>
                <a:latin typeface="Calibri" pitchFamily="34" charset="0"/>
                <a:ea typeface="Calibri" pitchFamily="34" charset="-122"/>
                <a:cs typeface="Calibri" pitchFamily="34" charset="-120"/>
              </a:rPr>
              <a:t>The record and the reality drift apart.</a:t>
            </a:r>
            <a:endParaRPr lang="en-US" sz="1300" dirty="0"/>
          </a:p>
        </p:txBody>
      </p:sp>
      <p:sp>
        <p:nvSpPr>
          <p:cNvPr id="13" name="Text 11"/>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The problem</a:t>
            </a:r>
            <a:endParaRPr lang="en-US" sz="1050" dirty="0"/>
          </a:p>
        </p:txBody>
      </p:sp>
      <p:sp>
        <p:nvSpPr>
          <p:cNvPr id="14" name="Text 12"/>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THE GAP</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What is already known — and what is missing</a:t>
            </a:r>
            <a:endParaRPr lang="en-US" sz="3800" dirty="0"/>
          </a:p>
        </p:txBody>
      </p:sp>
      <p:sp>
        <p:nvSpPr>
          <p:cNvPr id="4" name="Shape 2"/>
          <p:cNvSpPr/>
          <p:nvPr/>
        </p:nvSpPr>
        <p:spPr>
          <a:xfrm>
            <a:off x="566928" y="2103120"/>
            <a:ext cx="5330952" cy="3017520"/>
          </a:xfrm>
          <a:prstGeom prst="roundRect">
            <a:avLst>
              <a:gd name="adj" fmla="val 3030"/>
            </a:avLst>
          </a:prstGeom>
          <a:solidFill>
            <a:srgbClr val="F4F7F4"/>
          </a:solidFill>
          <a:ln/>
          <a:effectLst>
            <a:outerShdw sx="100000" sy="100000" kx="0" ky="0" algn="bl" rotWithShape="0" blurRad="101600" dist="12700" dir="5400000">
              <a:srgbClr val="000000">
                <a:alpha val="7000"/>
              </a:srgbClr>
            </a:outerShdw>
          </a:effectLst>
        </p:spPr>
      </p:sp>
      <p:sp>
        <p:nvSpPr>
          <p:cNvPr id="5" name="Text 3"/>
          <p:cNvSpPr txBox="1"/>
          <p:nvPr/>
        </p:nvSpPr>
        <p:spPr>
          <a:xfrm>
            <a:off x="841248" y="2340864"/>
            <a:ext cx="4782312" cy="274320"/>
          </a:xfrm>
          <a:prstGeom prst="rect">
            <a:avLst/>
          </a:prstGeom>
          <a:noFill/>
          <a:ln/>
        </p:spPr>
        <p:txBody>
          <a:bodyPr wrap="square" lIns="0" tIns="0" rIns="0" bIns="0" rtlCol="0" anchor="ctr"/>
          <a:lstStyle/>
          <a:p>
            <a:pPr indent="0" marL="0">
              <a:buNone/>
            </a:pPr>
            <a:r>
              <a:rPr lang="en-US" sz="1150" b="1" spc="180" kern="0" dirty="0">
                <a:solidFill>
                  <a:srgbClr val="1F7A4C"/>
                </a:solidFill>
                <a:latin typeface="Calibri" pitchFamily="34" charset="0"/>
                <a:ea typeface="Calibri" pitchFamily="34" charset="-122"/>
                <a:cs typeface="Calibri" pitchFamily="34" charset="-120"/>
              </a:rPr>
              <a:t>ALREADY KNOWN</a:t>
            </a:r>
            <a:endParaRPr lang="en-US" sz="1150" dirty="0"/>
          </a:p>
        </p:txBody>
      </p:sp>
      <p:sp>
        <p:nvSpPr>
          <p:cNvPr id="6" name="Text 4"/>
          <p:cNvSpPr txBox="1"/>
          <p:nvPr/>
        </p:nvSpPr>
        <p:spPr>
          <a:xfrm>
            <a:off x="841248" y="2724912"/>
            <a:ext cx="4782312" cy="2194560"/>
          </a:xfrm>
          <a:prstGeom prst="rect">
            <a:avLst/>
          </a:prstGeom>
          <a:noFill/>
          <a:ln/>
        </p:spPr>
        <p:txBody>
          <a:bodyPr wrap="square" lIns="0" tIns="0" rIns="0" bIns="0" rtlCol="0" anchor="ctr"/>
          <a:lstStyle/>
          <a:p>
            <a:pPr marL="342900" indent="-342900">
              <a:lnSpc>
                <a:spcPts val="1943"/>
              </a:lnSpc>
              <a:spcAft>
                <a:spcPts val="1000"/>
              </a:spcAft>
              <a:buSzPct val="100000"/>
              <a:buChar char="▪"/>
            </a:pPr>
            <a:r>
              <a:rPr lang="en-US" sz="1450" dirty="0">
                <a:solidFill>
                  <a:srgbClr val="5A6B62"/>
                </a:solidFill>
                <a:latin typeface="Calibri" pitchFamily="34" charset="0"/>
                <a:ea typeface="Calibri" pitchFamily="34" charset="-122"/>
                <a:cs typeface="Calibri" pitchFamily="34" charset="-120"/>
              </a:rPr>
              <a:t>Frozen pretrained backbones work well with very few labels.</a:t>
            </a:r>
            <a:endParaRPr lang="en-US" sz="1450" dirty="0"/>
          </a:p>
          <a:p>
            <a:pPr marL="342900" indent="-342900">
              <a:lnSpc>
                <a:spcPts val="1943"/>
              </a:lnSpc>
              <a:spcAft>
                <a:spcPts val="1000"/>
              </a:spcAft>
              <a:buSzPct val="100000"/>
              <a:buChar char="▪"/>
            </a:pPr>
            <a:r>
              <a:rPr lang="en-US" sz="1450" dirty="0">
                <a:solidFill>
                  <a:srgbClr val="5A6B62"/>
                </a:solidFill>
                <a:latin typeface="Calibri" pitchFamily="34" charset="0"/>
                <a:ea typeface="Calibri" pitchFamily="34" charset="-122"/>
                <a:cs typeface="Calibri" pitchFamily="34" charset="-120"/>
              </a:rPr>
              <a:t>Pretraining data matters more than architecture at the same size.</a:t>
            </a:r>
            <a:endParaRPr lang="en-US" sz="1450" dirty="0"/>
          </a:p>
          <a:p>
            <a:pPr marL="342900" indent="-342900">
              <a:lnSpc>
                <a:spcPts val="1943"/>
              </a:lnSpc>
              <a:spcAft>
                <a:spcPts val="1000"/>
              </a:spcAft>
              <a:buSzPct val="100000"/>
              <a:buChar char="▪"/>
            </a:pPr>
            <a:r>
              <a:rPr lang="en-US" sz="1450" dirty="0">
                <a:solidFill>
                  <a:srgbClr val="5A6B62"/>
                </a:solidFill>
                <a:latin typeface="Calibri" pitchFamily="34" charset="0"/>
                <a:ea typeface="Calibri" pitchFamily="34" charset="-122"/>
                <a:cs typeface="Calibri" pitchFamily="34" charset="-120"/>
              </a:rPr>
              <a:t>Occupancy and people-counting from CCTV are established tasks.</a:t>
            </a:r>
            <a:endParaRPr lang="en-US" sz="1450" dirty="0"/>
          </a:p>
        </p:txBody>
      </p:sp>
      <p:sp>
        <p:nvSpPr>
          <p:cNvPr id="7" name="Shape 5"/>
          <p:cNvSpPr/>
          <p:nvPr/>
        </p:nvSpPr>
        <p:spPr>
          <a:xfrm>
            <a:off x="6263640" y="2103120"/>
            <a:ext cx="5330952" cy="3017520"/>
          </a:xfrm>
          <a:prstGeom prst="roundRect">
            <a:avLst>
              <a:gd name="adj" fmla="val 3030"/>
            </a:avLst>
          </a:prstGeom>
          <a:solidFill>
            <a:srgbClr val="FAE3E7"/>
          </a:solidFill>
          <a:ln/>
          <a:effectLst>
            <a:outerShdw sx="100000" sy="100000" kx="0" ky="0" algn="bl" rotWithShape="0" blurRad="101600" dist="12700" dir="5400000">
              <a:srgbClr val="000000">
                <a:alpha val="7000"/>
              </a:srgbClr>
            </a:outerShdw>
          </a:effectLst>
        </p:spPr>
      </p:sp>
      <p:sp>
        <p:nvSpPr>
          <p:cNvPr id="8" name="Text 6"/>
          <p:cNvSpPr txBox="1"/>
          <p:nvPr/>
        </p:nvSpPr>
        <p:spPr>
          <a:xfrm>
            <a:off x="6537960" y="2340864"/>
            <a:ext cx="4782312" cy="274320"/>
          </a:xfrm>
          <a:prstGeom prst="rect">
            <a:avLst/>
          </a:prstGeom>
          <a:noFill/>
          <a:ln/>
        </p:spPr>
        <p:txBody>
          <a:bodyPr wrap="square" lIns="0" tIns="0" rIns="0" bIns="0" rtlCol="0" anchor="ctr"/>
          <a:lstStyle/>
          <a:p>
            <a:pPr indent="0" marL="0">
              <a:buNone/>
            </a:pPr>
            <a:r>
              <a:rPr lang="en-US" sz="1150" b="1" spc="180" kern="0" dirty="0">
                <a:solidFill>
                  <a:srgbClr val="D6455B"/>
                </a:solidFill>
                <a:latin typeface="Calibri" pitchFamily="34" charset="0"/>
                <a:ea typeface="Calibri" pitchFamily="34" charset="-122"/>
                <a:cs typeface="Calibri" pitchFamily="34" charset="-120"/>
              </a:rPr>
              <a:t>THE GAP</a:t>
            </a:r>
            <a:endParaRPr lang="en-US" sz="1150" dirty="0"/>
          </a:p>
        </p:txBody>
      </p:sp>
      <p:sp>
        <p:nvSpPr>
          <p:cNvPr id="9" name="Text 7"/>
          <p:cNvSpPr txBox="1"/>
          <p:nvPr/>
        </p:nvSpPr>
        <p:spPr>
          <a:xfrm>
            <a:off x="6537960" y="2724912"/>
            <a:ext cx="4782312" cy="2194560"/>
          </a:xfrm>
          <a:prstGeom prst="rect">
            <a:avLst/>
          </a:prstGeom>
          <a:noFill/>
          <a:ln/>
        </p:spPr>
        <p:txBody>
          <a:bodyPr wrap="square" lIns="0" tIns="0" rIns="0" bIns="0" rtlCol="0" anchor="ctr"/>
          <a:lstStyle/>
          <a:p>
            <a:pPr marL="342900" indent="-342900">
              <a:lnSpc>
                <a:spcPts val="1943"/>
              </a:lnSpc>
              <a:spcAft>
                <a:spcPts val="1000"/>
              </a:spcAft>
              <a:buSzPct val="100000"/>
              <a:buChar char="▪"/>
            </a:pPr>
            <a:r>
              <a:rPr lang="en-US" sz="1450" dirty="0">
                <a:solidFill>
                  <a:srgbClr val="7A4048"/>
                </a:solidFill>
                <a:latin typeface="Calibri" pitchFamily="34" charset="0"/>
                <a:ea typeface="Calibri" pitchFamily="34" charset="-122"/>
                <a:cs typeface="Calibri" pitchFamily="34" charset="-120"/>
              </a:rPr>
              <a:t>Almost all of it is evaluated on frames from the same scenes.</a:t>
            </a:r>
            <a:endParaRPr lang="en-US" sz="1450" dirty="0"/>
          </a:p>
          <a:p>
            <a:pPr marL="342900" indent="-342900">
              <a:lnSpc>
                <a:spcPts val="1943"/>
              </a:lnSpc>
              <a:spcAft>
                <a:spcPts val="1000"/>
              </a:spcAft>
              <a:buSzPct val="100000"/>
              <a:buChar char="▪"/>
            </a:pPr>
            <a:r>
              <a:rPr lang="en-US" sz="1450" dirty="0">
                <a:solidFill>
                  <a:srgbClr val="7A4048"/>
                </a:solidFill>
                <a:latin typeface="Calibri" pitchFamily="34" charset="0"/>
                <a:ea typeface="Calibri" pitchFamily="34" charset="-122"/>
                <a:cs typeface="Calibri" pitchFamily="34" charset="-120"/>
              </a:rPr>
              <a:t>So the reported scores measure memory of a place, not recognition of an activity.</a:t>
            </a:r>
            <a:endParaRPr lang="en-US" sz="1450" dirty="0"/>
          </a:p>
          <a:p>
            <a:pPr marL="342900" indent="-342900">
              <a:lnSpc>
                <a:spcPts val="1943"/>
              </a:lnSpc>
              <a:spcAft>
                <a:spcPts val="1000"/>
              </a:spcAft>
              <a:buSzPct val="100000"/>
              <a:buChar char="▪"/>
            </a:pPr>
            <a:r>
              <a:rPr lang="en-US" sz="1450" dirty="0">
                <a:solidFill>
                  <a:srgbClr val="7A4048"/>
                </a:solidFill>
                <a:latin typeface="Calibri" pitchFamily="34" charset="0"/>
                <a:ea typeface="Calibri" pitchFamily="34" charset="-122"/>
                <a:cs typeface="Calibri" pitchFamily="34" charset="-120"/>
              </a:rPr>
              <a:t>Nobody reports what the score would be if a trivial rule were run beside it.</a:t>
            </a:r>
            <a:endParaRPr lang="en-US" sz="1450" dirty="0"/>
          </a:p>
        </p:txBody>
      </p:sp>
      <p:sp>
        <p:nvSpPr>
          <p:cNvPr id="10" name="Text 8"/>
          <p:cNvSpPr txBox="1"/>
          <p:nvPr/>
        </p:nvSpPr>
        <p:spPr>
          <a:xfrm>
            <a:off x="566928" y="5285232"/>
            <a:ext cx="11027664" cy="365760"/>
          </a:xfrm>
          <a:prstGeom prst="rect">
            <a:avLst/>
          </a:prstGeom>
          <a:noFill/>
          <a:ln/>
        </p:spPr>
        <p:txBody>
          <a:bodyPr wrap="square" lIns="0" tIns="0" rIns="0" bIns="0" rtlCol="0" anchor="ctr"/>
          <a:lstStyle/>
          <a:p>
            <a:pPr indent="0" marL="0">
              <a:buNone/>
            </a:pPr>
            <a:r>
              <a:rPr lang="en-US" sz="1450" i="1" dirty="0">
                <a:solidFill>
                  <a:srgbClr val="1F7A4C"/>
                </a:solidFill>
                <a:latin typeface="Calibri" pitchFamily="34" charset="0"/>
                <a:ea typeface="Calibri" pitchFamily="34" charset="-122"/>
                <a:cs typeface="Calibri" pitchFamily="34" charset="-120"/>
              </a:rPr>
              <a:t>This matters because the whole business case rests on one class — the empty pitch.</a:t>
            </a:r>
            <a:endParaRPr lang="en-US" sz="1450" dirty="0"/>
          </a:p>
        </p:txBody>
      </p:sp>
      <p:sp>
        <p:nvSpPr>
          <p:cNvPr id="11" name="Text 9"/>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gap</a:t>
            </a:r>
            <a:endParaRPr lang="en-US" sz="1050" dirty="0"/>
          </a:p>
        </p:txBody>
      </p:sp>
      <p:sp>
        <p:nvSpPr>
          <p:cNvPr id="12" name="Text 10"/>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THE GAP — FIRST CONSEQUENCE</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Honest splitting halves the score</a:t>
            </a:r>
            <a:endParaRPr lang="en-US" sz="3800" dirty="0"/>
          </a:p>
        </p:txBody>
      </p:sp>
      <p:sp>
        <p:nvSpPr>
          <p:cNvPr id="4" name="Shape 2"/>
          <p:cNvSpPr/>
          <p:nvPr/>
        </p:nvSpPr>
        <p:spPr>
          <a:xfrm>
            <a:off x="566928" y="2148840"/>
            <a:ext cx="3529584" cy="1691640"/>
          </a:xfrm>
          <a:prstGeom prst="roundRect">
            <a:avLst>
              <a:gd name="adj" fmla="val 5405"/>
            </a:avLst>
          </a:prstGeom>
          <a:solidFill>
            <a:srgbClr val="FAE3E7"/>
          </a:solidFill>
          <a:ln/>
          <a:effectLst>
            <a:outerShdw sx="100000" sy="100000" kx="0" ky="0" algn="bl" rotWithShape="0" blurRad="101600" dist="12700" dir="5400000">
              <a:srgbClr val="000000">
                <a:alpha val="7000"/>
              </a:srgbClr>
            </a:outerShdw>
          </a:effectLst>
        </p:spPr>
      </p:sp>
      <p:sp>
        <p:nvSpPr>
          <p:cNvPr id="5" name="Text 3"/>
          <p:cNvSpPr txBox="1"/>
          <p:nvPr/>
        </p:nvSpPr>
        <p:spPr>
          <a:xfrm>
            <a:off x="768096" y="2350008"/>
            <a:ext cx="3127248" cy="749808"/>
          </a:xfrm>
          <a:prstGeom prst="rect">
            <a:avLst/>
          </a:prstGeom>
          <a:noFill/>
          <a:ln/>
        </p:spPr>
        <p:txBody>
          <a:bodyPr wrap="square" lIns="0" tIns="0" rIns="0" bIns="0" rtlCol="0" anchor="ctr"/>
          <a:lstStyle/>
          <a:p>
            <a:pPr indent="0" marL="0">
              <a:buNone/>
            </a:pPr>
            <a:r>
              <a:rPr lang="en-US" sz="4000" b="1" dirty="0">
                <a:solidFill>
                  <a:srgbClr val="D6455B"/>
                </a:solidFill>
                <a:latin typeface="Cambria" pitchFamily="34" charset="0"/>
                <a:ea typeface="Cambria" pitchFamily="34" charset="-122"/>
                <a:cs typeface="Cambria" pitchFamily="34" charset="-120"/>
              </a:rPr>
              <a:t>37.1%</a:t>
            </a:r>
            <a:endParaRPr lang="en-US" sz="4000" dirty="0"/>
          </a:p>
        </p:txBody>
      </p:sp>
      <p:sp>
        <p:nvSpPr>
          <p:cNvPr id="6" name="Text 4"/>
          <p:cNvSpPr txBox="1"/>
          <p:nvPr/>
        </p:nvSpPr>
        <p:spPr>
          <a:xfrm>
            <a:off x="768096" y="3118104"/>
            <a:ext cx="3127248" cy="5394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of near-duplicate pairs cross the train/test line under a random split</a:t>
            </a:r>
            <a:endParaRPr lang="en-US" sz="1250" dirty="0"/>
          </a:p>
        </p:txBody>
      </p:sp>
      <p:sp>
        <p:nvSpPr>
          <p:cNvPr id="7" name="Shape 5"/>
          <p:cNvSpPr/>
          <p:nvPr/>
        </p:nvSpPr>
        <p:spPr>
          <a:xfrm>
            <a:off x="4315968" y="2148840"/>
            <a:ext cx="3529584" cy="1691640"/>
          </a:xfrm>
          <a:prstGeom prst="roundRect">
            <a:avLst>
              <a:gd name="adj" fmla="val 5405"/>
            </a:avLst>
          </a:prstGeom>
          <a:solidFill>
            <a:srgbClr val="E6F3EC"/>
          </a:solidFill>
          <a:ln/>
          <a:effectLst>
            <a:outerShdw sx="100000" sy="100000" kx="0" ky="0" algn="bl" rotWithShape="0" blurRad="101600" dist="12700" dir="5400000">
              <a:srgbClr val="000000">
                <a:alpha val="7000"/>
              </a:srgbClr>
            </a:outerShdw>
          </a:effectLst>
        </p:spPr>
      </p:sp>
      <p:sp>
        <p:nvSpPr>
          <p:cNvPr id="8" name="Text 6"/>
          <p:cNvSpPr txBox="1"/>
          <p:nvPr/>
        </p:nvSpPr>
        <p:spPr>
          <a:xfrm>
            <a:off x="4517136" y="2350008"/>
            <a:ext cx="3127248" cy="749808"/>
          </a:xfrm>
          <a:prstGeom prst="rect">
            <a:avLst/>
          </a:prstGeom>
          <a:noFill/>
          <a:ln/>
        </p:spPr>
        <p:txBody>
          <a:bodyPr wrap="square" lIns="0" tIns="0" rIns="0" bIns="0" rtlCol="0" anchor="ctr"/>
          <a:lstStyle/>
          <a:p>
            <a:pPr indent="0" marL="0">
              <a:buNone/>
            </a:pPr>
            <a:r>
              <a:rPr lang="en-US" sz="4000" b="1" dirty="0">
                <a:solidFill>
                  <a:srgbClr val="1F7A4C"/>
                </a:solidFill>
                <a:latin typeface="Cambria" pitchFamily="34" charset="0"/>
                <a:ea typeface="Cambria" pitchFamily="34" charset="-122"/>
                <a:cs typeface="Cambria" pitchFamily="34" charset="-120"/>
              </a:rPr>
              <a:t>0.8%</a:t>
            </a:r>
            <a:endParaRPr lang="en-US" sz="4000" dirty="0"/>
          </a:p>
        </p:txBody>
      </p:sp>
      <p:sp>
        <p:nvSpPr>
          <p:cNvPr id="9" name="Text 7"/>
          <p:cNvSpPr txBox="1"/>
          <p:nvPr/>
        </p:nvSpPr>
        <p:spPr>
          <a:xfrm>
            <a:off x="4517136" y="3118104"/>
            <a:ext cx="3127248" cy="5394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under a split grouped by venue and slot</a:t>
            </a:r>
            <a:endParaRPr lang="en-US" sz="1250" dirty="0"/>
          </a:p>
        </p:txBody>
      </p:sp>
      <p:sp>
        <p:nvSpPr>
          <p:cNvPr id="10" name="Shape 8"/>
          <p:cNvSpPr/>
          <p:nvPr/>
        </p:nvSpPr>
        <p:spPr>
          <a:xfrm>
            <a:off x="8065008" y="2148840"/>
            <a:ext cx="3529584" cy="1691640"/>
          </a:xfrm>
          <a:prstGeom prst="roundRect">
            <a:avLst>
              <a:gd name="adj" fmla="val 5405"/>
            </a:avLst>
          </a:prstGeom>
          <a:solidFill>
            <a:srgbClr val="FCEFDA"/>
          </a:solidFill>
          <a:ln/>
          <a:effectLst>
            <a:outerShdw sx="100000" sy="100000" kx="0" ky="0" algn="bl" rotWithShape="0" blurRad="101600" dist="12700" dir="5400000">
              <a:srgbClr val="000000">
                <a:alpha val="7000"/>
              </a:srgbClr>
            </a:outerShdw>
          </a:effectLst>
        </p:spPr>
      </p:sp>
      <p:sp>
        <p:nvSpPr>
          <p:cNvPr id="11" name="Text 9"/>
          <p:cNvSpPr txBox="1"/>
          <p:nvPr/>
        </p:nvSpPr>
        <p:spPr>
          <a:xfrm>
            <a:off x="8266176" y="2350008"/>
            <a:ext cx="3127248" cy="749808"/>
          </a:xfrm>
          <a:prstGeom prst="rect">
            <a:avLst/>
          </a:prstGeom>
          <a:noFill/>
          <a:ln/>
        </p:spPr>
        <p:txBody>
          <a:bodyPr wrap="square" lIns="0" tIns="0" rIns="0" bIns="0" rtlCol="0" anchor="ctr"/>
          <a:lstStyle/>
          <a:p>
            <a:pPr indent="0" marL="0">
              <a:buNone/>
            </a:pPr>
            <a:r>
              <a:rPr lang="en-US" sz="4000" b="1" dirty="0">
                <a:solidFill>
                  <a:srgbClr val="B26A00"/>
                </a:solidFill>
                <a:latin typeface="Cambria" pitchFamily="34" charset="0"/>
                <a:ea typeface="Cambria" pitchFamily="34" charset="-122"/>
                <a:cs typeface="Cambria" pitchFamily="34" charset="-120"/>
              </a:rPr>
              <a:t>−0.49</a:t>
            </a:r>
            <a:endParaRPr lang="en-US" sz="4000" dirty="0"/>
          </a:p>
        </p:txBody>
      </p:sp>
      <p:sp>
        <p:nvSpPr>
          <p:cNvPr id="12" name="Text 10"/>
          <p:cNvSpPr txBox="1"/>
          <p:nvPr/>
        </p:nvSpPr>
        <p:spPr>
          <a:xfrm>
            <a:off x="8266176" y="3118104"/>
            <a:ext cx="3127248" cy="5394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macro-F1: what being honest costs ConvNeXtV2</a:t>
            </a:r>
            <a:endParaRPr lang="en-US" sz="1250" dirty="0"/>
          </a:p>
        </p:txBody>
      </p:sp>
      <p:sp>
        <p:nvSpPr>
          <p:cNvPr id="13" name="Shape 11"/>
          <p:cNvSpPr/>
          <p:nvPr/>
        </p:nvSpPr>
        <p:spPr>
          <a:xfrm>
            <a:off x="566928" y="4114800"/>
            <a:ext cx="11027664" cy="1371600"/>
          </a:xfrm>
          <a:prstGeom prst="roundRect">
            <a:avLst>
              <a:gd name="adj" fmla="val 6667"/>
            </a:avLst>
          </a:prstGeom>
          <a:solidFill>
            <a:srgbClr val="F4F7F4"/>
          </a:solidFill>
          <a:ln/>
          <a:effectLst>
            <a:outerShdw sx="100000" sy="100000" kx="0" ky="0" algn="bl" rotWithShape="0" blurRad="101600" dist="12700" dir="5400000">
              <a:srgbClr val="000000">
                <a:alpha val="7000"/>
              </a:srgbClr>
            </a:outerShdw>
          </a:effectLst>
        </p:spPr>
      </p:sp>
      <p:sp>
        <p:nvSpPr>
          <p:cNvPr id="14" name="Text 12"/>
          <p:cNvSpPr txBox="1"/>
          <p:nvPr/>
        </p:nvSpPr>
        <p:spPr>
          <a:xfrm>
            <a:off x="804672" y="4352544"/>
            <a:ext cx="10552176" cy="457200"/>
          </a:xfrm>
          <a:prstGeom prst="rect">
            <a:avLst/>
          </a:prstGeom>
          <a:noFill/>
          <a:ln/>
        </p:spPr>
        <p:txBody>
          <a:bodyPr wrap="square" lIns="0" tIns="0" rIns="0" bIns="0" rtlCol="0" anchor="t"/>
          <a:lstStyle/>
          <a:p>
            <a:pPr indent="0" marL="0">
              <a:lnSpc>
                <a:spcPts val="1783"/>
              </a:lnSpc>
              <a:buNone/>
            </a:pPr>
            <a:r>
              <a:rPr lang="en-US" sz="1550" b="1" dirty="0">
                <a:solidFill>
                  <a:srgbClr val="16211C"/>
                </a:solidFill>
                <a:latin typeface="Cambria" pitchFamily="34" charset="0"/>
                <a:ea typeface="Cambria" pitchFamily="34" charset="-122"/>
                <a:cs typeface="Cambria" pitchFamily="34" charset="-120"/>
              </a:rPr>
              <a:t>But only about two thirds of that fall is leakage</a:t>
            </a:r>
            <a:endParaRPr lang="en-US" sz="1550" dirty="0"/>
          </a:p>
        </p:txBody>
      </p:sp>
      <p:sp>
        <p:nvSpPr>
          <p:cNvPr id="15" name="Text 13"/>
          <p:cNvSpPr txBox="1"/>
          <p:nvPr/>
        </p:nvSpPr>
        <p:spPr>
          <a:xfrm>
            <a:off x="804672" y="4809744"/>
            <a:ext cx="10552176" cy="493776"/>
          </a:xfrm>
          <a:prstGeom prst="rect">
            <a:avLst/>
          </a:prstGeom>
          <a:noFill/>
          <a:ln/>
        </p:spPr>
        <p:txBody>
          <a:bodyPr wrap="square" lIns="0" tIns="0" rIns="0" bIns="0" rtlCol="0" anchor="t"/>
          <a:lstStyle/>
          <a:p>
            <a:pPr indent="0" marL="0">
              <a:lnSpc>
                <a:spcPts val="1890"/>
              </a:lnSpc>
              <a:buNone/>
            </a:pPr>
            <a:r>
              <a:rPr lang="en-US" sz="1400" dirty="0">
                <a:solidFill>
                  <a:srgbClr val="5A6B62"/>
                </a:solidFill>
                <a:latin typeface="Calibri" pitchFamily="34" charset="0"/>
                <a:ea typeface="Calibri" pitchFamily="34" charset="-122"/>
                <a:cs typeface="Calibri" pitchFamily="34" charset="-120"/>
              </a:rPr>
              <a:t>A model that never trains cannot leak. Scoring a zero-shot model on the identical test sets measures what changing the test set does on its own: it drops 0.183. Overstating leakage would have been the comfortable error.</a:t>
            </a:r>
            <a:endParaRPr lang="en-US" sz="1400" dirty="0"/>
          </a:p>
        </p:txBody>
      </p:sp>
      <p:sp>
        <p:nvSpPr>
          <p:cNvPr id="16" name="Text 14"/>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gap — leakage</a:t>
            </a:r>
            <a:endParaRPr lang="en-US" sz="1050" dirty="0"/>
          </a:p>
        </p:txBody>
      </p:sp>
      <p:sp>
        <p:nvSpPr>
          <p:cNvPr id="17" name="Text 15"/>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1721"/>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F2A33C"/>
                </a:solidFill>
                <a:latin typeface="Calibri" pitchFamily="34" charset="0"/>
                <a:ea typeface="Calibri" pitchFamily="34" charset="-122"/>
                <a:cs typeface="Calibri" pitchFamily="34" charset="-120"/>
              </a:rPr>
              <a:t>THE GAP — THE REAL ONE</a:t>
            </a:r>
            <a:endParaRPr lang="en-US" sz="1200" dirty="0"/>
          </a:p>
        </p:txBody>
      </p:sp>
      <p:sp>
        <p:nvSpPr>
          <p:cNvPr id="3" name="Text 1"/>
          <p:cNvSpPr txBox="1"/>
          <p:nvPr/>
        </p:nvSpPr>
        <p:spPr>
          <a:xfrm>
            <a:off x="566928" y="1280160"/>
            <a:ext cx="10515600" cy="1188720"/>
          </a:xfrm>
          <a:prstGeom prst="rect">
            <a:avLst/>
          </a:prstGeom>
          <a:noFill/>
          <a:ln/>
        </p:spPr>
        <p:txBody>
          <a:bodyPr wrap="square" lIns="0" tIns="0" rIns="0" bIns="0" rtlCol="0" anchor="t"/>
          <a:lstStyle/>
          <a:p>
            <a:pPr indent="0" marL="0">
              <a:lnSpc>
                <a:spcPts val="4480"/>
              </a:lnSpc>
              <a:buNone/>
            </a:pPr>
            <a:r>
              <a:rPr lang="en-US" sz="4000" b="1" dirty="0">
                <a:solidFill>
                  <a:srgbClr val="FFFFFF"/>
                </a:solidFill>
                <a:latin typeface="Cambria" pitchFamily="34" charset="0"/>
                <a:ea typeface="Cambria" pitchFamily="34" charset="-122"/>
                <a:cs typeface="Cambria" pitchFamily="34" charset="-120"/>
              </a:rPr>
              <a:t>In this data, the time of day is the answer</a:t>
            </a:r>
            <a:endParaRPr lang="en-US" sz="4000" dirty="0"/>
          </a:p>
        </p:txBody>
      </p:sp>
      <p:sp>
        <p:nvSpPr>
          <p:cNvPr id="4" name="Shape 2"/>
          <p:cNvSpPr/>
          <p:nvPr/>
        </p:nvSpPr>
        <p:spPr>
          <a:xfrm>
            <a:off x="566928" y="2651760"/>
            <a:ext cx="3517392" cy="1783080"/>
          </a:xfrm>
          <a:prstGeom prst="roundRect">
            <a:avLst>
              <a:gd name="adj" fmla="val 5128"/>
            </a:avLst>
          </a:prstGeom>
          <a:solidFill>
            <a:srgbClr val="5F2029"/>
          </a:solidFill>
          <a:ln/>
        </p:spPr>
      </p:sp>
      <p:sp>
        <p:nvSpPr>
          <p:cNvPr id="5" name="Text 3"/>
          <p:cNvSpPr txBox="1"/>
          <p:nvPr/>
        </p:nvSpPr>
        <p:spPr>
          <a:xfrm>
            <a:off x="804672" y="2852928"/>
            <a:ext cx="3041904" cy="731520"/>
          </a:xfrm>
          <a:prstGeom prst="rect">
            <a:avLst/>
          </a:prstGeom>
          <a:noFill/>
          <a:ln/>
        </p:spPr>
        <p:txBody>
          <a:bodyPr wrap="square" lIns="0" tIns="0" rIns="0" bIns="0" rtlCol="0" anchor="ctr"/>
          <a:lstStyle/>
          <a:p>
            <a:pPr indent="0" marL="0">
              <a:buNone/>
            </a:pPr>
            <a:r>
              <a:rPr lang="en-US" sz="4200" b="1" dirty="0">
                <a:solidFill>
                  <a:srgbClr val="F2A33C"/>
                </a:solidFill>
                <a:latin typeface="Cambria" pitchFamily="34" charset="0"/>
                <a:ea typeface="Cambria" pitchFamily="34" charset="-122"/>
                <a:cs typeface="Cambria" pitchFamily="34" charset="-120"/>
              </a:rPr>
              <a:t>98%</a:t>
            </a:r>
            <a:endParaRPr lang="en-US" sz="4200" dirty="0"/>
          </a:p>
        </p:txBody>
      </p:sp>
      <p:sp>
        <p:nvSpPr>
          <p:cNvPr id="6" name="Text 4"/>
          <p:cNvSpPr txBox="1"/>
          <p:nvPr/>
        </p:nvSpPr>
        <p:spPr>
          <a:xfrm>
            <a:off x="804672" y="3621024"/>
            <a:ext cx="3041904" cy="640080"/>
          </a:xfrm>
          <a:prstGeom prst="rect">
            <a:avLst/>
          </a:prstGeom>
          <a:noFill/>
          <a:ln/>
        </p:spPr>
        <p:txBody>
          <a:bodyPr wrap="square" lIns="0" tIns="0" rIns="0" bIns="0" rtlCol="0" anchor="t"/>
          <a:lstStyle/>
          <a:p>
            <a:pPr indent="0" marL="0">
              <a:lnSpc>
                <a:spcPts val="1700"/>
              </a:lnSpc>
              <a:buNone/>
            </a:pPr>
            <a:r>
              <a:rPr lang="en-US" sz="1350" dirty="0">
                <a:solidFill>
                  <a:srgbClr val="F2D6DA"/>
                </a:solidFill>
                <a:latin typeface="Calibri" pitchFamily="34" charset="0"/>
                <a:ea typeface="Calibri" pitchFamily="34" charset="-122"/>
                <a:cs typeface="Calibri" pitchFamily="34" charset="-120"/>
              </a:rPr>
              <a:t>of daylight frames are an empty pitch</a:t>
            </a:r>
            <a:endParaRPr lang="en-US" sz="1350" dirty="0"/>
          </a:p>
        </p:txBody>
      </p:sp>
      <p:sp>
        <p:nvSpPr>
          <p:cNvPr id="7" name="Shape 5"/>
          <p:cNvSpPr/>
          <p:nvPr/>
        </p:nvSpPr>
        <p:spPr>
          <a:xfrm>
            <a:off x="4322064" y="2651760"/>
            <a:ext cx="3517392" cy="1783080"/>
          </a:xfrm>
          <a:prstGeom prst="roundRect">
            <a:avLst>
              <a:gd name="adj" fmla="val 5128"/>
            </a:avLst>
          </a:prstGeom>
          <a:solidFill>
            <a:srgbClr val="5F2029"/>
          </a:solidFill>
          <a:ln/>
        </p:spPr>
      </p:sp>
      <p:sp>
        <p:nvSpPr>
          <p:cNvPr id="8" name="Text 6"/>
          <p:cNvSpPr txBox="1"/>
          <p:nvPr/>
        </p:nvSpPr>
        <p:spPr>
          <a:xfrm>
            <a:off x="4559808" y="2852928"/>
            <a:ext cx="3041904" cy="731520"/>
          </a:xfrm>
          <a:prstGeom prst="rect">
            <a:avLst/>
          </a:prstGeom>
          <a:noFill/>
          <a:ln/>
        </p:spPr>
        <p:txBody>
          <a:bodyPr wrap="square" lIns="0" tIns="0" rIns="0" bIns="0" rtlCol="0" anchor="ctr"/>
          <a:lstStyle/>
          <a:p>
            <a:pPr indent="0" marL="0">
              <a:buNone/>
            </a:pPr>
            <a:r>
              <a:rPr lang="en-US" sz="4200" b="1" dirty="0">
                <a:solidFill>
                  <a:srgbClr val="F2A33C"/>
                </a:solidFill>
                <a:latin typeface="Cambria" pitchFamily="34" charset="0"/>
                <a:ea typeface="Cambria" pitchFamily="34" charset="-122"/>
                <a:cs typeface="Cambria" pitchFamily="34" charset="-120"/>
              </a:rPr>
              <a:t>99%</a:t>
            </a:r>
            <a:endParaRPr lang="en-US" sz="4200" dirty="0"/>
          </a:p>
        </p:txBody>
      </p:sp>
      <p:sp>
        <p:nvSpPr>
          <p:cNvPr id="9" name="Text 7"/>
          <p:cNvSpPr txBox="1"/>
          <p:nvPr/>
        </p:nvSpPr>
        <p:spPr>
          <a:xfrm>
            <a:off x="4559808" y="3621024"/>
            <a:ext cx="3041904" cy="640080"/>
          </a:xfrm>
          <a:prstGeom prst="rect">
            <a:avLst/>
          </a:prstGeom>
          <a:noFill/>
          <a:ln/>
        </p:spPr>
        <p:txBody>
          <a:bodyPr wrap="square" lIns="0" tIns="0" rIns="0" bIns="0" rtlCol="0" anchor="t"/>
          <a:lstStyle/>
          <a:p>
            <a:pPr indent="0" marL="0">
              <a:lnSpc>
                <a:spcPts val="1700"/>
              </a:lnSpc>
              <a:buNone/>
            </a:pPr>
            <a:r>
              <a:rPr lang="en-US" sz="1350" dirty="0">
                <a:solidFill>
                  <a:srgbClr val="F2D6DA"/>
                </a:solidFill>
                <a:latin typeface="Calibri" pitchFamily="34" charset="0"/>
                <a:ea typeface="Calibri" pitchFamily="34" charset="-122"/>
                <a:cs typeface="Calibri" pitchFamily="34" charset="-120"/>
              </a:rPr>
              <a:t>of night frames are a match in progress</a:t>
            </a:r>
            <a:endParaRPr lang="en-US" sz="1350" dirty="0"/>
          </a:p>
        </p:txBody>
      </p:sp>
      <p:sp>
        <p:nvSpPr>
          <p:cNvPr id="10" name="Shape 8"/>
          <p:cNvSpPr/>
          <p:nvPr/>
        </p:nvSpPr>
        <p:spPr>
          <a:xfrm>
            <a:off x="8077200" y="2651760"/>
            <a:ext cx="3517392" cy="1783080"/>
          </a:xfrm>
          <a:prstGeom prst="roundRect">
            <a:avLst>
              <a:gd name="adj" fmla="val 5128"/>
            </a:avLst>
          </a:prstGeom>
          <a:solidFill>
            <a:srgbClr val="5F2029"/>
          </a:solidFill>
          <a:ln/>
        </p:spPr>
      </p:sp>
      <p:sp>
        <p:nvSpPr>
          <p:cNvPr id="11" name="Text 9"/>
          <p:cNvSpPr txBox="1"/>
          <p:nvPr/>
        </p:nvSpPr>
        <p:spPr>
          <a:xfrm>
            <a:off x="8314944" y="2852928"/>
            <a:ext cx="3041904" cy="731520"/>
          </a:xfrm>
          <a:prstGeom prst="rect">
            <a:avLst/>
          </a:prstGeom>
          <a:noFill/>
          <a:ln/>
        </p:spPr>
        <p:txBody>
          <a:bodyPr wrap="square" lIns="0" tIns="0" rIns="0" bIns="0" rtlCol="0" anchor="ctr"/>
          <a:lstStyle/>
          <a:p>
            <a:pPr indent="0" marL="0">
              <a:buNone/>
            </a:pPr>
            <a:r>
              <a:rPr lang="en-US" sz="4200" b="1" dirty="0">
                <a:solidFill>
                  <a:srgbClr val="F2A33C"/>
                </a:solidFill>
                <a:latin typeface="Cambria" pitchFamily="34" charset="0"/>
                <a:ea typeface="Cambria" pitchFamily="34" charset="-122"/>
                <a:cs typeface="Cambria" pitchFamily="34" charset="-120"/>
              </a:rPr>
              <a:t>99.1%</a:t>
            </a:r>
            <a:endParaRPr lang="en-US" sz="4200" dirty="0"/>
          </a:p>
        </p:txBody>
      </p:sp>
      <p:sp>
        <p:nvSpPr>
          <p:cNvPr id="12" name="Text 10"/>
          <p:cNvSpPr txBox="1"/>
          <p:nvPr/>
        </p:nvSpPr>
        <p:spPr>
          <a:xfrm>
            <a:off x="8314944" y="3621024"/>
            <a:ext cx="3041904" cy="640080"/>
          </a:xfrm>
          <a:prstGeom prst="rect">
            <a:avLst/>
          </a:prstGeom>
          <a:noFill/>
          <a:ln/>
        </p:spPr>
        <p:txBody>
          <a:bodyPr wrap="square" lIns="0" tIns="0" rIns="0" bIns="0" rtlCol="0" anchor="t"/>
          <a:lstStyle/>
          <a:p>
            <a:pPr indent="0" marL="0">
              <a:lnSpc>
                <a:spcPts val="1700"/>
              </a:lnSpc>
              <a:buNone/>
            </a:pPr>
            <a:r>
              <a:rPr lang="en-US" sz="1350" dirty="0">
                <a:solidFill>
                  <a:srgbClr val="F2D6DA"/>
                </a:solidFill>
                <a:latin typeface="Calibri" pitchFamily="34" charset="0"/>
                <a:ea typeface="Calibri" pitchFamily="34" charset="-122"/>
                <a:cs typeface="Calibri" pitchFamily="34" charset="-120"/>
              </a:rPr>
              <a:t>so “night means play” is right on the whole corpus</a:t>
            </a:r>
            <a:endParaRPr lang="en-US" sz="1350" dirty="0"/>
          </a:p>
        </p:txBody>
      </p:sp>
      <p:sp>
        <p:nvSpPr>
          <p:cNvPr id="13" name="Text 11"/>
          <p:cNvSpPr txBox="1"/>
          <p:nvPr/>
        </p:nvSpPr>
        <p:spPr>
          <a:xfrm>
            <a:off x="566928" y="4754880"/>
            <a:ext cx="11027664" cy="457200"/>
          </a:xfrm>
          <a:prstGeom prst="rect">
            <a:avLst/>
          </a:prstGeom>
          <a:noFill/>
          <a:ln/>
        </p:spPr>
        <p:txBody>
          <a:bodyPr wrap="square" lIns="0" tIns="0" rIns="0" bIns="0" rtlCol="0" anchor="ctr"/>
          <a:lstStyle/>
          <a:p>
            <a:pPr indent="0" marL="0">
              <a:buNone/>
            </a:pPr>
            <a:r>
              <a:rPr lang="en-US" sz="1600" dirty="0">
                <a:solidFill>
                  <a:srgbClr val="F2D6DA"/>
                </a:solidFill>
                <a:latin typeface="Calibri" pitchFamily="34" charset="0"/>
                <a:ea typeface="Calibri" pitchFamily="34" charset="-122"/>
                <a:cs typeface="Calibri" pitchFamily="34" charset="-120"/>
              </a:rPr>
              <a:t>The two cells that would break the tie hold  </a:t>
            </a:r>
            <a:pPr indent="0" marL="0">
              <a:buNone/>
            </a:pPr>
            <a:r>
              <a:rPr lang="en-US" sz="1800" b="1" dirty="0">
                <a:solidFill>
                  <a:srgbClr val="FFFFFF"/>
                </a:solidFill>
                <a:latin typeface="Cambria" pitchFamily="34" charset="0"/>
                <a:ea typeface="Cambria" pitchFamily="34" charset="-122"/>
                <a:cs typeface="Cambria" pitchFamily="34" charset="-120"/>
              </a:rPr>
              <a:t>9 frames</a:t>
            </a:r>
            <a:pPr indent="0" marL="0">
              <a:buNone/>
            </a:pPr>
            <a:r>
              <a:rPr lang="en-US" sz="1600" dirty="0">
                <a:solidFill>
                  <a:srgbClr val="F2D6DA"/>
                </a:solidFill>
                <a:latin typeface="Calibri" pitchFamily="34" charset="0"/>
                <a:ea typeface="Calibri" pitchFamily="34" charset="-122"/>
                <a:cs typeface="Calibri" pitchFamily="34" charset="-120"/>
              </a:rPr>
              <a:t>  (empty at night) and  </a:t>
            </a:r>
            <a:pPr indent="0" marL="0">
              <a:buNone/>
            </a:pPr>
            <a:r>
              <a:rPr lang="en-US" sz="1800" b="1" dirty="0">
                <a:solidFill>
                  <a:srgbClr val="FFFFFF"/>
                </a:solidFill>
                <a:latin typeface="Cambria" pitchFamily="34" charset="0"/>
                <a:ea typeface="Cambria" pitchFamily="34" charset="-122"/>
                <a:cs typeface="Cambria" pitchFamily="34" charset="-120"/>
              </a:rPr>
              <a:t>6</a:t>
            </a:r>
            <a:pPr indent="0" marL="0">
              <a:buNone/>
            </a:pPr>
            <a:r>
              <a:rPr lang="en-US" sz="1600" dirty="0">
                <a:solidFill>
                  <a:srgbClr val="F2D6DA"/>
                </a:solidFill>
                <a:latin typeface="Calibri" pitchFamily="34" charset="0"/>
                <a:ea typeface="Calibri" pitchFamily="34" charset="-122"/>
                <a:cs typeface="Calibri" pitchFamily="34" charset="-120"/>
              </a:rPr>
              <a:t>  (play in daylight).</a:t>
            </a:r>
            <a:endParaRPr lang="en-US" sz="1600" dirty="0"/>
          </a:p>
        </p:txBody>
      </p:sp>
      <p:sp>
        <p:nvSpPr>
          <p:cNvPr id="14" name="Text 12"/>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The gap — the confound</a:t>
            </a:r>
            <a:endParaRPr lang="en-US" sz="1050" dirty="0"/>
          </a:p>
        </p:txBody>
      </p:sp>
      <p:sp>
        <p:nvSpPr>
          <p:cNvPr id="15" name="Text 13"/>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A rule that never looks at the image wins</a:t>
            </a:r>
            <a:endParaRPr lang="en-US" sz="3800" dirty="0"/>
          </a:p>
        </p:txBody>
      </p:sp>
      <p:sp>
        <p:nvSpPr>
          <p:cNvPr id="4" name="Text 2"/>
          <p:cNvSpPr txBox="1"/>
          <p:nvPr/>
        </p:nvSpPr>
        <p:spPr>
          <a:xfrm>
            <a:off x="566928" y="1664208"/>
            <a:ext cx="10424160" cy="64008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Tested across venues the models had never seen. Lower is better — this is how often each one calls an empty pitch a match.</a:t>
            </a:r>
            <a:endParaRPr lang="en-US" sz="1700" dirty="0"/>
          </a:p>
        </p:txBody>
      </p:sp>
      <p:graphicFrame>
        <p:nvGraphicFramePr>
          <p:cNvPr id="5" name="Chart 0" descr=""/>
          <p:cNvGraphicFramePr/>
          <p:nvPr/>
        </p:nvGraphicFramePr>
        <p:xfrm>
          <a:off x="566928" y="2514600"/>
          <a:ext cx="7040880"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82128" y="2514600"/>
            <a:ext cx="3712464" cy="1444752"/>
          </a:xfrm>
          <a:prstGeom prst="roundRect">
            <a:avLst>
              <a:gd name="adj" fmla="val 6329"/>
            </a:avLst>
          </a:prstGeom>
          <a:solidFill>
            <a:srgbClr val="E6F3EC"/>
          </a:solidFill>
          <a:ln/>
          <a:effectLst>
            <a:outerShdw sx="100000" sy="100000" kx="0" ky="0" algn="bl" rotWithShape="0" blurRad="101600" dist="12700" dir="5400000">
              <a:srgbClr val="000000">
                <a:alpha val="7000"/>
              </a:srgbClr>
            </a:outerShdw>
          </a:effectLst>
        </p:spPr>
      </p:sp>
      <p:sp>
        <p:nvSpPr>
          <p:cNvPr id="7" name="Text 4"/>
          <p:cNvSpPr txBox="1"/>
          <p:nvPr/>
        </p:nvSpPr>
        <p:spPr>
          <a:xfrm>
            <a:off x="8119872" y="2752344"/>
            <a:ext cx="323697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And it wins on recall too</a:t>
            </a:r>
            <a:endParaRPr lang="en-US" sz="1500" dirty="0"/>
          </a:p>
        </p:txBody>
      </p:sp>
      <p:sp>
        <p:nvSpPr>
          <p:cNvPr id="8" name="Text 5"/>
          <p:cNvSpPr txBox="1"/>
          <p:nvPr/>
        </p:nvSpPr>
        <p:spPr>
          <a:xfrm>
            <a:off x="8119872" y="3209544"/>
            <a:ext cx="3236976" cy="56692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Perfect 1.000 play-recall across unseen venues — above all three backbones.</a:t>
            </a:r>
            <a:endParaRPr lang="en-US" sz="1350" dirty="0"/>
          </a:p>
        </p:txBody>
      </p:sp>
      <p:sp>
        <p:nvSpPr>
          <p:cNvPr id="9" name="Shape 6"/>
          <p:cNvSpPr/>
          <p:nvPr/>
        </p:nvSpPr>
        <p:spPr>
          <a:xfrm>
            <a:off x="7882128" y="4133088"/>
            <a:ext cx="3712464" cy="1444752"/>
          </a:xfrm>
          <a:prstGeom prst="roundRect">
            <a:avLst>
              <a:gd name="adj" fmla="val 6329"/>
            </a:avLst>
          </a:prstGeom>
          <a:solidFill>
            <a:srgbClr val="FAE3E7"/>
          </a:solidFill>
          <a:ln/>
          <a:effectLst>
            <a:outerShdw sx="100000" sy="100000" kx="0" ky="0" algn="bl" rotWithShape="0" blurRad="101600" dist="12700" dir="5400000">
              <a:srgbClr val="000000">
                <a:alpha val="7000"/>
              </a:srgbClr>
            </a:outerShdw>
          </a:effectLst>
        </p:spPr>
      </p:sp>
      <p:sp>
        <p:nvSpPr>
          <p:cNvPr id="10" name="Text 7"/>
          <p:cNvSpPr txBox="1"/>
          <p:nvPr/>
        </p:nvSpPr>
        <p:spPr>
          <a:xfrm>
            <a:off x="8119872" y="4370832"/>
            <a:ext cx="323697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So are the models worthless?</a:t>
            </a:r>
            <a:endParaRPr lang="en-US" sz="1500" dirty="0"/>
          </a:p>
        </p:txBody>
      </p:sp>
      <p:sp>
        <p:nvSpPr>
          <p:cNvPr id="11" name="Text 8"/>
          <p:cNvSpPr txBox="1"/>
          <p:nvPr/>
        </p:nvSpPr>
        <p:spPr>
          <a:xfrm>
            <a:off x="8119872" y="4828032"/>
            <a:ext cx="3236976" cy="56692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No. They are indistinguishable from a light meter on this dataset — which is a statement about the dataset.</a:t>
            </a:r>
            <a:endParaRPr lang="en-US" sz="1350" dirty="0"/>
          </a:p>
        </p:txBody>
      </p:sp>
      <p:sp>
        <p:nvSpPr>
          <p:cNvPr id="12" name="Text 9"/>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Evidence — the clock rule</a:t>
            </a:r>
            <a:endParaRPr lang="en-US" sz="1050" dirty="0"/>
          </a:p>
        </p:txBody>
      </p:sp>
      <p:sp>
        <p:nvSpPr>
          <p:cNvPr id="13" name="Text 10"/>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EVIDENCE — THE REVERSAL</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Then one clip reversed the ranking</a:t>
            </a:r>
            <a:endParaRPr lang="en-US" sz="3800" dirty="0"/>
          </a:p>
        </p:txBody>
      </p:sp>
      <p:sp>
        <p:nvSpPr>
          <p:cNvPr id="4" name="Text 2"/>
          <p:cNvSpPr txBox="1"/>
          <p:nvPr/>
        </p:nvSpPr>
        <p:spPr>
          <a:xfrm>
            <a:off x="566928" y="1664208"/>
            <a:ext cx="9692640" cy="54864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234 seconds of a floodlit pitch at night with nobody playing — the case the corpus does not contain.</a:t>
            </a:r>
            <a:endParaRPr lang="en-US" sz="1700" dirty="0"/>
          </a:p>
        </p:txBody>
      </p:sp>
      <p:sp>
        <p:nvSpPr>
          <p:cNvPr id="5" name="Shape 3"/>
          <p:cNvSpPr/>
          <p:nvPr/>
        </p:nvSpPr>
        <p:spPr>
          <a:xfrm>
            <a:off x="566928" y="2514600"/>
            <a:ext cx="3517392" cy="2011680"/>
          </a:xfrm>
          <a:prstGeom prst="roundRect">
            <a:avLst>
              <a:gd name="adj" fmla="val 4545"/>
            </a:avLst>
          </a:prstGeom>
          <a:solidFill>
            <a:srgbClr val="FAE3E7"/>
          </a:solidFill>
          <a:ln/>
          <a:effectLst>
            <a:outerShdw sx="100000" sy="100000" kx="0" ky="0" algn="bl" rotWithShape="0" blurRad="101600" dist="12700" dir="5400000">
              <a:srgbClr val="000000">
                <a:alpha val="7000"/>
              </a:srgbClr>
            </a:outerShdw>
          </a:effectLst>
        </p:spPr>
      </p:sp>
      <p:sp>
        <p:nvSpPr>
          <p:cNvPr id="6" name="Text 4"/>
          <p:cNvSpPr txBox="1"/>
          <p:nvPr/>
        </p:nvSpPr>
        <p:spPr>
          <a:xfrm>
            <a:off x="804672" y="2715768"/>
            <a:ext cx="3041904" cy="329184"/>
          </a:xfrm>
          <a:prstGeom prst="rect">
            <a:avLst/>
          </a:prstGeom>
          <a:noFill/>
          <a:ln/>
        </p:spPr>
        <p:txBody>
          <a:bodyPr wrap="square" lIns="0" tIns="0" rIns="0" bIns="0" rtlCol="0" anchor="ctr"/>
          <a:lstStyle/>
          <a:p>
            <a:pPr indent="0" marL="0">
              <a:buNone/>
            </a:pPr>
            <a:r>
              <a:rPr lang="en-US" sz="1600" b="1" dirty="0">
                <a:solidFill>
                  <a:srgbClr val="16211C"/>
                </a:solidFill>
                <a:latin typeface="Cambria" pitchFamily="34" charset="0"/>
                <a:ea typeface="Cambria" pitchFamily="34" charset="-122"/>
                <a:cs typeface="Cambria" pitchFamily="34" charset="-120"/>
              </a:rPr>
              <a:t>Clock rule</a:t>
            </a:r>
            <a:endParaRPr lang="en-US" sz="1600" dirty="0"/>
          </a:p>
        </p:txBody>
      </p:sp>
      <p:sp>
        <p:nvSpPr>
          <p:cNvPr id="7" name="Text 5"/>
          <p:cNvSpPr txBox="1"/>
          <p:nvPr/>
        </p:nvSpPr>
        <p:spPr>
          <a:xfrm>
            <a:off x="804672" y="3072384"/>
            <a:ext cx="3041904" cy="713232"/>
          </a:xfrm>
          <a:prstGeom prst="rect">
            <a:avLst/>
          </a:prstGeom>
          <a:noFill/>
          <a:ln/>
        </p:spPr>
        <p:txBody>
          <a:bodyPr wrap="square" lIns="0" tIns="0" rIns="0" bIns="0" rtlCol="0" anchor="ctr"/>
          <a:lstStyle/>
          <a:p>
            <a:pPr indent="0" marL="0">
              <a:buNone/>
            </a:pPr>
            <a:r>
              <a:rPr lang="en-US" sz="3800" b="1" dirty="0">
                <a:solidFill>
                  <a:srgbClr val="D6455B"/>
                </a:solidFill>
                <a:latin typeface="Cambria" pitchFamily="34" charset="0"/>
                <a:ea typeface="Cambria" pitchFamily="34" charset="-122"/>
                <a:cs typeface="Cambria" pitchFamily="34" charset="-120"/>
              </a:rPr>
              <a:t>16 / 16</a:t>
            </a:r>
            <a:endParaRPr lang="en-US" sz="3800" dirty="0"/>
          </a:p>
        </p:txBody>
      </p:sp>
      <p:sp>
        <p:nvSpPr>
          <p:cNvPr id="8" name="Text 6"/>
          <p:cNvSpPr txBox="1"/>
          <p:nvPr/>
        </p:nvSpPr>
        <p:spPr>
          <a:xfrm>
            <a:off x="804672" y="3822192"/>
            <a:ext cx="3041904" cy="548640"/>
          </a:xfrm>
          <a:prstGeom prst="rect">
            <a:avLst/>
          </a:prstGeom>
          <a:noFill/>
          <a:ln/>
        </p:spPr>
        <p:txBody>
          <a:bodyPr wrap="square" lIns="0" tIns="0" rIns="0" bIns="0" rtlCol="0" anchor="t"/>
          <a:lstStyle/>
          <a:p>
            <a:pPr indent="0" marL="0">
              <a:lnSpc>
                <a:spcPts val="1700"/>
              </a:lnSpc>
              <a:buNone/>
            </a:pPr>
            <a:r>
              <a:rPr lang="en-US" sz="1300" dirty="0">
                <a:solidFill>
                  <a:srgbClr val="5A6B62"/>
                </a:solidFill>
                <a:latin typeface="Calibri" pitchFamily="34" charset="0"/>
                <a:ea typeface="Calibri" pitchFamily="34" charset="-122"/>
                <a:cs typeface="Calibri" pitchFamily="34" charset="-120"/>
              </a:rPr>
              <a:t>minutes wrong. False alarms: 1.00.</a:t>
            </a:r>
            <a:endParaRPr lang="en-US" sz="1300" dirty="0"/>
          </a:p>
        </p:txBody>
      </p:sp>
      <p:sp>
        <p:nvSpPr>
          <p:cNvPr id="9" name="Shape 7"/>
          <p:cNvSpPr/>
          <p:nvPr/>
        </p:nvSpPr>
        <p:spPr>
          <a:xfrm>
            <a:off x="4322064" y="2514600"/>
            <a:ext cx="3517392" cy="2011680"/>
          </a:xfrm>
          <a:prstGeom prst="roundRect">
            <a:avLst>
              <a:gd name="adj" fmla="val 4545"/>
            </a:avLst>
          </a:prstGeom>
          <a:solidFill>
            <a:srgbClr val="FCEFDA"/>
          </a:solidFill>
          <a:ln/>
          <a:effectLst>
            <a:outerShdw sx="100000" sy="100000" kx="0" ky="0" algn="bl" rotWithShape="0" blurRad="101600" dist="12700" dir="5400000">
              <a:srgbClr val="000000">
                <a:alpha val="7000"/>
              </a:srgbClr>
            </a:outerShdw>
          </a:effectLst>
        </p:spPr>
      </p:sp>
      <p:sp>
        <p:nvSpPr>
          <p:cNvPr id="10" name="Text 8"/>
          <p:cNvSpPr txBox="1"/>
          <p:nvPr/>
        </p:nvSpPr>
        <p:spPr>
          <a:xfrm>
            <a:off x="4559808" y="2715768"/>
            <a:ext cx="3041904" cy="329184"/>
          </a:xfrm>
          <a:prstGeom prst="rect">
            <a:avLst/>
          </a:prstGeom>
          <a:noFill/>
          <a:ln/>
        </p:spPr>
        <p:txBody>
          <a:bodyPr wrap="square" lIns="0" tIns="0" rIns="0" bIns="0" rtlCol="0" anchor="ctr"/>
          <a:lstStyle/>
          <a:p>
            <a:pPr indent="0" marL="0">
              <a:buNone/>
            </a:pPr>
            <a:r>
              <a:rPr lang="en-US" sz="1600" b="1" dirty="0">
                <a:solidFill>
                  <a:srgbClr val="16211C"/>
                </a:solidFill>
                <a:latin typeface="Cambria" pitchFamily="34" charset="0"/>
                <a:ea typeface="Cambria" pitchFamily="34" charset="-122"/>
                <a:cs typeface="Cambria" pitchFamily="34" charset="-120"/>
              </a:rPr>
              <a:t>Model alone</a:t>
            </a:r>
            <a:endParaRPr lang="en-US" sz="1600" dirty="0"/>
          </a:p>
        </p:txBody>
      </p:sp>
      <p:sp>
        <p:nvSpPr>
          <p:cNvPr id="11" name="Text 9"/>
          <p:cNvSpPr txBox="1"/>
          <p:nvPr/>
        </p:nvSpPr>
        <p:spPr>
          <a:xfrm>
            <a:off x="4559808" y="3072384"/>
            <a:ext cx="3041904" cy="713232"/>
          </a:xfrm>
          <a:prstGeom prst="rect">
            <a:avLst/>
          </a:prstGeom>
          <a:noFill/>
          <a:ln/>
        </p:spPr>
        <p:txBody>
          <a:bodyPr wrap="square" lIns="0" tIns="0" rIns="0" bIns="0" rtlCol="0" anchor="ctr"/>
          <a:lstStyle/>
          <a:p>
            <a:pPr indent="0" marL="0">
              <a:buNone/>
            </a:pPr>
            <a:r>
              <a:rPr lang="en-US" sz="3800" b="1" dirty="0">
                <a:solidFill>
                  <a:srgbClr val="B26A00"/>
                </a:solidFill>
                <a:latin typeface="Cambria" pitchFamily="34" charset="0"/>
                <a:ea typeface="Cambria" pitchFamily="34" charset="-122"/>
                <a:cs typeface="Cambria" pitchFamily="34" charset="-120"/>
              </a:rPr>
              <a:t>0.38</a:t>
            </a:r>
            <a:endParaRPr lang="en-US" sz="3800" dirty="0"/>
          </a:p>
        </p:txBody>
      </p:sp>
      <p:sp>
        <p:nvSpPr>
          <p:cNvPr id="12" name="Text 10"/>
          <p:cNvSpPr txBox="1"/>
          <p:nvPr/>
        </p:nvSpPr>
        <p:spPr>
          <a:xfrm>
            <a:off x="4559808" y="3822192"/>
            <a:ext cx="3041904" cy="548640"/>
          </a:xfrm>
          <a:prstGeom prst="rect">
            <a:avLst/>
          </a:prstGeom>
          <a:noFill/>
          <a:ln/>
        </p:spPr>
        <p:txBody>
          <a:bodyPr wrap="square" lIns="0" tIns="0" rIns="0" bIns="0" rtlCol="0" anchor="t"/>
          <a:lstStyle/>
          <a:p>
            <a:pPr indent="0" marL="0">
              <a:lnSpc>
                <a:spcPts val="1700"/>
              </a:lnSpc>
              <a:buNone/>
            </a:pPr>
            <a:r>
              <a:rPr lang="en-US" sz="1300" dirty="0">
                <a:solidFill>
                  <a:srgbClr val="5A6B62"/>
                </a:solidFill>
                <a:latin typeface="Calibri" pitchFamily="34" charset="0"/>
                <a:ea typeface="Calibri" pitchFamily="34" charset="-122"/>
                <a:cs typeface="Calibri" pitchFamily="34" charset="-120"/>
              </a:rPr>
              <a:t>false alarm rate.</a:t>
            </a:r>
            <a:endParaRPr lang="en-US" sz="1300" dirty="0"/>
          </a:p>
        </p:txBody>
      </p:sp>
      <p:sp>
        <p:nvSpPr>
          <p:cNvPr id="13" name="Shape 11"/>
          <p:cNvSpPr/>
          <p:nvPr/>
        </p:nvSpPr>
        <p:spPr>
          <a:xfrm>
            <a:off x="8077200" y="2514600"/>
            <a:ext cx="3517392" cy="2011680"/>
          </a:xfrm>
          <a:prstGeom prst="roundRect">
            <a:avLst>
              <a:gd name="adj" fmla="val 4545"/>
            </a:avLst>
          </a:prstGeom>
          <a:solidFill>
            <a:srgbClr val="E6F3EC"/>
          </a:solidFill>
          <a:ln/>
          <a:effectLst>
            <a:outerShdw sx="100000" sy="100000" kx="0" ky="0" algn="bl" rotWithShape="0" blurRad="101600" dist="12700" dir="5400000">
              <a:srgbClr val="000000">
                <a:alpha val="7000"/>
              </a:srgbClr>
            </a:outerShdw>
          </a:effectLst>
        </p:spPr>
      </p:sp>
      <p:sp>
        <p:nvSpPr>
          <p:cNvPr id="14" name="Text 12"/>
          <p:cNvSpPr txBox="1"/>
          <p:nvPr/>
        </p:nvSpPr>
        <p:spPr>
          <a:xfrm>
            <a:off x="8314944" y="2715768"/>
            <a:ext cx="3041904" cy="329184"/>
          </a:xfrm>
          <a:prstGeom prst="rect">
            <a:avLst/>
          </a:prstGeom>
          <a:noFill/>
          <a:ln/>
        </p:spPr>
        <p:txBody>
          <a:bodyPr wrap="square" lIns="0" tIns="0" rIns="0" bIns="0" rtlCol="0" anchor="ctr"/>
          <a:lstStyle/>
          <a:p>
            <a:pPr indent="0" marL="0">
              <a:buNone/>
            </a:pPr>
            <a:r>
              <a:rPr lang="en-US" sz="1600" b="1" dirty="0">
                <a:solidFill>
                  <a:srgbClr val="16211C"/>
                </a:solidFill>
                <a:latin typeface="Cambria" pitchFamily="34" charset="0"/>
                <a:ea typeface="Cambria" pitchFamily="34" charset="-122"/>
                <a:cs typeface="Cambria" pitchFamily="34" charset="-120"/>
              </a:rPr>
              <a:t>Full system</a:t>
            </a:r>
            <a:endParaRPr lang="en-US" sz="1600" dirty="0"/>
          </a:p>
        </p:txBody>
      </p:sp>
      <p:sp>
        <p:nvSpPr>
          <p:cNvPr id="15" name="Text 13"/>
          <p:cNvSpPr txBox="1"/>
          <p:nvPr/>
        </p:nvSpPr>
        <p:spPr>
          <a:xfrm>
            <a:off x="8314944" y="3072384"/>
            <a:ext cx="3041904" cy="713232"/>
          </a:xfrm>
          <a:prstGeom prst="rect">
            <a:avLst/>
          </a:prstGeom>
          <a:noFill/>
          <a:ln/>
        </p:spPr>
        <p:txBody>
          <a:bodyPr wrap="square" lIns="0" tIns="0" rIns="0" bIns="0" rtlCol="0" anchor="ctr"/>
          <a:lstStyle/>
          <a:p>
            <a:pPr indent="0" marL="0">
              <a:buNone/>
            </a:pPr>
            <a:r>
              <a:rPr lang="en-US" sz="3800" b="1" dirty="0">
                <a:solidFill>
                  <a:srgbClr val="1F7A4C"/>
                </a:solidFill>
                <a:latin typeface="Cambria" pitchFamily="34" charset="0"/>
                <a:ea typeface="Cambria" pitchFamily="34" charset="-122"/>
                <a:cs typeface="Cambria" pitchFamily="34" charset="-120"/>
              </a:rPr>
              <a:t>0.00</a:t>
            </a:r>
            <a:endParaRPr lang="en-US" sz="3800" dirty="0"/>
          </a:p>
        </p:txBody>
      </p:sp>
      <p:sp>
        <p:nvSpPr>
          <p:cNvPr id="16" name="Text 14"/>
          <p:cNvSpPr txBox="1"/>
          <p:nvPr/>
        </p:nvSpPr>
        <p:spPr>
          <a:xfrm>
            <a:off x="8314944" y="3822192"/>
            <a:ext cx="3041904" cy="548640"/>
          </a:xfrm>
          <a:prstGeom prst="rect">
            <a:avLst/>
          </a:prstGeom>
          <a:noFill/>
          <a:ln/>
        </p:spPr>
        <p:txBody>
          <a:bodyPr wrap="square" lIns="0" tIns="0" rIns="0" bIns="0" rtlCol="0" anchor="t"/>
          <a:lstStyle/>
          <a:p>
            <a:pPr indent="0" marL="0">
              <a:lnSpc>
                <a:spcPts val="1700"/>
              </a:lnSpc>
              <a:buNone/>
            </a:pPr>
            <a:r>
              <a:rPr lang="en-US" sz="1300" dirty="0">
                <a:solidFill>
                  <a:srgbClr val="5A6B62"/>
                </a:solidFill>
                <a:latin typeface="Calibri" pitchFamily="34" charset="0"/>
                <a:ea typeface="Calibri" pitchFamily="34" charset="-122"/>
                <a:cs typeface="Calibri" pitchFamily="34" charset="-120"/>
              </a:rPr>
              <a:t>13 of 13 empty minutes right.</a:t>
            </a:r>
            <a:endParaRPr lang="en-US" sz="1300" dirty="0"/>
          </a:p>
        </p:txBody>
      </p:sp>
      <p:sp>
        <p:nvSpPr>
          <p:cNvPr id="17" name="Text 15"/>
          <p:cNvSpPr txBox="1"/>
          <p:nvPr/>
        </p:nvSpPr>
        <p:spPr>
          <a:xfrm>
            <a:off x="566928" y="4846320"/>
            <a:ext cx="11027664" cy="640080"/>
          </a:xfrm>
          <a:prstGeom prst="rect">
            <a:avLst/>
          </a:prstGeom>
          <a:noFill/>
          <a:ln/>
        </p:spPr>
        <p:txBody>
          <a:bodyPr wrap="square" lIns="0" tIns="0" rIns="0" bIns="0" rtlCol="0" anchor="ctr"/>
          <a:lstStyle/>
          <a:p>
            <a:pPr indent="0" marL="0">
              <a:lnSpc>
                <a:spcPts val="2100"/>
              </a:lnSpc>
              <a:buNone/>
            </a:pPr>
            <a:r>
              <a:rPr lang="en-US" sz="1550" dirty="0">
                <a:solidFill>
                  <a:srgbClr val="1F7A4C"/>
                </a:solidFill>
                <a:latin typeface="Calibri" pitchFamily="34" charset="0"/>
                <a:ea typeface="Calibri" pitchFamily="34" charset="-122"/>
                <a:cs typeface="Calibri" pitchFamily="34" charset="-120"/>
              </a:rPr>
              <a:t>A 1,692-frame benchmark ranked the trivial rule first. One clip reversed it completely — and the difference is not size or statistics. It is one missing case.</a:t>
            </a:r>
            <a:endParaRPr lang="en-US" sz="1550" dirty="0"/>
          </a:p>
        </p:txBody>
      </p:sp>
      <p:sp>
        <p:nvSpPr>
          <p:cNvPr id="18" name="Text 16"/>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Evidence — the reversal</a:t>
            </a:r>
            <a:endParaRPr lang="en-US" sz="1050" dirty="0"/>
          </a:p>
        </p:txBody>
      </p:sp>
      <p:sp>
        <p:nvSpPr>
          <p:cNvPr id="19" name="Text 17"/>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EVIDENCE — THE PROTOCOL ITSELF</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One protocol has no ranking to change</a:t>
            </a:r>
            <a:endParaRPr lang="en-US" sz="3800" dirty="0"/>
          </a:p>
        </p:txBody>
      </p:sp>
      <p:sp>
        <p:nvSpPr>
          <p:cNvPr id="4" name="Shape 2"/>
          <p:cNvSpPr/>
          <p:nvPr/>
        </p:nvSpPr>
        <p:spPr>
          <a:xfrm>
            <a:off x="566928" y="2148840"/>
            <a:ext cx="5358384" cy="2926080"/>
          </a:xfrm>
          <a:prstGeom prst="roundRect">
            <a:avLst>
              <a:gd name="adj" fmla="val 3125"/>
            </a:avLst>
          </a:prstGeom>
          <a:solidFill>
            <a:srgbClr val="FAE3E7"/>
          </a:solidFill>
          <a:ln/>
          <a:effectLst>
            <a:outerShdw sx="100000" sy="100000" kx="0" ky="0" algn="bl" rotWithShape="0" blurRad="101600" dist="12700" dir="5400000">
              <a:srgbClr val="000000">
                <a:alpha val="7000"/>
              </a:srgbClr>
            </a:outerShdw>
          </a:effectLst>
        </p:spPr>
      </p:sp>
      <p:sp>
        <p:nvSpPr>
          <p:cNvPr id="5" name="Text 3"/>
          <p:cNvSpPr txBox="1"/>
          <p:nvPr/>
        </p:nvSpPr>
        <p:spPr>
          <a:xfrm>
            <a:off x="877824" y="2487168"/>
            <a:ext cx="4736592" cy="1005840"/>
          </a:xfrm>
          <a:prstGeom prst="rect">
            <a:avLst/>
          </a:prstGeom>
          <a:noFill/>
          <a:ln/>
        </p:spPr>
        <p:txBody>
          <a:bodyPr wrap="square" lIns="0" tIns="0" rIns="0" bIns="0" rtlCol="0" anchor="ctr"/>
          <a:lstStyle/>
          <a:p>
            <a:pPr indent="0" marL="0">
              <a:buNone/>
            </a:pPr>
            <a:r>
              <a:rPr lang="en-US" sz="6200" b="1" dirty="0">
                <a:solidFill>
                  <a:srgbClr val="D6455B"/>
                </a:solidFill>
                <a:latin typeface="Cambria" pitchFamily="34" charset="0"/>
                <a:ea typeface="Cambria" pitchFamily="34" charset="-122"/>
                <a:cs typeface="Cambria" pitchFamily="34" charset="-120"/>
              </a:rPr>
              <a:t>1.000</a:t>
            </a:r>
            <a:endParaRPr lang="en-US" sz="6200" dirty="0"/>
          </a:p>
        </p:txBody>
      </p:sp>
      <p:sp>
        <p:nvSpPr>
          <p:cNvPr id="6" name="Text 4"/>
          <p:cNvSpPr txBox="1"/>
          <p:nvPr/>
        </p:nvSpPr>
        <p:spPr>
          <a:xfrm>
            <a:off x="877824" y="3529584"/>
            <a:ext cx="4736592" cy="548640"/>
          </a:xfrm>
          <a:prstGeom prst="rect">
            <a:avLst/>
          </a:prstGeom>
          <a:noFill/>
          <a:ln/>
        </p:spPr>
        <p:txBody>
          <a:bodyPr wrap="square" lIns="0" tIns="0" rIns="0" bIns="0" rtlCol="0" anchor="t"/>
          <a:lstStyle/>
          <a:p>
            <a:pPr indent="0" marL="0">
              <a:lnSpc>
                <a:spcPts val="2200"/>
              </a:lnSpc>
              <a:buNone/>
            </a:pPr>
            <a:r>
              <a:rPr lang="en-US" sz="1700" b="1" dirty="0">
                <a:solidFill>
                  <a:srgbClr val="16211C"/>
                </a:solidFill>
                <a:latin typeface="Cambria" pitchFamily="34" charset="0"/>
                <a:ea typeface="Cambria" pitchFamily="34" charset="-122"/>
                <a:cs typeface="Cambria" pitchFamily="34" charset="-120"/>
              </a:rPr>
              <a:t>macro-F1 for a predictor that always answers “playing”</a:t>
            </a:r>
            <a:endParaRPr lang="en-US" sz="1700" dirty="0"/>
          </a:p>
        </p:txBody>
      </p:sp>
      <p:sp>
        <p:nvSpPr>
          <p:cNvPr id="7" name="Text 5"/>
          <p:cNvSpPr txBox="1"/>
          <p:nvPr/>
        </p:nvSpPr>
        <p:spPr>
          <a:xfrm>
            <a:off x="877824" y="4169664"/>
            <a:ext cx="4736592" cy="731520"/>
          </a:xfrm>
          <a:prstGeom prst="rect">
            <a:avLst/>
          </a:prstGeom>
          <a:noFill/>
          <a:ln/>
        </p:spPr>
        <p:txBody>
          <a:bodyPr wrap="square" lIns="0" tIns="0" rIns="0" bIns="0" rtlCol="0" anchor="t"/>
          <a:lstStyle/>
          <a:p>
            <a:pPr indent="0" marL="0">
              <a:lnSpc>
                <a:spcPts val="1800"/>
              </a:lnSpc>
              <a:buNone/>
            </a:pPr>
            <a:r>
              <a:rPr lang="en-US" sz="1350" dirty="0">
                <a:solidFill>
                  <a:srgbClr val="5A6B62"/>
                </a:solidFill>
                <a:latin typeface="Calibri" pitchFamily="34" charset="0"/>
                <a:ea typeface="Calibri" pitchFamily="34" charset="-122"/>
                <a:cs typeface="Calibri" pitchFamily="34" charset="-120"/>
              </a:rPr>
              <a:t>Ahead of every backbone — because every held-out venue is 100% active play. There is nothing else in the fold to get wrong.</a:t>
            </a:r>
            <a:endParaRPr lang="en-US" sz="1350" dirty="0"/>
          </a:p>
        </p:txBody>
      </p:sp>
      <p:sp>
        <p:nvSpPr>
          <p:cNvPr id="8" name="Shape 6"/>
          <p:cNvSpPr/>
          <p:nvPr/>
        </p:nvSpPr>
        <p:spPr>
          <a:xfrm>
            <a:off x="6236208" y="2148840"/>
            <a:ext cx="5358384" cy="1517904"/>
          </a:xfrm>
          <a:prstGeom prst="roundRect">
            <a:avLst>
              <a:gd name="adj" fmla="val 6024"/>
            </a:avLst>
          </a:prstGeom>
          <a:solidFill>
            <a:srgbClr val="F4F7F4"/>
          </a:solidFill>
          <a:ln/>
          <a:effectLst>
            <a:outerShdw sx="100000" sy="100000" kx="0" ky="0" algn="bl" rotWithShape="0" blurRad="101600" dist="12700" dir="5400000">
              <a:srgbClr val="000000">
                <a:alpha val="7000"/>
              </a:srgbClr>
            </a:outerShdw>
          </a:effectLst>
        </p:spPr>
      </p:sp>
      <p:sp>
        <p:nvSpPr>
          <p:cNvPr id="9" name="Text 7"/>
          <p:cNvSpPr txBox="1"/>
          <p:nvPr/>
        </p:nvSpPr>
        <p:spPr>
          <a:xfrm>
            <a:off x="6473952" y="2386584"/>
            <a:ext cx="488289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 low false-play rate is not accuracy either</a:t>
            </a:r>
            <a:endParaRPr lang="en-US" sz="1500" dirty="0"/>
          </a:p>
        </p:txBody>
      </p:sp>
      <p:sp>
        <p:nvSpPr>
          <p:cNvPr id="10" name="Text 8"/>
          <p:cNvSpPr txBox="1"/>
          <p:nvPr/>
        </p:nvSpPr>
        <p:spPr>
          <a:xfrm>
            <a:off x="6473952" y="2843784"/>
            <a:ext cx="4882896" cy="64008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On 243 held-out empty frames DINOv2 answers PLAYING 75 times and MAINTENANCE 168 times. It is correct zero times. No model exceeds 0.165.</a:t>
            </a:r>
            <a:endParaRPr lang="en-US" sz="1350" dirty="0"/>
          </a:p>
        </p:txBody>
      </p:sp>
      <p:sp>
        <p:nvSpPr>
          <p:cNvPr id="11" name="Shape 9"/>
          <p:cNvSpPr/>
          <p:nvPr/>
        </p:nvSpPr>
        <p:spPr>
          <a:xfrm>
            <a:off x="6236208" y="3776472"/>
            <a:ext cx="5358384" cy="1517904"/>
          </a:xfrm>
          <a:prstGeom prst="roundRect">
            <a:avLst>
              <a:gd name="adj" fmla="val 6024"/>
            </a:avLst>
          </a:prstGeom>
          <a:solidFill>
            <a:srgbClr val="E6F3EC"/>
          </a:solidFill>
          <a:ln/>
          <a:effectLst>
            <a:outerShdw sx="100000" sy="100000" kx="0" ky="0" algn="bl" rotWithShape="0" blurRad="101600" dist="12700" dir="5400000">
              <a:srgbClr val="000000">
                <a:alpha val="7000"/>
              </a:srgbClr>
            </a:outerShdw>
          </a:effectLst>
        </p:spPr>
      </p:sp>
      <p:sp>
        <p:nvSpPr>
          <p:cNvPr id="12" name="Text 10"/>
          <p:cNvSpPr txBox="1"/>
          <p:nvPr/>
        </p:nvSpPr>
        <p:spPr>
          <a:xfrm>
            <a:off x="6473952" y="4014216"/>
            <a:ext cx="488289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We found it by checking</a:t>
            </a:r>
            <a:endParaRPr lang="en-US" sz="1500" dirty="0"/>
          </a:p>
        </p:txBody>
      </p:sp>
      <p:sp>
        <p:nvSpPr>
          <p:cNvPr id="13" name="Text 11"/>
          <p:cNvSpPr txBox="1"/>
          <p:nvPr/>
        </p:nvSpPr>
        <p:spPr>
          <a:xfrm>
            <a:off x="6473952" y="4471416"/>
            <a:ext cx="4882896" cy="64008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 rate of 0.000 looked like success. Adding one column — what does it answer instead? — showed it answers MAINTENANCE on all 243.</a:t>
            </a:r>
            <a:endParaRPr lang="en-US" sz="1350" dirty="0"/>
          </a:p>
        </p:txBody>
      </p:sp>
      <p:sp>
        <p:nvSpPr>
          <p:cNvPr id="14" name="Text 12"/>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Evidence — the protocol</a:t>
            </a:r>
            <a:endParaRPr lang="en-US" sz="1050" dirty="0"/>
          </a:p>
        </p:txBody>
      </p:sp>
      <p:sp>
        <p:nvSpPr>
          <p:cNvPr id="15" name="Text 13"/>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WHAT I BUILT</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Almost nothing here is trained</a:t>
            </a:r>
            <a:endParaRPr lang="en-US" sz="3800" dirty="0"/>
          </a:p>
        </p:txBody>
      </p:sp>
      <p:sp>
        <p:nvSpPr>
          <p:cNvPr id="4" name="Shape 2"/>
          <p:cNvSpPr/>
          <p:nvPr/>
        </p:nvSpPr>
        <p:spPr>
          <a:xfrm>
            <a:off x="566928" y="2103120"/>
            <a:ext cx="3529584" cy="1645920"/>
          </a:xfrm>
          <a:prstGeom prst="roundRect">
            <a:avLst>
              <a:gd name="adj" fmla="val 5556"/>
            </a:avLst>
          </a:prstGeom>
          <a:solidFill>
            <a:srgbClr val="F4F7F4"/>
          </a:solidFill>
          <a:ln/>
          <a:effectLst>
            <a:outerShdw sx="100000" sy="100000" kx="0" ky="0" algn="bl" rotWithShape="0" blurRad="101600" dist="12700" dir="5400000">
              <a:srgbClr val="000000">
                <a:alpha val="7000"/>
              </a:srgbClr>
            </a:outerShdw>
          </a:effectLst>
        </p:spPr>
      </p:sp>
      <p:sp>
        <p:nvSpPr>
          <p:cNvPr id="5" name="Text 3"/>
          <p:cNvSpPr txBox="1"/>
          <p:nvPr/>
        </p:nvSpPr>
        <p:spPr>
          <a:xfrm>
            <a:off x="768096" y="2304288"/>
            <a:ext cx="3127248" cy="749808"/>
          </a:xfrm>
          <a:prstGeom prst="rect">
            <a:avLst/>
          </a:prstGeom>
          <a:noFill/>
          <a:ln/>
        </p:spPr>
        <p:txBody>
          <a:bodyPr wrap="square" lIns="0" tIns="0" rIns="0" bIns="0" rtlCol="0" anchor="ctr"/>
          <a:lstStyle/>
          <a:p>
            <a:pPr indent="0" marL="0">
              <a:buNone/>
            </a:pPr>
            <a:r>
              <a:rPr lang="en-US" sz="4000" b="1" dirty="0">
                <a:solidFill>
                  <a:srgbClr val="1F7A4C"/>
                </a:solidFill>
                <a:latin typeface="Cambria" pitchFamily="34" charset="0"/>
                <a:ea typeface="Cambria" pitchFamily="34" charset="-122"/>
                <a:cs typeface="Cambria" pitchFamily="34" charset="-120"/>
              </a:rPr>
              <a:t>200.8M</a:t>
            </a:r>
            <a:endParaRPr lang="en-US" sz="4000" dirty="0"/>
          </a:p>
        </p:txBody>
      </p:sp>
      <p:sp>
        <p:nvSpPr>
          <p:cNvPr id="6" name="Text 4"/>
          <p:cNvSpPr txBox="1"/>
          <p:nvPr/>
        </p:nvSpPr>
        <p:spPr>
          <a:xfrm>
            <a:off x="768096" y="3072384"/>
            <a:ext cx="3127248" cy="4937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frozen parameters — never updated once</a:t>
            </a:r>
            <a:endParaRPr lang="en-US" sz="1250" dirty="0"/>
          </a:p>
        </p:txBody>
      </p:sp>
      <p:sp>
        <p:nvSpPr>
          <p:cNvPr id="7" name="Shape 5"/>
          <p:cNvSpPr/>
          <p:nvPr/>
        </p:nvSpPr>
        <p:spPr>
          <a:xfrm>
            <a:off x="4315968" y="2103120"/>
            <a:ext cx="3529584" cy="1645920"/>
          </a:xfrm>
          <a:prstGeom prst="roundRect">
            <a:avLst>
              <a:gd name="adj" fmla="val 5556"/>
            </a:avLst>
          </a:prstGeom>
          <a:solidFill>
            <a:srgbClr val="E6F3EC"/>
          </a:solidFill>
          <a:ln/>
          <a:effectLst>
            <a:outerShdw sx="100000" sy="100000" kx="0" ky="0" algn="bl" rotWithShape="0" blurRad="101600" dist="12700" dir="5400000">
              <a:srgbClr val="000000">
                <a:alpha val="7000"/>
              </a:srgbClr>
            </a:outerShdw>
          </a:effectLst>
        </p:spPr>
      </p:sp>
      <p:sp>
        <p:nvSpPr>
          <p:cNvPr id="8" name="Text 6"/>
          <p:cNvSpPr txBox="1"/>
          <p:nvPr/>
        </p:nvSpPr>
        <p:spPr>
          <a:xfrm>
            <a:off x="4517136" y="2304288"/>
            <a:ext cx="3127248" cy="749808"/>
          </a:xfrm>
          <a:prstGeom prst="rect">
            <a:avLst/>
          </a:prstGeom>
          <a:noFill/>
          <a:ln/>
        </p:spPr>
        <p:txBody>
          <a:bodyPr wrap="square" lIns="0" tIns="0" rIns="0" bIns="0" rtlCol="0" anchor="ctr"/>
          <a:lstStyle/>
          <a:p>
            <a:pPr indent="0" marL="0">
              <a:buNone/>
            </a:pPr>
            <a:r>
              <a:rPr lang="en-US" sz="4000" b="1" dirty="0">
                <a:solidFill>
                  <a:srgbClr val="1F7A4C"/>
                </a:solidFill>
                <a:latin typeface="Cambria" pitchFamily="34" charset="0"/>
                <a:ea typeface="Cambria" pitchFamily="34" charset="-122"/>
                <a:cs typeface="Cambria" pitchFamily="34" charset="-120"/>
              </a:rPr>
              <a:t>10,932</a:t>
            </a:r>
            <a:endParaRPr lang="en-US" sz="4000" dirty="0"/>
          </a:p>
        </p:txBody>
      </p:sp>
      <p:sp>
        <p:nvSpPr>
          <p:cNvPr id="9" name="Text 7"/>
          <p:cNvSpPr txBox="1"/>
          <p:nvPr/>
        </p:nvSpPr>
        <p:spPr>
          <a:xfrm>
            <a:off x="4517136" y="3072384"/>
            <a:ext cx="3127248" cy="4937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trained parameters, all of them</a:t>
            </a:r>
            <a:endParaRPr lang="en-US" sz="1250" dirty="0"/>
          </a:p>
        </p:txBody>
      </p:sp>
      <p:sp>
        <p:nvSpPr>
          <p:cNvPr id="10" name="Shape 8"/>
          <p:cNvSpPr/>
          <p:nvPr/>
        </p:nvSpPr>
        <p:spPr>
          <a:xfrm>
            <a:off x="8065008" y="2103120"/>
            <a:ext cx="3529584" cy="1645920"/>
          </a:xfrm>
          <a:prstGeom prst="roundRect">
            <a:avLst>
              <a:gd name="adj" fmla="val 5556"/>
            </a:avLst>
          </a:prstGeom>
          <a:solidFill>
            <a:srgbClr val="FCEFDA"/>
          </a:solidFill>
          <a:ln/>
          <a:effectLst>
            <a:outerShdw sx="100000" sy="100000" kx="0" ky="0" algn="bl" rotWithShape="0" blurRad="101600" dist="12700" dir="5400000">
              <a:srgbClr val="000000">
                <a:alpha val="7000"/>
              </a:srgbClr>
            </a:outerShdw>
          </a:effectLst>
        </p:spPr>
      </p:sp>
      <p:sp>
        <p:nvSpPr>
          <p:cNvPr id="11" name="Text 9"/>
          <p:cNvSpPr txBox="1"/>
          <p:nvPr/>
        </p:nvSpPr>
        <p:spPr>
          <a:xfrm>
            <a:off x="8266176" y="2304288"/>
            <a:ext cx="3127248" cy="749808"/>
          </a:xfrm>
          <a:prstGeom prst="rect">
            <a:avLst/>
          </a:prstGeom>
          <a:noFill/>
          <a:ln/>
        </p:spPr>
        <p:txBody>
          <a:bodyPr wrap="square" lIns="0" tIns="0" rIns="0" bIns="0" rtlCol="0" anchor="ctr"/>
          <a:lstStyle/>
          <a:p>
            <a:pPr indent="0" marL="0">
              <a:buNone/>
            </a:pPr>
            <a:r>
              <a:rPr lang="en-US" sz="4000" b="1" dirty="0">
                <a:solidFill>
                  <a:srgbClr val="B26A00"/>
                </a:solidFill>
                <a:latin typeface="Cambria" pitchFamily="34" charset="0"/>
                <a:ea typeface="Cambria" pitchFamily="34" charset="-122"/>
                <a:cs typeface="Cambria" pitchFamily="34" charset="-120"/>
              </a:rPr>
              <a:t>18,371:1</a:t>
            </a:r>
            <a:endParaRPr lang="en-US" sz="4000" dirty="0"/>
          </a:p>
        </p:txBody>
      </p:sp>
      <p:sp>
        <p:nvSpPr>
          <p:cNvPr id="12" name="Text 10"/>
          <p:cNvSpPr txBox="1"/>
          <p:nvPr/>
        </p:nvSpPr>
        <p:spPr>
          <a:xfrm>
            <a:off x="8266176" y="3072384"/>
            <a:ext cx="3127248" cy="4937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frozen to trained</a:t>
            </a:r>
            <a:endParaRPr lang="en-US" sz="1250" dirty="0"/>
          </a:p>
        </p:txBody>
      </p:sp>
      <p:sp>
        <p:nvSpPr>
          <p:cNvPr id="13" name="Shape 11"/>
          <p:cNvSpPr/>
          <p:nvPr/>
        </p:nvSpPr>
        <p:spPr>
          <a:xfrm>
            <a:off x="566928" y="4023360"/>
            <a:ext cx="3529584" cy="1536192"/>
          </a:xfrm>
          <a:prstGeom prst="roundRect">
            <a:avLst>
              <a:gd name="adj" fmla="val 5952"/>
            </a:avLst>
          </a:prstGeom>
          <a:solidFill>
            <a:srgbClr val="F4F7F4"/>
          </a:solidFill>
          <a:ln/>
          <a:effectLst>
            <a:outerShdw sx="100000" sy="100000" kx="0" ky="0" algn="bl" rotWithShape="0" blurRad="101600" dist="12700" dir="5400000">
              <a:srgbClr val="000000">
                <a:alpha val="7000"/>
              </a:srgbClr>
            </a:outerShdw>
          </a:effectLst>
        </p:spPr>
      </p:sp>
      <p:sp>
        <p:nvSpPr>
          <p:cNvPr id="14" name="Text 12"/>
          <p:cNvSpPr txBox="1"/>
          <p:nvPr/>
        </p:nvSpPr>
        <p:spPr>
          <a:xfrm>
            <a:off x="804672" y="4261104"/>
            <a:ext cx="3054096" cy="36576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Three frozen backbones</a:t>
            </a:r>
            <a:endParaRPr lang="en-US" sz="1500" dirty="0"/>
          </a:p>
        </p:txBody>
      </p:sp>
      <p:sp>
        <p:nvSpPr>
          <p:cNvPr id="15" name="Text 13"/>
          <p:cNvSpPr txBox="1"/>
          <p:nvPr/>
        </p:nvSpPr>
        <p:spPr>
          <a:xfrm>
            <a:off x="804672" y="4626864"/>
            <a:ext cx="3054096" cy="749808"/>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DINOv2, ConvNeXtV2 and ViT. Embed each frame once, reuse forever — which is what bought 75 experiments.</a:t>
            </a:r>
            <a:endParaRPr lang="en-US" sz="1300" dirty="0"/>
          </a:p>
        </p:txBody>
      </p:sp>
      <p:sp>
        <p:nvSpPr>
          <p:cNvPr id="16" name="Shape 14"/>
          <p:cNvSpPr/>
          <p:nvPr/>
        </p:nvSpPr>
        <p:spPr>
          <a:xfrm>
            <a:off x="4315968" y="4023360"/>
            <a:ext cx="3529584" cy="1536192"/>
          </a:xfrm>
          <a:prstGeom prst="roundRect">
            <a:avLst>
              <a:gd name="adj" fmla="val 5952"/>
            </a:avLst>
          </a:prstGeom>
          <a:solidFill>
            <a:srgbClr val="F4F7F4"/>
          </a:solidFill>
          <a:ln/>
          <a:effectLst>
            <a:outerShdw sx="100000" sy="100000" kx="0" ky="0" algn="bl" rotWithShape="0" blurRad="101600" dist="12700" dir="5400000">
              <a:srgbClr val="000000">
                <a:alpha val="7000"/>
              </a:srgbClr>
            </a:outerShdw>
          </a:effectLst>
        </p:spPr>
      </p:sp>
      <p:sp>
        <p:nvSpPr>
          <p:cNvPr id="17" name="Text 15"/>
          <p:cNvSpPr txBox="1"/>
          <p:nvPr/>
        </p:nvSpPr>
        <p:spPr>
          <a:xfrm>
            <a:off x="4553712" y="4261104"/>
            <a:ext cx="3054096" cy="36576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 2,307-parameter probe</a:t>
            </a:r>
            <a:endParaRPr lang="en-US" sz="1500" dirty="0"/>
          </a:p>
        </p:txBody>
      </p:sp>
      <p:sp>
        <p:nvSpPr>
          <p:cNvPr id="18" name="Text 16"/>
          <p:cNvSpPr txBox="1"/>
          <p:nvPr/>
        </p:nvSpPr>
        <p:spPr>
          <a:xfrm>
            <a:off x="4553712" y="4626864"/>
            <a:ext cx="3054096" cy="749808"/>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classifier itself. There are not enough labels to fine-tune anything larger, and pretending otherwise would leak.</a:t>
            </a:r>
            <a:endParaRPr lang="en-US" sz="1300" dirty="0"/>
          </a:p>
        </p:txBody>
      </p:sp>
      <p:sp>
        <p:nvSpPr>
          <p:cNvPr id="19" name="Shape 17"/>
          <p:cNvSpPr/>
          <p:nvPr/>
        </p:nvSpPr>
        <p:spPr>
          <a:xfrm>
            <a:off x="8065008" y="4023360"/>
            <a:ext cx="3529584" cy="1536192"/>
          </a:xfrm>
          <a:prstGeom prst="roundRect">
            <a:avLst>
              <a:gd name="adj" fmla="val 5952"/>
            </a:avLst>
          </a:prstGeom>
          <a:solidFill>
            <a:srgbClr val="FCEFDA"/>
          </a:solidFill>
          <a:ln/>
          <a:effectLst>
            <a:outerShdw sx="100000" sy="100000" kx="0" ky="0" algn="bl" rotWithShape="0" blurRad="101600" dist="12700" dir="5400000">
              <a:srgbClr val="000000">
                <a:alpha val="7000"/>
              </a:srgbClr>
            </a:outerShdw>
          </a:effectLst>
        </p:spPr>
      </p:sp>
      <p:sp>
        <p:nvSpPr>
          <p:cNvPr id="20" name="Text 18"/>
          <p:cNvSpPr txBox="1"/>
          <p:nvPr/>
        </p:nvSpPr>
        <p:spPr>
          <a:xfrm>
            <a:off x="8302752" y="4261104"/>
            <a:ext cx="3054096" cy="36576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The spec's model lost</a:t>
            </a:r>
            <a:endParaRPr lang="en-US" sz="1500" dirty="0"/>
          </a:p>
        </p:txBody>
      </p:sp>
      <p:sp>
        <p:nvSpPr>
          <p:cNvPr id="21" name="Text 19"/>
          <p:cNvSpPr txBox="1"/>
          <p:nvPr/>
        </p:nvSpPr>
        <p:spPr>
          <a:xfrm>
            <a:off x="8302752" y="4626864"/>
            <a:ext cx="3054096" cy="749808"/>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proposal named ConvNeXtV2. Measured without leakage, DINOv2 leads cross-venue recall at 0.930.</a:t>
            </a:r>
            <a:endParaRPr lang="en-US" sz="1300" dirty="0"/>
          </a:p>
        </p:txBody>
      </p:sp>
      <p:sp>
        <p:nvSpPr>
          <p:cNvPr id="22" name="Text 20"/>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What I built — models</a:t>
            </a:r>
            <a:endParaRPr lang="en-US" sz="1050" dirty="0"/>
          </a:p>
        </p:txBody>
      </p:sp>
      <p:sp>
        <p:nvSpPr>
          <p:cNvPr id="23" name="Text 21"/>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WHAT I BUILT — REPORTED EITHER WAY</a:t>
            </a:r>
            <a:endParaRPr lang="en-US" sz="1200" dirty="0"/>
          </a:p>
        </p:txBody>
      </p:sp>
      <p:sp>
        <p:nvSpPr>
          <p:cNvPr id="3" name="Text 1"/>
          <p:cNvSpPr txBox="1"/>
          <p:nvPr/>
        </p:nvSpPr>
        <p:spPr>
          <a:xfrm>
            <a:off x="566928" y="713232"/>
            <a:ext cx="11027664" cy="118872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Two novel modules, and what they actually gave</a:t>
            </a:r>
            <a:endParaRPr lang="en-US" sz="3800" dirty="0"/>
          </a:p>
        </p:txBody>
      </p:sp>
      <p:sp>
        <p:nvSpPr>
          <p:cNvPr id="4" name="Shape 2"/>
          <p:cNvSpPr/>
          <p:nvPr/>
        </p:nvSpPr>
        <p:spPr>
          <a:xfrm>
            <a:off x="566928" y="2148840"/>
            <a:ext cx="5358384" cy="2926080"/>
          </a:xfrm>
          <a:prstGeom prst="roundRect">
            <a:avLst>
              <a:gd name="adj" fmla="val 3125"/>
            </a:avLst>
          </a:prstGeom>
          <a:solidFill>
            <a:srgbClr val="FAE3E7"/>
          </a:solidFill>
          <a:ln/>
          <a:effectLst>
            <a:outerShdw sx="100000" sy="100000" kx="0" ky="0" algn="bl" rotWithShape="0" blurRad="101600" dist="12700" dir="5400000">
              <a:srgbClr val="000000">
                <a:alpha val="7000"/>
              </a:srgbClr>
            </a:outerShdw>
          </a:effectLst>
        </p:spPr>
      </p:sp>
      <p:sp>
        <p:nvSpPr>
          <p:cNvPr id="5" name="Text 3"/>
          <p:cNvSpPr txBox="1"/>
          <p:nvPr/>
        </p:nvSpPr>
        <p:spPr>
          <a:xfrm>
            <a:off x="804672" y="2386584"/>
            <a:ext cx="4882896" cy="402336"/>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Gated multi-backbone fusion — negative</a:t>
            </a:r>
            <a:endParaRPr lang="en-US" sz="1600" dirty="0"/>
          </a:p>
        </p:txBody>
      </p:sp>
      <p:sp>
        <p:nvSpPr>
          <p:cNvPr id="6" name="Text 4"/>
          <p:cNvSpPr txBox="1"/>
          <p:nvPr/>
        </p:nvSpPr>
        <p:spPr>
          <a:xfrm>
            <a:off x="804672" y="2788920"/>
            <a:ext cx="4882896" cy="2103120"/>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architecture the proposal specified, built and measured. Routing is worth −0.024 cross-venue recall against the same head with the gate switched off, on one informative fold of seven.</a:t>
            </a:r>
            <a:endParaRPr lang="en-US" sz="1300" dirty="0"/>
          </a:p>
          <a:p>
            <a:pPr indent="0" marL="0">
              <a:lnSpc>
                <a:spcPts val="1755"/>
              </a:lnSpc>
              <a:buNone/>
            </a:pPr>
            <a:endParaRPr lang="en-US" sz="1300" dirty="0"/>
          </a:p>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gate puts about 0.70 of its weight on DINOv2 in every fold: a learned constant wearing a router's costume.</a:t>
            </a:r>
            <a:endParaRPr lang="en-US" sz="1300" dirty="0"/>
          </a:p>
          <a:p>
            <a:pPr indent="0" marL="0">
              <a:lnSpc>
                <a:spcPts val="1755"/>
              </a:lnSpc>
              <a:buNone/>
            </a:pPr>
            <a:endParaRPr lang="en-US" sz="1300" dirty="0"/>
          </a:p>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It can route — on a fixture where the useful backbone flips, it scores 1.000 against 0.671. The null is about the data, not the code.</a:t>
            </a:r>
            <a:endParaRPr lang="en-US" sz="1300" dirty="0"/>
          </a:p>
        </p:txBody>
      </p:sp>
      <p:sp>
        <p:nvSpPr>
          <p:cNvPr id="7" name="Shape 5"/>
          <p:cNvSpPr/>
          <p:nvPr/>
        </p:nvSpPr>
        <p:spPr>
          <a:xfrm>
            <a:off x="6236208" y="2148840"/>
            <a:ext cx="5358384" cy="2926080"/>
          </a:xfrm>
          <a:prstGeom prst="roundRect">
            <a:avLst>
              <a:gd name="adj" fmla="val 3125"/>
            </a:avLst>
          </a:prstGeom>
          <a:solidFill>
            <a:srgbClr val="FCEFDA"/>
          </a:solidFill>
          <a:ln/>
          <a:effectLst>
            <a:outerShdw sx="100000" sy="100000" kx="0" ky="0" algn="bl" rotWithShape="0" blurRad="101600" dist="12700" dir="5400000">
              <a:srgbClr val="000000">
                <a:alpha val="7000"/>
              </a:srgbClr>
            </a:outerShdw>
          </a:effectLst>
        </p:spPr>
      </p:sp>
      <p:sp>
        <p:nvSpPr>
          <p:cNvPr id="8" name="Text 6"/>
          <p:cNvSpPr txBox="1"/>
          <p:nvPr/>
        </p:nvSpPr>
        <p:spPr>
          <a:xfrm>
            <a:off x="6473952" y="2386584"/>
            <a:ext cx="4882896" cy="402336"/>
          </a:xfrm>
          <a:prstGeom prst="rect">
            <a:avLst/>
          </a:prstGeom>
          <a:noFill/>
          <a:ln/>
        </p:spPr>
        <p:txBody>
          <a:bodyPr wrap="square" lIns="0" tIns="0" rIns="0" bIns="0" rtlCol="0" anchor="t"/>
          <a:lstStyle/>
          <a:p>
            <a:pPr indent="0" marL="0">
              <a:lnSpc>
                <a:spcPts val="1840"/>
              </a:lnSpc>
              <a:buNone/>
            </a:pPr>
            <a:r>
              <a:rPr lang="en-US" sz="1600" b="1" dirty="0">
                <a:solidFill>
                  <a:srgbClr val="16211C"/>
                </a:solidFill>
                <a:latin typeface="Cambria" pitchFamily="34" charset="0"/>
                <a:ea typeface="Cambria" pitchFamily="34" charset="-122"/>
                <a:cs typeface="Cambria" pitchFamily="34" charset="-120"/>
              </a:rPr>
              <a:t>STAN — preliminary, and saturated</a:t>
            </a:r>
            <a:endParaRPr lang="en-US" sz="1600" dirty="0"/>
          </a:p>
        </p:txBody>
      </p:sp>
      <p:sp>
        <p:nvSpPr>
          <p:cNvPr id="9" name="Text 7"/>
          <p:cNvSpPr txBox="1"/>
          <p:nvPr/>
        </p:nvSpPr>
        <p:spPr>
          <a:xfrm>
            <a:off x="6473952" y="2788920"/>
            <a:ext cx="4882896" cy="2103120"/>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A 1,651-parameter temporal model against four tuned baselines including an HMM. It scores a perfect 1.000 on 200 composed slots, beating the HMM by 0.105.</a:t>
            </a:r>
            <a:endParaRPr lang="en-US" sz="1300" dirty="0"/>
          </a:p>
          <a:p>
            <a:pPr indent="0" marL="0">
              <a:lnSpc>
                <a:spcPts val="1755"/>
              </a:lnSpc>
              <a:buNone/>
            </a:pPr>
            <a:endParaRPr lang="en-US" sz="1300" dirty="0"/>
          </a:p>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That is an exhausted test set, not a win. The real test set is two slots.</a:t>
            </a:r>
            <a:endParaRPr lang="en-US" sz="1300" dirty="0"/>
          </a:p>
          <a:p>
            <a:pPr indent="0" marL="0">
              <a:lnSpc>
                <a:spcPts val="1755"/>
              </a:lnSpc>
              <a:buNone/>
            </a:pPr>
            <a:endParaRPr lang="en-US" sz="1300" dirty="0"/>
          </a:p>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Re-composed from four further draws: 1.000 three times, then 0.910 and 0.800. The ordering survived; the number did not.</a:t>
            </a:r>
            <a:endParaRPr lang="en-US" sz="1300" dirty="0"/>
          </a:p>
        </p:txBody>
      </p:sp>
      <p:sp>
        <p:nvSpPr>
          <p:cNvPr id="10" name="Text 8"/>
          <p:cNvSpPr txBox="1"/>
          <p:nvPr/>
        </p:nvSpPr>
        <p:spPr>
          <a:xfrm>
            <a:off x="566928" y="5230368"/>
            <a:ext cx="11027664" cy="365760"/>
          </a:xfrm>
          <a:prstGeom prst="rect">
            <a:avLst/>
          </a:prstGeom>
          <a:noFill/>
          <a:ln/>
        </p:spPr>
        <p:txBody>
          <a:bodyPr wrap="square" lIns="0" tIns="0" rIns="0" bIns="0" rtlCol="0" anchor="ctr"/>
          <a:lstStyle/>
          <a:p>
            <a:pPr indent="0" marL="0">
              <a:buNone/>
            </a:pPr>
            <a:r>
              <a:rPr lang="en-US" sz="1400" i="1" dirty="0">
                <a:solidFill>
                  <a:srgbClr val="1F7A4C"/>
                </a:solidFill>
                <a:latin typeface="Calibri" pitchFamily="34" charset="0"/>
                <a:ea typeface="Calibri" pitchFamily="34" charset="-122"/>
                <a:cs typeface="Calibri" pitchFamily="34" charset="-120"/>
              </a:rPr>
              <a:t>Both are reported as they came out. The ≥30-slot rule is enforced in code, not in a caveat.</a:t>
            </a:r>
            <a:endParaRPr lang="en-US" sz="1400" dirty="0"/>
          </a:p>
        </p:txBody>
      </p:sp>
      <p:sp>
        <p:nvSpPr>
          <p:cNvPr id="11" name="Text 9"/>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What I built — novel modules</a:t>
            </a:r>
            <a:endParaRPr lang="en-US" sz="1050" dirty="0"/>
          </a:p>
        </p:txBody>
      </p:sp>
      <p:sp>
        <p:nvSpPr>
          <p:cNvPr id="12" name="Text 10"/>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A1E"/>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2FA86B"/>
                </a:solidFill>
                <a:latin typeface="Calibri" pitchFamily="34" charset="0"/>
                <a:ea typeface="Calibri" pitchFamily="34" charset="-122"/>
                <a:cs typeface="Calibri" pitchFamily="34" charset="-120"/>
              </a:rPr>
              <a:t>THE CONFIGURATION SEARCHES</a:t>
            </a:r>
            <a:endParaRPr lang="en-US" sz="1200" dirty="0"/>
          </a:p>
        </p:txBody>
      </p:sp>
      <p:sp>
        <p:nvSpPr>
          <p:cNvPr id="3" name="Text 1"/>
          <p:cNvSpPr txBox="1"/>
          <p:nvPr/>
        </p:nvSpPr>
        <p:spPr>
          <a:xfrm>
            <a:off x="566928" y="1371600"/>
            <a:ext cx="10332720" cy="2286000"/>
          </a:xfrm>
          <a:prstGeom prst="rect">
            <a:avLst/>
          </a:prstGeom>
          <a:noFill/>
          <a:ln/>
        </p:spPr>
        <p:txBody>
          <a:bodyPr wrap="square" lIns="0" tIns="0" rIns="0" bIns="0" rtlCol="0" anchor="t"/>
          <a:lstStyle/>
          <a:p>
            <a:pPr indent="0" marL="0">
              <a:lnSpc>
                <a:spcPts val="4256"/>
              </a:lnSpc>
              <a:buNone/>
            </a:pPr>
            <a:r>
              <a:rPr lang="en-US" sz="3800" b="1" dirty="0">
                <a:solidFill>
                  <a:srgbClr val="FFFFFF"/>
                </a:solidFill>
                <a:latin typeface="Cambria" pitchFamily="34" charset="0"/>
                <a:ea typeface="Cambria" pitchFamily="34" charset="-122"/>
                <a:cs typeface="Cambria" pitchFamily="34" charset="-120"/>
              </a:rPr>
              <a:t>We tuned hard. Twice.</a:t>
            </a:r>
            <a:endParaRPr lang="en-US" sz="3800" dirty="0"/>
          </a:p>
          <a:p>
            <a:pPr indent="0" marL="0">
              <a:lnSpc>
                <a:spcPts val="4256"/>
              </a:lnSpc>
              <a:buNone/>
            </a:pPr>
            <a:r>
              <a:rPr lang="en-US" sz="3800" b="1" dirty="0">
                <a:solidFill>
                  <a:srgbClr val="FFFFFF"/>
                </a:solidFill>
                <a:latin typeface="Cambria" pitchFamily="34" charset="0"/>
                <a:ea typeface="Cambria" pitchFamily="34" charset="-122"/>
                <a:cs typeface="Cambria" pitchFamily="34" charset="-120"/>
              </a:rPr>
              <a:t>Neither winner meant what it looked like.</a:t>
            </a:r>
            <a:endParaRPr lang="en-US" sz="3800" dirty="0"/>
          </a:p>
        </p:txBody>
      </p:sp>
      <p:sp>
        <p:nvSpPr>
          <p:cNvPr id="4" name="Shape 2"/>
          <p:cNvSpPr/>
          <p:nvPr/>
        </p:nvSpPr>
        <p:spPr>
          <a:xfrm>
            <a:off x="566928" y="3931920"/>
            <a:ext cx="5358384" cy="1417320"/>
          </a:xfrm>
          <a:prstGeom prst="roundRect">
            <a:avLst>
              <a:gd name="adj" fmla="val 6452"/>
            </a:avLst>
          </a:prstGeom>
          <a:solidFill>
            <a:srgbClr val="1A3C2B"/>
          </a:solidFill>
          <a:ln/>
        </p:spPr>
      </p:sp>
      <p:sp>
        <p:nvSpPr>
          <p:cNvPr id="5" name="Text 3"/>
          <p:cNvSpPr txBox="1"/>
          <p:nvPr/>
        </p:nvSpPr>
        <p:spPr>
          <a:xfrm>
            <a:off x="841248" y="4114800"/>
            <a:ext cx="2011680" cy="868680"/>
          </a:xfrm>
          <a:prstGeom prst="rect">
            <a:avLst/>
          </a:prstGeom>
          <a:noFill/>
          <a:ln/>
        </p:spPr>
        <p:txBody>
          <a:bodyPr wrap="square" lIns="0" tIns="0" rIns="0" bIns="0" rtlCol="0" anchor="ctr"/>
          <a:lstStyle/>
          <a:p>
            <a:pPr indent="0" marL="0">
              <a:buNone/>
            </a:pPr>
            <a:r>
              <a:rPr lang="en-US" sz="4400" b="1" dirty="0">
                <a:solidFill>
                  <a:srgbClr val="2FA86B"/>
                </a:solidFill>
                <a:latin typeface="Cambria" pitchFamily="34" charset="0"/>
                <a:ea typeface="Cambria" pitchFamily="34" charset="-122"/>
                <a:cs typeface="Cambria" pitchFamily="34" charset="-120"/>
              </a:rPr>
              <a:t>88</a:t>
            </a:r>
            <a:endParaRPr lang="en-US" sz="4400" dirty="0"/>
          </a:p>
        </p:txBody>
      </p:sp>
      <p:sp>
        <p:nvSpPr>
          <p:cNvPr id="6" name="Text 4"/>
          <p:cNvSpPr txBox="1"/>
          <p:nvPr/>
        </p:nvSpPr>
        <p:spPr>
          <a:xfrm>
            <a:off x="2944368" y="4114800"/>
            <a:ext cx="2706624" cy="914400"/>
          </a:xfrm>
          <a:prstGeom prst="rect">
            <a:avLst/>
          </a:prstGeom>
          <a:noFill/>
          <a:ln/>
        </p:spPr>
        <p:txBody>
          <a:bodyPr wrap="square" lIns="0" tIns="0" rIns="0" bIns="0" rtlCol="0" anchor="ctr"/>
          <a:lstStyle/>
          <a:p>
            <a:pPr indent="0" marL="0">
              <a:lnSpc>
                <a:spcPts val="1900"/>
              </a:lnSpc>
              <a:buNone/>
            </a:pPr>
            <a:r>
              <a:rPr lang="en-US" sz="1400" dirty="0">
                <a:solidFill>
                  <a:srgbClr val="C8DCD1"/>
                </a:solidFill>
                <a:latin typeface="Calibri" pitchFamily="34" charset="0"/>
                <a:ea typeface="Calibri" pitchFamily="34" charset="-122"/>
                <a:cs typeface="Calibri" pitchFamily="34" charset="-120"/>
              </a:rPr>
              <a:t>preprocessing runs — greedy, four rounds, two backbones</a:t>
            </a:r>
            <a:endParaRPr lang="en-US" sz="1400" dirty="0"/>
          </a:p>
        </p:txBody>
      </p:sp>
      <p:sp>
        <p:nvSpPr>
          <p:cNvPr id="7" name="Shape 5"/>
          <p:cNvSpPr/>
          <p:nvPr/>
        </p:nvSpPr>
        <p:spPr>
          <a:xfrm>
            <a:off x="6236208" y="3931920"/>
            <a:ext cx="5358384" cy="1417320"/>
          </a:xfrm>
          <a:prstGeom prst="roundRect">
            <a:avLst>
              <a:gd name="adj" fmla="val 6452"/>
            </a:avLst>
          </a:prstGeom>
          <a:solidFill>
            <a:srgbClr val="1A3C2B"/>
          </a:solidFill>
          <a:ln/>
        </p:spPr>
      </p:sp>
      <p:sp>
        <p:nvSpPr>
          <p:cNvPr id="8" name="Text 6"/>
          <p:cNvSpPr txBox="1"/>
          <p:nvPr/>
        </p:nvSpPr>
        <p:spPr>
          <a:xfrm>
            <a:off x="6510528" y="4114800"/>
            <a:ext cx="2011680" cy="868680"/>
          </a:xfrm>
          <a:prstGeom prst="rect">
            <a:avLst/>
          </a:prstGeom>
          <a:noFill/>
          <a:ln/>
        </p:spPr>
        <p:txBody>
          <a:bodyPr wrap="square" lIns="0" tIns="0" rIns="0" bIns="0" rtlCol="0" anchor="ctr"/>
          <a:lstStyle/>
          <a:p>
            <a:pPr indent="0" marL="0">
              <a:buNone/>
            </a:pPr>
            <a:r>
              <a:rPr lang="en-US" sz="4400" b="1" dirty="0">
                <a:solidFill>
                  <a:srgbClr val="2FA86B"/>
                </a:solidFill>
                <a:latin typeface="Cambria" pitchFamily="34" charset="0"/>
                <a:ea typeface="Cambria" pitchFamily="34" charset="-122"/>
                <a:cs typeface="Cambria" pitchFamily="34" charset="-120"/>
              </a:rPr>
              <a:t>375</a:t>
            </a:r>
            <a:endParaRPr lang="en-US" sz="4400" dirty="0"/>
          </a:p>
        </p:txBody>
      </p:sp>
      <p:sp>
        <p:nvSpPr>
          <p:cNvPr id="9" name="Text 7"/>
          <p:cNvSpPr txBox="1"/>
          <p:nvPr/>
        </p:nvSpPr>
        <p:spPr>
          <a:xfrm>
            <a:off x="8613648" y="4114800"/>
            <a:ext cx="2706624" cy="914400"/>
          </a:xfrm>
          <a:prstGeom prst="rect">
            <a:avLst/>
          </a:prstGeom>
          <a:noFill/>
          <a:ln/>
        </p:spPr>
        <p:txBody>
          <a:bodyPr wrap="square" lIns="0" tIns="0" rIns="0" bIns="0" rtlCol="0" anchor="ctr"/>
          <a:lstStyle/>
          <a:p>
            <a:pPr indent="0" marL="0">
              <a:lnSpc>
                <a:spcPts val="1900"/>
              </a:lnSpc>
              <a:buNone/>
            </a:pPr>
            <a:r>
              <a:rPr lang="en-US" sz="1400" dirty="0">
                <a:solidFill>
                  <a:srgbClr val="C8DCD1"/>
                </a:solidFill>
                <a:latin typeface="Calibri" pitchFamily="34" charset="0"/>
                <a:ea typeface="Calibri" pitchFamily="34" charset="-122"/>
                <a:cs typeface="Calibri" pitchFamily="34" charset="-120"/>
              </a:rPr>
              <a:t>prompt sets — scored exhaustively, with no labels at all</a:t>
            </a:r>
            <a:endParaRPr lang="en-US" sz="1400" dirty="0"/>
          </a:p>
        </p:txBody>
      </p:sp>
      <p:sp>
        <p:nvSpPr>
          <p:cNvPr id="10" name="Text 8"/>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The searches</a:t>
            </a:r>
            <a:endParaRPr lang="en-US" sz="1050" dirty="0"/>
          </a:p>
        </p:txBody>
      </p:sp>
      <p:sp>
        <p:nvSpPr>
          <p:cNvPr id="11" name="Text 9"/>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SEARCH 1 — PREPROCESSING</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The winner sits inside the noise</a:t>
            </a:r>
            <a:endParaRPr lang="en-US" sz="3800" dirty="0"/>
          </a:p>
        </p:txBody>
      </p:sp>
      <p:sp>
        <p:nvSpPr>
          <p:cNvPr id="4" name="Shape 2"/>
          <p:cNvSpPr/>
          <p:nvPr/>
        </p:nvSpPr>
        <p:spPr>
          <a:xfrm>
            <a:off x="566928" y="2148840"/>
            <a:ext cx="3529584" cy="2103120"/>
          </a:xfrm>
          <a:prstGeom prst="roundRect">
            <a:avLst>
              <a:gd name="adj" fmla="val 4348"/>
            </a:avLst>
          </a:prstGeom>
          <a:solidFill>
            <a:srgbClr val="E6F3EC"/>
          </a:solidFill>
          <a:ln/>
          <a:effectLst>
            <a:outerShdw sx="100000" sy="100000" kx="0" ky="0" algn="bl" rotWithShape="0" blurRad="101600" dist="12700" dir="5400000">
              <a:srgbClr val="000000">
                <a:alpha val="7000"/>
              </a:srgbClr>
            </a:outerShdw>
          </a:effectLst>
        </p:spPr>
      </p:sp>
      <p:sp>
        <p:nvSpPr>
          <p:cNvPr id="5" name="Text 3"/>
          <p:cNvSpPr txBox="1"/>
          <p:nvPr/>
        </p:nvSpPr>
        <p:spPr>
          <a:xfrm>
            <a:off x="804672" y="2386584"/>
            <a:ext cx="3054096" cy="402336"/>
          </a:xfrm>
          <a:prstGeom prst="rect">
            <a:avLst/>
          </a:prstGeom>
          <a:noFill/>
          <a:ln/>
        </p:spPr>
        <p:txBody>
          <a:bodyPr wrap="square" lIns="0" tIns="0" rIns="0" bIns="0" rtlCol="0" anchor="t"/>
          <a:lstStyle/>
          <a:p>
            <a:pPr indent="0" marL="0">
              <a:lnSpc>
                <a:spcPts val="1783"/>
              </a:lnSpc>
              <a:buNone/>
            </a:pPr>
            <a:r>
              <a:rPr lang="en-US" sz="1550" b="1" dirty="0">
                <a:solidFill>
                  <a:srgbClr val="16211C"/>
                </a:solidFill>
                <a:latin typeface="Cambria" pitchFamily="34" charset="0"/>
                <a:ea typeface="Cambria" pitchFamily="34" charset="-122"/>
                <a:cs typeface="Cambria" pitchFamily="34" charset="-120"/>
              </a:rPr>
              <a:t>What it found</a:t>
            </a:r>
            <a:endParaRPr lang="en-US" sz="1550" dirty="0"/>
          </a:p>
        </p:txBody>
      </p:sp>
      <p:sp>
        <p:nvSpPr>
          <p:cNvPr id="6" name="Text 4"/>
          <p:cNvSpPr txBox="1"/>
          <p:nvPr/>
        </p:nvSpPr>
        <p:spPr>
          <a:xfrm>
            <a:off x="804672" y="2788920"/>
            <a:ext cx="3054096" cy="1280160"/>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 best recipe scoring a perfect 1.000 on the cross-venue folds, after four greedy rounds each adding the switch that helped most.</a:t>
            </a:r>
            <a:endParaRPr lang="en-US" sz="1350" dirty="0"/>
          </a:p>
        </p:txBody>
      </p:sp>
      <p:sp>
        <p:nvSpPr>
          <p:cNvPr id="7" name="Shape 5"/>
          <p:cNvSpPr/>
          <p:nvPr/>
        </p:nvSpPr>
        <p:spPr>
          <a:xfrm>
            <a:off x="4315968" y="2148840"/>
            <a:ext cx="3529584" cy="2103120"/>
          </a:xfrm>
          <a:prstGeom prst="roundRect">
            <a:avLst>
              <a:gd name="adj" fmla="val 4348"/>
            </a:avLst>
          </a:prstGeom>
          <a:solidFill>
            <a:srgbClr val="FAE3E7"/>
          </a:solidFill>
          <a:ln/>
          <a:effectLst>
            <a:outerShdw sx="100000" sy="100000" kx="0" ky="0" algn="bl" rotWithShape="0" blurRad="101600" dist="12700" dir="5400000">
              <a:srgbClr val="000000">
                <a:alpha val="7000"/>
              </a:srgbClr>
            </a:outerShdw>
          </a:effectLst>
        </p:spPr>
      </p:sp>
      <p:sp>
        <p:nvSpPr>
          <p:cNvPr id="8" name="Text 6"/>
          <p:cNvSpPr txBox="1"/>
          <p:nvPr/>
        </p:nvSpPr>
        <p:spPr>
          <a:xfrm>
            <a:off x="4517136" y="2350008"/>
            <a:ext cx="3127248" cy="749808"/>
          </a:xfrm>
          <a:prstGeom prst="rect">
            <a:avLst/>
          </a:prstGeom>
          <a:noFill/>
          <a:ln/>
        </p:spPr>
        <p:txBody>
          <a:bodyPr wrap="square" lIns="0" tIns="0" rIns="0" bIns="0" rtlCol="0" anchor="ctr"/>
          <a:lstStyle/>
          <a:p>
            <a:pPr indent="0" marL="0">
              <a:buNone/>
            </a:pPr>
            <a:r>
              <a:rPr lang="en-US" sz="3600" b="1" dirty="0">
                <a:solidFill>
                  <a:srgbClr val="D6455B"/>
                </a:solidFill>
                <a:latin typeface="Cambria" pitchFamily="34" charset="0"/>
                <a:ea typeface="Cambria" pitchFamily="34" charset="-122"/>
                <a:cs typeface="Cambria" pitchFamily="34" charset="-120"/>
              </a:rPr>
              <a:t>0.0119</a:t>
            </a:r>
            <a:endParaRPr lang="en-US" sz="3600" dirty="0"/>
          </a:p>
        </p:txBody>
      </p:sp>
      <p:sp>
        <p:nvSpPr>
          <p:cNvPr id="9" name="Text 7"/>
          <p:cNvSpPr txBox="1"/>
          <p:nvPr/>
        </p:nvSpPr>
        <p:spPr>
          <a:xfrm>
            <a:off x="4517136" y="3118104"/>
            <a:ext cx="3127248" cy="9509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One frame in the smallest venue fold moves the headline by this much.</a:t>
            </a:r>
            <a:endParaRPr lang="en-US" sz="1250" dirty="0"/>
          </a:p>
        </p:txBody>
      </p:sp>
      <p:sp>
        <p:nvSpPr>
          <p:cNvPr id="10" name="Shape 8"/>
          <p:cNvSpPr/>
          <p:nvPr/>
        </p:nvSpPr>
        <p:spPr>
          <a:xfrm>
            <a:off x="8065008" y="2148840"/>
            <a:ext cx="3529584" cy="2103120"/>
          </a:xfrm>
          <a:prstGeom prst="roundRect">
            <a:avLst>
              <a:gd name="adj" fmla="val 4348"/>
            </a:avLst>
          </a:prstGeom>
          <a:solidFill>
            <a:srgbClr val="FAE3E7"/>
          </a:solidFill>
          <a:ln/>
          <a:effectLst>
            <a:outerShdw sx="100000" sy="100000" kx="0" ky="0" algn="bl" rotWithShape="0" blurRad="101600" dist="12700" dir="5400000">
              <a:srgbClr val="000000">
                <a:alpha val="7000"/>
              </a:srgbClr>
            </a:outerShdw>
          </a:effectLst>
        </p:spPr>
      </p:sp>
      <p:sp>
        <p:nvSpPr>
          <p:cNvPr id="11" name="Text 9"/>
          <p:cNvSpPr txBox="1"/>
          <p:nvPr/>
        </p:nvSpPr>
        <p:spPr>
          <a:xfrm>
            <a:off x="8266176" y="2350008"/>
            <a:ext cx="3127248" cy="749808"/>
          </a:xfrm>
          <a:prstGeom prst="rect">
            <a:avLst/>
          </a:prstGeom>
          <a:noFill/>
          <a:ln/>
        </p:spPr>
        <p:txBody>
          <a:bodyPr wrap="square" lIns="0" tIns="0" rIns="0" bIns="0" rtlCol="0" anchor="ctr"/>
          <a:lstStyle/>
          <a:p>
            <a:pPr indent="0" marL="0">
              <a:buNone/>
            </a:pPr>
            <a:r>
              <a:rPr lang="en-US" sz="3600" b="1" dirty="0">
                <a:solidFill>
                  <a:srgbClr val="D6455B"/>
                </a:solidFill>
                <a:latin typeface="Cambria" pitchFamily="34" charset="0"/>
                <a:ea typeface="Cambria" pitchFamily="34" charset="-122"/>
                <a:cs typeface="Cambria" pitchFamily="34" charset="-120"/>
              </a:rPr>
              <a:t>0.092</a:t>
            </a:r>
            <a:endParaRPr lang="en-US" sz="3600" dirty="0"/>
          </a:p>
        </p:txBody>
      </p:sp>
      <p:sp>
        <p:nvSpPr>
          <p:cNvPr id="12" name="Text 10"/>
          <p:cNvSpPr txBox="1"/>
          <p:nvPr/>
        </p:nvSpPr>
        <p:spPr>
          <a:xfrm>
            <a:off x="8266176" y="3118104"/>
            <a:ext cx="3127248" cy="9509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How wide the confidence band is at the median configuration.</a:t>
            </a:r>
            <a:endParaRPr lang="en-US" sz="1250" dirty="0"/>
          </a:p>
        </p:txBody>
      </p:sp>
      <p:sp>
        <p:nvSpPr>
          <p:cNvPr id="13" name="Shape 11"/>
          <p:cNvSpPr/>
          <p:nvPr/>
        </p:nvSpPr>
        <p:spPr>
          <a:xfrm>
            <a:off x="566928" y="4407408"/>
            <a:ext cx="11027664" cy="1188720"/>
          </a:xfrm>
          <a:prstGeom prst="roundRect">
            <a:avLst>
              <a:gd name="adj" fmla="val 7692"/>
            </a:avLst>
          </a:prstGeom>
          <a:solidFill>
            <a:srgbClr val="FCEFDA"/>
          </a:solidFill>
          <a:ln/>
          <a:effectLst>
            <a:outerShdw sx="100000" sy="100000" kx="0" ky="0" algn="bl" rotWithShape="0" blurRad="101600" dist="12700" dir="5400000">
              <a:srgbClr val="000000">
                <a:alpha val="7000"/>
              </a:srgbClr>
            </a:outerShdw>
          </a:effectLst>
        </p:spPr>
      </p:sp>
      <p:sp>
        <p:nvSpPr>
          <p:cNvPr id="14" name="Text 12"/>
          <p:cNvSpPr txBox="1"/>
          <p:nvPr/>
        </p:nvSpPr>
        <p:spPr>
          <a:xfrm>
            <a:off x="804672" y="4645152"/>
            <a:ext cx="1055217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And the switch the proposal expected to help</a:t>
            </a:r>
            <a:endParaRPr lang="en-US" sz="1500" dirty="0"/>
          </a:p>
        </p:txBody>
      </p:sp>
      <p:sp>
        <p:nvSpPr>
          <p:cNvPr id="15" name="Text 13"/>
          <p:cNvSpPr txBox="1"/>
          <p:nvPr/>
        </p:nvSpPr>
        <p:spPr>
          <a:xfrm>
            <a:off x="804672" y="5102352"/>
            <a:ext cx="10552176" cy="310896"/>
          </a:xfrm>
          <a:prstGeom prst="rect">
            <a:avLst/>
          </a:prstGeom>
          <a:noFill/>
          <a:ln/>
        </p:spPr>
        <p:txBody>
          <a:bodyPr wrap="square" lIns="0" tIns="0" rIns="0" bIns="0" rtlCol="0" anchor="t"/>
          <a:lstStyle/>
          <a:p>
            <a:pPr indent="0" marL="0">
              <a:lnSpc>
                <a:spcPts val="1890"/>
              </a:lnSpc>
              <a:buNone/>
            </a:pPr>
            <a:r>
              <a:rPr lang="en-US" sz="1400" dirty="0">
                <a:solidFill>
                  <a:srgbClr val="5A6B62"/>
                </a:solidFill>
                <a:latin typeface="Calibri" pitchFamily="34" charset="0"/>
                <a:ea typeface="Calibri" pitchFamily="34" charset="-122"/>
                <a:cs typeface="Calibri" pitchFamily="34" charset="-120"/>
              </a:rPr>
              <a:t>CLAHE was predicted to fix floodlight glare. Measured on the honest split, it costs DINOv2 0.27 macro-F1.</a:t>
            </a:r>
            <a:endParaRPr lang="en-US" sz="1400" dirty="0"/>
          </a:p>
        </p:txBody>
      </p:sp>
      <p:sp>
        <p:nvSpPr>
          <p:cNvPr id="16" name="Text 14"/>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searches — preprocessing</a:t>
            </a:r>
            <a:endParaRPr lang="en-US" sz="1050" dirty="0"/>
          </a:p>
        </p:txBody>
      </p:sp>
      <p:sp>
        <p:nvSpPr>
          <p:cNvPr id="17" name="Text 15"/>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SEARCH 2 — PROMPTS, WITH ZERO LABELS</a:t>
            </a:r>
            <a:endParaRPr lang="en-US" sz="1200" dirty="0"/>
          </a:p>
        </p:txBody>
      </p:sp>
      <p:sp>
        <p:nvSpPr>
          <p:cNvPr id="3" name="Text 1"/>
          <p:cNvSpPr txBox="1"/>
          <p:nvPr/>
        </p:nvSpPr>
        <p:spPr>
          <a:xfrm>
            <a:off x="566928" y="713232"/>
            <a:ext cx="11027664" cy="118872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Wording moved the score nine times more than the model did</a:t>
            </a:r>
            <a:endParaRPr lang="en-US" sz="3800" dirty="0"/>
          </a:p>
        </p:txBody>
      </p:sp>
      <p:graphicFrame>
        <p:nvGraphicFramePr>
          <p:cNvPr id="4" name="Chart 0" descr=""/>
          <p:cNvGraphicFramePr/>
          <p:nvPr/>
        </p:nvGraphicFramePr>
        <p:xfrm>
          <a:off x="566928" y="2286000"/>
          <a:ext cx="6858000" cy="2377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 y="4754880"/>
            <a:ext cx="6858000" cy="365760"/>
          </a:xfrm>
          <a:prstGeom prst="rect">
            <a:avLst/>
          </a:prstGeom>
          <a:noFill/>
          <a:ln/>
        </p:spPr>
        <p:txBody>
          <a:bodyPr wrap="square" lIns="0" tIns="0" rIns="0" bIns="0" rtlCol="0" anchor="ctr"/>
          <a:lstStyle/>
          <a:p>
            <a:pPr indent="0" marL="0">
              <a:buNone/>
            </a:pPr>
            <a:r>
              <a:rPr lang="en-US" sz="1400" i="1" dirty="0">
                <a:solidFill>
                  <a:srgbClr val="5A6B62"/>
                </a:solidFill>
                <a:latin typeface="Calibri" pitchFamily="34" charset="0"/>
                <a:ea typeface="Calibri" pitchFamily="34" charset="-122"/>
                <a:cs typeface="Calibri" pitchFamily="34" charset="-120"/>
              </a:rPr>
              <a:t>Worst wording 0.021  →  best wording 0.747</a:t>
            </a:r>
            <a:endParaRPr lang="en-US" sz="1400" dirty="0"/>
          </a:p>
        </p:txBody>
      </p:sp>
      <p:sp>
        <p:nvSpPr>
          <p:cNvPr id="6" name="Shape 3"/>
          <p:cNvSpPr/>
          <p:nvPr/>
        </p:nvSpPr>
        <p:spPr>
          <a:xfrm>
            <a:off x="7744968" y="2286000"/>
            <a:ext cx="3849624" cy="1417320"/>
          </a:xfrm>
          <a:prstGeom prst="roundRect">
            <a:avLst>
              <a:gd name="adj" fmla="val 6452"/>
            </a:avLst>
          </a:prstGeom>
          <a:solidFill>
            <a:srgbClr val="FCEFDA"/>
          </a:solidFill>
          <a:ln/>
          <a:effectLst>
            <a:outerShdw sx="100000" sy="100000" kx="0" ky="0" algn="bl" rotWithShape="0" blurRad="101600" dist="12700" dir="5400000">
              <a:srgbClr val="000000">
                <a:alpha val="7000"/>
              </a:srgbClr>
            </a:outerShdw>
          </a:effectLst>
        </p:spPr>
      </p:sp>
      <p:sp>
        <p:nvSpPr>
          <p:cNvPr id="7" name="Text 4"/>
          <p:cNvSpPr txBox="1"/>
          <p:nvPr/>
        </p:nvSpPr>
        <p:spPr>
          <a:xfrm>
            <a:off x="7982712" y="2523744"/>
            <a:ext cx="337413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Only 22.9% beat the trained probe</a:t>
            </a:r>
            <a:endParaRPr lang="en-US" sz="1500" dirty="0"/>
          </a:p>
        </p:txBody>
      </p:sp>
      <p:sp>
        <p:nvSpPr>
          <p:cNvPr id="8" name="Text 5"/>
          <p:cNvSpPr txBox="1"/>
          <p:nvPr/>
        </p:nvSpPr>
        <p:spPr>
          <a:xfrm>
            <a:off x="7982712" y="2980944"/>
            <a:ext cx="3374136" cy="539496"/>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median prompt set loses to it. “Zero-shot works” is only true if you already know the wording — which needs labels.</a:t>
            </a:r>
            <a:endParaRPr lang="en-US" sz="1300" dirty="0"/>
          </a:p>
        </p:txBody>
      </p:sp>
      <p:sp>
        <p:nvSpPr>
          <p:cNvPr id="9" name="Shape 6"/>
          <p:cNvSpPr/>
          <p:nvPr/>
        </p:nvSpPr>
        <p:spPr>
          <a:xfrm>
            <a:off x="7744968" y="3886200"/>
            <a:ext cx="3849624" cy="1417320"/>
          </a:xfrm>
          <a:prstGeom prst="roundRect">
            <a:avLst>
              <a:gd name="adj" fmla="val 6452"/>
            </a:avLst>
          </a:prstGeom>
          <a:solidFill>
            <a:srgbClr val="FAE3E7"/>
          </a:solidFill>
          <a:ln/>
          <a:effectLst>
            <a:outerShdw sx="100000" sy="100000" kx="0" ky="0" algn="bl" rotWithShape="0" blurRad="101600" dist="12700" dir="5400000">
              <a:srgbClr val="000000">
                <a:alpha val="7000"/>
              </a:srgbClr>
            </a:outerShdw>
          </a:effectLst>
        </p:spPr>
      </p:sp>
      <p:sp>
        <p:nvSpPr>
          <p:cNvPr id="10" name="Text 7"/>
          <p:cNvSpPr txBox="1"/>
          <p:nvPr/>
        </p:nvSpPr>
        <p:spPr>
          <a:xfrm>
            <a:off x="7982712" y="4123944"/>
            <a:ext cx="337413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Picked, not proven</a:t>
            </a:r>
            <a:endParaRPr lang="en-US" sz="1500" dirty="0"/>
          </a:p>
        </p:txBody>
      </p:sp>
      <p:sp>
        <p:nvSpPr>
          <p:cNvPr id="11" name="Text 8"/>
          <p:cNvSpPr txBox="1"/>
          <p:nvPr/>
        </p:nvSpPr>
        <p:spPr>
          <a:xfrm>
            <a:off x="7982712" y="4581144"/>
            <a:ext cx="3374136" cy="539496"/>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winner leads a pre-declared prompt by 0.447 — on the very folds it was selected from. Selection bias, as a number.</a:t>
            </a:r>
            <a:endParaRPr lang="en-US" sz="1300" dirty="0"/>
          </a:p>
        </p:txBody>
      </p:sp>
      <p:sp>
        <p:nvSpPr>
          <p:cNvPr id="12" name="Text 9"/>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searches — prompts</a:t>
            </a:r>
            <a:endParaRPr lang="en-US" sz="1050" dirty="0"/>
          </a:p>
        </p:txBody>
      </p:sp>
      <p:sp>
        <p:nvSpPr>
          <p:cNvPr id="13" name="Text 10"/>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AUGMENTATION</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A good question, cheaply asked</a:t>
            </a:r>
            <a:endParaRPr lang="en-US" sz="3800" dirty="0"/>
          </a:p>
        </p:txBody>
      </p:sp>
      <p:sp>
        <p:nvSpPr>
          <p:cNvPr id="4" name="Text 2"/>
          <p:cNvSpPr txBox="1"/>
          <p:nvPr/>
        </p:nvSpPr>
        <p:spPr>
          <a:xfrm>
            <a:off x="566928" y="1664208"/>
            <a:ext cx="10607040" cy="64008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A probe trained on camera A has to work on camera B. Can augmentation close that gap with no labels from B?</a:t>
            </a:r>
            <a:endParaRPr lang="en-US" sz="1700" dirty="0"/>
          </a:p>
        </p:txBody>
      </p:sp>
      <p:sp>
        <p:nvSpPr>
          <p:cNvPr id="5" name="Shape 3"/>
          <p:cNvSpPr/>
          <p:nvPr/>
        </p:nvSpPr>
        <p:spPr>
          <a:xfrm>
            <a:off x="566928" y="2697480"/>
            <a:ext cx="3529584" cy="1645920"/>
          </a:xfrm>
          <a:prstGeom prst="roundRect">
            <a:avLst>
              <a:gd name="adj" fmla="val 5556"/>
            </a:avLst>
          </a:prstGeom>
          <a:solidFill>
            <a:srgbClr val="FAE3E7"/>
          </a:solidFill>
          <a:ln/>
          <a:effectLst>
            <a:outerShdw sx="100000" sy="100000" kx="0" ky="0" algn="bl" rotWithShape="0" blurRad="101600" dist="12700" dir="5400000">
              <a:srgbClr val="000000">
                <a:alpha val="7000"/>
              </a:srgbClr>
            </a:outerShdw>
          </a:effectLst>
        </p:spPr>
      </p:sp>
      <p:sp>
        <p:nvSpPr>
          <p:cNvPr id="6" name="Text 4"/>
          <p:cNvSpPr txBox="1"/>
          <p:nvPr/>
        </p:nvSpPr>
        <p:spPr>
          <a:xfrm>
            <a:off x="768096" y="2898648"/>
            <a:ext cx="3127248" cy="749808"/>
          </a:xfrm>
          <a:prstGeom prst="rect">
            <a:avLst/>
          </a:prstGeom>
          <a:noFill/>
          <a:ln/>
        </p:spPr>
        <p:txBody>
          <a:bodyPr wrap="square" lIns="0" tIns="0" rIns="0" bIns="0" rtlCol="0" anchor="ctr"/>
          <a:lstStyle/>
          <a:p>
            <a:pPr indent="0" marL="0">
              <a:buNone/>
            </a:pPr>
            <a:r>
              <a:rPr lang="en-US" sz="4000" b="1" dirty="0">
                <a:solidFill>
                  <a:srgbClr val="D6455B"/>
                </a:solidFill>
                <a:latin typeface="Cambria" pitchFamily="34" charset="0"/>
                <a:ea typeface="Cambria" pitchFamily="34" charset="-122"/>
                <a:cs typeface="Cambria" pitchFamily="34" charset="-120"/>
              </a:rPr>
              <a:t>0.441</a:t>
            </a:r>
            <a:endParaRPr lang="en-US" sz="4000" dirty="0"/>
          </a:p>
        </p:txBody>
      </p:sp>
      <p:sp>
        <p:nvSpPr>
          <p:cNvPr id="7" name="Text 5"/>
          <p:cNvSpPr txBox="1"/>
          <p:nvPr/>
        </p:nvSpPr>
        <p:spPr>
          <a:xfrm>
            <a:off x="768096" y="3666744"/>
            <a:ext cx="3127248" cy="4937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macro-F1 on camera B, having seen no labels from it</a:t>
            </a:r>
            <a:endParaRPr lang="en-US" sz="1250" dirty="0"/>
          </a:p>
        </p:txBody>
      </p:sp>
      <p:sp>
        <p:nvSpPr>
          <p:cNvPr id="8" name="Shape 6"/>
          <p:cNvSpPr/>
          <p:nvPr/>
        </p:nvSpPr>
        <p:spPr>
          <a:xfrm>
            <a:off x="4315968" y="2697480"/>
            <a:ext cx="3529584" cy="1645920"/>
          </a:xfrm>
          <a:prstGeom prst="roundRect">
            <a:avLst>
              <a:gd name="adj" fmla="val 5556"/>
            </a:avLst>
          </a:prstGeom>
          <a:solidFill>
            <a:srgbClr val="E6F3EC"/>
          </a:solidFill>
          <a:ln/>
          <a:effectLst>
            <a:outerShdw sx="100000" sy="100000" kx="0" ky="0" algn="bl" rotWithShape="0" blurRad="101600" dist="12700" dir="5400000">
              <a:srgbClr val="000000">
                <a:alpha val="7000"/>
              </a:srgbClr>
            </a:outerShdw>
          </a:effectLst>
        </p:spPr>
      </p:sp>
      <p:sp>
        <p:nvSpPr>
          <p:cNvPr id="9" name="Text 7"/>
          <p:cNvSpPr txBox="1"/>
          <p:nvPr/>
        </p:nvSpPr>
        <p:spPr>
          <a:xfrm>
            <a:off x="4517136" y="2898648"/>
            <a:ext cx="3127248" cy="749808"/>
          </a:xfrm>
          <a:prstGeom prst="rect">
            <a:avLst/>
          </a:prstGeom>
          <a:noFill/>
          <a:ln/>
        </p:spPr>
        <p:txBody>
          <a:bodyPr wrap="square" lIns="0" tIns="0" rIns="0" bIns="0" rtlCol="0" anchor="ctr"/>
          <a:lstStyle/>
          <a:p>
            <a:pPr indent="0" marL="0">
              <a:buNone/>
            </a:pPr>
            <a:r>
              <a:rPr lang="en-US" sz="4000" b="1" dirty="0">
                <a:solidFill>
                  <a:srgbClr val="1F7A4C"/>
                </a:solidFill>
                <a:latin typeface="Cambria" pitchFamily="34" charset="0"/>
                <a:ea typeface="Cambria" pitchFamily="34" charset="-122"/>
                <a:cs typeface="Cambria" pitchFamily="34" charset="-120"/>
              </a:rPr>
              <a:t>0.990</a:t>
            </a:r>
            <a:endParaRPr lang="en-US" sz="4000" dirty="0"/>
          </a:p>
        </p:txBody>
      </p:sp>
      <p:sp>
        <p:nvSpPr>
          <p:cNvPr id="10" name="Text 8"/>
          <p:cNvSpPr txBox="1"/>
          <p:nvPr/>
        </p:nvSpPr>
        <p:spPr>
          <a:xfrm>
            <a:off x="4517136" y="3666744"/>
            <a:ext cx="3127248" cy="4937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after one labelled frame of camera B</a:t>
            </a:r>
            <a:endParaRPr lang="en-US" sz="1250" dirty="0"/>
          </a:p>
        </p:txBody>
      </p:sp>
      <p:sp>
        <p:nvSpPr>
          <p:cNvPr id="11" name="Shape 9"/>
          <p:cNvSpPr/>
          <p:nvPr/>
        </p:nvSpPr>
        <p:spPr>
          <a:xfrm>
            <a:off x="8065008" y="2697480"/>
            <a:ext cx="3529584" cy="1645920"/>
          </a:xfrm>
          <a:prstGeom prst="roundRect">
            <a:avLst>
              <a:gd name="adj" fmla="val 5556"/>
            </a:avLst>
          </a:prstGeom>
          <a:solidFill>
            <a:srgbClr val="FCEFDA"/>
          </a:solidFill>
          <a:ln/>
          <a:effectLst>
            <a:outerShdw sx="100000" sy="100000" kx="0" ky="0" algn="bl" rotWithShape="0" blurRad="101600" dist="12700" dir="5400000">
              <a:srgbClr val="000000">
                <a:alpha val="7000"/>
              </a:srgbClr>
            </a:outerShdw>
          </a:effectLst>
        </p:spPr>
      </p:sp>
      <p:sp>
        <p:nvSpPr>
          <p:cNvPr id="12" name="Text 10"/>
          <p:cNvSpPr txBox="1"/>
          <p:nvPr/>
        </p:nvSpPr>
        <p:spPr>
          <a:xfrm>
            <a:off x="8266176" y="2898648"/>
            <a:ext cx="3127248" cy="749808"/>
          </a:xfrm>
          <a:prstGeom prst="rect">
            <a:avLst/>
          </a:prstGeom>
          <a:noFill/>
          <a:ln/>
        </p:spPr>
        <p:txBody>
          <a:bodyPr wrap="square" lIns="0" tIns="0" rIns="0" bIns="0" rtlCol="0" anchor="ctr"/>
          <a:lstStyle/>
          <a:p>
            <a:pPr indent="0" marL="0">
              <a:buNone/>
            </a:pPr>
            <a:r>
              <a:rPr lang="en-US" sz="4000" b="1" dirty="0">
                <a:solidFill>
                  <a:srgbClr val="B26A00"/>
                </a:solidFill>
                <a:latin typeface="Cambria" pitchFamily="34" charset="0"/>
                <a:ea typeface="Cambria" pitchFamily="34" charset="-122"/>
                <a:cs typeface="Cambria" pitchFamily="34" charset="-120"/>
              </a:rPr>
              <a:t>?</a:t>
            </a:r>
            <a:endParaRPr lang="en-US" sz="4000" dirty="0"/>
          </a:p>
        </p:txBody>
      </p:sp>
      <p:sp>
        <p:nvSpPr>
          <p:cNvPr id="13" name="Text 11"/>
          <p:cNvSpPr txBox="1"/>
          <p:nvPr/>
        </p:nvSpPr>
        <p:spPr>
          <a:xfrm>
            <a:off x="8266176" y="3666744"/>
            <a:ext cx="3127248" cy="49377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can brightness and gamma augmentation get there for free?</a:t>
            </a:r>
            <a:endParaRPr lang="en-US" sz="1250" dirty="0"/>
          </a:p>
        </p:txBody>
      </p:sp>
      <p:sp>
        <p:nvSpPr>
          <p:cNvPr id="14" name="Shape 12"/>
          <p:cNvSpPr/>
          <p:nvPr/>
        </p:nvSpPr>
        <p:spPr>
          <a:xfrm>
            <a:off x="566928" y="4498848"/>
            <a:ext cx="11027664" cy="1188720"/>
          </a:xfrm>
          <a:prstGeom prst="roundRect">
            <a:avLst>
              <a:gd name="adj" fmla="val 7692"/>
            </a:avLst>
          </a:prstGeom>
          <a:solidFill>
            <a:srgbClr val="F4F7F4"/>
          </a:solidFill>
          <a:ln/>
          <a:effectLst>
            <a:outerShdw sx="100000" sy="100000" kx="0" ky="0" algn="bl" rotWithShape="0" blurRad="101600" dist="12700" dir="5400000">
              <a:srgbClr val="000000">
                <a:alpha val="7000"/>
              </a:srgbClr>
            </a:outerShdw>
          </a:effectLst>
        </p:spPr>
      </p:sp>
      <p:sp>
        <p:nvSpPr>
          <p:cNvPr id="15" name="Text 13"/>
          <p:cNvSpPr txBox="1"/>
          <p:nvPr/>
        </p:nvSpPr>
        <p:spPr>
          <a:xfrm>
            <a:off x="804672" y="4736592"/>
            <a:ext cx="10552176" cy="768096"/>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Augmentation is not a flag in the main benchmark, and that is a budget decision. Every other experiment fits a probe on cached embeddings; augmentation happens before the backbone, so each augmented view needs its own forward pass and the cache stops being a cache.</a:t>
            </a:r>
            <a:endParaRPr lang="en-US" sz="1350" dirty="0"/>
          </a:p>
        </p:txBody>
      </p:sp>
      <p:sp>
        <p:nvSpPr>
          <p:cNvPr id="16" name="Text 14"/>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Augmentation — the question</a:t>
            </a:r>
            <a:endParaRPr lang="en-US" sz="1050" dirty="0"/>
          </a:p>
        </p:txBody>
      </p:sp>
      <p:sp>
        <p:nvSpPr>
          <p:cNvPr id="17" name="Text 15"/>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AUGMENTATION — THE FIRST ANSWER</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It worked. We wrote it up.</a:t>
            </a:r>
            <a:endParaRPr lang="en-US" sz="3800" dirty="0"/>
          </a:p>
        </p:txBody>
      </p:sp>
      <p:sp>
        <p:nvSpPr>
          <p:cNvPr id="4" name="Shape 2"/>
          <p:cNvSpPr/>
          <p:nvPr/>
        </p:nvSpPr>
        <p:spPr>
          <a:xfrm>
            <a:off x="566928" y="2194560"/>
            <a:ext cx="5358384" cy="2834640"/>
          </a:xfrm>
          <a:prstGeom prst="roundRect">
            <a:avLst>
              <a:gd name="adj" fmla="val 3226"/>
            </a:avLst>
          </a:prstGeom>
          <a:solidFill>
            <a:srgbClr val="E6F3EC"/>
          </a:solidFill>
          <a:ln/>
          <a:effectLst>
            <a:outerShdw sx="100000" sy="100000" kx="0" ky="0" algn="bl" rotWithShape="0" blurRad="101600" dist="12700" dir="5400000">
              <a:srgbClr val="000000">
                <a:alpha val="7000"/>
              </a:srgbClr>
            </a:outerShdw>
          </a:effectLst>
        </p:spPr>
      </p:sp>
      <p:sp>
        <p:nvSpPr>
          <p:cNvPr id="5" name="Shape 3"/>
          <p:cNvSpPr/>
          <p:nvPr/>
        </p:nvSpPr>
        <p:spPr>
          <a:xfrm>
            <a:off x="877824" y="2432304"/>
            <a:ext cx="1371600" cy="329184"/>
          </a:xfrm>
          <a:prstGeom prst="roundRect">
            <a:avLst>
              <a:gd name="adj" fmla="val 50000"/>
            </a:avLst>
          </a:prstGeom>
          <a:solidFill>
            <a:srgbClr val="1F7A4C"/>
          </a:solidFill>
          <a:ln/>
        </p:spPr>
      </p:sp>
      <p:sp>
        <p:nvSpPr>
          <p:cNvPr id="6" name="Text 4"/>
          <p:cNvSpPr txBox="1"/>
          <p:nvPr/>
        </p:nvSpPr>
        <p:spPr>
          <a:xfrm>
            <a:off x="877824" y="2432304"/>
            <a:ext cx="1371600" cy="329184"/>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PUBLISHED</a:t>
            </a:r>
            <a:endParaRPr lang="en-US" sz="1050" dirty="0"/>
          </a:p>
        </p:txBody>
      </p:sp>
      <p:sp>
        <p:nvSpPr>
          <p:cNvPr id="7" name="Text 5"/>
          <p:cNvSpPr txBox="1"/>
          <p:nvPr/>
        </p:nvSpPr>
        <p:spPr>
          <a:xfrm>
            <a:off x="877824" y="2926080"/>
            <a:ext cx="4736592" cy="731520"/>
          </a:xfrm>
          <a:prstGeom prst="rect">
            <a:avLst/>
          </a:prstGeom>
          <a:noFill/>
          <a:ln/>
        </p:spPr>
        <p:txBody>
          <a:bodyPr wrap="square" lIns="0" tIns="0" rIns="0" bIns="0" rtlCol="0" anchor="ctr"/>
          <a:lstStyle/>
          <a:p>
            <a:pPr indent="0" marL="0">
              <a:buNone/>
            </a:pPr>
            <a:r>
              <a:rPr lang="en-US" sz="4000" b="1" dirty="0">
                <a:solidFill>
                  <a:srgbClr val="5A6B62"/>
                </a:solidFill>
                <a:latin typeface="Cambria" pitchFamily="34" charset="0"/>
                <a:ea typeface="Cambria" pitchFamily="34" charset="-122"/>
                <a:cs typeface="Cambria" pitchFamily="34" charset="-120"/>
              </a:rPr>
              <a:t>0.000</a:t>
            </a:r>
            <a:pPr indent="0" marL="0">
              <a:buNone/>
            </a:pPr>
            <a:r>
              <a:rPr lang="en-US" sz="2000" dirty="0">
                <a:solidFill>
                  <a:srgbClr val="5A6B62"/>
                </a:solidFill>
                <a:latin typeface="Calibri" pitchFamily="34" charset="0"/>
                <a:ea typeface="Calibri" pitchFamily="34" charset="-122"/>
                <a:cs typeface="Calibri" pitchFamily="34" charset="-120"/>
              </a:rPr>
              <a:t>   →   </a:t>
            </a:r>
            <a:pPr indent="0" marL="0">
              <a:buNone/>
            </a:pPr>
            <a:r>
              <a:rPr lang="en-US" sz="4000" b="1" dirty="0">
                <a:solidFill>
                  <a:srgbClr val="1F7A4C"/>
                </a:solidFill>
                <a:latin typeface="Cambria" pitchFamily="34" charset="0"/>
                <a:ea typeface="Cambria" pitchFamily="34" charset="-122"/>
                <a:cs typeface="Cambria" pitchFamily="34" charset="-120"/>
              </a:rPr>
              <a:t>0.687</a:t>
            </a:r>
            <a:endParaRPr lang="en-US" sz="4000" dirty="0"/>
          </a:p>
        </p:txBody>
      </p:sp>
      <p:sp>
        <p:nvSpPr>
          <p:cNvPr id="8" name="Text 6"/>
          <p:cNvSpPr txBox="1"/>
          <p:nvPr/>
        </p:nvSpPr>
        <p:spPr>
          <a:xfrm>
            <a:off x="877824" y="3694176"/>
            <a:ext cx="4736592" cy="603504"/>
          </a:xfrm>
          <a:prstGeom prst="rect">
            <a:avLst/>
          </a:prstGeom>
          <a:noFill/>
          <a:ln/>
        </p:spPr>
        <p:txBody>
          <a:bodyPr wrap="square" lIns="0" tIns="0" rIns="0" bIns="0" rtlCol="0" anchor="t"/>
          <a:lstStyle/>
          <a:p>
            <a:pPr indent="0" marL="0">
              <a:lnSpc>
                <a:spcPts val="1800"/>
              </a:lnSpc>
              <a:buNone/>
            </a:pPr>
            <a:r>
              <a:rPr lang="en-US" sz="1400" dirty="0">
                <a:solidFill>
                  <a:srgbClr val="5A6B62"/>
                </a:solidFill>
                <a:latin typeface="Calibri" pitchFamily="34" charset="0"/>
                <a:ea typeface="Calibri" pitchFamily="34" charset="-122"/>
                <a:cs typeface="Calibri" pitchFamily="34" charset="-120"/>
              </a:rPr>
              <a:t>empty-pitch recall on a camera the model had never seen, with no labels from it</a:t>
            </a:r>
            <a:endParaRPr lang="en-US" sz="1400" dirty="0"/>
          </a:p>
        </p:txBody>
      </p:sp>
      <p:sp>
        <p:nvSpPr>
          <p:cNvPr id="9" name="Text 7"/>
          <p:cNvSpPr txBox="1"/>
          <p:nvPr/>
        </p:nvSpPr>
        <p:spPr>
          <a:xfrm>
            <a:off x="877824" y="4352544"/>
            <a:ext cx="4736592" cy="411480"/>
          </a:xfrm>
          <a:prstGeom prst="rect">
            <a:avLst/>
          </a:prstGeom>
          <a:noFill/>
          <a:ln/>
        </p:spPr>
        <p:txBody>
          <a:bodyPr wrap="square" lIns="0" tIns="0" rIns="0" bIns="0" rtlCol="0" anchor="ctr"/>
          <a:lstStyle/>
          <a:p>
            <a:pPr indent="0" marL="0">
              <a:buNone/>
            </a:pPr>
            <a:r>
              <a:rPr lang="en-US" sz="2100" b="1" dirty="0">
                <a:solidFill>
                  <a:srgbClr val="16211C"/>
                </a:solidFill>
                <a:latin typeface="Cambria" pitchFamily="34" charset="0"/>
                <a:ea typeface="Cambria" pitchFamily="34" charset="-122"/>
                <a:cs typeface="Cambria" pitchFamily="34" charset="-120"/>
              </a:rPr>
              <a:t>macro-F1  0.855</a:t>
            </a:r>
            <a:endParaRPr lang="en-US" sz="2100" dirty="0"/>
          </a:p>
        </p:txBody>
      </p:sp>
      <p:sp>
        <p:nvSpPr>
          <p:cNvPr id="10" name="Shape 8"/>
          <p:cNvSpPr/>
          <p:nvPr/>
        </p:nvSpPr>
        <p:spPr>
          <a:xfrm>
            <a:off x="6236208" y="2194560"/>
            <a:ext cx="5358384" cy="1353312"/>
          </a:xfrm>
          <a:prstGeom prst="roundRect">
            <a:avLst>
              <a:gd name="adj" fmla="val 6757"/>
            </a:avLst>
          </a:prstGeom>
          <a:solidFill>
            <a:srgbClr val="F4F7F4"/>
          </a:solidFill>
          <a:ln/>
          <a:effectLst>
            <a:outerShdw sx="100000" sy="100000" kx="0" ky="0" algn="bl" rotWithShape="0" blurRad="101600" dist="12700" dir="5400000">
              <a:srgbClr val="000000">
                <a:alpha val="7000"/>
              </a:srgbClr>
            </a:outerShdw>
          </a:effectLst>
        </p:spPr>
      </p:sp>
      <p:sp>
        <p:nvSpPr>
          <p:cNvPr id="11" name="Text 9"/>
          <p:cNvSpPr txBox="1"/>
          <p:nvPr/>
        </p:nvSpPr>
        <p:spPr>
          <a:xfrm>
            <a:off x="6473952" y="2432304"/>
            <a:ext cx="488289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The preset</a:t>
            </a:r>
            <a:endParaRPr lang="en-US" sz="1500" dirty="0"/>
          </a:p>
        </p:txBody>
      </p:sp>
      <p:sp>
        <p:nvSpPr>
          <p:cNvPr id="12" name="Text 10"/>
          <p:cNvSpPr txBox="1"/>
          <p:nvPr/>
        </p:nvSpPr>
        <p:spPr>
          <a:xfrm>
            <a:off x="6473952" y="2889504"/>
            <a:ext cx="4882896" cy="4754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Brightness, gamma and sensor noise — matched to the way the two cameras actually differ.</a:t>
            </a:r>
            <a:endParaRPr lang="en-US" sz="1350" dirty="0"/>
          </a:p>
        </p:txBody>
      </p:sp>
      <p:sp>
        <p:nvSpPr>
          <p:cNvPr id="13" name="Shape 11"/>
          <p:cNvSpPr/>
          <p:nvPr/>
        </p:nvSpPr>
        <p:spPr>
          <a:xfrm>
            <a:off x="6236208" y="3675888"/>
            <a:ext cx="5358384" cy="1353312"/>
          </a:xfrm>
          <a:prstGeom prst="roundRect">
            <a:avLst>
              <a:gd name="adj" fmla="val 6757"/>
            </a:avLst>
          </a:prstGeom>
          <a:solidFill>
            <a:srgbClr val="FCEFDA"/>
          </a:solidFill>
          <a:ln/>
          <a:effectLst>
            <a:outerShdw sx="100000" sy="100000" kx="0" ky="0" algn="bl" rotWithShape="0" blurRad="101600" dist="12700" dir="5400000">
              <a:srgbClr val="000000">
                <a:alpha val="7000"/>
              </a:srgbClr>
            </a:outerShdw>
          </a:effectLst>
        </p:spPr>
      </p:sp>
      <p:sp>
        <p:nvSpPr>
          <p:cNvPr id="14" name="Text 12"/>
          <p:cNvSpPr txBox="1"/>
          <p:nvPr/>
        </p:nvSpPr>
        <p:spPr>
          <a:xfrm>
            <a:off x="6473952" y="3913632"/>
            <a:ext cx="4882896" cy="457200"/>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With one note attached</a:t>
            </a:r>
            <a:endParaRPr lang="en-US" sz="1500" dirty="0"/>
          </a:p>
        </p:txBody>
      </p:sp>
      <p:sp>
        <p:nvSpPr>
          <p:cNvPr id="15" name="Text 13"/>
          <p:cNvSpPr txBox="1"/>
          <p:nvPr/>
        </p:nvSpPr>
        <p:spPr>
          <a:xfrm>
            <a:off x="6473952" y="4370832"/>
            <a:ext cx="4882896" cy="475488"/>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“Only one draw has been taken.” That note turned out to be the finding.</a:t>
            </a:r>
            <a:endParaRPr lang="en-US" sz="1350" dirty="0"/>
          </a:p>
        </p:txBody>
      </p:sp>
      <p:sp>
        <p:nvSpPr>
          <p:cNvPr id="16" name="Text 14"/>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Augmentation — the first answer</a:t>
            </a:r>
            <a:endParaRPr lang="en-US" sz="1050" dirty="0"/>
          </a:p>
        </p:txBody>
      </p:sp>
      <p:sp>
        <p:nvSpPr>
          <p:cNvPr id="17" name="Text 15"/>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AUGMENTATION — THEN WE RAN IT FOUR MORE TIMES</a:t>
            </a:r>
            <a:endParaRPr lang="en-US" sz="1200" dirty="0"/>
          </a:p>
        </p:txBody>
      </p:sp>
      <p:sp>
        <p:nvSpPr>
          <p:cNvPr id="3" name="Text 1"/>
          <p:cNvSpPr txBox="1"/>
          <p:nvPr/>
        </p:nvSpPr>
        <p:spPr>
          <a:xfrm>
            <a:off x="566928" y="713232"/>
            <a:ext cx="11027664" cy="118872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Same code, same data. Only the random draw changed.</a:t>
            </a:r>
            <a:endParaRPr lang="en-US" sz="3800" dirty="0"/>
          </a:p>
        </p:txBody>
      </p:sp>
      <p:graphicFrame>
        <p:nvGraphicFramePr>
          <p:cNvPr id="4" name="Chart 0" descr=""/>
          <p:cNvGraphicFramePr/>
          <p:nvPr/>
        </p:nvGraphicFramePr>
        <p:xfrm>
          <a:off x="566928" y="2286000"/>
          <a:ext cx="7223760" cy="2971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10728" y="2286000"/>
            <a:ext cx="3483864" cy="1371600"/>
          </a:xfrm>
          <a:prstGeom prst="roundRect">
            <a:avLst>
              <a:gd name="adj" fmla="val 6667"/>
            </a:avLst>
          </a:prstGeom>
          <a:solidFill>
            <a:srgbClr val="FCEFDA"/>
          </a:solidFill>
          <a:ln/>
          <a:effectLst>
            <a:outerShdw sx="100000" sy="100000" kx="0" ky="0" algn="bl" rotWithShape="0" blurRad="101600" dist="12700" dir="5400000">
              <a:srgbClr val="000000">
                <a:alpha val="7000"/>
              </a:srgbClr>
            </a:outerShdw>
          </a:effectLst>
        </p:spPr>
      </p:sp>
      <p:sp>
        <p:nvSpPr>
          <p:cNvPr id="6" name="Text 3"/>
          <p:cNvSpPr txBox="1"/>
          <p:nvPr/>
        </p:nvSpPr>
        <p:spPr>
          <a:xfrm>
            <a:off x="8348472" y="2523744"/>
            <a:ext cx="3008376" cy="950976"/>
          </a:xfrm>
          <a:prstGeom prst="rect">
            <a:avLst/>
          </a:prstGeom>
          <a:noFill/>
          <a:ln/>
        </p:spPr>
        <p:txBody>
          <a:bodyPr wrap="square" lIns="0" tIns="0" rIns="0" bIns="0" rtlCol="0" anchor="t"/>
          <a:lstStyle/>
          <a:p>
            <a:pPr indent="0" marL="0">
              <a:lnSpc>
                <a:spcPts val="1823"/>
              </a:lnSpc>
              <a:buNone/>
            </a:pPr>
            <a:r>
              <a:rPr lang="en-US" sz="1350" dirty="0">
                <a:solidFill>
                  <a:srgbClr val="5A6B62"/>
                </a:solidFill>
                <a:latin typeface="Calibri" pitchFamily="34" charset="0"/>
                <a:ea typeface="Calibri" pitchFamily="34" charset="-122"/>
                <a:cs typeface="Calibri" pitchFamily="34" charset="-120"/>
              </a:rPr>
              <a:t>No augmentation at all scores 0.441. Four of the five draws fall below it, and the published number was the maximum of five.</a:t>
            </a:r>
            <a:endParaRPr lang="en-US" sz="1350" dirty="0"/>
          </a:p>
        </p:txBody>
      </p:sp>
      <p:sp>
        <p:nvSpPr>
          <p:cNvPr id="7" name="Shape 4"/>
          <p:cNvSpPr/>
          <p:nvPr/>
        </p:nvSpPr>
        <p:spPr>
          <a:xfrm>
            <a:off x="8110728" y="3794760"/>
            <a:ext cx="3483864" cy="1463040"/>
          </a:xfrm>
          <a:prstGeom prst="roundRect">
            <a:avLst>
              <a:gd name="adj" fmla="val 6250"/>
            </a:avLst>
          </a:prstGeom>
          <a:solidFill>
            <a:srgbClr val="FAE3E7"/>
          </a:solidFill>
          <a:ln/>
          <a:effectLst>
            <a:outerShdw sx="100000" sy="100000" kx="0" ky="0" algn="bl" rotWithShape="0" blurRad="101600" dist="12700" dir="5400000">
              <a:srgbClr val="000000">
                <a:alpha val="7000"/>
              </a:srgbClr>
            </a:outerShdw>
          </a:effectLst>
        </p:spPr>
      </p:sp>
      <p:sp>
        <p:nvSpPr>
          <p:cNvPr id="8" name="Text 5"/>
          <p:cNvSpPr txBox="1"/>
          <p:nvPr/>
        </p:nvSpPr>
        <p:spPr>
          <a:xfrm>
            <a:off x="8311896" y="3995928"/>
            <a:ext cx="3081528" cy="749808"/>
          </a:xfrm>
          <a:prstGeom prst="rect">
            <a:avLst/>
          </a:prstGeom>
          <a:noFill/>
          <a:ln/>
        </p:spPr>
        <p:txBody>
          <a:bodyPr wrap="square" lIns="0" tIns="0" rIns="0" bIns="0" rtlCol="0" anchor="ctr"/>
          <a:lstStyle/>
          <a:p>
            <a:pPr indent="0" marL="0">
              <a:buNone/>
            </a:pPr>
            <a:r>
              <a:rPr lang="en-US" sz="3200" b="1" dirty="0">
                <a:solidFill>
                  <a:srgbClr val="D6455B"/>
                </a:solidFill>
                <a:latin typeface="Cambria" pitchFamily="34" charset="0"/>
                <a:ea typeface="Cambria" pitchFamily="34" charset="-122"/>
                <a:cs typeface="Cambria" pitchFamily="34" charset="-120"/>
              </a:rPr>
              <a:t>0.221</a:t>
            </a:r>
            <a:endParaRPr lang="en-US" sz="3200" dirty="0"/>
          </a:p>
        </p:txBody>
      </p:sp>
      <p:sp>
        <p:nvSpPr>
          <p:cNvPr id="9" name="Text 6"/>
          <p:cNvSpPr txBox="1"/>
          <p:nvPr/>
        </p:nvSpPr>
        <p:spPr>
          <a:xfrm>
            <a:off x="8311896" y="4764024"/>
            <a:ext cx="3081528" cy="3108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standard deviation, on a metric bounded in [0, 1]</a:t>
            </a:r>
            <a:endParaRPr lang="en-US" sz="1250" dirty="0"/>
          </a:p>
        </p:txBody>
      </p:sp>
      <p:sp>
        <p:nvSpPr>
          <p:cNvPr id="10" name="Text 7"/>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Augmentation — five draws</a:t>
            </a:r>
            <a:endParaRPr lang="en-US" sz="1050" dirty="0"/>
          </a:p>
        </p:txBody>
      </p:sp>
      <p:sp>
        <p:nvSpPr>
          <p:cNvPr id="11" name="Text 8"/>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A1721"/>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F2A33C"/>
                </a:solidFill>
                <a:latin typeface="Calibri" pitchFamily="34" charset="0"/>
                <a:ea typeface="Calibri" pitchFamily="34" charset="-122"/>
                <a:cs typeface="Calibri" pitchFamily="34" charset="-120"/>
              </a:rPr>
              <a:t>AUGMENTATION — THE LESSON</a:t>
            </a:r>
            <a:endParaRPr lang="en-US" sz="1200" dirty="0"/>
          </a:p>
        </p:txBody>
      </p:sp>
      <p:sp>
        <p:nvSpPr>
          <p:cNvPr id="3" name="Text 1"/>
          <p:cNvSpPr txBox="1"/>
          <p:nvPr/>
        </p:nvSpPr>
        <p:spPr>
          <a:xfrm>
            <a:off x="566928" y="1325880"/>
            <a:ext cx="10515600" cy="1554480"/>
          </a:xfrm>
          <a:prstGeom prst="rect">
            <a:avLst/>
          </a:prstGeom>
          <a:noFill/>
          <a:ln/>
        </p:spPr>
        <p:txBody>
          <a:bodyPr wrap="square" lIns="0" tIns="0" rIns="0" bIns="0" rtlCol="0" anchor="t"/>
          <a:lstStyle/>
          <a:p>
            <a:pPr indent="0" marL="0">
              <a:lnSpc>
                <a:spcPts val="4704"/>
              </a:lnSpc>
              <a:buNone/>
            </a:pPr>
            <a:r>
              <a:rPr lang="en-US" sz="4200" b="1" dirty="0">
                <a:solidFill>
                  <a:srgbClr val="FFFFFF"/>
                </a:solidFill>
                <a:latin typeface="Cambria" pitchFamily="34" charset="0"/>
                <a:ea typeface="Cambria" pitchFamily="34" charset="-122"/>
                <a:cs typeface="Cambria" pitchFamily="34" charset="-120"/>
              </a:rPr>
              <a:t>The number reproduced perfectly.</a:t>
            </a:r>
            <a:endParaRPr lang="en-US" sz="4200" dirty="0"/>
          </a:p>
          <a:p>
            <a:pPr indent="0" marL="0">
              <a:lnSpc>
                <a:spcPts val="4704"/>
              </a:lnSpc>
              <a:buNone/>
            </a:pPr>
            <a:r>
              <a:rPr lang="en-US" sz="4200" b="1" dirty="0">
                <a:solidFill>
                  <a:srgbClr val="FFFFFF"/>
                </a:solidFill>
                <a:latin typeface="Cambria" pitchFamily="34" charset="0"/>
                <a:ea typeface="Cambria" pitchFamily="34" charset="-122"/>
                <a:cs typeface="Cambria" pitchFamily="34" charset="-120"/>
              </a:rPr>
              <a:t>The result did not.</a:t>
            </a:r>
            <a:endParaRPr lang="en-US" sz="4200" dirty="0"/>
          </a:p>
        </p:txBody>
      </p:sp>
      <p:sp>
        <p:nvSpPr>
          <p:cNvPr id="4" name="Shape 2"/>
          <p:cNvSpPr/>
          <p:nvPr/>
        </p:nvSpPr>
        <p:spPr>
          <a:xfrm>
            <a:off x="566928" y="3200400"/>
            <a:ext cx="3517392" cy="1828800"/>
          </a:xfrm>
          <a:prstGeom prst="roundRect">
            <a:avLst>
              <a:gd name="adj" fmla="val 5000"/>
            </a:avLst>
          </a:prstGeom>
          <a:solidFill>
            <a:srgbClr val="5F2029"/>
          </a:solidFill>
          <a:ln/>
        </p:spPr>
      </p:sp>
      <p:sp>
        <p:nvSpPr>
          <p:cNvPr id="5" name="Text 3"/>
          <p:cNvSpPr txBox="1"/>
          <p:nvPr/>
        </p:nvSpPr>
        <p:spPr>
          <a:xfrm>
            <a:off x="804672" y="3419856"/>
            <a:ext cx="3041904"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 reproducible row</a:t>
            </a:r>
            <a:endParaRPr lang="en-US" sz="1600" dirty="0"/>
          </a:p>
        </p:txBody>
      </p:sp>
      <p:sp>
        <p:nvSpPr>
          <p:cNvPr id="6" name="Text 4"/>
          <p:cNvSpPr txBox="1"/>
          <p:nvPr/>
        </p:nvSpPr>
        <p:spPr>
          <a:xfrm>
            <a:off x="804672" y="3840480"/>
            <a:ext cx="3041904" cy="1005840"/>
          </a:xfrm>
          <a:prstGeom prst="rect">
            <a:avLst/>
          </a:prstGeom>
          <a:noFill/>
          <a:ln/>
        </p:spPr>
        <p:txBody>
          <a:bodyPr wrap="square" lIns="0" tIns="0" rIns="0" bIns="0" rtlCol="0" anchor="t"/>
          <a:lstStyle/>
          <a:p>
            <a:pPr indent="0" marL="0">
              <a:lnSpc>
                <a:spcPts val="1700"/>
              </a:lnSpc>
              <a:buNone/>
            </a:pPr>
            <a:r>
              <a:rPr lang="en-US" sz="1300" dirty="0">
                <a:solidFill>
                  <a:srgbClr val="F2D6DA"/>
                </a:solidFill>
                <a:latin typeface="Calibri" pitchFamily="34" charset="0"/>
                <a:ea typeface="Calibri" pitchFamily="34" charset="-122"/>
                <a:cs typeface="Calibri" pitchFamily="34" charset="-120"/>
              </a:rPr>
              <a:t>The result file is unchanged and still reproduces exactly. That is the problem, not the defence.</a:t>
            </a:r>
            <a:endParaRPr lang="en-US" sz="1300" dirty="0"/>
          </a:p>
        </p:txBody>
      </p:sp>
      <p:sp>
        <p:nvSpPr>
          <p:cNvPr id="7" name="Shape 5"/>
          <p:cNvSpPr/>
          <p:nvPr/>
        </p:nvSpPr>
        <p:spPr>
          <a:xfrm>
            <a:off x="4322064" y="3200400"/>
            <a:ext cx="3517392" cy="1828800"/>
          </a:xfrm>
          <a:prstGeom prst="roundRect">
            <a:avLst>
              <a:gd name="adj" fmla="val 5000"/>
            </a:avLst>
          </a:prstGeom>
          <a:solidFill>
            <a:srgbClr val="5F2029"/>
          </a:solidFill>
          <a:ln/>
        </p:spPr>
      </p:sp>
      <p:sp>
        <p:nvSpPr>
          <p:cNvPr id="8" name="Text 6"/>
          <p:cNvSpPr txBox="1"/>
          <p:nvPr/>
        </p:nvSpPr>
        <p:spPr>
          <a:xfrm>
            <a:off x="4559808" y="3419856"/>
            <a:ext cx="3041904"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 test could not catch it</a:t>
            </a:r>
            <a:endParaRPr lang="en-US" sz="1600" dirty="0"/>
          </a:p>
        </p:txBody>
      </p:sp>
      <p:sp>
        <p:nvSpPr>
          <p:cNvPr id="9" name="Text 7"/>
          <p:cNvSpPr txBox="1"/>
          <p:nvPr/>
        </p:nvSpPr>
        <p:spPr>
          <a:xfrm>
            <a:off x="4559808" y="3840480"/>
            <a:ext cx="3041904" cy="1005840"/>
          </a:xfrm>
          <a:prstGeom prst="rect">
            <a:avLst/>
          </a:prstGeom>
          <a:noFill/>
          <a:ln/>
        </p:spPr>
        <p:txBody>
          <a:bodyPr wrap="square" lIns="0" tIns="0" rIns="0" bIns="0" rtlCol="0" anchor="t"/>
          <a:lstStyle/>
          <a:p>
            <a:pPr indent="0" marL="0">
              <a:lnSpc>
                <a:spcPts val="1700"/>
              </a:lnSpc>
              <a:buNone/>
            </a:pPr>
            <a:r>
              <a:rPr lang="en-US" sz="1300" dirty="0">
                <a:solidFill>
                  <a:srgbClr val="F2D6DA"/>
                </a:solidFill>
                <a:latin typeface="Calibri" pitchFamily="34" charset="0"/>
                <a:ea typeface="Calibri" pitchFamily="34" charset="-122"/>
                <a:cs typeface="Calibri" pitchFamily="34" charset="-120"/>
              </a:rPr>
              <a:t>A unit test pinning the published value would have passed forever. Only re-drawing the randomness exposed it.</a:t>
            </a:r>
            <a:endParaRPr lang="en-US" sz="1300" dirty="0"/>
          </a:p>
        </p:txBody>
      </p:sp>
      <p:sp>
        <p:nvSpPr>
          <p:cNvPr id="10" name="Shape 8"/>
          <p:cNvSpPr/>
          <p:nvPr/>
        </p:nvSpPr>
        <p:spPr>
          <a:xfrm>
            <a:off x="8077200" y="3200400"/>
            <a:ext cx="3517392" cy="1828800"/>
          </a:xfrm>
          <a:prstGeom prst="roundRect">
            <a:avLst>
              <a:gd name="adj" fmla="val 5000"/>
            </a:avLst>
          </a:prstGeom>
          <a:solidFill>
            <a:srgbClr val="5F2029"/>
          </a:solidFill>
          <a:ln/>
        </p:spPr>
      </p:sp>
      <p:sp>
        <p:nvSpPr>
          <p:cNvPr id="11" name="Text 9"/>
          <p:cNvSpPr txBox="1"/>
          <p:nvPr/>
        </p:nvSpPr>
        <p:spPr>
          <a:xfrm>
            <a:off x="8314944" y="3419856"/>
            <a:ext cx="3041904"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So: five draws, always</a:t>
            </a:r>
            <a:endParaRPr lang="en-US" sz="1600" dirty="0"/>
          </a:p>
        </p:txBody>
      </p:sp>
      <p:sp>
        <p:nvSpPr>
          <p:cNvPr id="12" name="Text 10"/>
          <p:cNvSpPr txBox="1"/>
          <p:nvPr/>
        </p:nvSpPr>
        <p:spPr>
          <a:xfrm>
            <a:off x="8314944" y="3840480"/>
            <a:ext cx="3041904" cy="1005840"/>
          </a:xfrm>
          <a:prstGeom prst="rect">
            <a:avLst/>
          </a:prstGeom>
          <a:noFill/>
          <a:ln/>
        </p:spPr>
        <p:txBody>
          <a:bodyPr wrap="square" lIns="0" tIns="0" rIns="0" bIns="0" rtlCol="0" anchor="t"/>
          <a:lstStyle/>
          <a:p>
            <a:pPr indent="0" marL="0">
              <a:lnSpc>
                <a:spcPts val="1700"/>
              </a:lnSpc>
              <a:buNone/>
            </a:pPr>
            <a:r>
              <a:rPr lang="en-US" sz="1300" dirty="0">
                <a:solidFill>
                  <a:srgbClr val="F2D6DA"/>
                </a:solidFill>
                <a:latin typeface="Calibri" pitchFamily="34" charset="0"/>
                <a:ea typeface="Calibri" pitchFamily="34" charset="-122"/>
                <a:cs typeface="Calibri" pitchFamily="34" charset="-120"/>
              </a:rPr>
              <a:t>Every headline now runs five times. I applied it to my own strongest result before anyone asked.</a:t>
            </a:r>
            <a:endParaRPr lang="en-US" sz="1300" dirty="0"/>
          </a:p>
        </p:txBody>
      </p:sp>
      <p:sp>
        <p:nvSpPr>
          <p:cNvPr id="13" name="Text 11"/>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Augmentation — the lesson</a:t>
            </a:r>
            <a:endParaRPr lang="en-US" sz="1050" dirty="0"/>
          </a:p>
        </p:txBody>
      </p:sp>
      <p:sp>
        <p:nvSpPr>
          <p:cNvPr id="14" name="Text 12"/>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2A1E"/>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2FA86B"/>
                </a:solidFill>
                <a:latin typeface="Calibri" pitchFamily="34" charset="0"/>
                <a:ea typeface="Calibri" pitchFamily="34" charset="-122"/>
                <a:cs typeface="Calibri" pitchFamily="34" charset="-120"/>
              </a:rPr>
              <a:t>HOW THE RESEARCH PROVIDES A SOLUTION</a:t>
            </a:r>
            <a:endParaRPr lang="en-US" sz="1200" dirty="0"/>
          </a:p>
        </p:txBody>
      </p:sp>
      <p:sp>
        <p:nvSpPr>
          <p:cNvPr id="3" name="Text 1"/>
          <p:cNvSpPr txBox="1"/>
          <p:nvPr/>
        </p:nvSpPr>
        <p:spPr>
          <a:xfrm>
            <a:off x="566928" y="1371600"/>
            <a:ext cx="10332720" cy="1097280"/>
          </a:xfrm>
          <a:prstGeom prst="rect">
            <a:avLst/>
          </a:prstGeom>
          <a:noFill/>
          <a:ln/>
        </p:spPr>
        <p:txBody>
          <a:bodyPr wrap="square" lIns="0" tIns="0" rIns="0" bIns="0" rtlCol="0" anchor="t"/>
          <a:lstStyle/>
          <a:p>
            <a:pPr indent="0" marL="0">
              <a:lnSpc>
                <a:spcPts val="5152"/>
              </a:lnSpc>
              <a:buNone/>
            </a:pPr>
            <a:r>
              <a:rPr lang="en-US" sz="4600" b="1" dirty="0">
                <a:solidFill>
                  <a:srgbClr val="FFFFFF"/>
                </a:solidFill>
                <a:latin typeface="Cambria" pitchFamily="34" charset="0"/>
                <a:ea typeface="Cambria" pitchFamily="34" charset="-122"/>
                <a:cs typeface="Cambria" pitchFamily="34" charset="-120"/>
              </a:rPr>
              <a:t>The fix was never a bigger model.</a:t>
            </a:r>
            <a:endParaRPr lang="en-US" sz="4600" dirty="0"/>
          </a:p>
        </p:txBody>
      </p:sp>
      <p:sp>
        <p:nvSpPr>
          <p:cNvPr id="4" name="Text 2"/>
          <p:cNvSpPr txBox="1"/>
          <p:nvPr/>
        </p:nvSpPr>
        <p:spPr>
          <a:xfrm>
            <a:off x="566928" y="2834640"/>
            <a:ext cx="9875520" cy="1005840"/>
          </a:xfrm>
          <a:prstGeom prst="rect">
            <a:avLst/>
          </a:prstGeom>
          <a:noFill/>
          <a:ln/>
        </p:spPr>
        <p:txBody>
          <a:bodyPr wrap="square" lIns="0" tIns="0" rIns="0" bIns="0" rtlCol="0" anchor="t"/>
          <a:lstStyle/>
          <a:p>
            <a:pPr indent="0" marL="0">
              <a:lnSpc>
                <a:spcPts val="2400"/>
              </a:lnSpc>
              <a:buNone/>
            </a:pPr>
            <a:r>
              <a:rPr lang="en-US" sz="1700" dirty="0">
                <a:solidFill>
                  <a:srgbClr val="C8DCD1"/>
                </a:solidFill>
                <a:latin typeface="Calibri" pitchFamily="34" charset="0"/>
                <a:ea typeface="Calibri" pitchFamily="34" charset="-122"/>
                <a:cs typeface="Calibri" pitchFamily="34" charset="-120"/>
              </a:rPr>
              <a:t>Three interventions, each measured on the boundary it was meant to help.</a:t>
            </a:r>
            <a:endParaRPr lang="en-US" sz="1700" dirty="0"/>
          </a:p>
        </p:txBody>
      </p:sp>
      <p:sp>
        <p:nvSpPr>
          <p:cNvPr id="5" name="Text 3"/>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The solution</a:t>
            </a:r>
            <a:endParaRPr lang="en-US" sz="1050" dirty="0"/>
          </a:p>
        </p:txBody>
      </p:sp>
      <p:sp>
        <p:nvSpPr>
          <p:cNvPr id="6" name="Text 4"/>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Three fixes, all cheap</a:t>
            </a:r>
            <a:endParaRPr lang="en-US" sz="3800" dirty="0"/>
          </a:p>
        </p:txBody>
      </p:sp>
      <p:sp>
        <p:nvSpPr>
          <p:cNvPr id="4" name="Shape 2"/>
          <p:cNvSpPr/>
          <p:nvPr/>
        </p:nvSpPr>
        <p:spPr>
          <a:xfrm>
            <a:off x="566928" y="2148840"/>
            <a:ext cx="3517392" cy="2286000"/>
          </a:xfrm>
          <a:prstGeom prst="roundRect">
            <a:avLst>
              <a:gd name="adj" fmla="val 4000"/>
            </a:avLst>
          </a:prstGeom>
          <a:solidFill>
            <a:srgbClr val="E6F3EC"/>
          </a:solidFill>
          <a:ln/>
          <a:effectLst>
            <a:outerShdw sx="100000" sy="100000" kx="0" ky="0" algn="bl" rotWithShape="0" blurRad="101600" dist="12700" dir="5400000">
              <a:srgbClr val="000000">
                <a:alpha val="7000"/>
              </a:srgbClr>
            </a:outerShdw>
          </a:effectLst>
        </p:spPr>
      </p:sp>
      <p:sp>
        <p:nvSpPr>
          <p:cNvPr id="5" name="Text 3"/>
          <p:cNvSpPr txBox="1"/>
          <p:nvPr/>
        </p:nvSpPr>
        <p:spPr>
          <a:xfrm>
            <a:off x="804672" y="2350008"/>
            <a:ext cx="3041904" cy="566928"/>
          </a:xfrm>
          <a:prstGeom prst="rect">
            <a:avLst/>
          </a:prstGeom>
          <a:noFill/>
          <a:ln/>
        </p:spPr>
        <p:txBody>
          <a:bodyPr wrap="square" lIns="0" tIns="0" rIns="0" bIns="0" rtlCol="0" anchor="t"/>
          <a:lstStyle/>
          <a:p>
            <a:pPr indent="0" marL="0">
              <a:lnSpc>
                <a:spcPts val="1800"/>
              </a:lnSpc>
              <a:buNone/>
            </a:pPr>
            <a:r>
              <a:rPr lang="en-US" sz="1550" b="1" dirty="0">
                <a:solidFill>
                  <a:srgbClr val="16211C"/>
                </a:solidFill>
                <a:latin typeface="Cambria" pitchFamily="34" charset="0"/>
                <a:ea typeface="Cambria" pitchFamily="34" charset="-122"/>
                <a:cs typeface="Cambria" pitchFamily="34" charset="-120"/>
              </a:rPr>
              <a:t>Put rules in front of the model</a:t>
            </a:r>
            <a:endParaRPr lang="en-US" sz="1550" dirty="0"/>
          </a:p>
        </p:txBody>
      </p:sp>
      <p:sp>
        <p:nvSpPr>
          <p:cNvPr id="6" name="Text 4"/>
          <p:cNvSpPr txBox="1"/>
          <p:nvPr/>
        </p:nvSpPr>
        <p:spPr>
          <a:xfrm>
            <a:off x="804672" y="2953512"/>
            <a:ext cx="3041904" cy="475488"/>
          </a:xfrm>
          <a:prstGeom prst="rect">
            <a:avLst/>
          </a:prstGeom>
          <a:noFill/>
          <a:ln/>
        </p:spPr>
        <p:txBody>
          <a:bodyPr wrap="square" lIns="0" tIns="0" rIns="0" bIns="0" rtlCol="0" anchor="ctr"/>
          <a:lstStyle/>
          <a:p>
            <a:pPr indent="0" marL="0">
              <a:buNone/>
            </a:pPr>
            <a:r>
              <a:rPr lang="en-US" sz="2500" b="1" dirty="0">
                <a:solidFill>
                  <a:srgbClr val="D6455B"/>
                </a:solidFill>
                <a:latin typeface="Cambria" pitchFamily="34" charset="0"/>
                <a:ea typeface="Cambria" pitchFamily="34" charset="-122"/>
                <a:cs typeface="Cambria" pitchFamily="34" charset="-120"/>
              </a:rPr>
              <a:t>0.617</a:t>
            </a:r>
            <a:pPr indent="0" marL="0">
              <a:buNone/>
            </a:pPr>
            <a:r>
              <a:rPr lang="en-US" sz="1700" dirty="0">
                <a:solidFill>
                  <a:srgbClr val="5A6B62"/>
                </a:solidFill>
                <a:latin typeface="Calibri" pitchFamily="34" charset="0"/>
                <a:ea typeface="Calibri" pitchFamily="34" charset="-122"/>
                <a:cs typeface="Calibri" pitchFamily="34" charset="-120"/>
              </a:rPr>
              <a:t>   →   </a:t>
            </a:r>
            <a:pPr indent="0" marL="0">
              <a:buNone/>
            </a:pPr>
            <a:r>
              <a:rPr lang="en-US" sz="2500" b="1" dirty="0">
                <a:solidFill>
                  <a:srgbClr val="1F7A4C"/>
                </a:solidFill>
                <a:latin typeface="Cambria" pitchFamily="34" charset="0"/>
                <a:ea typeface="Cambria" pitchFamily="34" charset="-122"/>
                <a:cs typeface="Cambria" pitchFamily="34" charset="-120"/>
              </a:rPr>
              <a:t>0.012</a:t>
            </a:r>
            <a:endParaRPr lang="en-US" sz="2500" dirty="0"/>
          </a:p>
        </p:txBody>
      </p:sp>
      <p:sp>
        <p:nvSpPr>
          <p:cNvPr id="7" name="Text 5"/>
          <p:cNvSpPr txBox="1"/>
          <p:nvPr/>
        </p:nvSpPr>
        <p:spPr>
          <a:xfrm>
            <a:off x="804672" y="3483864"/>
            <a:ext cx="3041904" cy="7680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False “playing” alarms on empty pitches, once the pitch boundary, motion and person checks can veto the model.</a:t>
            </a:r>
            <a:endParaRPr lang="en-US" sz="1250" dirty="0"/>
          </a:p>
        </p:txBody>
      </p:sp>
      <p:sp>
        <p:nvSpPr>
          <p:cNvPr id="8" name="Shape 6"/>
          <p:cNvSpPr/>
          <p:nvPr/>
        </p:nvSpPr>
        <p:spPr>
          <a:xfrm>
            <a:off x="4322064" y="2148840"/>
            <a:ext cx="3517392" cy="2286000"/>
          </a:xfrm>
          <a:prstGeom prst="roundRect">
            <a:avLst>
              <a:gd name="adj" fmla="val 4000"/>
            </a:avLst>
          </a:prstGeom>
          <a:solidFill>
            <a:srgbClr val="E6F3EC"/>
          </a:solidFill>
          <a:ln/>
          <a:effectLst>
            <a:outerShdw sx="100000" sy="100000" kx="0" ky="0" algn="bl" rotWithShape="0" blurRad="101600" dist="12700" dir="5400000">
              <a:srgbClr val="000000">
                <a:alpha val="7000"/>
              </a:srgbClr>
            </a:outerShdw>
          </a:effectLst>
        </p:spPr>
      </p:sp>
      <p:sp>
        <p:nvSpPr>
          <p:cNvPr id="9" name="Text 7"/>
          <p:cNvSpPr txBox="1"/>
          <p:nvPr/>
        </p:nvSpPr>
        <p:spPr>
          <a:xfrm>
            <a:off x="4559808" y="2350008"/>
            <a:ext cx="3041904" cy="566928"/>
          </a:xfrm>
          <a:prstGeom prst="rect">
            <a:avLst/>
          </a:prstGeom>
          <a:noFill/>
          <a:ln/>
        </p:spPr>
        <p:txBody>
          <a:bodyPr wrap="square" lIns="0" tIns="0" rIns="0" bIns="0" rtlCol="0" anchor="t"/>
          <a:lstStyle/>
          <a:p>
            <a:pPr indent="0" marL="0">
              <a:lnSpc>
                <a:spcPts val="1800"/>
              </a:lnSpc>
              <a:buNone/>
            </a:pPr>
            <a:r>
              <a:rPr lang="en-US" sz="1550" b="1" dirty="0">
                <a:solidFill>
                  <a:srgbClr val="16211C"/>
                </a:solidFill>
                <a:latin typeface="Cambria" pitchFamily="34" charset="0"/>
                <a:ea typeface="Cambria" pitchFamily="34" charset="-122"/>
                <a:cs typeface="Cambria" pitchFamily="34" charset="-120"/>
              </a:rPr>
              <a:t>Generate the missing case</a:t>
            </a:r>
            <a:endParaRPr lang="en-US" sz="1550" dirty="0"/>
          </a:p>
        </p:txBody>
      </p:sp>
      <p:sp>
        <p:nvSpPr>
          <p:cNvPr id="10" name="Text 8"/>
          <p:cNvSpPr txBox="1"/>
          <p:nvPr/>
        </p:nvSpPr>
        <p:spPr>
          <a:xfrm>
            <a:off x="4559808" y="2953512"/>
            <a:ext cx="3041904" cy="475488"/>
          </a:xfrm>
          <a:prstGeom prst="rect">
            <a:avLst/>
          </a:prstGeom>
          <a:noFill/>
          <a:ln/>
        </p:spPr>
        <p:txBody>
          <a:bodyPr wrap="square" lIns="0" tIns="0" rIns="0" bIns="0" rtlCol="0" anchor="ctr"/>
          <a:lstStyle/>
          <a:p>
            <a:pPr indent="0" marL="0">
              <a:buNone/>
            </a:pPr>
            <a:r>
              <a:rPr lang="en-US" sz="2500" b="1" dirty="0">
                <a:solidFill>
                  <a:srgbClr val="D6455B"/>
                </a:solidFill>
                <a:latin typeface="Cambria" pitchFamily="34" charset="0"/>
                <a:ea typeface="Cambria" pitchFamily="34" charset="-122"/>
                <a:cs typeface="Cambria" pitchFamily="34" charset="-120"/>
              </a:rPr>
              <a:t>0.768</a:t>
            </a:r>
            <a:pPr indent="0" marL="0">
              <a:buNone/>
            </a:pPr>
            <a:r>
              <a:rPr lang="en-US" sz="1700" dirty="0">
                <a:solidFill>
                  <a:srgbClr val="5A6B62"/>
                </a:solidFill>
                <a:latin typeface="Calibri" pitchFamily="34" charset="0"/>
                <a:ea typeface="Calibri" pitchFamily="34" charset="-122"/>
                <a:cs typeface="Calibri" pitchFamily="34" charset="-120"/>
              </a:rPr>
              <a:t>   →   </a:t>
            </a:r>
            <a:pPr indent="0" marL="0">
              <a:buNone/>
            </a:pPr>
            <a:r>
              <a:rPr lang="en-US" sz="2500" b="1" dirty="0">
                <a:solidFill>
                  <a:srgbClr val="1F7A4C"/>
                </a:solidFill>
                <a:latin typeface="Cambria" pitchFamily="34" charset="0"/>
                <a:ea typeface="Cambria" pitchFamily="34" charset="-122"/>
                <a:cs typeface="Cambria" pitchFamily="34" charset="-120"/>
              </a:rPr>
              <a:t>0.024</a:t>
            </a:r>
            <a:endParaRPr lang="en-US" sz="2500" dirty="0"/>
          </a:p>
        </p:txBody>
      </p:sp>
      <p:sp>
        <p:nvSpPr>
          <p:cNvPr id="11" name="Text 9"/>
          <p:cNvSpPr txBox="1"/>
          <p:nvPr/>
        </p:nvSpPr>
        <p:spPr>
          <a:xfrm>
            <a:off x="4559808" y="3483864"/>
            <a:ext cx="3041904" cy="7680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31 generated empty-pitch frames added to training — and play-recall went up, not down.</a:t>
            </a:r>
            <a:endParaRPr lang="en-US" sz="1250" dirty="0"/>
          </a:p>
        </p:txBody>
      </p:sp>
      <p:sp>
        <p:nvSpPr>
          <p:cNvPr id="12" name="Shape 10"/>
          <p:cNvSpPr/>
          <p:nvPr/>
        </p:nvSpPr>
        <p:spPr>
          <a:xfrm>
            <a:off x="8077200" y="2148840"/>
            <a:ext cx="3517392" cy="2286000"/>
          </a:xfrm>
          <a:prstGeom prst="roundRect">
            <a:avLst>
              <a:gd name="adj" fmla="val 4000"/>
            </a:avLst>
          </a:prstGeom>
          <a:solidFill>
            <a:srgbClr val="E6F3EC"/>
          </a:solidFill>
          <a:ln/>
          <a:effectLst>
            <a:outerShdw sx="100000" sy="100000" kx="0" ky="0" algn="bl" rotWithShape="0" blurRad="101600" dist="12700" dir="5400000">
              <a:srgbClr val="000000">
                <a:alpha val="7000"/>
              </a:srgbClr>
            </a:outerShdw>
          </a:effectLst>
        </p:spPr>
      </p:sp>
      <p:sp>
        <p:nvSpPr>
          <p:cNvPr id="13" name="Text 11"/>
          <p:cNvSpPr txBox="1"/>
          <p:nvPr/>
        </p:nvSpPr>
        <p:spPr>
          <a:xfrm>
            <a:off x="8314944" y="2350008"/>
            <a:ext cx="3041904" cy="566928"/>
          </a:xfrm>
          <a:prstGeom prst="rect">
            <a:avLst/>
          </a:prstGeom>
          <a:noFill/>
          <a:ln/>
        </p:spPr>
        <p:txBody>
          <a:bodyPr wrap="square" lIns="0" tIns="0" rIns="0" bIns="0" rtlCol="0" anchor="t"/>
          <a:lstStyle/>
          <a:p>
            <a:pPr indent="0" marL="0">
              <a:lnSpc>
                <a:spcPts val="1800"/>
              </a:lnSpc>
              <a:buNone/>
            </a:pPr>
            <a:r>
              <a:rPr lang="en-US" sz="1550" b="1" dirty="0">
                <a:solidFill>
                  <a:srgbClr val="16211C"/>
                </a:solidFill>
                <a:latin typeface="Cambria" pitchFamily="34" charset="0"/>
                <a:ea typeface="Cambria" pitchFamily="34" charset="-122"/>
                <a:cs typeface="Cambria" pitchFamily="34" charset="-120"/>
              </a:rPr>
              <a:t>Label a few frames per camera</a:t>
            </a:r>
            <a:endParaRPr lang="en-US" sz="1550" dirty="0"/>
          </a:p>
        </p:txBody>
      </p:sp>
      <p:sp>
        <p:nvSpPr>
          <p:cNvPr id="14" name="Text 12"/>
          <p:cNvSpPr txBox="1"/>
          <p:nvPr/>
        </p:nvSpPr>
        <p:spPr>
          <a:xfrm>
            <a:off x="8314944" y="2953512"/>
            <a:ext cx="3041904" cy="475488"/>
          </a:xfrm>
          <a:prstGeom prst="rect">
            <a:avLst/>
          </a:prstGeom>
          <a:noFill/>
          <a:ln/>
        </p:spPr>
        <p:txBody>
          <a:bodyPr wrap="square" lIns="0" tIns="0" rIns="0" bIns="0" rtlCol="0" anchor="ctr"/>
          <a:lstStyle/>
          <a:p>
            <a:pPr indent="0" marL="0">
              <a:buNone/>
            </a:pPr>
            <a:r>
              <a:rPr lang="en-US" sz="2500" b="1" dirty="0">
                <a:solidFill>
                  <a:srgbClr val="D6455B"/>
                </a:solidFill>
                <a:latin typeface="Cambria" pitchFamily="34" charset="0"/>
                <a:ea typeface="Cambria" pitchFamily="34" charset="-122"/>
                <a:cs typeface="Cambria" pitchFamily="34" charset="-120"/>
              </a:rPr>
              <a:t>0.441</a:t>
            </a:r>
            <a:pPr indent="0" marL="0">
              <a:buNone/>
            </a:pPr>
            <a:r>
              <a:rPr lang="en-US" sz="1700" dirty="0">
                <a:solidFill>
                  <a:srgbClr val="5A6B62"/>
                </a:solidFill>
                <a:latin typeface="Calibri" pitchFamily="34" charset="0"/>
                <a:ea typeface="Calibri" pitchFamily="34" charset="-122"/>
                <a:cs typeface="Calibri" pitchFamily="34" charset="-120"/>
              </a:rPr>
              <a:t>   →   </a:t>
            </a:r>
            <a:pPr indent="0" marL="0">
              <a:buNone/>
            </a:pPr>
            <a:r>
              <a:rPr lang="en-US" sz="2500" b="1" dirty="0">
                <a:solidFill>
                  <a:srgbClr val="1F7A4C"/>
                </a:solidFill>
                <a:latin typeface="Cambria" pitchFamily="34" charset="0"/>
                <a:ea typeface="Cambria" pitchFamily="34" charset="-122"/>
                <a:cs typeface="Cambria" pitchFamily="34" charset="-120"/>
              </a:rPr>
              <a:t>0.990</a:t>
            </a:r>
            <a:endParaRPr lang="en-US" sz="2500" dirty="0"/>
          </a:p>
        </p:txBody>
      </p:sp>
      <p:sp>
        <p:nvSpPr>
          <p:cNvPr id="15" name="Text 13"/>
          <p:cNvSpPr txBox="1"/>
          <p:nvPr/>
        </p:nvSpPr>
        <p:spPr>
          <a:xfrm>
            <a:off x="8314944" y="3483864"/>
            <a:ext cx="3041904" cy="768096"/>
          </a:xfrm>
          <a:prstGeom prst="rect">
            <a:avLst/>
          </a:prstGeom>
          <a:noFill/>
          <a:ln/>
        </p:spPr>
        <p:txBody>
          <a:bodyPr wrap="square" lIns="0" tIns="0" rIns="0" bIns="0" rtlCol="0" anchor="t"/>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One labelled frame of a new camera. And five from it beat those five plus 775 from the old one.</a:t>
            </a:r>
            <a:endParaRPr lang="en-US" sz="1250" dirty="0"/>
          </a:p>
        </p:txBody>
      </p:sp>
      <p:sp>
        <p:nvSpPr>
          <p:cNvPr id="16" name="Shape 14"/>
          <p:cNvSpPr/>
          <p:nvPr/>
        </p:nvSpPr>
        <p:spPr>
          <a:xfrm>
            <a:off x="566928" y="4572000"/>
            <a:ext cx="11027664" cy="1005840"/>
          </a:xfrm>
          <a:prstGeom prst="roundRect">
            <a:avLst>
              <a:gd name="adj" fmla="val 9091"/>
            </a:avLst>
          </a:prstGeom>
          <a:solidFill>
            <a:srgbClr val="FCEFDA"/>
          </a:solidFill>
          <a:ln/>
          <a:effectLst>
            <a:outerShdw sx="100000" sy="100000" kx="0" ky="0" algn="bl" rotWithShape="0" blurRad="101600" dist="12700" dir="5400000">
              <a:srgbClr val="000000">
                <a:alpha val="7000"/>
              </a:srgbClr>
            </a:outerShdw>
          </a:effectLst>
        </p:spPr>
      </p:sp>
      <p:sp>
        <p:nvSpPr>
          <p:cNvPr id="17" name="Text 15"/>
          <p:cNvSpPr txBox="1"/>
          <p:nvPr/>
        </p:nvSpPr>
        <p:spPr>
          <a:xfrm>
            <a:off x="804672" y="4809744"/>
            <a:ext cx="10552176" cy="585216"/>
          </a:xfrm>
          <a:prstGeom prst="rect">
            <a:avLst/>
          </a:prstGeom>
          <a:noFill/>
          <a:ln/>
        </p:spPr>
        <p:txBody>
          <a:bodyPr wrap="square" lIns="0" tIns="0" rIns="0" bIns="0" rtlCol="0" anchor="t"/>
          <a:lstStyle/>
          <a:p>
            <a:pPr indent="0" marL="0">
              <a:lnSpc>
                <a:spcPts val="1958"/>
              </a:lnSpc>
              <a:buNone/>
            </a:pPr>
            <a:r>
              <a:rPr lang="en-US" sz="1450" dirty="0">
                <a:solidFill>
                  <a:srgbClr val="5A6B62"/>
                </a:solidFill>
                <a:latin typeface="Calibri" pitchFamily="34" charset="0"/>
                <a:ea typeface="Calibri" pitchFamily="34" charset="-122"/>
                <a:cs typeface="Calibri" pitchFamily="34" charset="-120"/>
              </a:rPr>
              <a:t>What buys the accuracy is having any labels from the new camera — not a large corpus from an old one. That is the weaker claim, and it is the true one.</a:t>
            </a:r>
            <a:endParaRPr lang="en-US" sz="1450" dirty="0"/>
          </a:p>
        </p:txBody>
      </p:sp>
      <p:sp>
        <p:nvSpPr>
          <p:cNvPr id="18" name="Text 16"/>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solution — three fixes</a:t>
            </a:r>
            <a:endParaRPr lang="en-US" sz="1050" dirty="0"/>
          </a:p>
        </p:txBody>
      </p:sp>
      <p:sp>
        <p:nvSpPr>
          <p:cNvPr id="19" name="Text 17"/>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THE SOLUTION — THE METHOD CONTRIBUTION</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Every guard is verified by breaking it</a:t>
            </a:r>
            <a:endParaRPr lang="en-US" sz="3800" dirty="0"/>
          </a:p>
        </p:txBody>
      </p:sp>
      <p:sp>
        <p:nvSpPr>
          <p:cNvPr id="4" name="Text 2"/>
          <p:cNvSpPr txBox="1"/>
          <p:nvPr/>
        </p:nvSpPr>
        <p:spPr>
          <a:xfrm>
            <a:off x="566928" y="1664208"/>
            <a:ext cx="9692640" cy="54864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Six safeguards in this project were doing nothing. Each was found the same way — by deliberately breaking what it protects.</a:t>
            </a:r>
            <a:endParaRPr lang="en-US" sz="1700" dirty="0"/>
          </a:p>
        </p:txBody>
      </p:sp>
      <p:sp>
        <p:nvSpPr>
          <p:cNvPr id="5" name="Shape 3"/>
          <p:cNvSpPr/>
          <p:nvPr/>
        </p:nvSpPr>
        <p:spPr>
          <a:xfrm>
            <a:off x="566928" y="2743200"/>
            <a:ext cx="5376672" cy="1207008"/>
          </a:xfrm>
          <a:prstGeom prst="roundRect">
            <a:avLst>
              <a:gd name="adj" fmla="val 7576"/>
            </a:avLst>
          </a:prstGeom>
          <a:solidFill>
            <a:srgbClr val="F4F7F4"/>
          </a:solidFill>
          <a:ln/>
          <a:effectLst>
            <a:outerShdw sx="100000" sy="100000" kx="0" ky="0" algn="bl" rotWithShape="0" blurRad="101600" dist="12700" dir="5400000">
              <a:srgbClr val="000000">
                <a:alpha val="7000"/>
              </a:srgbClr>
            </a:outerShdw>
          </a:effectLst>
        </p:spPr>
      </p:sp>
      <p:sp>
        <p:nvSpPr>
          <p:cNvPr id="6" name="Text 4"/>
          <p:cNvSpPr txBox="1"/>
          <p:nvPr/>
        </p:nvSpPr>
        <p:spPr>
          <a:xfrm>
            <a:off x="804672" y="2980944"/>
            <a:ext cx="4901184" cy="347472"/>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 test-set lock</a:t>
            </a:r>
            <a:endParaRPr lang="en-US" sz="1500" dirty="0"/>
          </a:p>
        </p:txBody>
      </p:sp>
      <p:sp>
        <p:nvSpPr>
          <p:cNvPr id="7" name="Text 5"/>
          <p:cNvSpPr txBox="1"/>
          <p:nvPr/>
        </p:nvSpPr>
        <p:spPr>
          <a:xfrm>
            <a:off x="804672" y="3328416"/>
            <a:ext cx="4901184" cy="438912"/>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Resolved against the working directory, so it locked nothing.</a:t>
            </a:r>
            <a:endParaRPr lang="en-US" sz="1300" dirty="0"/>
          </a:p>
        </p:txBody>
      </p:sp>
      <p:sp>
        <p:nvSpPr>
          <p:cNvPr id="8" name="Shape 6"/>
          <p:cNvSpPr/>
          <p:nvPr/>
        </p:nvSpPr>
        <p:spPr>
          <a:xfrm>
            <a:off x="6217920" y="2743200"/>
            <a:ext cx="5376672" cy="1207008"/>
          </a:xfrm>
          <a:prstGeom prst="roundRect">
            <a:avLst>
              <a:gd name="adj" fmla="val 7576"/>
            </a:avLst>
          </a:prstGeom>
          <a:solidFill>
            <a:srgbClr val="FAE3E7"/>
          </a:solidFill>
          <a:ln/>
          <a:effectLst>
            <a:outerShdw sx="100000" sy="100000" kx="0" ky="0" algn="bl" rotWithShape="0" blurRad="101600" dist="12700" dir="5400000">
              <a:srgbClr val="000000">
                <a:alpha val="7000"/>
              </a:srgbClr>
            </a:outerShdw>
          </a:effectLst>
        </p:spPr>
      </p:sp>
      <p:sp>
        <p:nvSpPr>
          <p:cNvPr id="9" name="Text 7"/>
          <p:cNvSpPr txBox="1"/>
          <p:nvPr/>
        </p:nvSpPr>
        <p:spPr>
          <a:xfrm>
            <a:off x="6455664" y="2980944"/>
            <a:ext cx="4901184" cy="347472"/>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 confidence threshold</a:t>
            </a:r>
            <a:endParaRPr lang="en-US" sz="1500" dirty="0"/>
          </a:p>
        </p:txBody>
      </p:sp>
      <p:sp>
        <p:nvSpPr>
          <p:cNvPr id="10" name="Text 8"/>
          <p:cNvSpPr txBox="1"/>
          <p:nvPr/>
        </p:nvSpPr>
        <p:spPr>
          <a:xfrm>
            <a:off x="6455664" y="3328416"/>
            <a:ext cx="4901184" cy="438912"/>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Set to 0.0 — a gate that can never fire.</a:t>
            </a:r>
            <a:endParaRPr lang="en-US" sz="1300" dirty="0"/>
          </a:p>
        </p:txBody>
      </p:sp>
      <p:sp>
        <p:nvSpPr>
          <p:cNvPr id="11" name="Shape 9"/>
          <p:cNvSpPr/>
          <p:nvPr/>
        </p:nvSpPr>
        <p:spPr>
          <a:xfrm>
            <a:off x="566928" y="4114800"/>
            <a:ext cx="5376672" cy="1207008"/>
          </a:xfrm>
          <a:prstGeom prst="roundRect">
            <a:avLst>
              <a:gd name="adj" fmla="val 7576"/>
            </a:avLst>
          </a:prstGeom>
          <a:solidFill>
            <a:srgbClr val="F4F7F4"/>
          </a:solidFill>
          <a:ln/>
          <a:effectLst>
            <a:outerShdw sx="100000" sy="100000" kx="0" ky="0" algn="bl" rotWithShape="0" blurRad="101600" dist="12700" dir="5400000">
              <a:srgbClr val="000000">
                <a:alpha val="7000"/>
              </a:srgbClr>
            </a:outerShdw>
          </a:effectLst>
        </p:spPr>
      </p:sp>
      <p:sp>
        <p:nvSpPr>
          <p:cNvPr id="12" name="Text 10"/>
          <p:cNvSpPr txBox="1"/>
          <p:nvPr/>
        </p:nvSpPr>
        <p:spPr>
          <a:xfrm>
            <a:off x="804672" y="4352544"/>
            <a:ext cx="4901184" cy="347472"/>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A gate criterion</a:t>
            </a:r>
            <a:endParaRPr lang="en-US" sz="1500" dirty="0"/>
          </a:p>
        </p:txBody>
      </p:sp>
      <p:sp>
        <p:nvSpPr>
          <p:cNvPr id="13" name="Text 11"/>
          <p:cNvSpPr txBox="1"/>
          <p:nvPr/>
        </p:nvSpPr>
        <p:spPr>
          <a:xfrm>
            <a:off x="804672" y="4700016"/>
            <a:ext cx="4901184" cy="438912"/>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Grepped for a word instead of running the verifier.</a:t>
            </a:r>
            <a:endParaRPr lang="en-US" sz="1300" dirty="0"/>
          </a:p>
        </p:txBody>
      </p:sp>
      <p:sp>
        <p:nvSpPr>
          <p:cNvPr id="14" name="Shape 12"/>
          <p:cNvSpPr/>
          <p:nvPr/>
        </p:nvSpPr>
        <p:spPr>
          <a:xfrm>
            <a:off x="6217920" y="4114800"/>
            <a:ext cx="5376672" cy="1207008"/>
          </a:xfrm>
          <a:prstGeom prst="roundRect">
            <a:avLst>
              <a:gd name="adj" fmla="val 7576"/>
            </a:avLst>
          </a:prstGeom>
          <a:solidFill>
            <a:srgbClr val="FAE3E7"/>
          </a:solidFill>
          <a:ln/>
          <a:effectLst>
            <a:outerShdw sx="100000" sy="100000" kx="0" ky="0" algn="bl" rotWithShape="0" blurRad="101600" dist="12700" dir="5400000">
              <a:srgbClr val="000000">
                <a:alpha val="7000"/>
              </a:srgbClr>
            </a:outerShdw>
          </a:effectLst>
        </p:spPr>
      </p:sp>
      <p:sp>
        <p:nvSpPr>
          <p:cNvPr id="15" name="Text 13"/>
          <p:cNvSpPr txBox="1"/>
          <p:nvPr/>
        </p:nvSpPr>
        <p:spPr>
          <a:xfrm>
            <a:off x="6455664" y="4352544"/>
            <a:ext cx="4901184" cy="347472"/>
          </a:xfrm>
          <a:prstGeom prst="rect">
            <a:avLst/>
          </a:prstGeom>
          <a:noFill/>
          <a:ln/>
        </p:spPr>
        <p:txBody>
          <a:bodyPr wrap="square" lIns="0" tIns="0" rIns="0" bIns="0" rtlCol="0" anchor="t"/>
          <a:lstStyle/>
          <a:p>
            <a:pPr indent="0" marL="0">
              <a:lnSpc>
                <a:spcPts val="1725"/>
              </a:lnSpc>
              <a:buNone/>
            </a:pPr>
            <a:r>
              <a:rPr lang="en-US" sz="1500" b="1" dirty="0">
                <a:solidFill>
                  <a:srgbClr val="16211C"/>
                </a:solidFill>
                <a:latin typeface="Cambria" pitchFamily="34" charset="0"/>
                <a:ea typeface="Cambria" pitchFamily="34" charset="-122"/>
                <a:cs typeface="Cambria" pitchFamily="34" charset="-120"/>
              </a:rPr>
              <a:t>Evidence selection</a:t>
            </a:r>
            <a:endParaRPr lang="en-US" sz="1500" dirty="0"/>
          </a:p>
        </p:txBody>
      </p:sp>
      <p:sp>
        <p:nvSpPr>
          <p:cNvPr id="16" name="Text 14"/>
          <p:cNvSpPr txBox="1"/>
          <p:nvPr/>
        </p:nvSpPr>
        <p:spPr>
          <a:xfrm>
            <a:off x="6455664" y="4700016"/>
            <a:ext cx="4901184" cy="438912"/>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Recorded a file path of None for every frame it chose.</a:t>
            </a:r>
            <a:endParaRPr lang="en-US" sz="1300" dirty="0"/>
          </a:p>
        </p:txBody>
      </p:sp>
      <p:sp>
        <p:nvSpPr>
          <p:cNvPr id="17" name="Text 15"/>
          <p:cNvSpPr txBox="1"/>
          <p:nvPr/>
        </p:nvSpPr>
        <p:spPr>
          <a:xfrm>
            <a:off x="566928" y="5440680"/>
            <a:ext cx="11027664" cy="365760"/>
          </a:xfrm>
          <a:prstGeom prst="rect">
            <a:avLst/>
          </a:prstGeom>
          <a:noFill/>
          <a:ln/>
        </p:spPr>
        <p:txBody>
          <a:bodyPr wrap="square" lIns="0" tIns="0" rIns="0" bIns="0" rtlCol="0" anchor="ctr"/>
          <a:lstStyle/>
          <a:p>
            <a:pPr indent="0" marL="0">
              <a:buNone/>
            </a:pPr>
            <a:r>
              <a:rPr lang="en-US" sz="1450" i="1" dirty="0">
                <a:solidFill>
                  <a:srgbClr val="1F7A4C"/>
                </a:solidFill>
                <a:latin typeface="Calibri" pitchFamily="34" charset="0"/>
                <a:ea typeface="Calibri" pitchFamily="34" charset="-122"/>
                <a:cs typeface="Calibri" pitchFamily="34" charset="-120"/>
              </a:rPr>
              <a:t>This practice is a contribution of the thesis — and it is what found half of the results you have just seen.</a:t>
            </a:r>
            <a:endParaRPr lang="en-US" sz="1450" dirty="0"/>
          </a:p>
        </p:txBody>
      </p:sp>
      <p:sp>
        <p:nvSpPr>
          <p:cNvPr id="18" name="Text 16"/>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solution — method</a:t>
            </a:r>
            <a:endParaRPr lang="en-US" sz="1050" dirty="0"/>
          </a:p>
        </p:txBody>
      </p:sp>
      <p:sp>
        <p:nvSpPr>
          <p:cNvPr id="19" name="Text 17"/>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THE SOLUTION — WHAT IT WILL NOT DO</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The system never bills anyone</a:t>
            </a:r>
            <a:endParaRPr lang="en-US" sz="3800" dirty="0"/>
          </a:p>
        </p:txBody>
      </p:sp>
      <p:sp>
        <p:nvSpPr>
          <p:cNvPr id="4" name="Shape 2"/>
          <p:cNvSpPr/>
          <p:nvPr/>
        </p:nvSpPr>
        <p:spPr>
          <a:xfrm>
            <a:off x="566928" y="2148840"/>
            <a:ext cx="5358384" cy="2971800"/>
          </a:xfrm>
          <a:prstGeom prst="roundRect">
            <a:avLst>
              <a:gd name="adj" fmla="val 3077"/>
            </a:avLst>
          </a:prstGeom>
          <a:solidFill>
            <a:srgbClr val="E6F3EC"/>
          </a:solidFill>
          <a:ln/>
          <a:effectLst>
            <a:outerShdw sx="100000" sy="100000" kx="0" ky="0" algn="bl" rotWithShape="0" blurRad="101600" dist="12700" dir="5400000">
              <a:srgbClr val="000000">
                <a:alpha val="7000"/>
              </a:srgbClr>
            </a:outerShdw>
          </a:effectLst>
        </p:spPr>
      </p:sp>
      <p:sp>
        <p:nvSpPr>
          <p:cNvPr id="5" name="Text 3"/>
          <p:cNvSpPr txBox="1"/>
          <p:nvPr/>
        </p:nvSpPr>
        <p:spPr>
          <a:xfrm>
            <a:off x="877824" y="2395728"/>
            <a:ext cx="4736592" cy="365760"/>
          </a:xfrm>
          <a:prstGeom prst="rect">
            <a:avLst/>
          </a:prstGeom>
          <a:noFill/>
          <a:ln/>
        </p:spPr>
        <p:txBody>
          <a:bodyPr wrap="square" lIns="0" tIns="0" rIns="0" bIns="0" rtlCol="0" anchor="ctr"/>
          <a:lstStyle/>
          <a:p>
            <a:pPr indent="0" marL="0">
              <a:buNone/>
            </a:pPr>
            <a:r>
              <a:rPr lang="en-US" sz="1700" b="1" dirty="0">
                <a:solidFill>
                  <a:srgbClr val="16211C"/>
                </a:solidFill>
                <a:latin typeface="Cambria" pitchFamily="34" charset="0"/>
                <a:ea typeface="Cambria" pitchFamily="34" charset="-122"/>
                <a:cs typeface="Cambria" pitchFamily="34" charset="-120"/>
              </a:rPr>
              <a:t>Enforced, not promised</a:t>
            </a:r>
            <a:endParaRPr lang="en-US" sz="1700" dirty="0"/>
          </a:p>
        </p:txBody>
      </p:sp>
      <p:sp>
        <p:nvSpPr>
          <p:cNvPr id="6" name="Text 4"/>
          <p:cNvSpPr txBox="1"/>
          <p:nvPr/>
        </p:nvSpPr>
        <p:spPr>
          <a:xfrm>
            <a:off x="877824" y="2852928"/>
            <a:ext cx="4736592" cy="2011680"/>
          </a:xfrm>
          <a:prstGeom prst="rect">
            <a:avLst/>
          </a:prstGeom>
          <a:noFill/>
          <a:ln/>
        </p:spPr>
        <p:txBody>
          <a:bodyPr wrap="square" lIns="0" tIns="0" rIns="0" bIns="0" rtlCol="0" anchor="ctr"/>
          <a:lstStyle/>
          <a:p>
            <a:pPr marL="342900" indent="-342900">
              <a:lnSpc>
                <a:spcPts val="1943"/>
              </a:lnSpc>
              <a:spcAft>
                <a:spcPts val="1000"/>
              </a:spcAft>
              <a:buSzPct val="100000"/>
              <a:buChar char="▪"/>
            </a:pPr>
            <a:r>
              <a:rPr lang="en-US" sz="1450" dirty="0">
                <a:solidFill>
                  <a:srgbClr val="3C5449"/>
                </a:solidFill>
                <a:latin typeface="Calibri" pitchFamily="34" charset="0"/>
                <a:ea typeface="Calibri" pitchFamily="34" charset="-122"/>
                <a:cs typeface="Calibri" pitchFamily="34" charset="-120"/>
              </a:rPr>
              <a:t>Advisory is the only output type the decision layer can produce.</a:t>
            </a:r>
            <a:endParaRPr lang="en-US" sz="1450" dirty="0"/>
          </a:p>
          <a:p>
            <a:pPr marL="342900" indent="-342900">
              <a:lnSpc>
                <a:spcPts val="1943"/>
              </a:lnSpc>
              <a:spcAft>
                <a:spcPts val="1000"/>
              </a:spcAft>
              <a:buSzPct val="100000"/>
              <a:buChar char="▪"/>
            </a:pPr>
            <a:r>
              <a:rPr lang="en-US" sz="1450" dirty="0">
                <a:solidFill>
                  <a:srgbClr val="3C5449"/>
                </a:solidFill>
                <a:latin typeface="Calibri" pitchFamily="34" charset="0"/>
                <a:ea typeface="Calibri" pitchFamily="34" charset="-122"/>
                <a:cs typeface="Calibri" pitchFamily="34" charset="-120"/>
              </a:rPr>
              <a:t>Human confirmation is a property, not a setting — nothing can switch it off.</a:t>
            </a:r>
            <a:endParaRPr lang="en-US" sz="1450" dirty="0"/>
          </a:p>
          <a:p>
            <a:pPr marL="342900" indent="-342900">
              <a:lnSpc>
                <a:spcPts val="1943"/>
              </a:lnSpc>
              <a:spcAft>
                <a:spcPts val="1000"/>
              </a:spcAft>
              <a:buSzPct val="100000"/>
              <a:buChar char="▪"/>
            </a:pPr>
            <a:r>
              <a:rPr lang="en-US" sz="1450" dirty="0">
                <a:solidFill>
                  <a:srgbClr val="3C5449"/>
                </a:solidFill>
                <a:latin typeface="Calibri" pitchFamily="34" charset="0"/>
                <a:ea typeface="Calibri" pitchFamily="34" charset="-122"/>
                <a:cs typeface="Calibri" pitchFamily="34" charset="-120"/>
              </a:rPr>
              <a:t>There is no code path that acts on a verdict.</a:t>
            </a:r>
            <a:endParaRPr lang="en-US" sz="1450" dirty="0"/>
          </a:p>
        </p:txBody>
      </p:sp>
      <p:sp>
        <p:nvSpPr>
          <p:cNvPr id="7" name="Shape 5"/>
          <p:cNvSpPr/>
          <p:nvPr/>
        </p:nvSpPr>
        <p:spPr>
          <a:xfrm>
            <a:off x="6236208" y="2148840"/>
            <a:ext cx="5358384" cy="1152144"/>
          </a:xfrm>
          <a:prstGeom prst="roundRect">
            <a:avLst>
              <a:gd name="adj" fmla="val 7937"/>
            </a:avLst>
          </a:prstGeom>
          <a:solidFill>
            <a:srgbClr val="F4F7F4"/>
          </a:solidFill>
          <a:ln/>
          <a:effectLst>
            <a:outerShdw sx="100000" sy="100000" kx="0" ky="0" algn="bl" rotWithShape="0" blurRad="101600" dist="12700" dir="5400000">
              <a:srgbClr val="000000">
                <a:alpha val="7000"/>
              </a:srgbClr>
            </a:outerShdw>
          </a:effectLst>
        </p:spPr>
      </p:sp>
      <p:sp>
        <p:nvSpPr>
          <p:cNvPr id="8" name="Text 6"/>
          <p:cNvSpPr txBox="1"/>
          <p:nvPr/>
        </p:nvSpPr>
        <p:spPr>
          <a:xfrm>
            <a:off x="6473952" y="2386584"/>
            <a:ext cx="4882896" cy="274320"/>
          </a:xfrm>
          <a:prstGeom prst="rect">
            <a:avLst/>
          </a:prstGeom>
          <a:noFill/>
          <a:ln/>
        </p:spPr>
        <p:txBody>
          <a:bodyPr wrap="square" lIns="0" tIns="0" rIns="0" bIns="0" rtlCol="0" anchor="t"/>
          <a:lstStyle/>
          <a:p>
            <a:pPr indent="0" marL="0">
              <a:lnSpc>
                <a:spcPts val="1610"/>
              </a:lnSpc>
              <a:buNone/>
            </a:pPr>
            <a:r>
              <a:rPr lang="en-US" sz="1400" b="1" dirty="0">
                <a:solidFill>
                  <a:srgbClr val="16211C"/>
                </a:solidFill>
                <a:latin typeface="Cambria" pitchFamily="34" charset="0"/>
                <a:ea typeface="Cambria" pitchFamily="34" charset="-122"/>
                <a:cs typeface="Cambria" pitchFamily="34" charset="-120"/>
              </a:rPr>
              <a:t>Anomalies are per field, never per person</a:t>
            </a:r>
            <a:endParaRPr lang="en-US" sz="1400" dirty="0"/>
          </a:p>
        </p:txBody>
      </p:sp>
      <p:sp>
        <p:nvSpPr>
          <p:cNvPr id="9" name="Text 7"/>
          <p:cNvSpPr txBox="1"/>
          <p:nvPr/>
        </p:nvSpPr>
        <p:spPr>
          <a:xfrm>
            <a:off x="6473952" y="2660904"/>
            <a:ext cx="4882896" cy="457200"/>
          </a:xfrm>
          <a:prstGeom prst="rect">
            <a:avLst/>
          </a:prstGeom>
          <a:noFill/>
          <a:ln/>
        </p:spPr>
        <p:txBody>
          <a:bodyPr wrap="square" lIns="0" tIns="0" rIns="0" bIns="0" rtlCol="0" anchor="t"/>
          <a:lstStyle/>
          <a:p>
            <a:pPr indent="0" marL="0">
              <a:lnSpc>
                <a:spcPts val="1620"/>
              </a:lnSpc>
              <a:buNone/>
            </a:pPr>
            <a:r>
              <a:rPr lang="en-US" sz="1200" dirty="0">
                <a:solidFill>
                  <a:srgbClr val="5A6B62"/>
                </a:solidFill>
                <a:latin typeface="Calibri" pitchFamily="34" charset="0"/>
                <a:ea typeface="Calibri" pitchFamily="34" charset="-122"/>
                <a:cs typeface="Calibri" pitchFamily="34" charset="-120"/>
              </a:rPr>
              <a:t>Reconciliation has no field that could name an individual.</a:t>
            </a:r>
            <a:endParaRPr lang="en-US" sz="1200" dirty="0"/>
          </a:p>
        </p:txBody>
      </p:sp>
      <p:sp>
        <p:nvSpPr>
          <p:cNvPr id="10" name="Shape 8"/>
          <p:cNvSpPr/>
          <p:nvPr/>
        </p:nvSpPr>
        <p:spPr>
          <a:xfrm>
            <a:off x="6236208" y="3364992"/>
            <a:ext cx="5358384" cy="1152144"/>
          </a:xfrm>
          <a:prstGeom prst="roundRect">
            <a:avLst>
              <a:gd name="adj" fmla="val 7937"/>
            </a:avLst>
          </a:prstGeom>
          <a:solidFill>
            <a:srgbClr val="FCEFDA"/>
          </a:solidFill>
          <a:ln/>
          <a:effectLst>
            <a:outerShdw sx="100000" sy="100000" kx="0" ky="0" algn="bl" rotWithShape="0" blurRad="101600" dist="12700" dir="5400000">
              <a:srgbClr val="000000">
                <a:alpha val="7000"/>
              </a:srgbClr>
            </a:outerShdw>
          </a:effectLst>
        </p:spPr>
      </p:sp>
      <p:sp>
        <p:nvSpPr>
          <p:cNvPr id="11" name="Text 9"/>
          <p:cNvSpPr txBox="1"/>
          <p:nvPr/>
        </p:nvSpPr>
        <p:spPr>
          <a:xfrm>
            <a:off x="6473952" y="3602736"/>
            <a:ext cx="4882896" cy="274320"/>
          </a:xfrm>
          <a:prstGeom prst="rect">
            <a:avLst/>
          </a:prstGeom>
          <a:noFill/>
          <a:ln/>
        </p:spPr>
        <p:txBody>
          <a:bodyPr wrap="square" lIns="0" tIns="0" rIns="0" bIns="0" rtlCol="0" anchor="t"/>
          <a:lstStyle/>
          <a:p>
            <a:pPr indent="0" marL="0">
              <a:lnSpc>
                <a:spcPts val="1610"/>
              </a:lnSpc>
              <a:buNone/>
            </a:pPr>
            <a:r>
              <a:rPr lang="en-US" sz="1400" b="1" dirty="0">
                <a:solidFill>
                  <a:srgbClr val="16211C"/>
                </a:solidFill>
                <a:latin typeface="Cambria" pitchFamily="34" charset="0"/>
                <a:ea typeface="Cambria" pitchFamily="34" charset="-122"/>
                <a:cs typeface="Cambria" pitchFamily="34" charset="-120"/>
              </a:rPr>
              <a:t>Review never becomes an anomaly</a:t>
            </a:r>
            <a:endParaRPr lang="en-US" sz="1400" dirty="0"/>
          </a:p>
        </p:txBody>
      </p:sp>
      <p:sp>
        <p:nvSpPr>
          <p:cNvPr id="12" name="Text 10"/>
          <p:cNvSpPr txBox="1"/>
          <p:nvPr/>
        </p:nvSpPr>
        <p:spPr>
          <a:xfrm>
            <a:off x="6473952" y="3877056"/>
            <a:ext cx="4882896" cy="457200"/>
          </a:xfrm>
          <a:prstGeom prst="rect">
            <a:avLst/>
          </a:prstGeom>
          <a:noFill/>
          <a:ln/>
        </p:spPr>
        <p:txBody>
          <a:bodyPr wrap="square" lIns="0" tIns="0" rIns="0" bIns="0" rtlCol="0" anchor="t"/>
          <a:lstStyle/>
          <a:p>
            <a:pPr indent="0" marL="0">
              <a:lnSpc>
                <a:spcPts val="1620"/>
              </a:lnSpc>
              <a:buNone/>
            </a:pPr>
            <a:r>
              <a:rPr lang="en-US" sz="1200" dirty="0">
                <a:solidFill>
                  <a:srgbClr val="5A6B62"/>
                </a:solidFill>
                <a:latin typeface="Calibri" pitchFamily="34" charset="0"/>
                <a:ea typeface="Calibri" pitchFamily="34" charset="-122"/>
                <a:cs typeface="Calibri" pitchFamily="34" charset="-120"/>
              </a:rPr>
              <a:t>The system may not convert its own uncertainty into someone else's error.</a:t>
            </a:r>
            <a:endParaRPr lang="en-US" sz="1200" dirty="0"/>
          </a:p>
        </p:txBody>
      </p:sp>
      <p:sp>
        <p:nvSpPr>
          <p:cNvPr id="13" name="Shape 11"/>
          <p:cNvSpPr/>
          <p:nvPr/>
        </p:nvSpPr>
        <p:spPr>
          <a:xfrm>
            <a:off x="6236208" y="4581144"/>
            <a:ext cx="5358384" cy="1152144"/>
          </a:xfrm>
          <a:prstGeom prst="roundRect">
            <a:avLst>
              <a:gd name="adj" fmla="val 7937"/>
            </a:avLst>
          </a:prstGeom>
          <a:solidFill>
            <a:srgbClr val="F4F7F4"/>
          </a:solidFill>
          <a:ln/>
          <a:effectLst>
            <a:outerShdw sx="100000" sy="100000" kx="0" ky="0" algn="bl" rotWithShape="0" blurRad="101600" dist="12700" dir="5400000">
              <a:srgbClr val="000000">
                <a:alpha val="7000"/>
              </a:srgbClr>
            </a:outerShdw>
          </a:effectLst>
        </p:spPr>
      </p:sp>
      <p:sp>
        <p:nvSpPr>
          <p:cNvPr id="14" name="Text 12"/>
          <p:cNvSpPr txBox="1"/>
          <p:nvPr/>
        </p:nvSpPr>
        <p:spPr>
          <a:xfrm>
            <a:off x="6473952" y="4818888"/>
            <a:ext cx="4882896" cy="274320"/>
          </a:xfrm>
          <a:prstGeom prst="rect">
            <a:avLst/>
          </a:prstGeom>
          <a:noFill/>
          <a:ln/>
        </p:spPr>
        <p:txBody>
          <a:bodyPr wrap="square" lIns="0" tIns="0" rIns="0" bIns="0" rtlCol="0" anchor="t"/>
          <a:lstStyle/>
          <a:p>
            <a:pPr indent="0" marL="0">
              <a:lnSpc>
                <a:spcPts val="1610"/>
              </a:lnSpc>
              <a:buNone/>
            </a:pPr>
            <a:r>
              <a:rPr lang="en-US" sz="1400" b="1" dirty="0">
                <a:solidFill>
                  <a:srgbClr val="16211C"/>
                </a:solidFill>
                <a:latin typeface="Cambria" pitchFamily="34" charset="0"/>
                <a:ea typeface="Cambria" pitchFamily="34" charset="-122"/>
                <a:cs typeface="Cambria" pitchFamily="34" charset="-120"/>
              </a:rPr>
              <a:t>Faces are redacted before publication</a:t>
            </a:r>
            <a:endParaRPr lang="en-US" sz="1400" dirty="0"/>
          </a:p>
        </p:txBody>
      </p:sp>
      <p:sp>
        <p:nvSpPr>
          <p:cNvPr id="15" name="Text 13"/>
          <p:cNvSpPr txBox="1"/>
          <p:nvPr/>
        </p:nvSpPr>
        <p:spPr>
          <a:xfrm>
            <a:off x="6473952" y="5093208"/>
            <a:ext cx="4882896" cy="457200"/>
          </a:xfrm>
          <a:prstGeom prst="rect">
            <a:avLst/>
          </a:prstGeom>
          <a:noFill/>
          <a:ln/>
        </p:spPr>
        <p:txBody>
          <a:bodyPr wrap="square" lIns="0" tIns="0" rIns="0" bIns="0" rtlCol="0" anchor="t"/>
          <a:lstStyle/>
          <a:p>
            <a:pPr indent="0" marL="0">
              <a:lnSpc>
                <a:spcPts val="1620"/>
              </a:lnSpc>
              <a:buNone/>
            </a:pPr>
            <a:r>
              <a:rPr lang="en-US" sz="1200" dirty="0">
                <a:solidFill>
                  <a:srgbClr val="5A6B62"/>
                </a:solidFill>
                <a:latin typeface="Calibri" pitchFamily="34" charset="0"/>
                <a:ea typeface="Calibri" pitchFamily="34" charset="-122"/>
                <a:cs typeface="Calibri" pitchFamily="34" charset="-120"/>
              </a:rPr>
              <a:t>Detection and pixelation, then a whole-frame blur floor.</a:t>
            </a:r>
            <a:endParaRPr lang="en-US" sz="1200" dirty="0"/>
          </a:p>
        </p:txBody>
      </p:sp>
      <p:sp>
        <p:nvSpPr>
          <p:cNvPr id="16" name="Text 14"/>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The solution — ethics</a:t>
            </a:r>
            <a:endParaRPr lang="en-US" sz="1050" dirty="0"/>
          </a:p>
        </p:txBody>
      </p:sp>
      <p:sp>
        <p:nvSpPr>
          <p:cNvPr id="17" name="Text 15"/>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LIMITS</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What this study cannot claim</a:t>
            </a:r>
            <a:endParaRPr lang="en-US" sz="3800" dirty="0"/>
          </a:p>
        </p:txBody>
      </p:sp>
      <p:sp>
        <p:nvSpPr>
          <p:cNvPr id="4" name="Text 2"/>
          <p:cNvSpPr txBox="1"/>
          <p:nvPr/>
        </p:nvSpPr>
        <p:spPr>
          <a:xfrm>
            <a:off x="566928" y="1664208"/>
            <a:ext cx="9692640" cy="54864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Named first, because an examiner will find them anyway.</a:t>
            </a:r>
            <a:endParaRPr lang="en-US" sz="1700" dirty="0"/>
          </a:p>
        </p:txBody>
      </p:sp>
      <p:sp>
        <p:nvSpPr>
          <p:cNvPr id="5" name="Shape 3"/>
          <p:cNvSpPr/>
          <p:nvPr/>
        </p:nvSpPr>
        <p:spPr>
          <a:xfrm>
            <a:off x="566928" y="2743200"/>
            <a:ext cx="3517392" cy="2240280"/>
          </a:xfrm>
          <a:prstGeom prst="roundRect">
            <a:avLst>
              <a:gd name="adj" fmla="val 4082"/>
            </a:avLst>
          </a:prstGeom>
          <a:solidFill>
            <a:srgbClr val="FAE3E7"/>
          </a:solidFill>
          <a:ln/>
          <a:effectLst>
            <a:outerShdw sx="100000" sy="100000" kx="0" ky="0" algn="bl" rotWithShape="0" blurRad="101600" dist="12700" dir="5400000">
              <a:srgbClr val="000000">
                <a:alpha val="7000"/>
              </a:srgbClr>
            </a:outerShdw>
          </a:effectLst>
        </p:spPr>
      </p:sp>
      <p:sp>
        <p:nvSpPr>
          <p:cNvPr id="6" name="Shape 4"/>
          <p:cNvSpPr/>
          <p:nvPr/>
        </p:nvSpPr>
        <p:spPr>
          <a:xfrm>
            <a:off x="804672" y="2980944"/>
            <a:ext cx="493776" cy="493776"/>
          </a:xfrm>
          <a:prstGeom prst="ellipse">
            <a:avLst/>
          </a:prstGeom>
          <a:solidFill>
            <a:srgbClr val="D6455B"/>
          </a:solidFill>
          <a:ln/>
        </p:spPr>
      </p:sp>
      <p:sp>
        <p:nvSpPr>
          <p:cNvPr id="7" name="Text 5"/>
          <p:cNvSpPr txBox="1"/>
          <p:nvPr/>
        </p:nvSpPr>
        <p:spPr>
          <a:xfrm>
            <a:off x="804672" y="29809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804672" y="3639312"/>
            <a:ext cx="3041904" cy="640080"/>
          </a:xfrm>
          <a:prstGeom prst="rect">
            <a:avLst/>
          </a:prstGeom>
          <a:noFill/>
          <a:ln/>
        </p:spPr>
        <p:txBody>
          <a:bodyPr wrap="square" lIns="0" tIns="0" rIns="0" bIns="0" rtlCol="0" anchor="t"/>
          <a:lstStyle/>
          <a:p>
            <a:pPr indent="0" marL="0">
              <a:lnSpc>
                <a:spcPts val="1783"/>
              </a:lnSpc>
              <a:buNone/>
            </a:pPr>
            <a:r>
              <a:rPr lang="en-US" sz="1550" b="1" dirty="0">
                <a:solidFill>
                  <a:srgbClr val="16211C"/>
                </a:solidFill>
                <a:latin typeface="Cambria" pitchFamily="34" charset="0"/>
                <a:ea typeface="Cambria" pitchFamily="34" charset="-122"/>
                <a:cs typeface="Cambria" pitchFamily="34" charset="-120"/>
              </a:rPr>
              <a:t>Empty pitches exist at one venue only</a:t>
            </a:r>
            <a:endParaRPr lang="en-US" sz="1550" dirty="0"/>
          </a:p>
        </p:txBody>
      </p:sp>
      <p:sp>
        <p:nvSpPr>
          <p:cNvPr id="9" name="Text 7"/>
          <p:cNvSpPr txBox="1"/>
          <p:nvPr/>
        </p:nvSpPr>
        <p:spPr>
          <a:xfrm>
            <a:off x="804672" y="4279392"/>
            <a:ext cx="3041904" cy="521208"/>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So a cross-venue three-class evaluation is impossible on this corpus.</a:t>
            </a:r>
            <a:endParaRPr lang="en-US" sz="1300" dirty="0"/>
          </a:p>
        </p:txBody>
      </p:sp>
      <p:sp>
        <p:nvSpPr>
          <p:cNvPr id="10" name="Shape 8"/>
          <p:cNvSpPr/>
          <p:nvPr/>
        </p:nvSpPr>
        <p:spPr>
          <a:xfrm>
            <a:off x="4322064" y="2743200"/>
            <a:ext cx="3517392" cy="2240280"/>
          </a:xfrm>
          <a:prstGeom prst="roundRect">
            <a:avLst>
              <a:gd name="adj" fmla="val 4082"/>
            </a:avLst>
          </a:prstGeom>
          <a:solidFill>
            <a:srgbClr val="FAE3E7"/>
          </a:solidFill>
          <a:ln/>
          <a:effectLst>
            <a:outerShdw sx="100000" sy="100000" kx="0" ky="0" algn="bl" rotWithShape="0" blurRad="101600" dist="12700" dir="5400000">
              <a:srgbClr val="000000">
                <a:alpha val="7000"/>
              </a:srgbClr>
            </a:outerShdw>
          </a:effectLst>
        </p:spPr>
      </p:sp>
      <p:sp>
        <p:nvSpPr>
          <p:cNvPr id="11" name="Shape 9"/>
          <p:cNvSpPr/>
          <p:nvPr/>
        </p:nvSpPr>
        <p:spPr>
          <a:xfrm>
            <a:off x="4559808" y="2980944"/>
            <a:ext cx="493776" cy="493776"/>
          </a:xfrm>
          <a:prstGeom prst="ellipse">
            <a:avLst/>
          </a:prstGeom>
          <a:solidFill>
            <a:srgbClr val="D6455B"/>
          </a:solidFill>
          <a:ln/>
        </p:spPr>
      </p:sp>
      <p:sp>
        <p:nvSpPr>
          <p:cNvPr id="12" name="Text 10"/>
          <p:cNvSpPr txBox="1"/>
          <p:nvPr/>
        </p:nvSpPr>
        <p:spPr>
          <a:xfrm>
            <a:off x="4559808" y="29809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4559808" y="3639312"/>
            <a:ext cx="3041904" cy="640080"/>
          </a:xfrm>
          <a:prstGeom prst="rect">
            <a:avLst/>
          </a:prstGeom>
          <a:noFill/>
          <a:ln/>
        </p:spPr>
        <p:txBody>
          <a:bodyPr wrap="square" lIns="0" tIns="0" rIns="0" bIns="0" rtlCol="0" anchor="t"/>
          <a:lstStyle/>
          <a:p>
            <a:pPr indent="0" marL="0">
              <a:lnSpc>
                <a:spcPts val="1783"/>
              </a:lnSpc>
              <a:buNone/>
            </a:pPr>
            <a:r>
              <a:rPr lang="en-US" sz="1550" b="1" dirty="0">
                <a:solidFill>
                  <a:srgbClr val="16211C"/>
                </a:solidFill>
                <a:latin typeface="Cambria" pitchFamily="34" charset="0"/>
                <a:ea typeface="Cambria" pitchFamily="34" charset="-122"/>
                <a:cs typeface="Cambria" pitchFamily="34" charset="-120"/>
              </a:rPr>
              <a:t>243 empty frames are 3 scenes</a:t>
            </a:r>
            <a:endParaRPr lang="en-US" sz="1550" dirty="0"/>
          </a:p>
        </p:txBody>
      </p:sp>
      <p:sp>
        <p:nvSpPr>
          <p:cNvPr id="14" name="Text 12"/>
          <p:cNvSpPr txBox="1"/>
          <p:nvPr/>
        </p:nvSpPr>
        <p:spPr>
          <a:xfrm>
            <a:off x="4559808" y="4279392"/>
            <a:ext cx="3041904" cy="521208"/>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The effective sample is scenes, not frames. Recounted that way, six comparisons stop being significant.</a:t>
            </a:r>
            <a:endParaRPr lang="en-US" sz="1300" dirty="0"/>
          </a:p>
        </p:txBody>
      </p:sp>
      <p:sp>
        <p:nvSpPr>
          <p:cNvPr id="15" name="Shape 13"/>
          <p:cNvSpPr/>
          <p:nvPr/>
        </p:nvSpPr>
        <p:spPr>
          <a:xfrm>
            <a:off x="8077200" y="2743200"/>
            <a:ext cx="3517392" cy="2240280"/>
          </a:xfrm>
          <a:prstGeom prst="roundRect">
            <a:avLst>
              <a:gd name="adj" fmla="val 4082"/>
            </a:avLst>
          </a:prstGeom>
          <a:solidFill>
            <a:srgbClr val="FAE3E7"/>
          </a:solidFill>
          <a:ln/>
          <a:effectLst>
            <a:outerShdw sx="100000" sy="100000" kx="0" ky="0" algn="bl" rotWithShape="0" blurRad="101600" dist="12700" dir="5400000">
              <a:srgbClr val="000000">
                <a:alpha val="7000"/>
              </a:srgbClr>
            </a:outerShdw>
          </a:effectLst>
        </p:spPr>
      </p:sp>
      <p:sp>
        <p:nvSpPr>
          <p:cNvPr id="16" name="Shape 14"/>
          <p:cNvSpPr/>
          <p:nvPr/>
        </p:nvSpPr>
        <p:spPr>
          <a:xfrm>
            <a:off x="8314944" y="2980944"/>
            <a:ext cx="493776" cy="493776"/>
          </a:xfrm>
          <a:prstGeom prst="ellipse">
            <a:avLst/>
          </a:prstGeom>
          <a:solidFill>
            <a:srgbClr val="D6455B"/>
          </a:solidFill>
          <a:ln/>
        </p:spPr>
      </p:sp>
      <p:sp>
        <p:nvSpPr>
          <p:cNvPr id="17" name="Text 15"/>
          <p:cNvSpPr txBox="1"/>
          <p:nvPr/>
        </p:nvSpPr>
        <p:spPr>
          <a:xfrm>
            <a:off x="8314944" y="298094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8314944" y="3639312"/>
            <a:ext cx="3041904" cy="640080"/>
          </a:xfrm>
          <a:prstGeom prst="rect">
            <a:avLst/>
          </a:prstGeom>
          <a:noFill/>
          <a:ln/>
        </p:spPr>
        <p:txBody>
          <a:bodyPr wrap="square" lIns="0" tIns="0" rIns="0" bIns="0" rtlCol="0" anchor="t"/>
          <a:lstStyle/>
          <a:p>
            <a:pPr indent="0" marL="0">
              <a:lnSpc>
                <a:spcPts val="1783"/>
              </a:lnSpc>
              <a:buNone/>
            </a:pPr>
            <a:r>
              <a:rPr lang="en-US" sz="1550" b="1" dirty="0">
                <a:solidFill>
                  <a:srgbClr val="16211C"/>
                </a:solidFill>
                <a:latin typeface="Cambria" pitchFamily="34" charset="0"/>
                <a:ea typeface="Cambria" pitchFamily="34" charset="-122"/>
                <a:cs typeface="Cambria" pitchFamily="34" charset="-120"/>
              </a:rPr>
              <a:t>Nothing has run on the target hardware</a:t>
            </a:r>
            <a:endParaRPr lang="en-US" sz="1550" dirty="0"/>
          </a:p>
        </p:txBody>
      </p:sp>
      <p:sp>
        <p:nvSpPr>
          <p:cNvPr id="19" name="Text 17"/>
          <p:cNvSpPr txBox="1"/>
          <p:nvPr/>
        </p:nvSpPr>
        <p:spPr>
          <a:xfrm>
            <a:off x="8314944" y="4279392"/>
            <a:ext cx="3041904" cy="521208"/>
          </a:xfrm>
          <a:prstGeom prst="rect">
            <a:avLst/>
          </a:prstGeom>
          <a:noFill/>
          <a:ln/>
        </p:spPr>
        <p:txBody>
          <a:bodyPr wrap="square" lIns="0" tIns="0" rIns="0" bIns="0" rtlCol="0" anchor="t"/>
          <a:lstStyle/>
          <a:p>
            <a:pPr indent="0" marL="0">
              <a:lnSpc>
                <a:spcPts val="1755"/>
              </a:lnSpc>
              <a:buNone/>
            </a:pPr>
            <a:r>
              <a:rPr lang="en-US" sz="1300" dirty="0">
                <a:solidFill>
                  <a:srgbClr val="5A6B62"/>
                </a:solidFill>
                <a:latin typeface="Calibri" pitchFamily="34" charset="0"/>
                <a:ea typeface="Calibri" pitchFamily="34" charset="-122"/>
                <a:cs typeface="Calibri" pitchFamily="34" charset="-120"/>
              </a:rPr>
              <a:t>Every latency number in the thesis comes from a laptop.</a:t>
            </a:r>
            <a:endParaRPr lang="en-US" sz="1300" dirty="0"/>
          </a:p>
        </p:txBody>
      </p:sp>
      <p:sp>
        <p:nvSpPr>
          <p:cNvPr id="20" name="Text 18"/>
          <p:cNvSpPr txBox="1"/>
          <p:nvPr/>
        </p:nvSpPr>
        <p:spPr>
          <a:xfrm>
            <a:off x="566928" y="5166360"/>
            <a:ext cx="11027664" cy="411480"/>
          </a:xfrm>
          <a:prstGeom prst="rect">
            <a:avLst/>
          </a:prstGeom>
          <a:noFill/>
          <a:ln/>
        </p:spPr>
        <p:txBody>
          <a:bodyPr wrap="square" lIns="0" tIns="0" rIns="0" bIns="0" rtlCol="0" anchor="ctr"/>
          <a:lstStyle/>
          <a:p>
            <a:pPr indent="0" marL="0">
              <a:buNone/>
            </a:pPr>
            <a:r>
              <a:rPr lang="en-US" sz="1350" i="1" dirty="0">
                <a:solidFill>
                  <a:srgbClr val="5A6B62"/>
                </a:solidFill>
                <a:latin typeface="Calibri" pitchFamily="34" charset="0"/>
                <a:ea typeface="Calibri" pitchFamily="34" charset="-122"/>
                <a:cs typeface="Calibri" pitchFamily="34" charset="-120"/>
              </a:rPr>
              <a:t>Several tests could not have reached significance: over seven folds the smallest attainable p-value is 0.0156. We report which case applies.</a:t>
            </a:r>
            <a:endParaRPr lang="en-US" sz="1350" dirty="0"/>
          </a:p>
        </p:txBody>
      </p:sp>
      <p:sp>
        <p:nvSpPr>
          <p:cNvPr id="21" name="Text 19"/>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Limits</a:t>
            </a:r>
            <a:endParaRPr lang="en-US" sz="1050" dirty="0"/>
          </a:p>
        </p:txBody>
      </p:sp>
      <p:sp>
        <p:nvSpPr>
          <p:cNvPr id="22" name="Text 20"/>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1F7A4C"/>
                </a:solidFill>
                <a:latin typeface="Calibri" pitchFamily="34" charset="0"/>
                <a:ea typeface="Calibri" pitchFamily="34" charset="-122"/>
                <a:cs typeface="Calibri" pitchFamily="34" charset="-120"/>
              </a:rPr>
              <a:t>LIMITS — AND THE WAY OUT</a:t>
            </a:r>
            <a:endParaRPr lang="en-US" sz="1200" dirty="0"/>
          </a:p>
        </p:txBody>
      </p:sp>
      <p:sp>
        <p:nvSpPr>
          <p:cNvPr id="3" name="Text 1"/>
          <p:cNvSpPr txBox="1"/>
          <p:nvPr/>
        </p:nvSpPr>
        <p:spPr>
          <a:xfrm>
            <a:off x="566928" y="713232"/>
            <a:ext cx="11027664" cy="868680"/>
          </a:xfrm>
          <a:prstGeom prst="rect">
            <a:avLst/>
          </a:prstGeom>
          <a:noFill/>
          <a:ln/>
        </p:spPr>
        <p:txBody>
          <a:bodyPr wrap="square" lIns="0" tIns="0" rIns="0" bIns="0" rtlCol="0" anchor="t"/>
          <a:lstStyle/>
          <a:p>
            <a:pPr indent="0" marL="0">
              <a:lnSpc>
                <a:spcPts val="4300"/>
              </a:lnSpc>
              <a:buNone/>
            </a:pPr>
            <a:r>
              <a:rPr lang="en-US" sz="3800" b="1" dirty="0">
                <a:solidFill>
                  <a:srgbClr val="16211C"/>
                </a:solidFill>
                <a:latin typeface="Cambria" pitchFamily="34" charset="0"/>
                <a:ea typeface="Cambria" pitchFamily="34" charset="-122"/>
                <a:cs typeface="Cambria" pitchFamily="34" charset="-120"/>
              </a:rPr>
              <a:t>What would actually change this</a:t>
            </a:r>
            <a:endParaRPr lang="en-US" sz="3800" dirty="0"/>
          </a:p>
        </p:txBody>
      </p:sp>
      <p:sp>
        <p:nvSpPr>
          <p:cNvPr id="4" name="Text 2"/>
          <p:cNvSpPr txBox="1"/>
          <p:nvPr/>
        </p:nvSpPr>
        <p:spPr>
          <a:xfrm>
            <a:off x="566928" y="1664208"/>
            <a:ext cx="9692640" cy="548640"/>
          </a:xfrm>
          <a:prstGeom prst="rect">
            <a:avLst/>
          </a:prstGeom>
          <a:noFill/>
          <a:ln/>
        </p:spPr>
        <p:txBody>
          <a:bodyPr wrap="square" lIns="0" tIns="0" rIns="0" bIns="0" rtlCol="0" anchor="t"/>
          <a:lstStyle/>
          <a:p>
            <a:pPr indent="0" marL="0">
              <a:lnSpc>
                <a:spcPts val="2400"/>
              </a:lnSpc>
              <a:buNone/>
            </a:pPr>
            <a:r>
              <a:rPr lang="en-US" sz="1700" dirty="0">
                <a:solidFill>
                  <a:srgbClr val="5A6B62"/>
                </a:solidFill>
                <a:latin typeface="Calibri" pitchFamily="34" charset="0"/>
                <a:ea typeface="Calibri" pitchFamily="34" charset="-122"/>
                <a:cs typeface="Calibri" pitchFamily="34" charset="-120"/>
              </a:rPr>
              <a:t>Ordered by value, not by effort.</a:t>
            </a:r>
            <a:endParaRPr lang="en-US" sz="1700" dirty="0"/>
          </a:p>
        </p:txBody>
      </p:sp>
      <p:sp>
        <p:nvSpPr>
          <p:cNvPr id="5" name="Shape 3"/>
          <p:cNvSpPr/>
          <p:nvPr/>
        </p:nvSpPr>
        <p:spPr>
          <a:xfrm>
            <a:off x="566928" y="2606040"/>
            <a:ext cx="11027664" cy="896112"/>
          </a:xfrm>
          <a:prstGeom prst="roundRect">
            <a:avLst>
              <a:gd name="adj" fmla="val 10204"/>
            </a:avLst>
          </a:prstGeom>
          <a:solidFill>
            <a:srgbClr val="E6F3EC"/>
          </a:solidFill>
          <a:ln/>
        </p:spPr>
      </p:sp>
      <p:sp>
        <p:nvSpPr>
          <p:cNvPr id="6" name="Shape 4"/>
          <p:cNvSpPr/>
          <p:nvPr/>
        </p:nvSpPr>
        <p:spPr>
          <a:xfrm>
            <a:off x="804672" y="2807208"/>
            <a:ext cx="493776" cy="493776"/>
          </a:xfrm>
          <a:prstGeom prst="ellipse">
            <a:avLst/>
          </a:prstGeom>
          <a:solidFill>
            <a:srgbClr val="1F7A4C"/>
          </a:solidFill>
          <a:ln/>
        </p:spPr>
      </p:sp>
      <p:sp>
        <p:nvSpPr>
          <p:cNvPr id="7" name="Text 5"/>
          <p:cNvSpPr txBox="1"/>
          <p:nvPr/>
        </p:nvSpPr>
        <p:spPr>
          <a:xfrm>
            <a:off x="804672" y="280720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1499616" y="2752344"/>
            <a:ext cx="3931920" cy="603504"/>
          </a:xfrm>
          <a:prstGeom prst="rect">
            <a:avLst/>
          </a:prstGeom>
          <a:noFill/>
          <a:ln/>
        </p:spPr>
        <p:txBody>
          <a:bodyPr wrap="square" lIns="0" tIns="0" rIns="0" bIns="0" rtlCol="0" anchor="ctr"/>
          <a:lstStyle/>
          <a:p>
            <a:pPr indent="0" marL="0">
              <a:lnSpc>
                <a:spcPts val="1800"/>
              </a:lnSpc>
              <a:buNone/>
            </a:pPr>
            <a:r>
              <a:rPr lang="en-US" sz="1550" b="1" dirty="0">
                <a:solidFill>
                  <a:srgbClr val="16211C"/>
                </a:solidFill>
                <a:latin typeface="Cambria" pitchFamily="34" charset="0"/>
                <a:ea typeface="Cambria" pitchFamily="34" charset="-122"/>
                <a:cs typeface="Cambria" pitchFamily="34" charset="-120"/>
              </a:rPr>
              <a:t>Empty-pitch footage at a second venue</a:t>
            </a:r>
            <a:endParaRPr lang="en-US" sz="1550" dirty="0"/>
          </a:p>
        </p:txBody>
      </p:sp>
      <p:sp>
        <p:nvSpPr>
          <p:cNvPr id="9" name="Text 7"/>
          <p:cNvSpPr txBox="1"/>
          <p:nvPr/>
        </p:nvSpPr>
        <p:spPr>
          <a:xfrm>
            <a:off x="5596128" y="2752344"/>
            <a:ext cx="5724144" cy="603504"/>
          </a:xfrm>
          <a:prstGeom prst="rect">
            <a:avLst/>
          </a:prstGeom>
          <a:noFill/>
          <a:ln/>
        </p:spPr>
        <p:txBody>
          <a:bodyPr wrap="square" lIns="0" tIns="0" rIns="0" bIns="0" rtlCol="0" anchor="ctr"/>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Twenty to thirty minutes of an unoccupied pitch, day and night. Fixes the confound, the external-validity limit and the scope reduction at once.</a:t>
            </a:r>
            <a:endParaRPr lang="en-US" sz="1250" dirty="0"/>
          </a:p>
        </p:txBody>
      </p:sp>
      <p:sp>
        <p:nvSpPr>
          <p:cNvPr id="10" name="Shape 8"/>
          <p:cNvSpPr/>
          <p:nvPr/>
        </p:nvSpPr>
        <p:spPr>
          <a:xfrm>
            <a:off x="566928" y="3630168"/>
            <a:ext cx="11027664" cy="896112"/>
          </a:xfrm>
          <a:prstGeom prst="roundRect">
            <a:avLst>
              <a:gd name="adj" fmla="val 10204"/>
            </a:avLst>
          </a:prstGeom>
          <a:solidFill>
            <a:srgbClr val="F4F7F4"/>
          </a:solidFill>
          <a:ln/>
        </p:spPr>
      </p:sp>
      <p:sp>
        <p:nvSpPr>
          <p:cNvPr id="11" name="Shape 9"/>
          <p:cNvSpPr/>
          <p:nvPr/>
        </p:nvSpPr>
        <p:spPr>
          <a:xfrm>
            <a:off x="804672" y="3831336"/>
            <a:ext cx="493776" cy="493776"/>
          </a:xfrm>
          <a:prstGeom prst="ellipse">
            <a:avLst/>
          </a:prstGeom>
          <a:solidFill>
            <a:srgbClr val="1F7A4C"/>
          </a:solidFill>
          <a:ln/>
        </p:spPr>
      </p:sp>
      <p:sp>
        <p:nvSpPr>
          <p:cNvPr id="12" name="Text 10"/>
          <p:cNvSpPr txBox="1"/>
          <p:nvPr/>
        </p:nvSpPr>
        <p:spPr>
          <a:xfrm>
            <a:off x="804672" y="3831336"/>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1499616" y="3776472"/>
            <a:ext cx="3931920" cy="603504"/>
          </a:xfrm>
          <a:prstGeom prst="rect">
            <a:avLst/>
          </a:prstGeom>
          <a:noFill/>
          <a:ln/>
        </p:spPr>
        <p:txBody>
          <a:bodyPr wrap="square" lIns="0" tIns="0" rIns="0" bIns="0" rtlCol="0" anchor="ctr"/>
          <a:lstStyle/>
          <a:p>
            <a:pPr indent="0" marL="0">
              <a:lnSpc>
                <a:spcPts val="1800"/>
              </a:lnSpc>
              <a:buNone/>
            </a:pPr>
            <a:r>
              <a:rPr lang="en-US" sz="1550" b="1" dirty="0">
                <a:solidFill>
                  <a:srgbClr val="16211C"/>
                </a:solidFill>
                <a:latin typeface="Cambria" pitchFamily="34" charset="0"/>
                <a:ea typeface="Cambria" pitchFamily="34" charset="-122"/>
                <a:cs typeface="Cambria" pitchFamily="34" charset="-120"/>
              </a:rPr>
              <a:t>About 30 real labelled slots</a:t>
            </a:r>
            <a:endParaRPr lang="en-US" sz="1550" dirty="0"/>
          </a:p>
        </p:txBody>
      </p:sp>
      <p:sp>
        <p:nvSpPr>
          <p:cNvPr id="14" name="Text 12"/>
          <p:cNvSpPr txBox="1"/>
          <p:nvPr/>
        </p:nvSpPr>
        <p:spPr>
          <a:xfrm>
            <a:off x="5596128" y="3776472"/>
            <a:ext cx="5724144" cy="603504"/>
          </a:xfrm>
          <a:prstGeom prst="rect">
            <a:avLst/>
          </a:prstGeom>
          <a:noFill/>
          <a:ln/>
        </p:spPr>
        <p:txBody>
          <a:bodyPr wrap="square" lIns="0" tIns="0" rIns="0" bIns="0" rtlCol="0" anchor="ctr"/>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One conversation with the facility. Lifts the temporal model out of preliminary and gives reconciliation a ground truth.</a:t>
            </a:r>
            <a:endParaRPr lang="en-US" sz="1250" dirty="0"/>
          </a:p>
        </p:txBody>
      </p:sp>
      <p:sp>
        <p:nvSpPr>
          <p:cNvPr id="15" name="Shape 13"/>
          <p:cNvSpPr/>
          <p:nvPr/>
        </p:nvSpPr>
        <p:spPr>
          <a:xfrm>
            <a:off x="566928" y="4654296"/>
            <a:ext cx="11027664" cy="896112"/>
          </a:xfrm>
          <a:prstGeom prst="roundRect">
            <a:avLst>
              <a:gd name="adj" fmla="val 10204"/>
            </a:avLst>
          </a:prstGeom>
          <a:solidFill>
            <a:srgbClr val="E6F3EC"/>
          </a:solidFill>
          <a:ln/>
        </p:spPr>
      </p:sp>
      <p:sp>
        <p:nvSpPr>
          <p:cNvPr id="16" name="Shape 14"/>
          <p:cNvSpPr/>
          <p:nvPr/>
        </p:nvSpPr>
        <p:spPr>
          <a:xfrm>
            <a:off x="804672" y="4855464"/>
            <a:ext cx="493776" cy="493776"/>
          </a:xfrm>
          <a:prstGeom prst="ellipse">
            <a:avLst/>
          </a:prstGeom>
          <a:solidFill>
            <a:srgbClr val="1F7A4C"/>
          </a:solidFill>
          <a:ln/>
        </p:spPr>
      </p:sp>
      <p:sp>
        <p:nvSpPr>
          <p:cNvPr id="17" name="Text 15"/>
          <p:cNvSpPr txBox="1"/>
          <p:nvPr/>
        </p:nvSpPr>
        <p:spPr>
          <a:xfrm>
            <a:off x="804672" y="4855464"/>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1499616" y="4800600"/>
            <a:ext cx="3931920" cy="603504"/>
          </a:xfrm>
          <a:prstGeom prst="rect">
            <a:avLst/>
          </a:prstGeom>
          <a:noFill/>
          <a:ln/>
        </p:spPr>
        <p:txBody>
          <a:bodyPr wrap="square" lIns="0" tIns="0" rIns="0" bIns="0" rtlCol="0" anchor="ctr"/>
          <a:lstStyle/>
          <a:p>
            <a:pPr indent="0" marL="0">
              <a:lnSpc>
                <a:spcPts val="1800"/>
              </a:lnSpc>
              <a:buNone/>
            </a:pPr>
            <a:r>
              <a:rPr lang="en-US" sz="1550" b="1" dirty="0">
                <a:solidFill>
                  <a:srgbClr val="16211C"/>
                </a:solidFill>
                <a:latin typeface="Cambria" pitchFamily="34" charset="0"/>
                <a:ea typeface="Cambria" pitchFamily="34" charset="-122"/>
                <a:cs typeface="Cambria" pitchFamily="34" charset="-120"/>
              </a:rPr>
              <a:t>Five labelled frames per camera</a:t>
            </a:r>
            <a:endParaRPr lang="en-US" sz="1550" dirty="0"/>
          </a:p>
        </p:txBody>
      </p:sp>
      <p:sp>
        <p:nvSpPr>
          <p:cNvPr id="19" name="Text 17"/>
          <p:cNvSpPr txBox="1"/>
          <p:nvPr/>
        </p:nvSpPr>
        <p:spPr>
          <a:xfrm>
            <a:off x="5596128" y="4800600"/>
            <a:ext cx="5724144" cy="603504"/>
          </a:xfrm>
          <a:prstGeom prst="rect">
            <a:avLst/>
          </a:prstGeom>
          <a:noFill/>
          <a:ln/>
        </p:spPr>
        <p:txBody>
          <a:bodyPr wrap="square" lIns="0" tIns="0" rIns="0" bIns="0" rtlCol="0" anchor="ctr"/>
          <a:lstStyle/>
          <a:p>
            <a:pPr indent="0" marL="0">
              <a:lnSpc>
                <a:spcPts val="1600"/>
              </a:lnSpc>
              <a:buNone/>
            </a:pPr>
            <a:r>
              <a:rPr lang="en-US" sz="1250" dirty="0">
                <a:solidFill>
                  <a:srgbClr val="5A6B62"/>
                </a:solidFill>
                <a:latin typeface="Calibri" pitchFamily="34" charset="0"/>
                <a:ea typeface="Calibri" pitchFamily="34" charset="-122"/>
                <a:cs typeface="Calibri" pitchFamily="34" charset="-120"/>
              </a:rPr>
              <a:t>Already measured, already cheap — and it is now the onboarding recipe we would hand over.</a:t>
            </a:r>
            <a:endParaRPr lang="en-US" sz="1250" dirty="0"/>
          </a:p>
        </p:txBody>
      </p:sp>
      <p:sp>
        <p:nvSpPr>
          <p:cNvPr id="20" name="Text 18"/>
          <p:cNvSpPr txBox="1"/>
          <p:nvPr/>
        </p:nvSpPr>
        <p:spPr>
          <a:xfrm>
            <a:off x="566928" y="5742432"/>
            <a:ext cx="11027664" cy="411480"/>
          </a:xfrm>
          <a:prstGeom prst="rect">
            <a:avLst/>
          </a:prstGeom>
          <a:noFill/>
          <a:ln/>
        </p:spPr>
        <p:txBody>
          <a:bodyPr wrap="square" lIns="0" tIns="0" rIns="0" bIns="0" rtlCol="0" anchor="ctr"/>
          <a:lstStyle/>
          <a:p>
            <a:pPr indent="0" marL="0">
              <a:buNone/>
            </a:pPr>
            <a:r>
              <a:rPr lang="en-US" sz="1550" b="1" dirty="0">
                <a:solidFill>
                  <a:srgbClr val="1F7A4C"/>
                </a:solidFill>
                <a:latin typeface="Cambria" pitchFamily="34" charset="0"/>
                <a:ea typeface="Cambria" pitchFamily="34" charset="-122"/>
                <a:cs typeface="Cambria" pitchFamily="34" charset="-120"/>
              </a:rPr>
              <a:t>The limitations are mostly a data-access problem with a known and inexpensive solution — not a methodological one.</a:t>
            </a:r>
            <a:endParaRPr lang="en-US" sz="1550" dirty="0"/>
          </a:p>
        </p:txBody>
      </p:sp>
      <p:sp>
        <p:nvSpPr>
          <p:cNvPr id="21" name="Text 19"/>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9AAAA1"/>
                </a:solidFill>
                <a:latin typeface="Calibri" pitchFamily="34" charset="0"/>
                <a:ea typeface="Calibri" pitchFamily="34" charset="-122"/>
                <a:cs typeface="Calibri" pitchFamily="34" charset="-120"/>
              </a:rPr>
              <a:t>Limits — the way out</a:t>
            </a:r>
            <a:endParaRPr lang="en-US" sz="1050" dirty="0"/>
          </a:p>
        </p:txBody>
      </p:sp>
      <p:sp>
        <p:nvSpPr>
          <p:cNvPr id="22" name="Text 20"/>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9AAAA1"/>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02A1E"/>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74320"/>
          </a:xfrm>
          <a:prstGeom prst="rect">
            <a:avLst/>
          </a:prstGeom>
          <a:noFill/>
          <a:ln/>
        </p:spPr>
        <p:txBody>
          <a:bodyPr wrap="square" lIns="0" tIns="0" rIns="0" bIns="0" rtlCol="0" anchor="ctr"/>
          <a:lstStyle/>
          <a:p>
            <a:pPr indent="0" marL="0">
              <a:buNone/>
            </a:pPr>
            <a:r>
              <a:rPr lang="en-US" sz="1200" b="1" spc="220" kern="0" dirty="0">
                <a:solidFill>
                  <a:srgbClr val="2FA86B"/>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566928" y="749808"/>
            <a:ext cx="11027664" cy="731520"/>
          </a:xfrm>
          <a:prstGeom prst="rect">
            <a:avLst/>
          </a:prstGeom>
          <a:noFill/>
          <a:ln/>
        </p:spPr>
        <p:txBody>
          <a:bodyPr wrap="square" lIns="0" tIns="0" rIns="0" bIns="0" rtlCol="0" anchor="t"/>
          <a:lstStyle/>
          <a:p>
            <a:pPr indent="0" marL="0">
              <a:lnSpc>
                <a:spcPts val="4480"/>
              </a:lnSpc>
              <a:buNone/>
            </a:pPr>
            <a:r>
              <a:rPr lang="en-US" sz="4000" b="1" dirty="0">
                <a:solidFill>
                  <a:srgbClr val="FFFFFF"/>
                </a:solidFill>
                <a:latin typeface="Cambria" pitchFamily="34" charset="0"/>
                <a:ea typeface="Cambria" pitchFamily="34" charset="-122"/>
                <a:cs typeface="Cambria" pitchFamily="34" charset="-120"/>
              </a:rPr>
              <a:t>In summary</a:t>
            </a:r>
            <a:endParaRPr lang="en-US" sz="4000" dirty="0"/>
          </a:p>
        </p:txBody>
      </p:sp>
      <p:sp>
        <p:nvSpPr>
          <p:cNvPr id="4" name="Shape 2"/>
          <p:cNvSpPr/>
          <p:nvPr/>
        </p:nvSpPr>
        <p:spPr>
          <a:xfrm>
            <a:off x="566928" y="1700784"/>
            <a:ext cx="11027664" cy="896112"/>
          </a:xfrm>
          <a:prstGeom prst="roundRect">
            <a:avLst>
              <a:gd name="adj" fmla="val 10204"/>
            </a:avLst>
          </a:prstGeom>
          <a:solidFill>
            <a:srgbClr val="1A3C2B"/>
          </a:solidFill>
          <a:ln/>
        </p:spPr>
      </p:sp>
      <p:sp>
        <p:nvSpPr>
          <p:cNvPr id="5" name="Text 3"/>
          <p:cNvSpPr txBox="1"/>
          <p:nvPr/>
        </p:nvSpPr>
        <p:spPr>
          <a:xfrm>
            <a:off x="841248" y="1847088"/>
            <a:ext cx="1828800" cy="603504"/>
          </a:xfrm>
          <a:prstGeom prst="rect">
            <a:avLst/>
          </a:prstGeom>
          <a:noFill/>
          <a:ln/>
        </p:spPr>
        <p:txBody>
          <a:bodyPr wrap="square" lIns="0" tIns="0" rIns="0" bIns="0" rtlCol="0" anchor="ctr"/>
          <a:lstStyle/>
          <a:p>
            <a:pPr indent="0" marL="0">
              <a:buNone/>
            </a:pPr>
            <a:r>
              <a:rPr lang="en-US" sz="1150" b="1" spc="160" kern="0" dirty="0">
                <a:solidFill>
                  <a:srgbClr val="2FA86B"/>
                </a:solidFill>
                <a:latin typeface="Calibri" pitchFamily="34" charset="0"/>
                <a:ea typeface="Calibri" pitchFamily="34" charset="-122"/>
                <a:cs typeface="Calibri" pitchFamily="34" charset="-120"/>
              </a:rPr>
              <a:t>INVESTIGATED</a:t>
            </a:r>
            <a:endParaRPr lang="en-US" sz="1150" dirty="0"/>
          </a:p>
        </p:txBody>
      </p:sp>
      <p:sp>
        <p:nvSpPr>
          <p:cNvPr id="6" name="Text 4"/>
          <p:cNvSpPr txBox="1"/>
          <p:nvPr/>
        </p:nvSpPr>
        <p:spPr>
          <a:xfrm>
            <a:off x="2715768" y="1847088"/>
            <a:ext cx="8604504" cy="603504"/>
          </a:xfrm>
          <a:prstGeom prst="rect">
            <a:avLst/>
          </a:prstGeom>
          <a:noFill/>
          <a:ln/>
        </p:spPr>
        <p:txBody>
          <a:bodyPr wrap="square" lIns="0" tIns="0" rIns="0" bIns="0" rtlCol="0" anchor="ctr"/>
          <a:lstStyle/>
          <a:p>
            <a:pPr indent="0" marL="0">
              <a:lnSpc>
                <a:spcPts val="1700"/>
              </a:lnSpc>
              <a:buNone/>
            </a:pPr>
            <a:r>
              <a:rPr lang="en-US" sz="1350" dirty="0">
                <a:solidFill>
                  <a:srgbClr val="DCEFE4"/>
                </a:solidFill>
                <a:latin typeface="Calibri" pitchFamily="34" charset="0"/>
                <a:ea typeface="Calibri" pitchFamily="34" charset="-122"/>
                <a:cs typeface="Calibri" pitchFamily="34" charset="-120"/>
              </a:rPr>
              <a:t>Whether cameras a facility already owns can verify which booked hours were actually used — on a CPU, with a human deciding every case.</a:t>
            </a:r>
            <a:endParaRPr lang="en-US" sz="1350" dirty="0"/>
          </a:p>
        </p:txBody>
      </p:sp>
      <p:sp>
        <p:nvSpPr>
          <p:cNvPr id="7" name="Shape 5"/>
          <p:cNvSpPr/>
          <p:nvPr/>
        </p:nvSpPr>
        <p:spPr>
          <a:xfrm>
            <a:off x="566928" y="2724912"/>
            <a:ext cx="11027664" cy="896112"/>
          </a:xfrm>
          <a:prstGeom prst="roundRect">
            <a:avLst>
              <a:gd name="adj" fmla="val 10204"/>
            </a:avLst>
          </a:prstGeom>
          <a:solidFill>
            <a:srgbClr val="1A3C2B"/>
          </a:solidFill>
          <a:ln/>
        </p:spPr>
      </p:sp>
      <p:sp>
        <p:nvSpPr>
          <p:cNvPr id="8" name="Text 6"/>
          <p:cNvSpPr txBox="1"/>
          <p:nvPr/>
        </p:nvSpPr>
        <p:spPr>
          <a:xfrm>
            <a:off x="841248" y="2871216"/>
            <a:ext cx="1828800" cy="603504"/>
          </a:xfrm>
          <a:prstGeom prst="rect">
            <a:avLst/>
          </a:prstGeom>
          <a:noFill/>
          <a:ln/>
        </p:spPr>
        <p:txBody>
          <a:bodyPr wrap="square" lIns="0" tIns="0" rIns="0" bIns="0" rtlCol="0" anchor="ctr"/>
          <a:lstStyle/>
          <a:p>
            <a:pPr indent="0" marL="0">
              <a:buNone/>
            </a:pPr>
            <a:r>
              <a:rPr lang="en-US" sz="1150" b="1" spc="160" kern="0" dirty="0">
                <a:solidFill>
                  <a:srgbClr val="2FA86B"/>
                </a:solidFill>
                <a:latin typeface="Calibri" pitchFamily="34" charset="0"/>
                <a:ea typeface="Calibri" pitchFamily="34" charset="-122"/>
                <a:cs typeface="Calibri" pitchFamily="34" charset="-120"/>
              </a:rPr>
              <a:t>FOUND</a:t>
            </a:r>
            <a:endParaRPr lang="en-US" sz="1150" dirty="0"/>
          </a:p>
        </p:txBody>
      </p:sp>
      <p:sp>
        <p:nvSpPr>
          <p:cNvPr id="9" name="Text 7"/>
          <p:cNvSpPr txBox="1"/>
          <p:nvPr/>
        </p:nvSpPr>
        <p:spPr>
          <a:xfrm>
            <a:off x="2715768" y="2871216"/>
            <a:ext cx="8604504" cy="603504"/>
          </a:xfrm>
          <a:prstGeom prst="rect">
            <a:avLst/>
          </a:prstGeom>
          <a:noFill/>
          <a:ln/>
        </p:spPr>
        <p:txBody>
          <a:bodyPr wrap="square" lIns="0" tIns="0" rIns="0" bIns="0" rtlCol="0" anchor="ctr"/>
          <a:lstStyle/>
          <a:p>
            <a:pPr indent="0" marL="0">
              <a:lnSpc>
                <a:spcPts val="1700"/>
              </a:lnSpc>
              <a:buNone/>
            </a:pPr>
            <a:r>
              <a:rPr lang="en-US" sz="1350" dirty="0">
                <a:solidFill>
                  <a:srgbClr val="DCEFE4"/>
                </a:solidFill>
                <a:latin typeface="Calibri" pitchFamily="34" charset="0"/>
                <a:ea typeface="Calibri" pitchFamily="34" charset="-122"/>
                <a:cs typeface="Calibri" pitchFamily="34" charset="-120"/>
              </a:rPr>
              <a:t>On this data a clock beats a neural network. Lighting and occupancy are confounded so tightly that no protocol on this corpus can separate them.</a:t>
            </a:r>
            <a:endParaRPr lang="en-US" sz="1350" dirty="0"/>
          </a:p>
        </p:txBody>
      </p:sp>
      <p:sp>
        <p:nvSpPr>
          <p:cNvPr id="10" name="Shape 8"/>
          <p:cNvSpPr/>
          <p:nvPr/>
        </p:nvSpPr>
        <p:spPr>
          <a:xfrm>
            <a:off x="566928" y="3749040"/>
            <a:ext cx="11027664" cy="896112"/>
          </a:xfrm>
          <a:prstGeom prst="roundRect">
            <a:avLst>
              <a:gd name="adj" fmla="val 10204"/>
            </a:avLst>
          </a:prstGeom>
          <a:solidFill>
            <a:srgbClr val="1A3C2B"/>
          </a:solidFill>
          <a:ln/>
        </p:spPr>
      </p:sp>
      <p:sp>
        <p:nvSpPr>
          <p:cNvPr id="11" name="Text 9"/>
          <p:cNvSpPr txBox="1"/>
          <p:nvPr/>
        </p:nvSpPr>
        <p:spPr>
          <a:xfrm>
            <a:off x="841248" y="3895344"/>
            <a:ext cx="1828800" cy="603504"/>
          </a:xfrm>
          <a:prstGeom prst="rect">
            <a:avLst/>
          </a:prstGeom>
          <a:noFill/>
          <a:ln/>
        </p:spPr>
        <p:txBody>
          <a:bodyPr wrap="square" lIns="0" tIns="0" rIns="0" bIns="0" rtlCol="0" anchor="ctr"/>
          <a:lstStyle/>
          <a:p>
            <a:pPr indent="0" marL="0">
              <a:buNone/>
            </a:pPr>
            <a:r>
              <a:rPr lang="en-US" sz="1150" b="1" spc="160" kern="0" dirty="0">
                <a:solidFill>
                  <a:srgbClr val="2FA86B"/>
                </a:solidFill>
                <a:latin typeface="Calibri" pitchFamily="34" charset="0"/>
                <a:ea typeface="Calibri" pitchFamily="34" charset="-122"/>
                <a:cs typeface="Calibri" pitchFamily="34" charset="-120"/>
              </a:rPr>
              <a:t>CONTRIBUTED</a:t>
            </a:r>
            <a:endParaRPr lang="en-US" sz="1150" dirty="0"/>
          </a:p>
        </p:txBody>
      </p:sp>
      <p:sp>
        <p:nvSpPr>
          <p:cNvPr id="12" name="Text 10"/>
          <p:cNvSpPr txBox="1"/>
          <p:nvPr/>
        </p:nvSpPr>
        <p:spPr>
          <a:xfrm>
            <a:off x="2715768" y="3895344"/>
            <a:ext cx="8604504" cy="603504"/>
          </a:xfrm>
          <a:prstGeom prst="rect">
            <a:avLst/>
          </a:prstGeom>
          <a:noFill/>
          <a:ln/>
        </p:spPr>
        <p:txBody>
          <a:bodyPr wrap="square" lIns="0" tIns="0" rIns="0" bIns="0" rtlCol="0" anchor="ctr"/>
          <a:lstStyle/>
          <a:p>
            <a:pPr indent="0" marL="0">
              <a:lnSpc>
                <a:spcPts val="1700"/>
              </a:lnSpc>
              <a:buNone/>
            </a:pPr>
            <a:r>
              <a:rPr lang="en-US" sz="1350" dirty="0">
                <a:solidFill>
                  <a:srgbClr val="DCEFE4"/>
                </a:solidFill>
                <a:latin typeface="Calibri" pitchFamily="34" charset="0"/>
                <a:ea typeface="Calibri" pitchFamily="34" charset="-122"/>
                <a:cs typeface="Calibri" pitchFamily="34" charset="-120"/>
              </a:rPr>
              <a:t>An evaluation method: trivial baselines in every protocol, grouped splits, re-drawing randomness rather than re-running it, and every guard verified by breaking it.</a:t>
            </a:r>
            <a:endParaRPr lang="en-US" sz="1350" dirty="0"/>
          </a:p>
        </p:txBody>
      </p:sp>
      <p:sp>
        <p:nvSpPr>
          <p:cNvPr id="13" name="Shape 11"/>
          <p:cNvSpPr/>
          <p:nvPr/>
        </p:nvSpPr>
        <p:spPr>
          <a:xfrm>
            <a:off x="566928" y="4773168"/>
            <a:ext cx="11027664" cy="896112"/>
          </a:xfrm>
          <a:prstGeom prst="roundRect">
            <a:avLst>
              <a:gd name="adj" fmla="val 10204"/>
            </a:avLst>
          </a:prstGeom>
          <a:solidFill>
            <a:srgbClr val="1A3C2B"/>
          </a:solidFill>
          <a:ln/>
        </p:spPr>
      </p:sp>
      <p:sp>
        <p:nvSpPr>
          <p:cNvPr id="14" name="Text 12"/>
          <p:cNvSpPr txBox="1"/>
          <p:nvPr/>
        </p:nvSpPr>
        <p:spPr>
          <a:xfrm>
            <a:off x="841248" y="4919472"/>
            <a:ext cx="1828800" cy="603504"/>
          </a:xfrm>
          <a:prstGeom prst="rect">
            <a:avLst/>
          </a:prstGeom>
          <a:noFill/>
          <a:ln/>
        </p:spPr>
        <p:txBody>
          <a:bodyPr wrap="square" lIns="0" tIns="0" rIns="0" bIns="0" rtlCol="0" anchor="ctr"/>
          <a:lstStyle/>
          <a:p>
            <a:pPr indent="0" marL="0">
              <a:buNone/>
            </a:pPr>
            <a:r>
              <a:rPr lang="en-US" sz="1150" b="1" spc="160" kern="0" dirty="0">
                <a:solidFill>
                  <a:srgbClr val="2FA86B"/>
                </a:solidFill>
                <a:latin typeface="Calibri" pitchFamily="34" charset="0"/>
                <a:ea typeface="Calibri" pitchFamily="34" charset="-122"/>
                <a:cs typeface="Calibri" pitchFamily="34" charset="-120"/>
              </a:rPr>
              <a:t>IMPLIES</a:t>
            </a:r>
            <a:endParaRPr lang="en-US" sz="1150" dirty="0"/>
          </a:p>
        </p:txBody>
      </p:sp>
      <p:sp>
        <p:nvSpPr>
          <p:cNvPr id="15" name="Text 13"/>
          <p:cNvSpPr txBox="1"/>
          <p:nvPr/>
        </p:nvSpPr>
        <p:spPr>
          <a:xfrm>
            <a:off x="2715768" y="4919472"/>
            <a:ext cx="8604504" cy="603504"/>
          </a:xfrm>
          <a:prstGeom prst="rect">
            <a:avLst/>
          </a:prstGeom>
          <a:noFill/>
          <a:ln/>
        </p:spPr>
        <p:txBody>
          <a:bodyPr wrap="square" lIns="0" tIns="0" rIns="0" bIns="0" rtlCol="0" anchor="ctr"/>
          <a:lstStyle/>
          <a:p>
            <a:pPr indent="0" marL="0">
              <a:lnSpc>
                <a:spcPts val="1700"/>
              </a:lnSpc>
              <a:buNone/>
            </a:pPr>
            <a:r>
              <a:rPr lang="en-US" sz="1350" dirty="0">
                <a:solidFill>
                  <a:srgbClr val="DCEFE4"/>
                </a:solidFill>
                <a:latin typeface="Calibri" pitchFamily="34" charset="0"/>
                <a:ea typeface="Calibri" pitchFamily="34" charset="-122"/>
                <a:cs typeface="Calibri" pitchFamily="34" charset="-120"/>
              </a:rPr>
              <a:t>For the facility, a five-frame onboarding recipe. For the field, that a benchmark can rank a light meter first and still look healthy.</a:t>
            </a:r>
            <a:endParaRPr lang="en-US" sz="1350" dirty="0"/>
          </a:p>
        </p:txBody>
      </p:sp>
      <p:sp>
        <p:nvSpPr>
          <p:cNvPr id="16" name="Text 14"/>
          <p:cNvSpPr txBox="1"/>
          <p:nvPr/>
        </p:nvSpPr>
        <p:spPr>
          <a:xfrm>
            <a:off x="566928" y="5724144"/>
            <a:ext cx="11027664" cy="402336"/>
          </a:xfrm>
          <a:prstGeom prst="rect">
            <a:avLst/>
          </a:prstGeom>
          <a:noFill/>
          <a:ln/>
        </p:spPr>
        <p:txBody>
          <a:bodyPr wrap="square" lIns="0" tIns="0" rIns="0" bIns="0" rtlCol="0" anchor="ctr"/>
          <a:lstStyle/>
          <a:p>
            <a:pPr indent="0" marL="0">
              <a:buNone/>
            </a:pPr>
            <a:r>
              <a:rPr lang="en-US" sz="1900" b="1" i="1" dirty="0">
                <a:solidFill>
                  <a:srgbClr val="F2A33C"/>
                </a:solidFill>
                <a:latin typeface="Cambria" pitchFamily="34" charset="0"/>
                <a:ea typeface="Cambria" pitchFamily="34" charset="-122"/>
                <a:cs typeface="Cambria" pitchFamily="34" charset="-120"/>
              </a:rPr>
              <a:t>No protocol compensates for a case the data never contains.</a:t>
            </a:r>
            <a:endParaRPr lang="en-US" sz="1900" dirty="0"/>
          </a:p>
        </p:txBody>
      </p:sp>
      <p:sp>
        <p:nvSpPr>
          <p:cNvPr id="17" name="Text 15"/>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Summary</a:t>
            </a:r>
            <a:endParaRPr lang="en-US" sz="1050" dirty="0"/>
          </a:p>
        </p:txBody>
      </p:sp>
      <p:sp>
        <p:nvSpPr>
          <p:cNvPr id="18" name="Text 16"/>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02A1E"/>
        </a:solidFill>
      </p:bgPr>
    </p:bg>
    <p:spTree>
      <p:nvGrpSpPr>
        <p:cNvPr id="1" name=""/>
        <p:cNvGrpSpPr/>
        <p:nvPr/>
      </p:nvGrpSpPr>
      <p:grpSpPr>
        <a:xfrm>
          <a:off x="0" y="0"/>
          <a:ext cx="0" cy="0"/>
          <a:chOff x="0" y="0"/>
          <a:chExt cx="0" cy="0"/>
        </a:xfrm>
      </p:grpSpPr>
      <p:sp>
        <p:nvSpPr>
          <p:cNvPr id="2" name="Shape 0"/>
          <p:cNvSpPr/>
          <p:nvPr/>
        </p:nvSpPr>
        <p:spPr>
          <a:xfrm>
            <a:off x="-914400" y="-914400"/>
            <a:ext cx="3291840" cy="3291840"/>
          </a:xfrm>
          <a:prstGeom prst="ellipse">
            <a:avLst/>
          </a:prstGeom>
          <a:solidFill>
            <a:srgbClr val="2FA86B">
              <a:alpha val="18000"/>
            </a:srgbClr>
          </a:solidFill>
          <a:ln/>
        </p:spPr>
      </p:sp>
      <p:sp>
        <p:nvSpPr>
          <p:cNvPr id="3" name="Shape 1"/>
          <p:cNvSpPr/>
          <p:nvPr/>
        </p:nvSpPr>
        <p:spPr>
          <a:xfrm>
            <a:off x="10241280" y="4754880"/>
            <a:ext cx="2926080" cy="2926080"/>
          </a:xfrm>
          <a:prstGeom prst="ellipse">
            <a:avLst/>
          </a:prstGeom>
          <a:solidFill>
            <a:srgbClr val="F2A33C">
              <a:alpha val="16000"/>
            </a:srgbClr>
          </a:solidFill>
          <a:ln/>
        </p:spPr>
      </p:sp>
      <p:sp>
        <p:nvSpPr>
          <p:cNvPr id="4" name="Text 2"/>
          <p:cNvSpPr txBox="1"/>
          <p:nvPr/>
        </p:nvSpPr>
        <p:spPr>
          <a:xfrm>
            <a:off x="566928" y="1737360"/>
            <a:ext cx="8229600" cy="365760"/>
          </a:xfrm>
          <a:prstGeom prst="rect">
            <a:avLst/>
          </a:prstGeom>
          <a:noFill/>
          <a:ln/>
        </p:spPr>
        <p:txBody>
          <a:bodyPr wrap="square" lIns="0" tIns="0" rIns="0" bIns="0" rtlCol="0" anchor="ctr"/>
          <a:lstStyle/>
          <a:p>
            <a:pPr indent="0" marL="0">
              <a:buNone/>
            </a:pPr>
            <a:r>
              <a:rPr lang="en-US" sz="1300" b="1" spc="300" kern="0" dirty="0">
                <a:solidFill>
                  <a:srgbClr val="2FA86B"/>
                </a:solidFill>
                <a:latin typeface="Calibri" pitchFamily="34" charset="0"/>
                <a:ea typeface="Calibri" pitchFamily="34" charset="-122"/>
                <a:cs typeface="Calibri" pitchFamily="34" charset="-120"/>
              </a:rPr>
              <a:t>THANK YOU</a:t>
            </a:r>
            <a:endParaRPr lang="en-US" sz="1300" dirty="0"/>
          </a:p>
        </p:txBody>
      </p:sp>
      <p:sp>
        <p:nvSpPr>
          <p:cNvPr id="5" name="Text 3"/>
          <p:cNvSpPr txBox="1"/>
          <p:nvPr/>
        </p:nvSpPr>
        <p:spPr>
          <a:xfrm>
            <a:off x="566928" y="2240280"/>
            <a:ext cx="8778240" cy="1645920"/>
          </a:xfrm>
          <a:prstGeom prst="rect">
            <a:avLst/>
          </a:prstGeom>
          <a:noFill/>
          <a:ln/>
        </p:spPr>
        <p:txBody>
          <a:bodyPr wrap="square" lIns="0" tIns="0" rIns="0" bIns="0" rtlCol="0" anchor="t"/>
          <a:lstStyle/>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Questions, comments</a:t>
            </a:r>
            <a:endParaRPr lang="en-US" sz="4200" dirty="0"/>
          </a:p>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and suggestions welcome.</a:t>
            </a:r>
            <a:endParaRPr lang="en-US" sz="4200" dirty="0"/>
          </a:p>
        </p:txBody>
      </p:sp>
      <p:sp>
        <p:nvSpPr>
          <p:cNvPr id="6" name="Text 4"/>
          <p:cNvSpPr txBox="1"/>
          <p:nvPr/>
        </p:nvSpPr>
        <p:spPr>
          <a:xfrm>
            <a:off x="566928" y="3977640"/>
            <a:ext cx="8229600" cy="411480"/>
          </a:xfrm>
          <a:prstGeom prst="rect">
            <a:avLst/>
          </a:prstGeom>
          <a:noFill/>
          <a:ln/>
        </p:spPr>
        <p:txBody>
          <a:bodyPr wrap="square" lIns="0" tIns="0" rIns="0" bIns="0" rtlCol="0" anchor="ctr"/>
          <a:lstStyle/>
          <a:p>
            <a:pPr indent="0" marL="0">
              <a:buNone/>
            </a:pPr>
            <a:r>
              <a:rPr lang="en-US" sz="1700" dirty="0">
                <a:solidFill>
                  <a:srgbClr val="C8DCD1"/>
                </a:solidFill>
                <a:latin typeface="Calibri" pitchFamily="34" charset="0"/>
                <a:ea typeface="Calibri" pitchFamily="34" charset="-122"/>
                <a:cs typeface="Calibri" pitchFamily="34" charset="-120"/>
              </a:rPr>
              <a:t>Thank you for your time and attention.</a:t>
            </a:r>
            <a:endParaRPr lang="en-US" sz="1700" dirty="0"/>
          </a:p>
        </p:txBody>
      </p:sp>
      <p:sp>
        <p:nvSpPr>
          <p:cNvPr id="7" name="Shape 5"/>
          <p:cNvSpPr/>
          <p:nvPr/>
        </p:nvSpPr>
        <p:spPr>
          <a:xfrm>
            <a:off x="566928" y="4800600"/>
            <a:ext cx="3895344" cy="438912"/>
          </a:xfrm>
          <a:prstGeom prst="roundRect">
            <a:avLst>
              <a:gd name="adj" fmla="val 50000"/>
            </a:avLst>
          </a:prstGeom>
          <a:solidFill>
            <a:srgbClr val="1A3C2B"/>
          </a:solidFill>
          <a:ln/>
        </p:spPr>
      </p:sp>
      <p:sp>
        <p:nvSpPr>
          <p:cNvPr id="8" name="Text 6"/>
          <p:cNvSpPr txBox="1"/>
          <p:nvPr/>
        </p:nvSpPr>
        <p:spPr>
          <a:xfrm>
            <a:off x="566928" y="4800600"/>
            <a:ext cx="3895344" cy="438912"/>
          </a:xfrm>
          <a:prstGeom prst="rect">
            <a:avLst/>
          </a:prstGeom>
          <a:noFill/>
          <a:ln/>
        </p:spPr>
        <p:txBody>
          <a:bodyPr wrap="square" lIns="0" tIns="0" rIns="0" bIns="0" rtlCol="0" anchor="ctr"/>
          <a:lstStyle/>
          <a:p>
            <a:pPr algn="ctr" indent="0" marL="0">
              <a:buNone/>
            </a:pPr>
            <a:r>
              <a:rPr lang="en-US" sz="1200" dirty="0">
                <a:solidFill>
                  <a:srgbClr val="AFCBBC"/>
                </a:solidFill>
                <a:latin typeface="Calibri" pitchFamily="34" charset="0"/>
                <a:ea typeface="Calibri" pitchFamily="34" charset="-122"/>
                <a:cs typeface="Calibri" pitchFamily="34" charset="-120"/>
              </a:rPr>
              <a:t>Would a colour histogram have done this?</a:t>
            </a:r>
            <a:endParaRPr lang="en-US" sz="1200" dirty="0"/>
          </a:p>
        </p:txBody>
      </p:sp>
      <p:sp>
        <p:nvSpPr>
          <p:cNvPr id="9" name="Shape 7"/>
          <p:cNvSpPr/>
          <p:nvPr/>
        </p:nvSpPr>
        <p:spPr>
          <a:xfrm>
            <a:off x="4608576" y="4800600"/>
            <a:ext cx="2999232" cy="438912"/>
          </a:xfrm>
          <a:prstGeom prst="roundRect">
            <a:avLst>
              <a:gd name="adj" fmla="val 50000"/>
            </a:avLst>
          </a:prstGeom>
          <a:solidFill>
            <a:srgbClr val="1A3C2B"/>
          </a:solidFill>
          <a:ln/>
        </p:spPr>
      </p:sp>
      <p:sp>
        <p:nvSpPr>
          <p:cNvPr id="10" name="Text 8"/>
          <p:cNvSpPr txBox="1"/>
          <p:nvPr/>
        </p:nvSpPr>
        <p:spPr>
          <a:xfrm>
            <a:off x="4608576" y="4800600"/>
            <a:ext cx="2999232" cy="438912"/>
          </a:xfrm>
          <a:prstGeom prst="rect">
            <a:avLst/>
          </a:prstGeom>
          <a:noFill/>
          <a:ln/>
        </p:spPr>
        <p:txBody>
          <a:bodyPr wrap="square" lIns="0" tIns="0" rIns="0" bIns="0" rtlCol="0" anchor="ctr"/>
          <a:lstStyle/>
          <a:p>
            <a:pPr algn="ctr" indent="0" marL="0">
              <a:buNone/>
            </a:pPr>
            <a:r>
              <a:rPr lang="en-US" sz="1200" dirty="0">
                <a:solidFill>
                  <a:srgbClr val="AFCBBC"/>
                </a:solidFill>
                <a:latin typeface="Calibri" pitchFamily="34" charset="0"/>
                <a:ea typeface="Calibri" pitchFamily="34" charset="-122"/>
                <a:cs typeface="Calibri" pitchFamily="34" charset="-120"/>
              </a:rPr>
              <a:t>Is the novelty just smoothing?</a:t>
            </a:r>
            <a:endParaRPr lang="en-US" sz="1200" dirty="0"/>
          </a:p>
        </p:txBody>
      </p:sp>
      <p:sp>
        <p:nvSpPr>
          <p:cNvPr id="11" name="Shape 9"/>
          <p:cNvSpPr/>
          <p:nvPr/>
        </p:nvSpPr>
        <p:spPr>
          <a:xfrm>
            <a:off x="7754112" y="4800600"/>
            <a:ext cx="3626510" cy="438912"/>
          </a:xfrm>
          <a:prstGeom prst="roundRect">
            <a:avLst>
              <a:gd name="adj" fmla="val 50000"/>
            </a:avLst>
          </a:prstGeom>
          <a:solidFill>
            <a:srgbClr val="1A3C2B"/>
          </a:solidFill>
          <a:ln/>
        </p:spPr>
      </p:sp>
      <p:sp>
        <p:nvSpPr>
          <p:cNvPr id="12" name="Text 10"/>
          <p:cNvSpPr txBox="1"/>
          <p:nvPr/>
        </p:nvSpPr>
        <p:spPr>
          <a:xfrm>
            <a:off x="7754112" y="4800600"/>
            <a:ext cx="3626510" cy="438912"/>
          </a:xfrm>
          <a:prstGeom prst="rect">
            <a:avLst/>
          </a:prstGeom>
          <a:noFill/>
          <a:ln/>
        </p:spPr>
        <p:txBody>
          <a:bodyPr wrap="square" lIns="0" tIns="0" rIns="0" bIns="0" rtlCol="0" anchor="ctr"/>
          <a:lstStyle/>
          <a:p>
            <a:pPr algn="ctr" indent="0" marL="0">
              <a:buNone/>
            </a:pPr>
            <a:r>
              <a:rPr lang="en-US" sz="1200" dirty="0">
                <a:solidFill>
                  <a:srgbClr val="AFCBBC"/>
                </a:solidFill>
                <a:latin typeface="Calibri" pitchFamily="34" charset="0"/>
                <a:ea typeface="Calibri" pitchFamily="34" charset="-122"/>
                <a:cs typeface="Calibri" pitchFamily="34" charset="-120"/>
              </a:rPr>
              <a:t>How many comparisons before p &lt; 0.05?</a:t>
            </a:r>
            <a:endParaRPr lang="en-US" sz="1200" dirty="0"/>
          </a:p>
        </p:txBody>
      </p:sp>
      <p:sp>
        <p:nvSpPr>
          <p:cNvPr id="13" name="Shape 11"/>
          <p:cNvSpPr/>
          <p:nvPr/>
        </p:nvSpPr>
        <p:spPr>
          <a:xfrm>
            <a:off x="566928" y="5367528"/>
            <a:ext cx="2640787" cy="438912"/>
          </a:xfrm>
          <a:prstGeom prst="roundRect">
            <a:avLst>
              <a:gd name="adj" fmla="val 50000"/>
            </a:avLst>
          </a:prstGeom>
          <a:solidFill>
            <a:srgbClr val="1A3C2B"/>
          </a:solidFill>
          <a:ln/>
        </p:spPr>
      </p:sp>
      <p:sp>
        <p:nvSpPr>
          <p:cNvPr id="14" name="Text 12"/>
          <p:cNvSpPr txBox="1"/>
          <p:nvPr/>
        </p:nvSpPr>
        <p:spPr>
          <a:xfrm>
            <a:off x="566928" y="5367528"/>
            <a:ext cx="2640787" cy="438912"/>
          </a:xfrm>
          <a:prstGeom prst="rect">
            <a:avLst/>
          </a:prstGeom>
          <a:noFill/>
          <a:ln/>
        </p:spPr>
        <p:txBody>
          <a:bodyPr wrap="square" lIns="0" tIns="0" rIns="0" bIns="0" rtlCol="0" anchor="ctr"/>
          <a:lstStyle/>
          <a:p>
            <a:pPr algn="ctr" indent="0" marL="0">
              <a:buNone/>
            </a:pPr>
            <a:r>
              <a:rPr lang="en-US" sz="1200" dirty="0">
                <a:solidFill>
                  <a:srgbClr val="AFCBBC"/>
                </a:solidFill>
                <a:latin typeface="Calibri" pitchFamily="34" charset="0"/>
                <a:ea typeface="Calibri" pitchFamily="34" charset="-122"/>
                <a:cs typeface="Calibri" pitchFamily="34" charset="-120"/>
              </a:rPr>
              <a:t>What is the human ceiling?</a:t>
            </a:r>
            <a:endParaRPr lang="en-US" sz="1200" dirty="0"/>
          </a:p>
        </p:txBody>
      </p:sp>
      <p:sp>
        <p:nvSpPr>
          <p:cNvPr id="15" name="Text 13"/>
          <p:cNvSpPr txBox="1"/>
          <p:nvPr/>
        </p:nvSpPr>
        <p:spPr>
          <a:xfrm>
            <a:off x="566928" y="6291072"/>
            <a:ext cx="8686800" cy="274320"/>
          </a:xfrm>
          <a:prstGeom prst="rect">
            <a:avLst/>
          </a:prstGeom>
          <a:noFill/>
          <a:ln/>
        </p:spPr>
        <p:txBody>
          <a:bodyPr wrap="square" lIns="0" tIns="0" rIns="0" bIns="0" rtlCol="0" anchor="ctr"/>
          <a:lstStyle/>
          <a:p>
            <a:pPr indent="0" marL="0">
              <a:buNone/>
            </a:pPr>
            <a:r>
              <a:rPr lang="en-US" sz="1050" dirty="0">
                <a:solidFill>
                  <a:srgbClr val="7E9D8C"/>
                </a:solidFill>
                <a:latin typeface="Calibri" pitchFamily="34" charset="0"/>
                <a:ea typeface="Calibri" pitchFamily="34" charset="-122"/>
                <a:cs typeface="Calibri" pitchFamily="34" charset="-120"/>
              </a:rPr>
              <a:t>Thank you</a:t>
            </a:r>
            <a:endParaRPr lang="en-US" sz="1050" dirty="0"/>
          </a:p>
        </p:txBody>
      </p:sp>
      <p:sp>
        <p:nvSpPr>
          <p:cNvPr id="16" name="Text 14"/>
          <p:cNvSpPr txBox="1"/>
          <p:nvPr/>
        </p:nvSpPr>
        <p:spPr>
          <a:xfrm>
            <a:off x="10497312" y="6291072"/>
            <a:ext cx="1097280" cy="274320"/>
          </a:xfrm>
          <a:prstGeom prst="rect">
            <a:avLst/>
          </a:prstGeom>
          <a:noFill/>
          <a:ln/>
        </p:spPr>
        <p:txBody>
          <a:bodyPr wrap="square" lIns="0" tIns="0" rIns="0" bIns="0" rtlCol="0" anchor="ctr"/>
          <a:lstStyle/>
          <a:p>
            <a:pPr algn="r" indent="0" marL="0">
              <a:buNone/>
            </a:pPr>
            <a:r>
              <a:rPr lang="en-US" sz="1050" dirty="0">
                <a:solidFill>
                  <a:srgbClr val="7E9D8C"/>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Actually Used the Pitch?</dc:title>
  <dc:subject>PptxGenJS Presentation</dc:subject>
  <dc:creator>Mariam Srour</dc:creator>
  <cp:lastModifiedBy>Mariam Srour</cp:lastModifiedBy>
  <cp:revision>1</cp:revision>
  <dcterms:created xsi:type="dcterms:W3CDTF">2026-09-21T19:43:51Z</dcterms:created>
  <dcterms:modified xsi:type="dcterms:W3CDTF">2026-09-21T19:43:51Z</dcterms:modified>
</cp:coreProperties>
</file>